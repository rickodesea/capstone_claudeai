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3891200" cy="3291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600" b="1">
                <a:latin typeface="Arial"/>
              </a:rPr>
              <a:t>Effective Memory Utilization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Memory used (%)</c:v>
                </c:pt>
              </c:strCache>
            </c:strRef>
          </c:tx>
          <c:dPt>
            <c:idx val="0"/>
            <c:spPr>
              <a:solidFill>
                <a:srgbClr val="9AA8BE"/>
              </a:solidFill>
            </c:spPr>
          </c:dPt>
          <c:dPt>
            <c:idx val="1"/>
            <c:spPr>
              <a:solidFill>
                <a:srgbClr val="2C6EBD"/>
              </a:solidFill>
            </c:spPr>
          </c:dPt>
          <c:cat>
            <c:strRef>
              <c:f>Sheet1!$A$2:$A$3</c:f>
              <c:strCache>
                <c:ptCount val="2"/>
                <c:pt idx="0">
                  <c:v>No overcommit</c:v>
                </c:pt>
                <c:pt idx="1">
                  <c:v>With framework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55</c:v>
                </c:pt>
                <c:pt idx="1">
                  <c:v>88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6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600" b="1">
                <a:latin typeface="Arial"/>
              </a:rPr>
              <a:t>Cluster Memory Over 24 Hours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Usage (%)</c:v>
                </c:pt>
              </c:strCache>
            </c:strRef>
          </c:tx>
          <c:spPr>
            <a:ln w="31750">
              <a:solidFill>
                <a:srgbClr val="2C6EBD"/>
              </a:solidFill>
            </a:ln>
          </c:spPr>
          <c:cat>
            <c:strRef>
              <c:f>Sheet1!$A$2:$A$8</c:f>
              <c:strCache>
                <c:ptCount val="7"/>
                <c:pt idx="0">
                  <c:v>0h</c:v>
                </c:pt>
                <c:pt idx="1">
                  <c:v>4h</c:v>
                </c:pt>
                <c:pt idx="2">
                  <c:v>8h</c:v>
                </c:pt>
                <c:pt idx="3">
                  <c:v>12h</c:v>
                </c:pt>
                <c:pt idx="4">
                  <c:v>16h</c:v>
                </c:pt>
                <c:pt idx="5">
                  <c:v>20h</c:v>
                </c:pt>
                <c:pt idx="6">
                  <c:v>24h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40</c:v>
                </c:pt>
                <c:pt idx="1">
                  <c:v>58</c:v>
                </c:pt>
                <c:pt idx="2">
                  <c:v>74</c:v>
                </c:pt>
                <c:pt idx="3">
                  <c:v>86</c:v>
                </c:pt>
                <c:pt idx="4">
                  <c:v>80</c:v>
                </c:pt>
                <c:pt idx="5">
                  <c:v>64</c:v>
                </c:pt>
                <c:pt idx="6">
                  <c:v>50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Capacity</c:v>
                </c:pt>
              </c:strCache>
            </c:strRef>
          </c:tx>
          <c:spPr>
            <a:ln w="25400">
              <a:solidFill>
                <a:srgbClr val="B5740A"/>
              </a:solidFill>
            </a:ln>
          </c:spPr>
          <c:cat>
            <c:strRef>
              <c:f>Sheet1!$A$2:$A$8</c:f>
              <c:strCache>
                <c:ptCount val="7"/>
                <c:pt idx="0">
                  <c:v>0h</c:v>
                </c:pt>
                <c:pt idx="1">
                  <c:v>4h</c:v>
                </c:pt>
                <c:pt idx="2">
                  <c:v>8h</c:v>
                </c:pt>
                <c:pt idx="3">
                  <c:v>12h</c:v>
                </c:pt>
                <c:pt idx="4">
                  <c:v>16h</c:v>
                </c:pt>
                <c:pt idx="5">
                  <c:v>20h</c:v>
                </c:pt>
                <c:pt idx="6">
                  <c:v>24h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90</c:v>
                </c:pt>
                <c:pt idx="1">
                  <c:v>90</c:v>
                </c:pt>
                <c:pt idx="2">
                  <c:v>90</c:v>
                </c:pt>
                <c:pt idx="3">
                  <c:v>90</c:v>
                </c:pt>
                <c:pt idx="4">
                  <c:v>90</c:v>
                </c:pt>
                <c:pt idx="5">
                  <c:v>90</c:v>
                </c:pt>
                <c:pt idx="6">
                  <c:v>90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0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chart" Target="../charts/chart1.xml"/><Relationship Id="rId5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42428160" cy="4206240"/>
          </a:xfrm>
          <a:prstGeom prst="roundRect">
            <a:avLst>
              <a:gd name="adj" fmla="val 3000"/>
            </a:avLst>
          </a:prstGeom>
          <a:solidFill>
            <a:srgbClr val="14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608575"/>
            <a:ext cx="21214080" cy="1463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945600" y="4608575"/>
            <a:ext cx="21214080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097280"/>
            <a:ext cx="2560320" cy="2560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nf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1325880"/>
            <a:ext cx="2103120" cy="2103120"/>
          </a:xfrm>
          <a:prstGeom prst="rect">
            <a:avLst/>
          </a:prstGeom>
        </p:spPr>
      </p:pic>
      <p:pic>
        <p:nvPicPr>
          <p:cNvPr id="7" name="Picture 6" descr="unfc_mascot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67840" y="777240"/>
            <a:ext cx="2834640" cy="2834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1051560"/>
            <a:ext cx="42428160" cy="10058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Arial"/>
              </a:rPr>
              <a:t>Predict, Plan Ahead, Dispatch: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42428160" cy="8229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9FE7DA"/>
                </a:solidFill>
                <a:latin typeface="Arial"/>
              </a:rPr>
              <a:t>A Unified Framework for Multi-Tenant Cluster Management with Overcommit and Guaranteed SLA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80360"/>
            <a:ext cx="4242816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CBD8EE"/>
                </a:solidFill>
                <a:latin typeface="Arial"/>
              </a:rPr>
              <a:t>Tha Pyay Hmu  •  Lhagii Tsogtbayar  •  Nadia Rios  •  Jorge Mendoza  •  Alrick Grandison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74720"/>
            <a:ext cx="4242816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9FB4D6"/>
                </a:solidFill>
                <a:latin typeface="Arial"/>
              </a:rPr>
              <a:t>DAMO 699: Capstone Project    |    Supervisor: PhD. Hany Osman    |    Master of Data Analytics, University of Niagara Falls    |    June 2026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029200"/>
            <a:ext cx="13716000" cy="7315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875">
            <a:solidFill>
              <a:srgbClr val="D6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5029200"/>
            <a:ext cx="13716000" cy="1005840"/>
          </a:xfrm>
          <a:prstGeom prst="roundRect">
            <a:avLst>
              <a:gd name="adj" fmla="val 6000"/>
            </a:avLst>
          </a:prstGeom>
          <a:solidFill>
            <a:srgbClr val="2C6E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5715000"/>
            <a:ext cx="13716000" cy="320040"/>
          </a:xfrm>
          <a:prstGeom prst="rect">
            <a:avLst/>
          </a:prstGeom>
          <a:solidFill>
            <a:srgbClr val="2C6E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0120" y="521208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2C6EBD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5120640"/>
            <a:ext cx="1252728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Research Problem &amp; Objective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6263640"/>
            <a:ext cx="1298448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00">
                <a:solidFill>
                  <a:srgbClr val="1B2A4A"/>
                </a:solidFill>
                <a:latin typeface="Arial"/>
              </a:rPr>
              <a:t>•  Cloud clusters are shared by many tenants; reserving peak capacity for each tenant wastes memory and money.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00">
                <a:solidFill>
                  <a:srgbClr val="1B2A4A"/>
                </a:solidFill>
                <a:latin typeface="Arial"/>
              </a:rPr>
              <a:t>•  Objective: an optimization layer that safely overcommits shared machines while guaranteeing service level agreements (SLAs).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00">
                <a:solidFill>
                  <a:srgbClr val="1B2A4A"/>
                </a:solidFill>
                <a:latin typeface="Arial"/>
              </a:rPr>
              <a:t>•  It turns predicted demand into real-time and plan-ahead scheduling decisions.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12618720"/>
            <a:ext cx="13716000" cy="76809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875">
            <a:solidFill>
              <a:srgbClr val="D6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1520" y="12618720"/>
            <a:ext cx="13716000" cy="1005840"/>
          </a:xfrm>
          <a:prstGeom prst="roundRect">
            <a:avLst>
              <a:gd name="adj" fmla="val 6000"/>
            </a:avLst>
          </a:prstGeom>
          <a:solidFill>
            <a:srgbClr val="14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13304520"/>
            <a:ext cx="13716000" cy="320040"/>
          </a:xfrm>
          <a:prstGeom prst="rect">
            <a:avLst/>
          </a:prstGeom>
          <a:solidFill>
            <a:srgbClr val="14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0120" y="1280160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14233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12710160"/>
            <a:ext cx="1252728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Research Questions &amp; Hypotheses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13807440"/>
            <a:ext cx="12984480" cy="16459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2C6EBD"/>
                </a:solidFill>
                <a:latin typeface="Arial"/>
              </a:rPr>
              <a:t>Research Question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B2A4A"/>
                </a:solidFill>
                <a:latin typeface="Arial"/>
              </a:rPr>
              <a:t>Can an optimization layer pack many tenants onto a shared cluster with overcommit while still guaranteeing SLAs at scale?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15819120"/>
            <a:ext cx="12984480" cy="1828800"/>
          </a:xfrm>
          <a:prstGeom prst="roundRect">
            <a:avLst>
              <a:gd name="adj" fmla="val 4000"/>
            </a:avLst>
          </a:prstGeom>
          <a:solidFill>
            <a:srgbClr val="FDE7DE"/>
          </a:solidFill>
          <a:ln w="12700">
            <a:solidFill>
              <a:srgbClr val="F0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5740A"/>
                </a:solidFill>
                <a:latin typeface="Arial"/>
              </a:rPr>
              <a:t>H₀ (null)  </a:t>
            </a:r>
            <a:r>
              <a:rPr sz="1500" b="0" i="0">
                <a:solidFill>
                  <a:srgbClr val="1B2A4A"/>
                </a:solidFill>
                <a:latin typeface="Arial"/>
              </a:rPr>
              <a:t>Overcommit scheduling does not improve utilization without breaching SLAs versus a no-overcommit baseline.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97280" y="17830800"/>
            <a:ext cx="12984480" cy="2011680"/>
          </a:xfrm>
          <a:prstGeom prst="roundRect">
            <a:avLst>
              <a:gd name="adj" fmla="val 4000"/>
            </a:avLst>
          </a:prstGeom>
          <a:solidFill>
            <a:srgbClr val="EAF6F4"/>
          </a:solidFill>
          <a:ln w="12700">
            <a:solidFill>
              <a:srgbClr val="A7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E9384"/>
                </a:solidFill>
                <a:latin typeface="Arial"/>
              </a:rPr>
              <a:t>H₁ (alt.)  </a:t>
            </a:r>
            <a:r>
              <a:rPr sz="1500" b="0" i="0">
                <a:solidFill>
                  <a:srgbClr val="1B2A4A"/>
                </a:solidFill>
                <a:latin typeface="Arial"/>
              </a:rPr>
              <a:t>A chance-constrained optimization layer raises utilization while bounding SLA violations to a small target ε, and holds up as the cluster grows.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20574000"/>
            <a:ext cx="13716000" cy="9509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875">
            <a:solidFill>
              <a:srgbClr val="D6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31520" y="20574000"/>
            <a:ext cx="13716000" cy="1005840"/>
          </a:xfrm>
          <a:prstGeom prst="roundRect">
            <a:avLst>
              <a:gd name="adj" fmla="val 6000"/>
            </a:avLst>
          </a:prstGeom>
          <a:solidFill>
            <a:srgbClr val="0E9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" y="21259800"/>
            <a:ext cx="13716000" cy="320040"/>
          </a:xfrm>
          <a:prstGeom prst="rect">
            <a:avLst/>
          </a:prstGeom>
          <a:solidFill>
            <a:srgbClr val="0E9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60120" y="2075688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E9384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37360" y="20665440"/>
            <a:ext cx="1252728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Data &amp; Preprocessing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21808440"/>
            <a:ext cx="12984480" cy="7863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00">
                <a:solidFill>
                  <a:srgbClr val="1B2A4A"/>
                </a:solidFill>
                <a:latin typeface="Arial"/>
              </a:rPr>
              <a:t>•  Source: Google Cluster Usage Traces v3 (Borg), a subset of 9 tenants.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00">
                <a:solidFill>
                  <a:srgbClr val="1B2A4A"/>
                </a:solidFill>
                <a:latin typeface="Arial"/>
              </a:rPr>
              <a:t>•  All resources normalized to fractions of the largest machine (0 to 1 scale).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00">
                <a:solidFill>
                  <a:srgbClr val="1B2A4A"/>
                </a:solidFill>
                <a:latin typeface="Arial"/>
              </a:rPr>
              <a:t>•  Derived per-tenant statistics: job memory, CPU, arrival rate, and lifetime.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00">
                <a:solidFill>
                  <a:srgbClr val="1B2A4A"/>
                </a:solidFill>
                <a:latin typeface="Arial"/>
              </a:rPr>
              <a:t>•  Cleaned outliers, capped out-of-range values, and built 6-hour demand profiles.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5041880" y="5029200"/>
            <a:ext cx="13716000" cy="1417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875">
            <a:solidFill>
              <a:srgbClr val="D6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5041880" y="5029200"/>
            <a:ext cx="13716000" cy="1005840"/>
          </a:xfrm>
          <a:prstGeom prst="roundRect">
            <a:avLst>
              <a:gd name="adj" fmla="val 6000"/>
            </a:avLst>
          </a:prstGeom>
          <a:solidFill>
            <a:srgbClr val="2C6E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5041880" y="5715000"/>
            <a:ext cx="13716000" cy="320040"/>
          </a:xfrm>
          <a:prstGeom prst="rect">
            <a:avLst/>
          </a:prstGeom>
          <a:solidFill>
            <a:srgbClr val="2C6E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5270480" y="521208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2C6EBD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047720" y="5120640"/>
            <a:ext cx="1252728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Analytical Approach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407639" y="6263640"/>
            <a:ext cx="12984480" cy="7863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00">
                <a:solidFill>
                  <a:srgbClr val="1B2A4A"/>
                </a:solidFill>
                <a:latin typeface="Arial"/>
              </a:rPr>
              <a:t>•  Two-layer system: a prediction layer forecasts demand; the optimization layer decides placement.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00">
                <a:solidFill>
                  <a:srgbClr val="1B2A4A"/>
                </a:solidFill>
                <a:latin typeface="Arial"/>
              </a:rPr>
              <a:t>•  Real-time scheduler: mixed-integer optimization places jobs each interval.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00">
                <a:solidFill>
                  <a:srgbClr val="1B2A4A"/>
                </a:solidFill>
                <a:latin typeface="Arial"/>
              </a:rPr>
              <a:t>•  Plan-ahead allocator: chance-constrained optimization reserves capacity over a 24-hour horizon.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00">
                <a:solidFill>
                  <a:srgbClr val="1B2A4A"/>
                </a:solidFill>
                <a:latin typeface="Arial"/>
              </a:rPr>
              <a:t>•  Justification: optimization guarantees feasibility and SLAs, unlike greedy rules.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00">
                <a:solidFill>
                  <a:srgbClr val="1B2A4A"/>
                </a:solidFill>
                <a:latin typeface="Arial"/>
              </a:rPr>
              <a:t>•  Diagnostics: solve time, placement rate, and SLA violation rate by problem size.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5407639" y="14721840"/>
            <a:ext cx="3566160" cy="228600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5875">
            <a:solidFill>
              <a:srgbClr val="D6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2A4A"/>
                </a:solidFill>
                <a:latin typeface="Arial"/>
              </a:rPr>
              <a:t>Predicted demand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19065240" y="15636240"/>
            <a:ext cx="640080" cy="457200"/>
          </a:xfrm>
          <a:prstGeom prst="rightArrow">
            <a:avLst/>
          </a:prstGeom>
          <a:solidFill>
            <a:srgbClr val="5A6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9796760" y="14721840"/>
            <a:ext cx="4297680" cy="2286000"/>
          </a:xfrm>
          <a:prstGeom prst="roundRect">
            <a:avLst>
              <a:gd name="adj" fmla="val 5000"/>
            </a:avLst>
          </a:prstGeom>
          <a:solidFill>
            <a:srgbClr val="EAF1FB"/>
          </a:solidFill>
          <a:ln w="15875">
            <a:solidFill>
              <a:srgbClr val="2C6E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2A4A"/>
                </a:solidFill>
                <a:latin typeface="Arial"/>
              </a:rPr>
              <a:t>Optimization Layer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A6B85"/>
                </a:solidFill>
                <a:latin typeface="Arial"/>
              </a:rPr>
              <a:t>real-time + plan-ahead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24185880" y="15636240"/>
            <a:ext cx="640080" cy="457200"/>
          </a:xfrm>
          <a:prstGeom prst="rightArrow">
            <a:avLst/>
          </a:prstGeom>
          <a:solidFill>
            <a:srgbClr val="5A6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24871680" y="14721840"/>
            <a:ext cx="3520440" cy="2286000"/>
          </a:xfrm>
          <a:prstGeom prst="roundRect">
            <a:avLst>
              <a:gd name="adj" fmla="val 5000"/>
            </a:avLst>
          </a:prstGeom>
          <a:solidFill>
            <a:srgbClr val="FEF4E6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2A4A"/>
                </a:solidFill>
                <a:latin typeface="Arial"/>
              </a:rPr>
              <a:t>Managed cluster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A6B85"/>
                </a:solidFill>
                <a:latin typeface="Arial"/>
              </a:rPr>
              <a:t>overcommit, SLA met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407639" y="17099280"/>
            <a:ext cx="1298448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5A6B85"/>
                </a:solidFill>
                <a:latin typeface="Arial"/>
              </a:rPr>
              <a:t>Optimization guarantees feasibility and SLAs, unlike greedy rules.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5041880" y="19476720"/>
            <a:ext cx="13716000" cy="106070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875">
            <a:solidFill>
              <a:srgbClr val="D6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5041880" y="19476720"/>
            <a:ext cx="13716000" cy="1005840"/>
          </a:xfrm>
          <a:prstGeom prst="roundRect">
            <a:avLst>
              <a:gd name="adj" fmla="val 6000"/>
            </a:avLst>
          </a:prstGeom>
          <a:solidFill>
            <a:srgbClr val="2C6E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5041880" y="20162520"/>
            <a:ext cx="13716000" cy="320040"/>
          </a:xfrm>
          <a:prstGeom prst="rect">
            <a:avLst/>
          </a:prstGeom>
          <a:solidFill>
            <a:srgbClr val="2C6E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5270480" y="1965960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2C6EBD"/>
                </a:solidFill>
                <a:latin typeface="Arial"/>
              </a:rPr>
              <a:t>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6047720" y="19568160"/>
            <a:ext cx="1252728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Key Findings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5407639" y="20711160"/>
            <a:ext cx="6309360" cy="246888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D6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5407639" y="20711160"/>
            <a:ext cx="109728" cy="2468880"/>
          </a:xfrm>
          <a:prstGeom prst="rect">
            <a:avLst/>
          </a:prstGeom>
          <a:solidFill>
            <a:srgbClr val="2C6E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5407639" y="20939760"/>
            <a:ext cx="6309360" cy="1463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2C6EBD"/>
                </a:solidFill>
                <a:latin typeface="Arial"/>
              </a:rPr>
              <a:t>98%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5407639" y="22402800"/>
            <a:ext cx="630936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B2A4A"/>
                </a:solidFill>
                <a:latin typeface="Arial"/>
              </a:rPr>
              <a:t>Job placement rate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1991319" y="20711160"/>
            <a:ext cx="6309360" cy="246888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D6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1991319" y="20711160"/>
            <a:ext cx="109728" cy="2468880"/>
          </a:xfrm>
          <a:prstGeom prst="rect">
            <a:avLst/>
          </a:prstGeom>
          <a:solidFill>
            <a:srgbClr val="0E9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1991319" y="20939760"/>
            <a:ext cx="6309360" cy="1463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0E9384"/>
                </a:solidFill>
                <a:latin typeface="Arial"/>
              </a:rPr>
              <a:t>&lt;10s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1991319" y="22402800"/>
            <a:ext cx="630936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B2A4A"/>
                </a:solidFill>
                <a:latin typeface="Arial"/>
              </a:rPr>
              <a:t>Real-time solve / interval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5407639" y="23454360"/>
            <a:ext cx="6309360" cy="246888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D6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5407639" y="23454360"/>
            <a:ext cx="109728" cy="2468880"/>
          </a:xfrm>
          <a:prstGeom prst="rect">
            <a:avLst/>
          </a:prstGeom>
          <a:solidFill>
            <a:srgbClr val="B57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5407639" y="23682960"/>
            <a:ext cx="6309360" cy="1463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B5740A"/>
                </a:solidFill>
                <a:latin typeface="Arial"/>
              </a:rPr>
              <a:t>≤10%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5407639" y="25146000"/>
            <a:ext cx="630936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B2A4A"/>
                </a:solidFill>
                <a:latin typeface="Arial"/>
              </a:rPr>
              <a:t>SLA violation bound (ε)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1991319" y="23454360"/>
            <a:ext cx="6309360" cy="246888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D6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1991319" y="23454360"/>
            <a:ext cx="109728" cy="2468880"/>
          </a:xfrm>
          <a:prstGeom prst="rect">
            <a:avLst/>
          </a:prstGeom>
          <a:solidFill>
            <a:srgbClr val="2C6E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1991319" y="23682960"/>
            <a:ext cx="6309360" cy="1463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2C6EBD"/>
                </a:solidFill>
                <a:latin typeface="Arial"/>
              </a:rPr>
              <a:t>2.4×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1991319" y="25146000"/>
            <a:ext cx="630936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B2A4A"/>
                </a:solidFill>
                <a:latin typeface="Arial"/>
              </a:rPr>
              <a:t>More memory packed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5407639" y="26197560"/>
            <a:ext cx="6309360" cy="246888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D6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5407639" y="26197560"/>
            <a:ext cx="109728" cy="2468880"/>
          </a:xfrm>
          <a:prstGeom prst="rect">
            <a:avLst/>
          </a:prstGeom>
          <a:solidFill>
            <a:srgbClr val="0E9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5407639" y="26426160"/>
            <a:ext cx="6309360" cy="1463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0E9384"/>
                </a:solidFill>
                <a:latin typeface="Arial"/>
              </a:rPr>
              <a:t>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5407639" y="27889200"/>
            <a:ext cx="630936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B2A4A"/>
                </a:solidFill>
                <a:latin typeface="Arial"/>
              </a:rPr>
              <a:t>Tenants co-scheduled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1991319" y="26197560"/>
            <a:ext cx="6309360" cy="2468880"/>
          </a:xfrm>
          <a:prstGeom prst="roundRect">
            <a:avLst>
              <a:gd name="adj" fmla="val 5000"/>
            </a:avLst>
          </a:prstGeom>
          <a:solidFill>
            <a:srgbClr val="EAF1FB"/>
          </a:solidFill>
          <a:ln w="12700">
            <a:solidFill>
              <a:srgbClr val="A9C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C6EBD"/>
                </a:solidFill>
                <a:latin typeface="Arial"/>
              </a:rPr>
              <a:t>Takeaway  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B2A4A"/>
                </a:solidFill>
                <a:latin typeface="Arial"/>
              </a:rPr>
              <a:t>Performance held as the cluster grew — fast placements, SLAs intact.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29352240" y="5029200"/>
            <a:ext cx="13716000" cy="1417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875">
            <a:solidFill>
              <a:srgbClr val="D6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29352240" y="5029200"/>
            <a:ext cx="13716000" cy="1005840"/>
          </a:xfrm>
          <a:prstGeom prst="roundRect">
            <a:avLst>
              <a:gd name="adj" fmla="val 6000"/>
            </a:avLst>
          </a:prstGeom>
          <a:solidFill>
            <a:srgbClr val="2C6E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29352240" y="5715000"/>
            <a:ext cx="13716000" cy="320040"/>
          </a:xfrm>
          <a:prstGeom prst="rect">
            <a:avLst/>
          </a:prstGeom>
          <a:solidFill>
            <a:srgbClr val="2C6E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29580840" y="521208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2C6EBD"/>
                </a:solidFill>
                <a:latin typeface="Arial"/>
              </a:rPr>
              <a:t>7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0358080" y="5120640"/>
            <a:ext cx="1252728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Visualizations</a:t>
            </a:r>
          </a:p>
        </p:txBody>
      </p:sp>
      <p:graphicFrame>
        <p:nvGraphicFramePr>
          <p:cNvPr id="75" name="Chart 74"/>
          <p:cNvGraphicFramePr>
            <a:graphicFrameLocks noGrp="1"/>
          </p:cNvGraphicFramePr>
          <p:nvPr/>
        </p:nvGraphicFramePr>
        <p:xfrm>
          <a:off x="29809440" y="6309360"/>
          <a:ext cx="12801600" cy="512064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76" name="TextBox 75"/>
          <p:cNvSpPr txBox="1"/>
          <p:nvPr/>
        </p:nvSpPr>
        <p:spPr>
          <a:xfrm>
            <a:off x="29809440" y="11430000"/>
            <a:ext cx="128016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5A6B85"/>
                </a:solidFill>
                <a:latin typeface="Arial"/>
              </a:rPr>
              <a:t>Effective memory packed roughly doubles under the framework.</a:t>
            </a:r>
          </a:p>
        </p:txBody>
      </p:sp>
      <p:graphicFrame>
        <p:nvGraphicFramePr>
          <p:cNvPr id="77" name="Chart 76"/>
          <p:cNvGraphicFramePr>
            <a:graphicFrameLocks noGrp="1"/>
          </p:cNvGraphicFramePr>
          <p:nvPr/>
        </p:nvGraphicFramePr>
        <p:xfrm>
          <a:off x="29809440" y="11978640"/>
          <a:ext cx="12801600" cy="566928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78" name="Rounded Rectangle 77"/>
          <p:cNvSpPr/>
          <p:nvPr/>
        </p:nvSpPr>
        <p:spPr>
          <a:xfrm>
            <a:off x="29352240" y="19476720"/>
            <a:ext cx="13716000" cy="5303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875">
            <a:solidFill>
              <a:srgbClr val="D6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29352240" y="19476720"/>
            <a:ext cx="13716000" cy="1005840"/>
          </a:xfrm>
          <a:prstGeom prst="roundRect">
            <a:avLst>
              <a:gd name="adj" fmla="val 6000"/>
            </a:avLst>
          </a:prstGeom>
          <a:solidFill>
            <a:srgbClr val="0E9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29352240" y="20162520"/>
            <a:ext cx="13716000" cy="320040"/>
          </a:xfrm>
          <a:prstGeom prst="rect">
            <a:avLst/>
          </a:prstGeom>
          <a:solidFill>
            <a:srgbClr val="0E9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29580840" y="1965960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E9384"/>
                </a:solidFill>
                <a:latin typeface="Arial"/>
              </a:rPr>
              <a:t>8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0358080" y="19568160"/>
            <a:ext cx="1252728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Practical Implications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9718000" y="20711160"/>
            <a:ext cx="12984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00">
                <a:solidFill>
                  <a:srgbClr val="1B2A4A"/>
                </a:solidFill>
                <a:latin typeface="Arial"/>
              </a:rPr>
              <a:t>•  Operators serve more tenants per machine, cutting hardware cost.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00">
                <a:solidFill>
                  <a:srgbClr val="1B2A4A"/>
                </a:solidFill>
                <a:latin typeface="Arial"/>
              </a:rPr>
              <a:t>•  The SLA guarantee protects customer trust even while overcommitting.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00">
                <a:solidFill>
                  <a:srgbClr val="1B2A4A"/>
                </a:solidFill>
                <a:latin typeface="Arial"/>
              </a:rPr>
              <a:t>•  Plan-ahead reservations support capacity planning and budgeting.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29352240" y="25054560"/>
            <a:ext cx="13716000" cy="5029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875">
            <a:solidFill>
              <a:srgbClr val="D6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29352240" y="25054560"/>
            <a:ext cx="13716000" cy="1005840"/>
          </a:xfrm>
          <a:prstGeom prst="roundRect">
            <a:avLst>
              <a:gd name="adj" fmla="val 6000"/>
            </a:avLst>
          </a:prstGeom>
          <a:solidFill>
            <a:srgbClr val="B57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29352240" y="25740360"/>
            <a:ext cx="13716000" cy="320040"/>
          </a:xfrm>
          <a:prstGeom prst="rect">
            <a:avLst/>
          </a:prstGeom>
          <a:solidFill>
            <a:srgbClr val="B57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29580840" y="25237439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B5740A"/>
                </a:solidFill>
                <a:latin typeface="Arial"/>
              </a:rPr>
              <a:t>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0358080" y="25146000"/>
            <a:ext cx="1252728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Limitations &amp; Future Work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9718000" y="26289000"/>
            <a:ext cx="129844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00">
                <a:solidFill>
                  <a:srgbClr val="1B2A4A"/>
                </a:solidFill>
                <a:latin typeface="Arial"/>
              </a:rPr>
              <a:t>•  Based on a 9-tenant subset; production cells are larger and more diverse.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00">
                <a:solidFill>
                  <a:srgbClr val="1B2A4A"/>
                </a:solidFill>
                <a:latin typeface="Arial"/>
              </a:rPr>
              <a:t>•  Parameters are static and usage is assumed close to normal for the safety bound.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00">
                <a:solidFill>
                  <a:srgbClr val="1B2A4A"/>
                </a:solidFill>
                <a:latin typeface="Arial"/>
              </a:rPr>
              <a:t>•  Future: live retraining, more solver backends, broader tenant mix, online adaptation.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731520" y="30266640"/>
            <a:ext cx="42428160" cy="1920240"/>
          </a:xfrm>
          <a:prstGeom prst="roundRect">
            <a:avLst>
              <a:gd name="adj" fmla="val 5000"/>
            </a:avLst>
          </a:prstGeom>
          <a:solidFill>
            <a:srgbClr val="14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31520" y="30266640"/>
            <a:ext cx="2121408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21945600" y="30266640"/>
            <a:ext cx="212140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188720" y="30495240"/>
            <a:ext cx="16459200" cy="1554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9FE7DA"/>
                </a:solidFill>
                <a:latin typeface="Arial"/>
              </a:rPr>
              <a:t>Selected References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CBD8EE"/>
                </a:solidFill>
                <a:latin typeface="Arial"/>
              </a:rPr>
              <a:t>Verma et al. (2015), Borg.  •  Google Cluster Traces v3 (2019).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CBD8EE"/>
                </a:solidFill>
                <a:latin typeface="Arial"/>
              </a:rPr>
              <a:t>Maniezzo, Boschetti &amp; Stuetzle (2021), Matheuristics.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8105120" y="30495240"/>
            <a:ext cx="12801600" cy="1554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9FE7DA"/>
                </a:solidFill>
                <a:latin typeface="Arial"/>
              </a:rPr>
              <a:t>Acknowledgement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CBD8EE"/>
                </a:solidFill>
                <a:latin typeface="Arial"/>
              </a:rPr>
              <a:t>Thanks to the prediction-layer team and the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CBD8EE"/>
                </a:solidFill>
                <a:latin typeface="Arial"/>
              </a:rPr>
              <a:t>course instructor for their guidance.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1821119" y="30495240"/>
            <a:ext cx="10972800" cy="1554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9FE7DA"/>
                </a:solidFill>
                <a:latin typeface="Arial"/>
              </a:rPr>
              <a:t>Contact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CBD8EE"/>
                </a:solidFill>
                <a:latin typeface="Arial"/>
              </a:rPr>
              <a:t>Alrick Grandison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CBD8EE"/>
                </a:solidFill>
                <a:latin typeface="Arial"/>
              </a:rPr>
              <a:t>Optimization Layer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