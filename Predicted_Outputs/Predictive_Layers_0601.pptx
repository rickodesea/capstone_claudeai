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8" r:id="rId3"/>
    <p:sldId id="268" r:id="rId4"/>
    <p:sldId id="267" r:id="rId5"/>
    <p:sldId id="270" r:id="rId6"/>
    <p:sldId id="265" r:id="rId7"/>
    <p:sldId id="272" r:id="rId8"/>
    <p:sldId id="280" r:id="rId9"/>
    <p:sldId id="271" r:id="rId10"/>
    <p:sldId id="260" r:id="rId11"/>
    <p:sldId id="261" r:id="rId12"/>
    <p:sldId id="277" r:id="rId13"/>
    <p:sldId id="279" r:id="rId14"/>
    <p:sldId id="278" r:id="rId15"/>
    <p:sldId id="274" r:id="rId16"/>
    <p:sldId id="262" r:id="rId17"/>
    <p:sldId id="275" r:id="rId18"/>
    <p:sldId id="276" r:id="rId19"/>
    <p:sldId id="263" r:id="rId20"/>
    <p:sldId id="264"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93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CAECC5-AEF4-40BA-8069-8160583E96CB}" v="320" dt="2026-06-01T14:58:03.4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96" autoAdjust="0"/>
  </p:normalViewPr>
  <p:slideViewPr>
    <p:cSldViewPr snapToGrid="0">
      <p:cViewPr varScale="1">
        <p:scale>
          <a:sx n="100" d="100"/>
          <a:sy n="100" d="100"/>
        </p:scale>
        <p:origin x="3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40C7F0-B78A-4020-8ACD-12D0078CF4D3}" type="doc">
      <dgm:prSet loTypeId="urn:microsoft.com/office/officeart/2005/8/layout/chevron1" loCatId="process" qsTypeId="urn:microsoft.com/office/officeart/2005/8/quickstyle/simple1" qsCatId="simple" csTypeId="urn:microsoft.com/office/officeart/2005/8/colors/accent5_4" csCatId="accent5" phldr="1"/>
      <dgm:spPr/>
      <dgm:t>
        <a:bodyPr/>
        <a:lstStyle/>
        <a:p>
          <a:endParaRPr lang="en-CA"/>
        </a:p>
      </dgm:t>
    </dgm:pt>
    <dgm:pt modelId="{8499BF1D-7B43-41B4-AF30-F06290F1A41C}">
      <dgm:prSet phldrT="[Text]"/>
      <dgm:spPr/>
      <dgm:t>
        <a:bodyPr/>
        <a:lstStyle/>
        <a:p>
          <a:r>
            <a:rPr lang="en-CA"/>
            <a:t>Continuous presence across all 4 weeks of May 2019</a:t>
          </a:r>
        </a:p>
      </dgm:t>
    </dgm:pt>
    <dgm:pt modelId="{6A2CD7CA-37BC-4B1D-8E7C-F513B6182100}" type="parTrans" cxnId="{B2B11F36-54D7-4C03-B78C-3325F6ADD78B}">
      <dgm:prSet/>
      <dgm:spPr/>
      <dgm:t>
        <a:bodyPr/>
        <a:lstStyle/>
        <a:p>
          <a:endParaRPr lang="en-CA"/>
        </a:p>
      </dgm:t>
    </dgm:pt>
    <dgm:pt modelId="{BF00F9A9-7E46-4240-8DDD-048186428E66}" type="sibTrans" cxnId="{B2B11F36-54D7-4C03-B78C-3325F6ADD78B}">
      <dgm:prSet/>
      <dgm:spPr/>
      <dgm:t>
        <a:bodyPr/>
        <a:lstStyle/>
        <a:p>
          <a:endParaRPr lang="en-CA"/>
        </a:p>
      </dgm:t>
    </dgm:pt>
    <dgm:pt modelId="{EAD31123-FCE5-4BB1-8E23-6C9A1F21F2B8}">
      <dgm:prSet phldrT="[Text]"/>
      <dgm:spPr/>
      <dgm:t>
        <a:bodyPr/>
        <a:lstStyle/>
        <a:p>
          <a:r>
            <a:rPr lang="en-CA"/>
            <a:t>Minimum 100 instances total</a:t>
          </a:r>
        </a:p>
      </dgm:t>
    </dgm:pt>
    <dgm:pt modelId="{234DCBB6-E4BD-43C2-A39C-7913807F91DC}" type="parTrans" cxnId="{D744DF2E-1B0D-43A6-B4E6-759B85FA795F}">
      <dgm:prSet/>
      <dgm:spPr/>
      <dgm:t>
        <a:bodyPr/>
        <a:lstStyle/>
        <a:p>
          <a:endParaRPr lang="en-CA"/>
        </a:p>
      </dgm:t>
    </dgm:pt>
    <dgm:pt modelId="{C929DB62-AA64-4C0D-9F1E-6F67EDC17A95}" type="sibTrans" cxnId="{D744DF2E-1B0D-43A6-B4E6-759B85FA795F}">
      <dgm:prSet/>
      <dgm:spPr/>
      <dgm:t>
        <a:bodyPr/>
        <a:lstStyle/>
        <a:p>
          <a:endParaRPr lang="en-CA"/>
        </a:p>
      </dgm:t>
    </dgm:pt>
    <dgm:pt modelId="{B1061771-77E9-4F71-83CA-9FC4C52B17D4}">
      <dgm:prSet phldrT="[Text]"/>
      <dgm:spPr/>
      <dgm:t>
        <a:bodyPr/>
        <a:lstStyle/>
        <a:p>
          <a:r>
            <a:rPr lang="en-CA"/>
            <a:t>Result: pool reduced from 1,886 → 608 eligible tenants</a:t>
          </a:r>
        </a:p>
      </dgm:t>
    </dgm:pt>
    <dgm:pt modelId="{18424CD6-8E2A-4B29-AE12-8D477311F81D}" type="parTrans" cxnId="{A3C4429B-5355-457E-B96F-1E5667052D7B}">
      <dgm:prSet/>
      <dgm:spPr/>
      <dgm:t>
        <a:bodyPr/>
        <a:lstStyle/>
        <a:p>
          <a:endParaRPr lang="en-CA"/>
        </a:p>
      </dgm:t>
    </dgm:pt>
    <dgm:pt modelId="{53F3EF4C-6A31-4435-A236-D7436755F5A0}" type="sibTrans" cxnId="{A3C4429B-5355-457E-B96F-1E5667052D7B}">
      <dgm:prSet/>
      <dgm:spPr/>
      <dgm:t>
        <a:bodyPr/>
        <a:lstStyle/>
        <a:p>
          <a:endParaRPr lang="en-CA"/>
        </a:p>
      </dgm:t>
    </dgm:pt>
    <dgm:pt modelId="{94C97511-B430-4F77-9EE3-27F60BB87271}">
      <dgm:prSet phldrT="[Text]"/>
      <dgm:spPr/>
      <dgm:t>
        <a:bodyPr/>
        <a:lstStyle/>
        <a:p>
          <a:r>
            <a:rPr lang="en-CA"/>
            <a:t>608 → </a:t>
          </a:r>
          <a:r>
            <a:rPr lang="en-CA" noProof="0"/>
            <a:t>9 Selected tenants based on behaviour patterns</a:t>
          </a:r>
        </a:p>
      </dgm:t>
    </dgm:pt>
    <dgm:pt modelId="{19624305-69B2-4273-BCD4-4DA3A827AC30}" type="parTrans" cxnId="{055F7D2D-8F9D-4DF6-A09F-C5AF8DBFC79A}">
      <dgm:prSet/>
      <dgm:spPr/>
      <dgm:t>
        <a:bodyPr/>
        <a:lstStyle/>
        <a:p>
          <a:endParaRPr lang="en-CA"/>
        </a:p>
      </dgm:t>
    </dgm:pt>
    <dgm:pt modelId="{5AC6DA33-8B6D-4108-A9F0-5F37BD4876EB}" type="sibTrans" cxnId="{055F7D2D-8F9D-4DF6-A09F-C5AF8DBFC79A}">
      <dgm:prSet/>
      <dgm:spPr/>
      <dgm:t>
        <a:bodyPr/>
        <a:lstStyle/>
        <a:p>
          <a:endParaRPr lang="en-CA"/>
        </a:p>
      </dgm:t>
    </dgm:pt>
    <dgm:pt modelId="{16132B51-CA9F-4103-9962-102856C4B3E2}" type="pres">
      <dgm:prSet presAssocID="{A040C7F0-B78A-4020-8ACD-12D0078CF4D3}" presName="Name0" presStyleCnt="0">
        <dgm:presLayoutVars>
          <dgm:dir/>
          <dgm:animLvl val="lvl"/>
          <dgm:resizeHandles val="exact"/>
        </dgm:presLayoutVars>
      </dgm:prSet>
      <dgm:spPr/>
    </dgm:pt>
    <dgm:pt modelId="{89858713-3C1B-4D43-ACCE-55EA9408495C}" type="pres">
      <dgm:prSet presAssocID="{8499BF1D-7B43-41B4-AF30-F06290F1A41C}" presName="parTxOnly" presStyleLbl="node1" presStyleIdx="0" presStyleCnt="4">
        <dgm:presLayoutVars>
          <dgm:chMax val="0"/>
          <dgm:chPref val="0"/>
          <dgm:bulletEnabled val="1"/>
        </dgm:presLayoutVars>
      </dgm:prSet>
      <dgm:spPr/>
    </dgm:pt>
    <dgm:pt modelId="{6D8DDE8F-850F-40C1-AD69-F52676CDA0C8}" type="pres">
      <dgm:prSet presAssocID="{BF00F9A9-7E46-4240-8DDD-048186428E66}" presName="parTxOnlySpace" presStyleCnt="0"/>
      <dgm:spPr/>
    </dgm:pt>
    <dgm:pt modelId="{5CD74721-305B-433D-8C36-53DBD162403D}" type="pres">
      <dgm:prSet presAssocID="{EAD31123-FCE5-4BB1-8E23-6C9A1F21F2B8}" presName="parTxOnly" presStyleLbl="node1" presStyleIdx="1" presStyleCnt="4">
        <dgm:presLayoutVars>
          <dgm:chMax val="0"/>
          <dgm:chPref val="0"/>
          <dgm:bulletEnabled val="1"/>
        </dgm:presLayoutVars>
      </dgm:prSet>
      <dgm:spPr/>
    </dgm:pt>
    <dgm:pt modelId="{3DA3CDC7-E677-450C-B15D-B4C2049ABB6B}" type="pres">
      <dgm:prSet presAssocID="{C929DB62-AA64-4C0D-9F1E-6F67EDC17A95}" presName="parTxOnlySpace" presStyleCnt="0"/>
      <dgm:spPr/>
    </dgm:pt>
    <dgm:pt modelId="{D0A5F7D7-52B5-4BCE-8C4A-427E24F12CB7}" type="pres">
      <dgm:prSet presAssocID="{B1061771-77E9-4F71-83CA-9FC4C52B17D4}" presName="parTxOnly" presStyleLbl="node1" presStyleIdx="2" presStyleCnt="4">
        <dgm:presLayoutVars>
          <dgm:chMax val="0"/>
          <dgm:chPref val="0"/>
          <dgm:bulletEnabled val="1"/>
        </dgm:presLayoutVars>
      </dgm:prSet>
      <dgm:spPr/>
    </dgm:pt>
    <dgm:pt modelId="{D07B9344-DDD4-4DE4-935A-F51683B8DEC4}" type="pres">
      <dgm:prSet presAssocID="{53F3EF4C-6A31-4435-A236-D7436755F5A0}" presName="parTxOnlySpace" presStyleCnt="0"/>
      <dgm:spPr/>
    </dgm:pt>
    <dgm:pt modelId="{1EE160CF-D896-4ABC-8821-53FEBFCF75CB}" type="pres">
      <dgm:prSet presAssocID="{94C97511-B430-4F77-9EE3-27F60BB87271}" presName="parTxOnly" presStyleLbl="node1" presStyleIdx="3" presStyleCnt="4">
        <dgm:presLayoutVars>
          <dgm:chMax val="0"/>
          <dgm:chPref val="0"/>
          <dgm:bulletEnabled val="1"/>
        </dgm:presLayoutVars>
      </dgm:prSet>
      <dgm:spPr/>
    </dgm:pt>
  </dgm:ptLst>
  <dgm:cxnLst>
    <dgm:cxn modelId="{94DB5D1F-367D-42AE-9FE9-F5E642A05865}" type="presOf" srcId="{A040C7F0-B78A-4020-8ACD-12D0078CF4D3}" destId="{16132B51-CA9F-4103-9962-102856C4B3E2}" srcOrd="0" destOrd="0" presId="urn:microsoft.com/office/officeart/2005/8/layout/chevron1"/>
    <dgm:cxn modelId="{055F7D2D-8F9D-4DF6-A09F-C5AF8DBFC79A}" srcId="{A040C7F0-B78A-4020-8ACD-12D0078CF4D3}" destId="{94C97511-B430-4F77-9EE3-27F60BB87271}" srcOrd="3" destOrd="0" parTransId="{19624305-69B2-4273-BCD4-4DA3A827AC30}" sibTransId="{5AC6DA33-8B6D-4108-A9F0-5F37BD4876EB}"/>
    <dgm:cxn modelId="{D744DF2E-1B0D-43A6-B4E6-759B85FA795F}" srcId="{A040C7F0-B78A-4020-8ACD-12D0078CF4D3}" destId="{EAD31123-FCE5-4BB1-8E23-6C9A1F21F2B8}" srcOrd="1" destOrd="0" parTransId="{234DCBB6-E4BD-43C2-A39C-7913807F91DC}" sibTransId="{C929DB62-AA64-4C0D-9F1E-6F67EDC17A95}"/>
    <dgm:cxn modelId="{B2B11F36-54D7-4C03-B78C-3325F6ADD78B}" srcId="{A040C7F0-B78A-4020-8ACD-12D0078CF4D3}" destId="{8499BF1D-7B43-41B4-AF30-F06290F1A41C}" srcOrd="0" destOrd="0" parTransId="{6A2CD7CA-37BC-4B1D-8E7C-F513B6182100}" sibTransId="{BF00F9A9-7E46-4240-8DDD-048186428E66}"/>
    <dgm:cxn modelId="{23DF7136-34F5-4114-8701-55CD9A1E8F5B}" type="presOf" srcId="{8499BF1D-7B43-41B4-AF30-F06290F1A41C}" destId="{89858713-3C1B-4D43-ACCE-55EA9408495C}" srcOrd="0" destOrd="0" presId="urn:microsoft.com/office/officeart/2005/8/layout/chevron1"/>
    <dgm:cxn modelId="{40676C7D-C8A4-4F4E-AB87-B18888DD43E8}" type="presOf" srcId="{EAD31123-FCE5-4BB1-8E23-6C9A1F21F2B8}" destId="{5CD74721-305B-433D-8C36-53DBD162403D}" srcOrd="0" destOrd="0" presId="urn:microsoft.com/office/officeart/2005/8/layout/chevron1"/>
    <dgm:cxn modelId="{B27B707D-2C26-4DFE-805D-E9D114503969}" type="presOf" srcId="{94C97511-B430-4F77-9EE3-27F60BB87271}" destId="{1EE160CF-D896-4ABC-8821-53FEBFCF75CB}" srcOrd="0" destOrd="0" presId="urn:microsoft.com/office/officeart/2005/8/layout/chevron1"/>
    <dgm:cxn modelId="{A3C4429B-5355-457E-B96F-1E5667052D7B}" srcId="{A040C7F0-B78A-4020-8ACD-12D0078CF4D3}" destId="{B1061771-77E9-4F71-83CA-9FC4C52B17D4}" srcOrd="2" destOrd="0" parTransId="{18424CD6-8E2A-4B29-AE12-8D477311F81D}" sibTransId="{53F3EF4C-6A31-4435-A236-D7436755F5A0}"/>
    <dgm:cxn modelId="{B46689C0-CA5C-4BC3-9B23-1F741E560758}" type="presOf" srcId="{B1061771-77E9-4F71-83CA-9FC4C52B17D4}" destId="{D0A5F7D7-52B5-4BCE-8C4A-427E24F12CB7}" srcOrd="0" destOrd="0" presId="urn:microsoft.com/office/officeart/2005/8/layout/chevron1"/>
    <dgm:cxn modelId="{E5CB82A3-B085-46CE-8CBB-50EB919614F0}" type="presParOf" srcId="{16132B51-CA9F-4103-9962-102856C4B3E2}" destId="{89858713-3C1B-4D43-ACCE-55EA9408495C}" srcOrd="0" destOrd="0" presId="urn:microsoft.com/office/officeart/2005/8/layout/chevron1"/>
    <dgm:cxn modelId="{64047B11-6CFD-4B9F-A5C9-76E1E36E2076}" type="presParOf" srcId="{16132B51-CA9F-4103-9962-102856C4B3E2}" destId="{6D8DDE8F-850F-40C1-AD69-F52676CDA0C8}" srcOrd="1" destOrd="0" presId="urn:microsoft.com/office/officeart/2005/8/layout/chevron1"/>
    <dgm:cxn modelId="{F1ECA40F-658B-4DF5-859D-E618386A98E8}" type="presParOf" srcId="{16132B51-CA9F-4103-9962-102856C4B3E2}" destId="{5CD74721-305B-433D-8C36-53DBD162403D}" srcOrd="2" destOrd="0" presId="urn:microsoft.com/office/officeart/2005/8/layout/chevron1"/>
    <dgm:cxn modelId="{3647AA35-EC9E-4ABC-8AD8-6DD0EAB7C947}" type="presParOf" srcId="{16132B51-CA9F-4103-9962-102856C4B3E2}" destId="{3DA3CDC7-E677-450C-B15D-B4C2049ABB6B}" srcOrd="3" destOrd="0" presId="urn:microsoft.com/office/officeart/2005/8/layout/chevron1"/>
    <dgm:cxn modelId="{FD25360B-E889-45F2-9BC9-1F6C67A2938C}" type="presParOf" srcId="{16132B51-CA9F-4103-9962-102856C4B3E2}" destId="{D0A5F7D7-52B5-4BCE-8C4A-427E24F12CB7}" srcOrd="4" destOrd="0" presId="urn:microsoft.com/office/officeart/2005/8/layout/chevron1"/>
    <dgm:cxn modelId="{6BF52779-5A96-4620-9E26-05C6BEC19785}" type="presParOf" srcId="{16132B51-CA9F-4103-9962-102856C4B3E2}" destId="{D07B9344-DDD4-4DE4-935A-F51683B8DEC4}" srcOrd="5" destOrd="0" presId="urn:microsoft.com/office/officeart/2005/8/layout/chevron1"/>
    <dgm:cxn modelId="{E9D62926-5136-4D25-86A9-D0BE814B5755}" type="presParOf" srcId="{16132B51-CA9F-4103-9962-102856C4B3E2}" destId="{1EE160CF-D896-4ABC-8821-53FEBFCF75CB}"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36D294-BC1F-40AD-9496-11F4B1EC3E9E}" type="doc">
      <dgm:prSet loTypeId="urn:microsoft.com/office/officeart/2005/8/layout/vProcess5" loCatId="process" qsTypeId="urn:microsoft.com/office/officeart/2005/8/quickstyle/simple1" qsCatId="simple" csTypeId="urn:microsoft.com/office/officeart/2005/8/colors/accent3_2" csCatId="accent3" phldr="1"/>
      <dgm:spPr/>
      <dgm:t>
        <a:bodyPr/>
        <a:lstStyle/>
        <a:p>
          <a:endParaRPr lang="en-CA"/>
        </a:p>
      </dgm:t>
    </dgm:pt>
    <dgm:pt modelId="{9B43C361-4CC9-4A85-B2BE-23467DD40930}">
      <dgm:prSet phldrT="[Text]" custT="1"/>
      <dgm:spPr/>
      <dgm:t>
        <a:bodyPr/>
        <a:lstStyle/>
        <a:p>
          <a:r>
            <a:rPr lang="en-CA" sz="1000"/>
            <a:t>Google Cluster-Usage Traces v3 — Cell A, May 2019</a:t>
          </a:r>
        </a:p>
      </dgm:t>
    </dgm:pt>
    <dgm:pt modelId="{64FF289D-5560-4A26-BB0B-68F5624623E3}" type="parTrans" cxnId="{B3AE75EC-B59A-44A5-8DEB-2B674BBB2895}">
      <dgm:prSet/>
      <dgm:spPr/>
      <dgm:t>
        <a:bodyPr/>
        <a:lstStyle/>
        <a:p>
          <a:endParaRPr lang="en-CA"/>
        </a:p>
      </dgm:t>
    </dgm:pt>
    <dgm:pt modelId="{B581FC8B-FE09-4DC8-971E-EFF5928D50FB}" type="sibTrans" cxnId="{B3AE75EC-B59A-44A5-8DEB-2B674BBB2895}">
      <dgm:prSet/>
      <dgm:spPr/>
      <dgm:t>
        <a:bodyPr/>
        <a:lstStyle/>
        <a:p>
          <a:endParaRPr lang="en-CA"/>
        </a:p>
      </dgm:t>
    </dgm:pt>
    <dgm:pt modelId="{82C79595-DEE8-4628-ABDA-154C6EF8D403}">
      <dgm:prSet phldrT="[Text]" custT="1"/>
      <dgm:spPr/>
      <dgm:t>
        <a:bodyPr/>
        <a:lstStyle/>
        <a:p>
          <a:r>
            <a:rPr lang="en-CA" sz="1000"/>
            <a:t>Accessed via BigQuery (google.com:google-cluster-data:clusterdata_2019_a)</a:t>
          </a:r>
        </a:p>
      </dgm:t>
    </dgm:pt>
    <dgm:pt modelId="{0464556B-F281-4744-A780-93045C155173}" type="parTrans" cxnId="{A73D70F2-A6B3-422C-9B90-BFA8A0A8BB90}">
      <dgm:prSet/>
      <dgm:spPr/>
      <dgm:t>
        <a:bodyPr/>
        <a:lstStyle/>
        <a:p>
          <a:endParaRPr lang="en-CA"/>
        </a:p>
      </dgm:t>
    </dgm:pt>
    <dgm:pt modelId="{C2319312-C2ED-4C62-BB2E-D289F32B994B}" type="sibTrans" cxnId="{A73D70F2-A6B3-422C-9B90-BFA8A0A8BB90}">
      <dgm:prSet/>
      <dgm:spPr/>
      <dgm:t>
        <a:bodyPr/>
        <a:lstStyle/>
        <a:p>
          <a:endParaRPr lang="en-CA"/>
        </a:p>
      </dgm:t>
    </dgm:pt>
    <dgm:pt modelId="{1CCD3A42-636A-4A3B-801E-3440AE452DBA}">
      <dgm:prSet phldrT="[Text]"/>
      <dgm:spPr/>
      <dgm:t>
        <a:bodyPr/>
        <a:lstStyle/>
        <a:p>
          <a:r>
            <a:rPr lang="en-CA"/>
            <a:t>Tables used: </a:t>
          </a:r>
          <a:r>
            <a:rPr lang="en-CA" err="1"/>
            <a:t>instance_usage</a:t>
          </a:r>
          <a:r>
            <a:rPr lang="en-CA"/>
            <a:t>, </a:t>
          </a:r>
          <a:r>
            <a:rPr lang="en-CA" err="1"/>
            <a:t>collection_events</a:t>
          </a:r>
          <a:r>
            <a:rPr lang="en-CA"/>
            <a:t>, </a:t>
          </a:r>
          <a:r>
            <a:rPr lang="en-CA" err="1"/>
            <a:t>instance_events</a:t>
          </a:r>
          <a:endParaRPr lang="en-CA"/>
        </a:p>
      </dgm:t>
    </dgm:pt>
    <dgm:pt modelId="{AD6E6BAB-654F-459C-9997-1CC05164A360}" type="parTrans" cxnId="{5ED44D6B-312B-4131-AC18-433D7E8402A0}">
      <dgm:prSet/>
      <dgm:spPr/>
      <dgm:t>
        <a:bodyPr/>
        <a:lstStyle/>
        <a:p>
          <a:endParaRPr lang="en-CA"/>
        </a:p>
      </dgm:t>
    </dgm:pt>
    <dgm:pt modelId="{066EADB8-8048-4B59-A86D-7708C9D7D938}" type="sibTrans" cxnId="{5ED44D6B-312B-4131-AC18-433D7E8402A0}">
      <dgm:prSet/>
      <dgm:spPr/>
      <dgm:t>
        <a:bodyPr/>
        <a:lstStyle/>
        <a:p>
          <a:endParaRPr lang="en-CA"/>
        </a:p>
      </dgm:t>
    </dgm:pt>
    <dgm:pt modelId="{4E1D61F3-C680-4CA2-90F4-00D7851D0501}">
      <dgm:prSet phldrT="[Text]"/>
      <dgm:spPr/>
      <dgm:t>
        <a:bodyPr/>
        <a:lstStyle/>
        <a:p>
          <a:r>
            <a:rPr lang="en-CA"/>
            <a:t>31-day trace, ~microsecond-resolution timestamps, normalised resource units (NCU)</a:t>
          </a:r>
        </a:p>
      </dgm:t>
    </dgm:pt>
    <dgm:pt modelId="{B5E4B788-C78C-49A7-9FCA-DBA3B5071250}" type="parTrans" cxnId="{39E0F92A-DFB2-497D-9D37-45018E779D14}">
      <dgm:prSet/>
      <dgm:spPr/>
      <dgm:t>
        <a:bodyPr/>
        <a:lstStyle/>
        <a:p>
          <a:endParaRPr lang="en-CA"/>
        </a:p>
      </dgm:t>
    </dgm:pt>
    <dgm:pt modelId="{B0180F79-1112-4D71-ADB7-44C6F3560E6A}" type="sibTrans" cxnId="{39E0F92A-DFB2-497D-9D37-45018E779D14}">
      <dgm:prSet/>
      <dgm:spPr/>
      <dgm:t>
        <a:bodyPr/>
        <a:lstStyle/>
        <a:p>
          <a:endParaRPr lang="en-CA"/>
        </a:p>
      </dgm:t>
    </dgm:pt>
    <dgm:pt modelId="{490E2A5E-33BA-443C-924D-80B5F0CD1C6E}" type="pres">
      <dgm:prSet presAssocID="{2236D294-BC1F-40AD-9496-11F4B1EC3E9E}" presName="outerComposite" presStyleCnt="0">
        <dgm:presLayoutVars>
          <dgm:chMax val="5"/>
          <dgm:dir/>
          <dgm:resizeHandles val="exact"/>
        </dgm:presLayoutVars>
      </dgm:prSet>
      <dgm:spPr/>
    </dgm:pt>
    <dgm:pt modelId="{44823AB4-4721-4779-8D94-B614D9E45F1B}" type="pres">
      <dgm:prSet presAssocID="{2236D294-BC1F-40AD-9496-11F4B1EC3E9E}" presName="dummyMaxCanvas" presStyleCnt="0">
        <dgm:presLayoutVars/>
      </dgm:prSet>
      <dgm:spPr/>
    </dgm:pt>
    <dgm:pt modelId="{ECDF18E0-2A4D-4F25-997D-7995C78F0338}" type="pres">
      <dgm:prSet presAssocID="{2236D294-BC1F-40AD-9496-11F4B1EC3E9E}" presName="FourNodes_1" presStyleLbl="node1" presStyleIdx="0" presStyleCnt="4">
        <dgm:presLayoutVars>
          <dgm:bulletEnabled val="1"/>
        </dgm:presLayoutVars>
      </dgm:prSet>
      <dgm:spPr/>
    </dgm:pt>
    <dgm:pt modelId="{5B6886AE-9873-4BB8-A360-A1D515E46F7C}" type="pres">
      <dgm:prSet presAssocID="{2236D294-BC1F-40AD-9496-11F4B1EC3E9E}" presName="FourNodes_2" presStyleLbl="node1" presStyleIdx="1" presStyleCnt="4">
        <dgm:presLayoutVars>
          <dgm:bulletEnabled val="1"/>
        </dgm:presLayoutVars>
      </dgm:prSet>
      <dgm:spPr/>
    </dgm:pt>
    <dgm:pt modelId="{049A6C7F-4B2F-4052-A41E-FFCDCC41D3DD}" type="pres">
      <dgm:prSet presAssocID="{2236D294-BC1F-40AD-9496-11F4B1EC3E9E}" presName="FourNodes_3" presStyleLbl="node1" presStyleIdx="2" presStyleCnt="4">
        <dgm:presLayoutVars>
          <dgm:bulletEnabled val="1"/>
        </dgm:presLayoutVars>
      </dgm:prSet>
      <dgm:spPr/>
    </dgm:pt>
    <dgm:pt modelId="{FE92B9A7-176A-4358-8B7F-892B32E3F23A}" type="pres">
      <dgm:prSet presAssocID="{2236D294-BC1F-40AD-9496-11F4B1EC3E9E}" presName="FourNodes_4" presStyleLbl="node1" presStyleIdx="3" presStyleCnt="4">
        <dgm:presLayoutVars>
          <dgm:bulletEnabled val="1"/>
        </dgm:presLayoutVars>
      </dgm:prSet>
      <dgm:spPr/>
    </dgm:pt>
    <dgm:pt modelId="{155E63CD-1A32-45DC-BB71-A95A03520723}" type="pres">
      <dgm:prSet presAssocID="{2236D294-BC1F-40AD-9496-11F4B1EC3E9E}" presName="FourConn_1-2" presStyleLbl="fgAccFollowNode1" presStyleIdx="0" presStyleCnt="3">
        <dgm:presLayoutVars>
          <dgm:bulletEnabled val="1"/>
        </dgm:presLayoutVars>
      </dgm:prSet>
      <dgm:spPr/>
    </dgm:pt>
    <dgm:pt modelId="{EC733D05-AE71-4DF6-BBD0-887DB27743E2}" type="pres">
      <dgm:prSet presAssocID="{2236D294-BC1F-40AD-9496-11F4B1EC3E9E}" presName="FourConn_2-3" presStyleLbl="fgAccFollowNode1" presStyleIdx="1" presStyleCnt="3">
        <dgm:presLayoutVars>
          <dgm:bulletEnabled val="1"/>
        </dgm:presLayoutVars>
      </dgm:prSet>
      <dgm:spPr/>
    </dgm:pt>
    <dgm:pt modelId="{4C24D7C6-BF07-4D2F-A1FB-11188C8E89E3}" type="pres">
      <dgm:prSet presAssocID="{2236D294-BC1F-40AD-9496-11F4B1EC3E9E}" presName="FourConn_3-4" presStyleLbl="fgAccFollowNode1" presStyleIdx="2" presStyleCnt="3">
        <dgm:presLayoutVars>
          <dgm:bulletEnabled val="1"/>
        </dgm:presLayoutVars>
      </dgm:prSet>
      <dgm:spPr/>
    </dgm:pt>
    <dgm:pt modelId="{266D88EF-1B8B-40F8-B963-74ED879E5F66}" type="pres">
      <dgm:prSet presAssocID="{2236D294-BC1F-40AD-9496-11F4B1EC3E9E}" presName="FourNodes_1_text" presStyleLbl="node1" presStyleIdx="3" presStyleCnt="4">
        <dgm:presLayoutVars>
          <dgm:bulletEnabled val="1"/>
        </dgm:presLayoutVars>
      </dgm:prSet>
      <dgm:spPr/>
    </dgm:pt>
    <dgm:pt modelId="{9EC2C589-5D7D-49FE-A8DD-348A3544E3CD}" type="pres">
      <dgm:prSet presAssocID="{2236D294-BC1F-40AD-9496-11F4B1EC3E9E}" presName="FourNodes_2_text" presStyleLbl="node1" presStyleIdx="3" presStyleCnt="4">
        <dgm:presLayoutVars>
          <dgm:bulletEnabled val="1"/>
        </dgm:presLayoutVars>
      </dgm:prSet>
      <dgm:spPr/>
    </dgm:pt>
    <dgm:pt modelId="{C5EE86E1-D093-46C1-8D27-AF113F88B091}" type="pres">
      <dgm:prSet presAssocID="{2236D294-BC1F-40AD-9496-11F4B1EC3E9E}" presName="FourNodes_3_text" presStyleLbl="node1" presStyleIdx="3" presStyleCnt="4">
        <dgm:presLayoutVars>
          <dgm:bulletEnabled val="1"/>
        </dgm:presLayoutVars>
      </dgm:prSet>
      <dgm:spPr/>
    </dgm:pt>
    <dgm:pt modelId="{47151A45-8A4A-4284-AF2F-237BE5DC51C8}" type="pres">
      <dgm:prSet presAssocID="{2236D294-BC1F-40AD-9496-11F4B1EC3E9E}" presName="FourNodes_4_text" presStyleLbl="node1" presStyleIdx="3" presStyleCnt="4">
        <dgm:presLayoutVars>
          <dgm:bulletEnabled val="1"/>
        </dgm:presLayoutVars>
      </dgm:prSet>
      <dgm:spPr/>
    </dgm:pt>
  </dgm:ptLst>
  <dgm:cxnLst>
    <dgm:cxn modelId="{63A0B00C-2922-4ABB-9E6C-301439BA6744}" type="presOf" srcId="{4E1D61F3-C680-4CA2-90F4-00D7851D0501}" destId="{FE92B9A7-176A-4358-8B7F-892B32E3F23A}" srcOrd="0" destOrd="0" presId="urn:microsoft.com/office/officeart/2005/8/layout/vProcess5"/>
    <dgm:cxn modelId="{A325F40D-6D11-41D4-AD2F-C7B6D03E9722}" type="presOf" srcId="{C2319312-C2ED-4C62-BB2E-D289F32B994B}" destId="{EC733D05-AE71-4DF6-BBD0-887DB27743E2}" srcOrd="0" destOrd="0" presId="urn:microsoft.com/office/officeart/2005/8/layout/vProcess5"/>
    <dgm:cxn modelId="{C9F6001B-FC5D-4DBA-B52C-1625FFE34359}" type="presOf" srcId="{4E1D61F3-C680-4CA2-90F4-00D7851D0501}" destId="{47151A45-8A4A-4284-AF2F-237BE5DC51C8}" srcOrd="1" destOrd="0" presId="urn:microsoft.com/office/officeart/2005/8/layout/vProcess5"/>
    <dgm:cxn modelId="{FC04E11B-93B3-499C-8BFB-69045112CCEE}" type="presOf" srcId="{9B43C361-4CC9-4A85-B2BE-23467DD40930}" destId="{266D88EF-1B8B-40F8-B963-74ED879E5F66}" srcOrd="1" destOrd="0" presId="urn:microsoft.com/office/officeart/2005/8/layout/vProcess5"/>
    <dgm:cxn modelId="{39E0F92A-DFB2-497D-9D37-45018E779D14}" srcId="{2236D294-BC1F-40AD-9496-11F4B1EC3E9E}" destId="{4E1D61F3-C680-4CA2-90F4-00D7851D0501}" srcOrd="3" destOrd="0" parTransId="{B5E4B788-C78C-49A7-9FCA-DBA3B5071250}" sibTransId="{B0180F79-1112-4D71-ADB7-44C6F3560E6A}"/>
    <dgm:cxn modelId="{D527B132-0C10-45E2-8103-F9E413CE2A7B}" type="presOf" srcId="{82C79595-DEE8-4628-ABDA-154C6EF8D403}" destId="{9EC2C589-5D7D-49FE-A8DD-348A3544E3CD}" srcOrd="1" destOrd="0" presId="urn:microsoft.com/office/officeart/2005/8/layout/vProcess5"/>
    <dgm:cxn modelId="{24E19434-3082-476C-8EBF-16C033E732C4}" type="presOf" srcId="{1CCD3A42-636A-4A3B-801E-3440AE452DBA}" destId="{049A6C7F-4B2F-4052-A41E-FFCDCC41D3DD}" srcOrd="0" destOrd="0" presId="urn:microsoft.com/office/officeart/2005/8/layout/vProcess5"/>
    <dgm:cxn modelId="{A5FC454A-9AAE-4E54-A594-81BF7619EF9D}" type="presOf" srcId="{9B43C361-4CC9-4A85-B2BE-23467DD40930}" destId="{ECDF18E0-2A4D-4F25-997D-7995C78F0338}" srcOrd="0" destOrd="0" presId="urn:microsoft.com/office/officeart/2005/8/layout/vProcess5"/>
    <dgm:cxn modelId="{5ED44D6B-312B-4131-AC18-433D7E8402A0}" srcId="{2236D294-BC1F-40AD-9496-11F4B1EC3E9E}" destId="{1CCD3A42-636A-4A3B-801E-3440AE452DBA}" srcOrd="2" destOrd="0" parTransId="{AD6E6BAB-654F-459C-9997-1CC05164A360}" sibTransId="{066EADB8-8048-4B59-A86D-7708C9D7D938}"/>
    <dgm:cxn modelId="{D3B61574-C656-4483-844E-F8EA39AD4593}" type="presOf" srcId="{B581FC8B-FE09-4DC8-971E-EFF5928D50FB}" destId="{155E63CD-1A32-45DC-BB71-A95A03520723}" srcOrd="0" destOrd="0" presId="urn:microsoft.com/office/officeart/2005/8/layout/vProcess5"/>
    <dgm:cxn modelId="{CF63F080-C6FF-4918-9A3B-BF50EB37D4D7}" type="presOf" srcId="{066EADB8-8048-4B59-A86D-7708C9D7D938}" destId="{4C24D7C6-BF07-4D2F-A1FB-11188C8E89E3}" srcOrd="0" destOrd="0" presId="urn:microsoft.com/office/officeart/2005/8/layout/vProcess5"/>
    <dgm:cxn modelId="{2DC9F5BF-44E5-46A9-B368-D7BF49988D9A}" type="presOf" srcId="{82C79595-DEE8-4628-ABDA-154C6EF8D403}" destId="{5B6886AE-9873-4BB8-A360-A1D515E46F7C}" srcOrd="0" destOrd="0" presId="urn:microsoft.com/office/officeart/2005/8/layout/vProcess5"/>
    <dgm:cxn modelId="{06EEFBDC-5328-43E7-A127-27BC22552888}" type="presOf" srcId="{1CCD3A42-636A-4A3B-801E-3440AE452DBA}" destId="{C5EE86E1-D093-46C1-8D27-AF113F88B091}" srcOrd="1" destOrd="0" presId="urn:microsoft.com/office/officeart/2005/8/layout/vProcess5"/>
    <dgm:cxn modelId="{4181D7DF-6065-4B86-A494-55106D66C7B0}" type="presOf" srcId="{2236D294-BC1F-40AD-9496-11F4B1EC3E9E}" destId="{490E2A5E-33BA-443C-924D-80B5F0CD1C6E}" srcOrd="0" destOrd="0" presId="urn:microsoft.com/office/officeart/2005/8/layout/vProcess5"/>
    <dgm:cxn modelId="{B3AE75EC-B59A-44A5-8DEB-2B674BBB2895}" srcId="{2236D294-BC1F-40AD-9496-11F4B1EC3E9E}" destId="{9B43C361-4CC9-4A85-B2BE-23467DD40930}" srcOrd="0" destOrd="0" parTransId="{64FF289D-5560-4A26-BB0B-68F5624623E3}" sibTransId="{B581FC8B-FE09-4DC8-971E-EFF5928D50FB}"/>
    <dgm:cxn modelId="{A73D70F2-A6B3-422C-9B90-BFA8A0A8BB90}" srcId="{2236D294-BC1F-40AD-9496-11F4B1EC3E9E}" destId="{82C79595-DEE8-4628-ABDA-154C6EF8D403}" srcOrd="1" destOrd="0" parTransId="{0464556B-F281-4744-A780-93045C155173}" sibTransId="{C2319312-C2ED-4C62-BB2E-D289F32B994B}"/>
    <dgm:cxn modelId="{21D027A1-C566-4BD9-8432-32D77E1FDCDF}" type="presParOf" srcId="{490E2A5E-33BA-443C-924D-80B5F0CD1C6E}" destId="{44823AB4-4721-4779-8D94-B614D9E45F1B}" srcOrd="0" destOrd="0" presId="urn:microsoft.com/office/officeart/2005/8/layout/vProcess5"/>
    <dgm:cxn modelId="{E2C4CA9D-5284-48B0-A84E-1AF995702FB3}" type="presParOf" srcId="{490E2A5E-33BA-443C-924D-80B5F0CD1C6E}" destId="{ECDF18E0-2A4D-4F25-997D-7995C78F0338}" srcOrd="1" destOrd="0" presId="urn:microsoft.com/office/officeart/2005/8/layout/vProcess5"/>
    <dgm:cxn modelId="{7049B018-80E9-4CE5-A24F-41FDFE79D39E}" type="presParOf" srcId="{490E2A5E-33BA-443C-924D-80B5F0CD1C6E}" destId="{5B6886AE-9873-4BB8-A360-A1D515E46F7C}" srcOrd="2" destOrd="0" presId="urn:microsoft.com/office/officeart/2005/8/layout/vProcess5"/>
    <dgm:cxn modelId="{D8CE1AA3-9953-48A3-805F-8547DCE44198}" type="presParOf" srcId="{490E2A5E-33BA-443C-924D-80B5F0CD1C6E}" destId="{049A6C7F-4B2F-4052-A41E-FFCDCC41D3DD}" srcOrd="3" destOrd="0" presId="urn:microsoft.com/office/officeart/2005/8/layout/vProcess5"/>
    <dgm:cxn modelId="{60E40878-B793-4E64-915F-DD1C70EE8B0B}" type="presParOf" srcId="{490E2A5E-33BA-443C-924D-80B5F0CD1C6E}" destId="{FE92B9A7-176A-4358-8B7F-892B32E3F23A}" srcOrd="4" destOrd="0" presId="urn:microsoft.com/office/officeart/2005/8/layout/vProcess5"/>
    <dgm:cxn modelId="{A2CF088A-0840-4F3D-A3D7-AAAE9BDE4D71}" type="presParOf" srcId="{490E2A5E-33BA-443C-924D-80B5F0CD1C6E}" destId="{155E63CD-1A32-45DC-BB71-A95A03520723}" srcOrd="5" destOrd="0" presId="urn:microsoft.com/office/officeart/2005/8/layout/vProcess5"/>
    <dgm:cxn modelId="{E5A54AFD-4C64-46BF-A841-844091477512}" type="presParOf" srcId="{490E2A5E-33BA-443C-924D-80B5F0CD1C6E}" destId="{EC733D05-AE71-4DF6-BBD0-887DB27743E2}" srcOrd="6" destOrd="0" presId="urn:microsoft.com/office/officeart/2005/8/layout/vProcess5"/>
    <dgm:cxn modelId="{480237E4-02CD-4C68-BCDA-10577C47E217}" type="presParOf" srcId="{490E2A5E-33BA-443C-924D-80B5F0CD1C6E}" destId="{4C24D7C6-BF07-4D2F-A1FB-11188C8E89E3}" srcOrd="7" destOrd="0" presId="urn:microsoft.com/office/officeart/2005/8/layout/vProcess5"/>
    <dgm:cxn modelId="{8BDA76D5-344E-417A-BB25-36C6BDAB9526}" type="presParOf" srcId="{490E2A5E-33BA-443C-924D-80B5F0CD1C6E}" destId="{266D88EF-1B8B-40F8-B963-74ED879E5F66}" srcOrd="8" destOrd="0" presId="urn:microsoft.com/office/officeart/2005/8/layout/vProcess5"/>
    <dgm:cxn modelId="{1301ECB1-8671-46D2-877D-93EDD226CE62}" type="presParOf" srcId="{490E2A5E-33BA-443C-924D-80B5F0CD1C6E}" destId="{9EC2C589-5D7D-49FE-A8DD-348A3544E3CD}" srcOrd="9" destOrd="0" presId="urn:microsoft.com/office/officeart/2005/8/layout/vProcess5"/>
    <dgm:cxn modelId="{A6B5D7C1-0514-49F1-909A-032EFE16EC33}" type="presParOf" srcId="{490E2A5E-33BA-443C-924D-80B5F0CD1C6E}" destId="{C5EE86E1-D093-46C1-8D27-AF113F88B091}" srcOrd="10" destOrd="0" presId="urn:microsoft.com/office/officeart/2005/8/layout/vProcess5"/>
    <dgm:cxn modelId="{D03B1094-388C-4492-976F-92FF6332027A}" type="presParOf" srcId="{490E2A5E-33BA-443C-924D-80B5F0CD1C6E}" destId="{47151A45-8A4A-4284-AF2F-237BE5DC51C8}"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EE4299-A978-479D-BBFD-E6BF48A3228B}" type="doc">
      <dgm:prSet loTypeId="urn:microsoft.com/office/officeart/2005/8/layout/hierarchy4" loCatId="list" qsTypeId="urn:microsoft.com/office/officeart/2005/8/quickstyle/simple1" qsCatId="simple" csTypeId="urn:microsoft.com/office/officeart/2005/8/colors/accent5_4" csCatId="accent5" phldr="1"/>
      <dgm:spPr/>
      <dgm:t>
        <a:bodyPr/>
        <a:lstStyle/>
        <a:p>
          <a:endParaRPr lang="en-CA"/>
        </a:p>
      </dgm:t>
    </dgm:pt>
    <dgm:pt modelId="{A3A6A8DB-F014-4694-BC8A-35A268B476B0}">
      <dgm:prSet phldrT="[Text]" custT="1"/>
      <dgm:spPr/>
      <dgm:t>
        <a:bodyPr/>
        <a:lstStyle/>
        <a:p>
          <a:r>
            <a:rPr lang="en-CA" sz="1400"/>
            <a:t>Rather than a stratified random sample of instances, the dataset was constructed by extracting </a:t>
          </a:r>
          <a:r>
            <a:rPr lang="en-CA" sz="1400" b="1"/>
            <a:t>all activity belonging to 9 selected tenants in full</a:t>
          </a:r>
          <a:r>
            <a:rPr lang="en-CA" sz="1400"/>
            <a:t>. </a:t>
          </a:r>
        </a:p>
        <a:p>
          <a:r>
            <a:rPr lang="en-CA" sz="1400"/>
            <a:t>This design decision is motivated by the optimization model architecture:</a:t>
          </a:r>
        </a:p>
      </dgm:t>
    </dgm:pt>
    <dgm:pt modelId="{A2C5AEAC-5F35-43E2-B854-702E249180F6}" type="parTrans" cxnId="{8847C3DA-1BA3-430B-BE7C-A08AF96EA4DD}">
      <dgm:prSet/>
      <dgm:spPr/>
      <dgm:t>
        <a:bodyPr/>
        <a:lstStyle/>
        <a:p>
          <a:endParaRPr lang="en-CA"/>
        </a:p>
      </dgm:t>
    </dgm:pt>
    <dgm:pt modelId="{9D3B3B6C-0C6F-460C-B84A-FEE8950CB3F6}" type="sibTrans" cxnId="{8847C3DA-1BA3-430B-BE7C-A08AF96EA4DD}">
      <dgm:prSet/>
      <dgm:spPr/>
      <dgm:t>
        <a:bodyPr/>
        <a:lstStyle/>
        <a:p>
          <a:endParaRPr lang="en-CA"/>
        </a:p>
      </dgm:t>
    </dgm:pt>
    <dgm:pt modelId="{422B1139-F4AD-4855-ADFD-AD755307B473}">
      <dgm:prSet phldrT="[Text]"/>
      <dgm:spPr/>
      <dgm:t>
        <a:bodyPr/>
        <a:lstStyle/>
        <a:p>
          <a:r>
            <a:rPr lang="en-CA" dirty="0"/>
            <a:t>The real-time MILP and plan-ahead MISOCP both operate at the tenant level — machines are assigned to tenant groups, not to individual jobs</a:t>
          </a:r>
        </a:p>
      </dgm:t>
    </dgm:pt>
    <dgm:pt modelId="{20DEED63-519B-43B9-AADE-99813BC6FAFB}" type="parTrans" cxnId="{39F24C6D-919E-4687-8CA1-432A313FE8F7}">
      <dgm:prSet/>
      <dgm:spPr/>
      <dgm:t>
        <a:bodyPr/>
        <a:lstStyle/>
        <a:p>
          <a:endParaRPr lang="en-CA"/>
        </a:p>
      </dgm:t>
    </dgm:pt>
    <dgm:pt modelId="{DF862FC2-DA71-4793-AA93-CD8540A02BA5}" type="sibTrans" cxnId="{39F24C6D-919E-4687-8CA1-432A313FE8F7}">
      <dgm:prSet/>
      <dgm:spPr/>
      <dgm:t>
        <a:bodyPr/>
        <a:lstStyle/>
        <a:p>
          <a:endParaRPr lang="en-CA"/>
        </a:p>
      </dgm:t>
    </dgm:pt>
    <dgm:pt modelId="{89605B3A-581E-4031-9555-13717E1A612F}">
      <dgm:prSet phldrT="[Text]"/>
      <dgm:spPr/>
      <dgm:t>
        <a:bodyPr/>
        <a:lstStyle/>
        <a:p>
          <a:r>
            <a:rPr lang="en-CA"/>
            <a:t>A stratified instance sample would break the temporal continuity of each tenant's workload, making it impossible to model demand patterns at the tenant-period level (u[</a:t>
          </a:r>
          <a:r>
            <a:rPr lang="en-CA" err="1"/>
            <a:t>i,h</a:t>
          </a:r>
          <a:r>
            <a:rPr lang="en-CA"/>
            <a:t>]) required by the plan-ahead model</a:t>
          </a:r>
        </a:p>
      </dgm:t>
    </dgm:pt>
    <dgm:pt modelId="{352A6D8E-543C-44EA-B39E-CA08CD31D6B3}" type="parTrans" cxnId="{7AF6BB7A-AD79-491C-BCC3-8D509FCCEFC9}">
      <dgm:prSet/>
      <dgm:spPr/>
      <dgm:t>
        <a:bodyPr/>
        <a:lstStyle/>
        <a:p>
          <a:endParaRPr lang="en-CA"/>
        </a:p>
      </dgm:t>
    </dgm:pt>
    <dgm:pt modelId="{2BBB3F79-CA58-4DD9-AC93-3F6F7807FDE6}" type="sibTrans" cxnId="{7AF6BB7A-AD79-491C-BCC3-8D509FCCEFC9}">
      <dgm:prSet/>
      <dgm:spPr/>
      <dgm:t>
        <a:bodyPr/>
        <a:lstStyle/>
        <a:p>
          <a:endParaRPr lang="en-CA"/>
        </a:p>
      </dgm:t>
    </dgm:pt>
    <dgm:pt modelId="{E228D0C8-EB30-4757-8F9B-BA18F819B44B}">
      <dgm:prSet phldrT="[Text]"/>
      <dgm:spPr/>
      <dgm:t>
        <a:bodyPr/>
        <a:lstStyle/>
        <a:p>
          <a:r>
            <a:rPr lang="en-CA" dirty="0"/>
            <a:t>Capturing full tenant lifecycles preserves job-to-job dependencies, relationships, and weekly demand cycles that are essential for LSTM sequence construction</a:t>
          </a:r>
        </a:p>
      </dgm:t>
    </dgm:pt>
    <dgm:pt modelId="{CD9517CA-6809-48CB-B930-739F3A7B3EDE}" type="parTrans" cxnId="{CE819DD6-E3CB-483B-8766-F6A8D43C51F8}">
      <dgm:prSet/>
      <dgm:spPr/>
      <dgm:t>
        <a:bodyPr/>
        <a:lstStyle/>
        <a:p>
          <a:endParaRPr lang="en-CA"/>
        </a:p>
      </dgm:t>
    </dgm:pt>
    <dgm:pt modelId="{0435EE9B-FF57-43CE-898C-440B99D7BAB4}" type="sibTrans" cxnId="{CE819DD6-E3CB-483B-8766-F6A8D43C51F8}">
      <dgm:prSet/>
      <dgm:spPr/>
      <dgm:t>
        <a:bodyPr/>
        <a:lstStyle/>
        <a:p>
          <a:endParaRPr lang="en-CA"/>
        </a:p>
      </dgm:t>
    </dgm:pt>
    <dgm:pt modelId="{E0950581-1622-45C3-8CB1-AC5D973DFE70}" type="pres">
      <dgm:prSet presAssocID="{3CEE4299-A978-479D-BBFD-E6BF48A3228B}" presName="Name0" presStyleCnt="0">
        <dgm:presLayoutVars>
          <dgm:chPref val="1"/>
          <dgm:dir/>
          <dgm:animOne val="branch"/>
          <dgm:animLvl val="lvl"/>
          <dgm:resizeHandles/>
        </dgm:presLayoutVars>
      </dgm:prSet>
      <dgm:spPr/>
    </dgm:pt>
    <dgm:pt modelId="{E59A3460-4AD5-41F9-A12F-00D1214053A5}" type="pres">
      <dgm:prSet presAssocID="{A3A6A8DB-F014-4694-BC8A-35A268B476B0}" presName="vertOne" presStyleCnt="0"/>
      <dgm:spPr/>
    </dgm:pt>
    <dgm:pt modelId="{13D5694A-BC28-478F-8086-603F7F33D36F}" type="pres">
      <dgm:prSet presAssocID="{A3A6A8DB-F014-4694-BC8A-35A268B476B0}" presName="txOne" presStyleLbl="node0" presStyleIdx="0" presStyleCnt="1">
        <dgm:presLayoutVars>
          <dgm:chPref val="3"/>
        </dgm:presLayoutVars>
      </dgm:prSet>
      <dgm:spPr/>
    </dgm:pt>
    <dgm:pt modelId="{BE29C935-52DF-4F7A-91B7-C3688D30FFE1}" type="pres">
      <dgm:prSet presAssocID="{A3A6A8DB-F014-4694-BC8A-35A268B476B0}" presName="parTransOne" presStyleCnt="0"/>
      <dgm:spPr/>
    </dgm:pt>
    <dgm:pt modelId="{9EC36833-F5D0-4564-9204-E0948C6A86C0}" type="pres">
      <dgm:prSet presAssocID="{A3A6A8DB-F014-4694-BC8A-35A268B476B0}" presName="horzOne" presStyleCnt="0"/>
      <dgm:spPr/>
    </dgm:pt>
    <dgm:pt modelId="{DB0BBAE4-1409-4937-B824-6606682E8A77}" type="pres">
      <dgm:prSet presAssocID="{422B1139-F4AD-4855-ADFD-AD755307B473}" presName="vertTwo" presStyleCnt="0"/>
      <dgm:spPr/>
    </dgm:pt>
    <dgm:pt modelId="{3E8EDD86-3591-430B-940F-FBB456D24BB0}" type="pres">
      <dgm:prSet presAssocID="{422B1139-F4AD-4855-ADFD-AD755307B473}" presName="txTwo" presStyleLbl="node2" presStyleIdx="0" presStyleCnt="3">
        <dgm:presLayoutVars>
          <dgm:chPref val="3"/>
        </dgm:presLayoutVars>
      </dgm:prSet>
      <dgm:spPr/>
    </dgm:pt>
    <dgm:pt modelId="{DF4A093C-EB72-4AC5-9ADF-7978CE23453F}" type="pres">
      <dgm:prSet presAssocID="{422B1139-F4AD-4855-ADFD-AD755307B473}" presName="horzTwo" presStyleCnt="0"/>
      <dgm:spPr/>
    </dgm:pt>
    <dgm:pt modelId="{76A64844-9792-49E7-ADDA-AD940DCCF9D9}" type="pres">
      <dgm:prSet presAssocID="{DF862FC2-DA71-4793-AA93-CD8540A02BA5}" presName="sibSpaceTwo" presStyleCnt="0"/>
      <dgm:spPr/>
    </dgm:pt>
    <dgm:pt modelId="{38FF3262-0672-4662-8F2C-9ABF527A9522}" type="pres">
      <dgm:prSet presAssocID="{89605B3A-581E-4031-9555-13717E1A612F}" presName="vertTwo" presStyleCnt="0"/>
      <dgm:spPr/>
    </dgm:pt>
    <dgm:pt modelId="{6786318D-AA40-45EF-B3DC-83F941CFB3F3}" type="pres">
      <dgm:prSet presAssocID="{89605B3A-581E-4031-9555-13717E1A612F}" presName="txTwo" presStyleLbl="node2" presStyleIdx="1" presStyleCnt="3">
        <dgm:presLayoutVars>
          <dgm:chPref val="3"/>
        </dgm:presLayoutVars>
      </dgm:prSet>
      <dgm:spPr/>
    </dgm:pt>
    <dgm:pt modelId="{B984965D-B24E-4B6B-82CF-238C67C5BF55}" type="pres">
      <dgm:prSet presAssocID="{89605B3A-581E-4031-9555-13717E1A612F}" presName="horzTwo" presStyleCnt="0"/>
      <dgm:spPr/>
    </dgm:pt>
    <dgm:pt modelId="{19B185D8-9ACC-4EFF-908B-73CB752D7A0D}" type="pres">
      <dgm:prSet presAssocID="{2BBB3F79-CA58-4DD9-AC93-3F6F7807FDE6}" presName="sibSpaceTwo" presStyleCnt="0"/>
      <dgm:spPr/>
    </dgm:pt>
    <dgm:pt modelId="{348F6429-C638-441E-9011-121621E4A816}" type="pres">
      <dgm:prSet presAssocID="{E228D0C8-EB30-4757-8F9B-BA18F819B44B}" presName="vertTwo" presStyleCnt="0"/>
      <dgm:spPr/>
    </dgm:pt>
    <dgm:pt modelId="{A25D2872-B1A5-40D2-A056-EC9BE76740F0}" type="pres">
      <dgm:prSet presAssocID="{E228D0C8-EB30-4757-8F9B-BA18F819B44B}" presName="txTwo" presStyleLbl="node2" presStyleIdx="2" presStyleCnt="3">
        <dgm:presLayoutVars>
          <dgm:chPref val="3"/>
        </dgm:presLayoutVars>
      </dgm:prSet>
      <dgm:spPr/>
    </dgm:pt>
    <dgm:pt modelId="{FC99C6CC-0935-4749-8A61-02CBEF911CDE}" type="pres">
      <dgm:prSet presAssocID="{E228D0C8-EB30-4757-8F9B-BA18F819B44B}" presName="horzTwo" presStyleCnt="0"/>
      <dgm:spPr/>
    </dgm:pt>
  </dgm:ptLst>
  <dgm:cxnLst>
    <dgm:cxn modelId="{86FDDB08-D907-47D0-AB7D-986F70E1D1FA}" type="presOf" srcId="{89605B3A-581E-4031-9555-13717E1A612F}" destId="{6786318D-AA40-45EF-B3DC-83F941CFB3F3}" srcOrd="0" destOrd="0" presId="urn:microsoft.com/office/officeart/2005/8/layout/hierarchy4"/>
    <dgm:cxn modelId="{34864022-D3B2-4D02-AE8A-EF83B42C048B}" type="presOf" srcId="{422B1139-F4AD-4855-ADFD-AD755307B473}" destId="{3E8EDD86-3591-430B-940F-FBB456D24BB0}" srcOrd="0" destOrd="0" presId="urn:microsoft.com/office/officeart/2005/8/layout/hierarchy4"/>
    <dgm:cxn modelId="{AAE2EA31-571F-47D8-98F8-95A05607C27F}" type="presOf" srcId="{3CEE4299-A978-479D-BBFD-E6BF48A3228B}" destId="{E0950581-1622-45C3-8CB1-AC5D973DFE70}" srcOrd="0" destOrd="0" presId="urn:microsoft.com/office/officeart/2005/8/layout/hierarchy4"/>
    <dgm:cxn modelId="{39F24C6D-919E-4687-8CA1-432A313FE8F7}" srcId="{A3A6A8DB-F014-4694-BC8A-35A268B476B0}" destId="{422B1139-F4AD-4855-ADFD-AD755307B473}" srcOrd="0" destOrd="0" parTransId="{20DEED63-519B-43B9-AADE-99813BC6FAFB}" sibTransId="{DF862FC2-DA71-4793-AA93-CD8540A02BA5}"/>
    <dgm:cxn modelId="{7AF6BB7A-AD79-491C-BCC3-8D509FCCEFC9}" srcId="{A3A6A8DB-F014-4694-BC8A-35A268B476B0}" destId="{89605B3A-581E-4031-9555-13717E1A612F}" srcOrd="1" destOrd="0" parTransId="{352A6D8E-543C-44EA-B39E-CA08CD31D6B3}" sibTransId="{2BBB3F79-CA58-4DD9-AC93-3F6F7807FDE6}"/>
    <dgm:cxn modelId="{308AB4BF-6E4C-42C8-9B89-9B7BF4D387B4}" type="presOf" srcId="{E228D0C8-EB30-4757-8F9B-BA18F819B44B}" destId="{A25D2872-B1A5-40D2-A056-EC9BE76740F0}" srcOrd="0" destOrd="0" presId="urn:microsoft.com/office/officeart/2005/8/layout/hierarchy4"/>
    <dgm:cxn modelId="{CE819DD6-E3CB-483B-8766-F6A8D43C51F8}" srcId="{A3A6A8DB-F014-4694-BC8A-35A268B476B0}" destId="{E228D0C8-EB30-4757-8F9B-BA18F819B44B}" srcOrd="2" destOrd="0" parTransId="{CD9517CA-6809-48CB-B930-739F3A7B3EDE}" sibTransId="{0435EE9B-FF57-43CE-898C-440B99D7BAB4}"/>
    <dgm:cxn modelId="{8847C3DA-1BA3-430B-BE7C-A08AF96EA4DD}" srcId="{3CEE4299-A978-479D-BBFD-E6BF48A3228B}" destId="{A3A6A8DB-F014-4694-BC8A-35A268B476B0}" srcOrd="0" destOrd="0" parTransId="{A2C5AEAC-5F35-43E2-B854-702E249180F6}" sibTransId="{9D3B3B6C-0C6F-460C-B84A-FEE8950CB3F6}"/>
    <dgm:cxn modelId="{7F0ED9F8-99A6-4619-80E4-01479AA11928}" type="presOf" srcId="{A3A6A8DB-F014-4694-BC8A-35A268B476B0}" destId="{13D5694A-BC28-478F-8086-603F7F33D36F}" srcOrd="0" destOrd="0" presId="urn:microsoft.com/office/officeart/2005/8/layout/hierarchy4"/>
    <dgm:cxn modelId="{60E27AEE-AE12-4FBD-9BA1-88A30BB12BEF}" type="presParOf" srcId="{E0950581-1622-45C3-8CB1-AC5D973DFE70}" destId="{E59A3460-4AD5-41F9-A12F-00D1214053A5}" srcOrd="0" destOrd="0" presId="urn:microsoft.com/office/officeart/2005/8/layout/hierarchy4"/>
    <dgm:cxn modelId="{01617C8B-E741-4A2D-BF90-3FFBEA8AA41A}" type="presParOf" srcId="{E59A3460-4AD5-41F9-A12F-00D1214053A5}" destId="{13D5694A-BC28-478F-8086-603F7F33D36F}" srcOrd="0" destOrd="0" presId="urn:microsoft.com/office/officeart/2005/8/layout/hierarchy4"/>
    <dgm:cxn modelId="{31F320AB-B480-409E-A328-C22B47708DB0}" type="presParOf" srcId="{E59A3460-4AD5-41F9-A12F-00D1214053A5}" destId="{BE29C935-52DF-4F7A-91B7-C3688D30FFE1}" srcOrd="1" destOrd="0" presId="urn:microsoft.com/office/officeart/2005/8/layout/hierarchy4"/>
    <dgm:cxn modelId="{39BB8E65-9EDB-495A-985B-47030F5B268A}" type="presParOf" srcId="{E59A3460-4AD5-41F9-A12F-00D1214053A5}" destId="{9EC36833-F5D0-4564-9204-E0948C6A86C0}" srcOrd="2" destOrd="0" presId="urn:microsoft.com/office/officeart/2005/8/layout/hierarchy4"/>
    <dgm:cxn modelId="{3B4A483A-4DB2-4A8C-8461-D09ECC57D6E6}" type="presParOf" srcId="{9EC36833-F5D0-4564-9204-E0948C6A86C0}" destId="{DB0BBAE4-1409-4937-B824-6606682E8A77}" srcOrd="0" destOrd="0" presId="urn:microsoft.com/office/officeart/2005/8/layout/hierarchy4"/>
    <dgm:cxn modelId="{253FA333-27EF-4BC3-B2CD-7EA7E5B73407}" type="presParOf" srcId="{DB0BBAE4-1409-4937-B824-6606682E8A77}" destId="{3E8EDD86-3591-430B-940F-FBB456D24BB0}" srcOrd="0" destOrd="0" presId="urn:microsoft.com/office/officeart/2005/8/layout/hierarchy4"/>
    <dgm:cxn modelId="{FBD9FF7A-B547-43E5-AEFE-464099DA1F28}" type="presParOf" srcId="{DB0BBAE4-1409-4937-B824-6606682E8A77}" destId="{DF4A093C-EB72-4AC5-9ADF-7978CE23453F}" srcOrd="1" destOrd="0" presId="urn:microsoft.com/office/officeart/2005/8/layout/hierarchy4"/>
    <dgm:cxn modelId="{5360BE26-CC75-4838-A0F0-BF45A40E14E0}" type="presParOf" srcId="{9EC36833-F5D0-4564-9204-E0948C6A86C0}" destId="{76A64844-9792-49E7-ADDA-AD940DCCF9D9}" srcOrd="1" destOrd="0" presId="urn:microsoft.com/office/officeart/2005/8/layout/hierarchy4"/>
    <dgm:cxn modelId="{C8E64E45-8F6D-42CD-81D6-DB8BB1C1EE5C}" type="presParOf" srcId="{9EC36833-F5D0-4564-9204-E0948C6A86C0}" destId="{38FF3262-0672-4662-8F2C-9ABF527A9522}" srcOrd="2" destOrd="0" presId="urn:microsoft.com/office/officeart/2005/8/layout/hierarchy4"/>
    <dgm:cxn modelId="{76CB856D-A432-430F-BEA1-8641E3A5A2D5}" type="presParOf" srcId="{38FF3262-0672-4662-8F2C-9ABF527A9522}" destId="{6786318D-AA40-45EF-B3DC-83F941CFB3F3}" srcOrd="0" destOrd="0" presId="urn:microsoft.com/office/officeart/2005/8/layout/hierarchy4"/>
    <dgm:cxn modelId="{862829BB-BDEE-4EA6-B7B6-24E594EB3876}" type="presParOf" srcId="{38FF3262-0672-4662-8F2C-9ABF527A9522}" destId="{B984965D-B24E-4B6B-82CF-238C67C5BF55}" srcOrd="1" destOrd="0" presId="urn:microsoft.com/office/officeart/2005/8/layout/hierarchy4"/>
    <dgm:cxn modelId="{1174F2E6-A924-48D5-98C3-B107DDDCE40A}" type="presParOf" srcId="{9EC36833-F5D0-4564-9204-E0948C6A86C0}" destId="{19B185D8-9ACC-4EFF-908B-73CB752D7A0D}" srcOrd="3" destOrd="0" presId="urn:microsoft.com/office/officeart/2005/8/layout/hierarchy4"/>
    <dgm:cxn modelId="{ACB620AA-7230-44E3-B1BB-B4C492544B73}" type="presParOf" srcId="{9EC36833-F5D0-4564-9204-E0948C6A86C0}" destId="{348F6429-C638-441E-9011-121621E4A816}" srcOrd="4" destOrd="0" presId="urn:microsoft.com/office/officeart/2005/8/layout/hierarchy4"/>
    <dgm:cxn modelId="{4EE38997-D256-401F-AA55-E731CE16E8A8}" type="presParOf" srcId="{348F6429-C638-441E-9011-121621E4A816}" destId="{A25D2872-B1A5-40D2-A056-EC9BE76740F0}" srcOrd="0" destOrd="0" presId="urn:microsoft.com/office/officeart/2005/8/layout/hierarchy4"/>
    <dgm:cxn modelId="{387C2832-BB23-4817-A904-8FC9E8806CE9}" type="presParOf" srcId="{348F6429-C638-441E-9011-121621E4A816}" destId="{FC99C6CC-0935-4749-8A61-02CBEF911CDE}"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858713-3C1B-4D43-ACCE-55EA9408495C}">
      <dsp:nvSpPr>
        <dsp:cNvPr id="0" name=""/>
        <dsp:cNvSpPr/>
      </dsp:nvSpPr>
      <dsp:spPr>
        <a:xfrm>
          <a:off x="3463" y="0"/>
          <a:ext cx="2016056" cy="478937"/>
        </a:xfrm>
        <a:prstGeom prst="chevron">
          <a:avLst/>
        </a:prstGeom>
        <a:solidFill>
          <a:schemeClr val="accent5">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CA" sz="1000" kern="1200"/>
            <a:t>Continuous presence across all 4 weeks of May 2019</a:t>
          </a:r>
        </a:p>
      </dsp:txBody>
      <dsp:txXfrm>
        <a:off x="242932" y="0"/>
        <a:ext cx="1537119" cy="478937"/>
      </dsp:txXfrm>
    </dsp:sp>
    <dsp:sp modelId="{5CD74721-305B-433D-8C36-53DBD162403D}">
      <dsp:nvSpPr>
        <dsp:cNvPr id="0" name=""/>
        <dsp:cNvSpPr/>
      </dsp:nvSpPr>
      <dsp:spPr>
        <a:xfrm>
          <a:off x="1817914" y="0"/>
          <a:ext cx="2016056" cy="478937"/>
        </a:xfrm>
        <a:prstGeom prst="chevron">
          <a:avLst/>
        </a:prstGeom>
        <a:solidFill>
          <a:schemeClr val="accent5">
            <a:shade val="50000"/>
            <a:hueOff val="167129"/>
            <a:satOff val="4478"/>
            <a:lumOff val="19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CA" sz="1000" kern="1200"/>
            <a:t>Minimum 100 instances total</a:t>
          </a:r>
        </a:p>
      </dsp:txBody>
      <dsp:txXfrm>
        <a:off x="2057383" y="0"/>
        <a:ext cx="1537119" cy="478937"/>
      </dsp:txXfrm>
    </dsp:sp>
    <dsp:sp modelId="{D0A5F7D7-52B5-4BCE-8C4A-427E24F12CB7}">
      <dsp:nvSpPr>
        <dsp:cNvPr id="0" name=""/>
        <dsp:cNvSpPr/>
      </dsp:nvSpPr>
      <dsp:spPr>
        <a:xfrm>
          <a:off x="3632364" y="0"/>
          <a:ext cx="2016056" cy="478937"/>
        </a:xfrm>
        <a:prstGeom prst="chevron">
          <a:avLst/>
        </a:prstGeom>
        <a:solidFill>
          <a:schemeClr val="accent5">
            <a:shade val="50000"/>
            <a:hueOff val="334258"/>
            <a:satOff val="8955"/>
            <a:lumOff val="394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CA" sz="1000" kern="1200"/>
            <a:t>Result: pool reduced from 1,886 → 608 eligible tenants</a:t>
          </a:r>
        </a:p>
      </dsp:txBody>
      <dsp:txXfrm>
        <a:off x="3871833" y="0"/>
        <a:ext cx="1537119" cy="478937"/>
      </dsp:txXfrm>
    </dsp:sp>
    <dsp:sp modelId="{1EE160CF-D896-4ABC-8821-53FEBFCF75CB}">
      <dsp:nvSpPr>
        <dsp:cNvPr id="0" name=""/>
        <dsp:cNvSpPr/>
      </dsp:nvSpPr>
      <dsp:spPr>
        <a:xfrm>
          <a:off x="5446815" y="0"/>
          <a:ext cx="2016056" cy="478937"/>
        </a:xfrm>
        <a:prstGeom prst="chevron">
          <a:avLst/>
        </a:prstGeom>
        <a:solidFill>
          <a:schemeClr val="accent5">
            <a:shade val="50000"/>
            <a:hueOff val="167129"/>
            <a:satOff val="4478"/>
            <a:lumOff val="19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CA" sz="1000" kern="1200"/>
            <a:t>608 → </a:t>
          </a:r>
          <a:r>
            <a:rPr lang="en-CA" sz="1000" kern="1200" noProof="0"/>
            <a:t>9 Selected tenants based on behaviour patterns</a:t>
          </a:r>
        </a:p>
      </dsp:txBody>
      <dsp:txXfrm>
        <a:off x="5686284" y="0"/>
        <a:ext cx="1537119" cy="4789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DF18E0-2A4D-4F25-997D-7995C78F0338}">
      <dsp:nvSpPr>
        <dsp:cNvPr id="0" name=""/>
        <dsp:cNvSpPr/>
      </dsp:nvSpPr>
      <dsp:spPr>
        <a:xfrm>
          <a:off x="0" y="0"/>
          <a:ext cx="2191157" cy="73249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CA" sz="1000" kern="1200"/>
            <a:t>Google Cluster-Usage Traces v3 — Cell A, May 2019</a:t>
          </a:r>
        </a:p>
      </dsp:txBody>
      <dsp:txXfrm>
        <a:off x="21454" y="21454"/>
        <a:ext cx="1338839" cy="689589"/>
      </dsp:txXfrm>
    </dsp:sp>
    <dsp:sp modelId="{5B6886AE-9873-4BB8-A360-A1D515E46F7C}">
      <dsp:nvSpPr>
        <dsp:cNvPr id="0" name=""/>
        <dsp:cNvSpPr/>
      </dsp:nvSpPr>
      <dsp:spPr>
        <a:xfrm>
          <a:off x="183509" y="865678"/>
          <a:ext cx="2191157" cy="73249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CA" sz="1000" kern="1200"/>
            <a:t>Accessed via BigQuery (google.com:google-cluster-data:clusterdata_2019_a)</a:t>
          </a:r>
        </a:p>
      </dsp:txBody>
      <dsp:txXfrm>
        <a:off x="204963" y="887132"/>
        <a:ext cx="1488616" cy="689589"/>
      </dsp:txXfrm>
    </dsp:sp>
    <dsp:sp modelId="{049A6C7F-4B2F-4052-A41E-FFCDCC41D3DD}">
      <dsp:nvSpPr>
        <dsp:cNvPr id="0" name=""/>
        <dsp:cNvSpPr/>
      </dsp:nvSpPr>
      <dsp:spPr>
        <a:xfrm>
          <a:off x="364279" y="1731357"/>
          <a:ext cx="2191157" cy="73249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CA" sz="1000" kern="1200"/>
            <a:t>Tables used: </a:t>
          </a:r>
          <a:r>
            <a:rPr lang="en-CA" sz="1000" kern="1200" err="1"/>
            <a:t>instance_usage</a:t>
          </a:r>
          <a:r>
            <a:rPr lang="en-CA" sz="1000" kern="1200"/>
            <a:t>, </a:t>
          </a:r>
          <a:r>
            <a:rPr lang="en-CA" sz="1000" kern="1200" err="1"/>
            <a:t>collection_events</a:t>
          </a:r>
          <a:r>
            <a:rPr lang="en-CA" sz="1000" kern="1200"/>
            <a:t>, </a:t>
          </a:r>
          <a:r>
            <a:rPr lang="en-CA" sz="1000" kern="1200" err="1"/>
            <a:t>instance_events</a:t>
          </a:r>
          <a:endParaRPr lang="en-CA" sz="1000" kern="1200"/>
        </a:p>
      </dsp:txBody>
      <dsp:txXfrm>
        <a:off x="385733" y="1752811"/>
        <a:ext cx="1491355" cy="689589"/>
      </dsp:txXfrm>
    </dsp:sp>
    <dsp:sp modelId="{FE92B9A7-176A-4358-8B7F-892B32E3F23A}">
      <dsp:nvSpPr>
        <dsp:cNvPr id="0" name=""/>
        <dsp:cNvSpPr/>
      </dsp:nvSpPr>
      <dsp:spPr>
        <a:xfrm>
          <a:off x="547789" y="2597036"/>
          <a:ext cx="2191157" cy="73249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CA" sz="1000" kern="1200"/>
            <a:t>31-day trace, ~microsecond-resolution timestamps, normalised resource units (NCU)</a:t>
          </a:r>
        </a:p>
      </dsp:txBody>
      <dsp:txXfrm>
        <a:off x="569243" y="2618490"/>
        <a:ext cx="1488616" cy="689589"/>
      </dsp:txXfrm>
    </dsp:sp>
    <dsp:sp modelId="{155E63CD-1A32-45DC-BB71-A95A03520723}">
      <dsp:nvSpPr>
        <dsp:cNvPr id="0" name=""/>
        <dsp:cNvSpPr/>
      </dsp:nvSpPr>
      <dsp:spPr>
        <a:xfrm>
          <a:off x="1715034" y="561026"/>
          <a:ext cx="476123" cy="476123"/>
        </a:xfrm>
        <a:prstGeom prst="downArrow">
          <a:avLst>
            <a:gd name="adj1" fmla="val 55000"/>
            <a:gd name="adj2" fmla="val 45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CA" sz="2100" kern="1200"/>
        </a:p>
      </dsp:txBody>
      <dsp:txXfrm>
        <a:off x="1822162" y="561026"/>
        <a:ext cx="261867" cy="358283"/>
      </dsp:txXfrm>
    </dsp:sp>
    <dsp:sp modelId="{EC733D05-AE71-4DF6-BBD0-887DB27743E2}">
      <dsp:nvSpPr>
        <dsp:cNvPr id="0" name=""/>
        <dsp:cNvSpPr/>
      </dsp:nvSpPr>
      <dsp:spPr>
        <a:xfrm>
          <a:off x="1898543" y="1426705"/>
          <a:ext cx="476123" cy="476123"/>
        </a:xfrm>
        <a:prstGeom prst="downArrow">
          <a:avLst>
            <a:gd name="adj1" fmla="val 55000"/>
            <a:gd name="adj2" fmla="val 45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CA" sz="2100" kern="1200"/>
        </a:p>
      </dsp:txBody>
      <dsp:txXfrm>
        <a:off x="2005671" y="1426705"/>
        <a:ext cx="261867" cy="358283"/>
      </dsp:txXfrm>
    </dsp:sp>
    <dsp:sp modelId="{4C24D7C6-BF07-4D2F-A1FB-11188C8E89E3}">
      <dsp:nvSpPr>
        <dsp:cNvPr id="0" name=""/>
        <dsp:cNvSpPr/>
      </dsp:nvSpPr>
      <dsp:spPr>
        <a:xfrm>
          <a:off x="2079314" y="2292384"/>
          <a:ext cx="476123" cy="476123"/>
        </a:xfrm>
        <a:prstGeom prst="downArrow">
          <a:avLst>
            <a:gd name="adj1" fmla="val 55000"/>
            <a:gd name="adj2" fmla="val 45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CA" sz="2100" kern="1200"/>
        </a:p>
      </dsp:txBody>
      <dsp:txXfrm>
        <a:off x="2186442" y="2292384"/>
        <a:ext cx="261867" cy="3582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D5694A-BC28-478F-8086-603F7F33D36F}">
      <dsp:nvSpPr>
        <dsp:cNvPr id="0" name=""/>
        <dsp:cNvSpPr/>
      </dsp:nvSpPr>
      <dsp:spPr>
        <a:xfrm>
          <a:off x="1880" y="1135"/>
          <a:ext cx="5229025" cy="1349715"/>
        </a:xfrm>
        <a:prstGeom prst="roundRect">
          <a:avLst>
            <a:gd name="adj" fmla="val 10000"/>
          </a:avLst>
        </a:prstGeom>
        <a:solidFill>
          <a:schemeClr val="accent5">
            <a:shade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CA" sz="1400" kern="1200"/>
            <a:t>Rather than a stratified random sample of instances, the dataset was constructed by extracting </a:t>
          </a:r>
          <a:r>
            <a:rPr lang="en-CA" sz="1400" b="1" kern="1200"/>
            <a:t>all activity belonging to 9 selected tenants in full</a:t>
          </a:r>
          <a:r>
            <a:rPr lang="en-CA" sz="1400" kern="1200"/>
            <a:t>. </a:t>
          </a:r>
        </a:p>
        <a:p>
          <a:pPr marL="0" lvl="0" indent="0" algn="ctr" defTabSz="622300">
            <a:lnSpc>
              <a:spcPct val="90000"/>
            </a:lnSpc>
            <a:spcBef>
              <a:spcPct val="0"/>
            </a:spcBef>
            <a:spcAft>
              <a:spcPct val="35000"/>
            </a:spcAft>
            <a:buNone/>
          </a:pPr>
          <a:r>
            <a:rPr lang="en-CA" sz="1400" kern="1200"/>
            <a:t>This design decision is motivated by the optimization model architecture:</a:t>
          </a:r>
        </a:p>
      </dsp:txBody>
      <dsp:txXfrm>
        <a:off x="41412" y="40667"/>
        <a:ext cx="5149961" cy="1270651"/>
      </dsp:txXfrm>
    </dsp:sp>
    <dsp:sp modelId="{3E8EDD86-3591-430B-940F-FBB456D24BB0}">
      <dsp:nvSpPr>
        <dsp:cNvPr id="0" name=""/>
        <dsp:cNvSpPr/>
      </dsp:nvSpPr>
      <dsp:spPr>
        <a:xfrm>
          <a:off x="1880" y="1490071"/>
          <a:ext cx="1650576" cy="1349715"/>
        </a:xfrm>
        <a:prstGeom prst="roundRect">
          <a:avLst>
            <a:gd name="adj" fmla="val 10000"/>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kern="1200" dirty="0"/>
            <a:t>The real-time MILP and plan-ahead MISOCP both operate at the tenant level — machines are assigned to tenant groups, not to individual jobs</a:t>
          </a:r>
        </a:p>
      </dsp:txBody>
      <dsp:txXfrm>
        <a:off x="41412" y="1529603"/>
        <a:ext cx="1571512" cy="1270651"/>
      </dsp:txXfrm>
    </dsp:sp>
    <dsp:sp modelId="{6786318D-AA40-45EF-B3DC-83F941CFB3F3}">
      <dsp:nvSpPr>
        <dsp:cNvPr id="0" name=""/>
        <dsp:cNvSpPr/>
      </dsp:nvSpPr>
      <dsp:spPr>
        <a:xfrm>
          <a:off x="1791105" y="1490071"/>
          <a:ext cx="1650576" cy="1349715"/>
        </a:xfrm>
        <a:prstGeom prst="roundRect">
          <a:avLst>
            <a:gd name="adj" fmla="val 10000"/>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kern="1200"/>
            <a:t>A stratified instance sample would break the temporal continuity of each tenant's workload, making it impossible to model demand patterns at the tenant-period level (u[</a:t>
          </a:r>
          <a:r>
            <a:rPr lang="en-CA" sz="900" kern="1200" err="1"/>
            <a:t>i,h</a:t>
          </a:r>
          <a:r>
            <a:rPr lang="en-CA" sz="900" kern="1200"/>
            <a:t>]) required by the plan-ahead model</a:t>
          </a:r>
        </a:p>
      </dsp:txBody>
      <dsp:txXfrm>
        <a:off x="1830637" y="1529603"/>
        <a:ext cx="1571512" cy="1270651"/>
      </dsp:txXfrm>
    </dsp:sp>
    <dsp:sp modelId="{A25D2872-B1A5-40D2-A056-EC9BE76740F0}">
      <dsp:nvSpPr>
        <dsp:cNvPr id="0" name=""/>
        <dsp:cNvSpPr/>
      </dsp:nvSpPr>
      <dsp:spPr>
        <a:xfrm>
          <a:off x="3580330" y="1490071"/>
          <a:ext cx="1650576" cy="1349715"/>
        </a:xfrm>
        <a:prstGeom prst="roundRect">
          <a:avLst>
            <a:gd name="adj" fmla="val 10000"/>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CA" sz="900" kern="1200" dirty="0"/>
            <a:t>Capturing full tenant lifecycles preserves job-to-job dependencies, relationships, and weekly demand cycles that are essential for LSTM sequence construction</a:t>
          </a:r>
        </a:p>
      </dsp:txBody>
      <dsp:txXfrm>
        <a:off x="3619862" y="1529603"/>
        <a:ext cx="1571512" cy="1270651"/>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5777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1C53B-9CF7-27CA-DD9C-5A47C736E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800D7-0841-D89A-40B3-5898AAB24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C1325-799A-63FB-141C-6C3B157D0F3B}"/>
              </a:ext>
            </a:extLst>
          </p:cNvPr>
          <p:cNvSpPr>
            <a:spLocks noGrp="1"/>
          </p:cNvSpPr>
          <p:nvPr>
            <p:ph type="body" idx="1"/>
          </p:nvPr>
        </p:nvSpPr>
        <p:spPr/>
        <p:txBody>
          <a:bodyPr/>
          <a:lstStyle/>
          <a:p>
            <a:r>
              <a:rPr lang="en-CA" dirty="0"/>
              <a:t>Each dot is one tenant from the cluster. The horizontal axis measures how much resources a tenant consumes overall (demand score — low on the left, high on the right). The vertical axis measures how unpredictable their usage is (spikiness/CV (coefficient of variance) — calm at the bottom, erratic at the top). Both axes are on a log scale because the values span several orders of magnitude.</a:t>
            </a:r>
          </a:p>
          <a:p>
            <a:r>
              <a:rPr lang="en-CA" b="1" dirty="0"/>
              <a:t>Why the 9 selected tenants cover the space</a:t>
            </a:r>
            <a:endParaRPr lang="en-CA" dirty="0"/>
          </a:p>
          <a:p>
            <a:r>
              <a:rPr lang="en-CA" dirty="0"/>
              <a:t>The grey dots are the 608 eligible tenants we did not select — they fill the middle of the chart. Our 9 selected tenants (the coloured shapes) deliberately sit at different corners and positions of that cloud:</a:t>
            </a:r>
          </a:p>
          <a:p>
            <a:pPr>
              <a:buFont typeface="Arial" panose="020B0604020202020204" pitchFamily="34" charset="0"/>
              <a:buChar char="•"/>
            </a:pPr>
            <a:r>
              <a:rPr lang="en-CA" b="1" dirty="0"/>
              <a:t>High-demand (red triangle)</a:t>
            </a:r>
            <a:r>
              <a:rPr lang="en-CA" dirty="0"/>
              <a:t> — far right, meaning the heaviest resource consumer in the cluster</a:t>
            </a:r>
          </a:p>
          <a:p>
            <a:pPr>
              <a:buFont typeface="Arial" panose="020B0604020202020204" pitchFamily="34" charset="0"/>
              <a:buChar char="•"/>
            </a:pPr>
            <a:r>
              <a:rPr lang="en-CA" b="1" dirty="0"/>
              <a:t>Spiky tenants (orange diamonds)</a:t>
            </a:r>
            <a:r>
              <a:rPr lang="en-CA" dirty="0"/>
              <a:t> — top of the chart, meaning the most erratic and unpredictable usage regardless of their demand level</a:t>
            </a:r>
          </a:p>
          <a:p>
            <a:pPr>
              <a:buFont typeface="Arial" panose="020B0604020202020204" pitchFamily="34" charset="0"/>
              <a:buChar char="•"/>
            </a:pPr>
            <a:r>
              <a:rPr lang="en-CA" b="1" dirty="0"/>
              <a:t>Stable tenants (purple crosses)</a:t>
            </a:r>
            <a:r>
              <a:rPr lang="en-CA" dirty="0"/>
              <a:t> — bottom of the chart, meaning very predictable flat usage</a:t>
            </a:r>
          </a:p>
          <a:p>
            <a:pPr>
              <a:buFont typeface="Arial" panose="020B0604020202020204" pitchFamily="34" charset="0"/>
              <a:buChar char="•"/>
            </a:pPr>
            <a:r>
              <a:rPr lang="en-CA" b="1" dirty="0"/>
              <a:t>Medium-demand (blue circles)</a:t>
            </a:r>
            <a:r>
              <a:rPr lang="en-CA" dirty="0"/>
              <a:t> — center of the cloud, representing the typical average tenant</a:t>
            </a:r>
          </a:p>
          <a:p>
            <a:pPr>
              <a:buFont typeface="Arial" panose="020B0604020202020204" pitchFamily="34" charset="0"/>
              <a:buChar char="•"/>
            </a:pPr>
            <a:r>
              <a:rPr lang="en-CA" b="1" dirty="0"/>
              <a:t>Low-demand (green squares)</a:t>
            </a:r>
            <a:r>
              <a:rPr lang="en-CA" dirty="0"/>
              <a:t> — far left, representing the lightest resource consumers</a:t>
            </a:r>
          </a:p>
          <a:p>
            <a:endParaRPr lang="en-CA" b="1" dirty="0"/>
          </a:p>
          <a:p>
            <a:r>
              <a:rPr lang="en-CA" b="1" dirty="0"/>
              <a:t>The key message for the slide</a:t>
            </a:r>
            <a:endParaRPr lang="en-CA" dirty="0"/>
          </a:p>
          <a:p>
            <a:r>
              <a:rPr lang="en-CA" dirty="0"/>
              <a:t>Rather than picking 9 random tenants, we selected tenants that sit at the extremes and the center of this behavioural space. This ensures the LSTM model is trained and tested on the full range of demand patterns the optimization model will encounter in production — from the most predictable to the most erratic, and from the lightest to the heaviest workloads.</a:t>
            </a:r>
          </a:p>
          <a:p>
            <a:endParaRPr lang="en-US" dirty="0"/>
          </a:p>
        </p:txBody>
      </p:sp>
      <p:sp>
        <p:nvSpPr>
          <p:cNvPr id="4" name="Slide Number Placeholder 3">
            <a:extLst>
              <a:ext uri="{FF2B5EF4-FFF2-40B4-BE49-F238E27FC236}">
                <a16:creationId xmlns:a16="http://schemas.microsoft.com/office/drawing/2014/main" id="{E977E519-E10E-C7EC-CF1A-80DE7B4D9ED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853710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9DB45-D433-6B23-343A-3F2D06F35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5B292-0515-1442-F694-0F15A1446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FA2D1-2C2C-FE18-B0E9-EB24B6141BCC}"/>
              </a:ext>
            </a:extLst>
          </p:cNvPr>
          <p:cNvSpPr>
            <a:spLocks noGrp="1"/>
          </p:cNvSpPr>
          <p:nvPr>
            <p:ph type="body" idx="1"/>
          </p:nvPr>
        </p:nvSpPr>
        <p:spPr/>
        <p:txBody>
          <a:bodyPr/>
          <a:lstStyle/>
          <a:p>
            <a:r>
              <a:rPr lang="en-CA" b="1"/>
              <a:t>Filters applied during extraction:</a:t>
            </a:r>
            <a:endParaRPr lang="en-CA"/>
          </a:p>
          <a:p>
            <a:pPr>
              <a:buFont typeface="Arial" panose="020B0604020202020204" pitchFamily="34" charset="0"/>
              <a:buChar char="•"/>
            </a:pPr>
            <a:r>
              <a:rPr lang="en-CA" err="1"/>
              <a:t>collection_type</a:t>
            </a:r>
            <a:r>
              <a:rPr lang="en-CA"/>
              <a:t> retained as-is (jobs and </a:t>
            </a:r>
            <a:r>
              <a:rPr lang="en-CA" err="1"/>
              <a:t>alloc</a:t>
            </a:r>
            <a:r>
              <a:rPr lang="en-CA"/>
              <a:t> sets both included)</a:t>
            </a:r>
          </a:p>
          <a:p>
            <a:pPr>
              <a:buFont typeface="Arial" panose="020B0604020202020204" pitchFamily="34" charset="0"/>
              <a:buChar char="•"/>
            </a:pPr>
            <a:r>
              <a:rPr lang="en-CA"/>
              <a:t>No zero-CPU or stability filters applied at extraction — all eligibility decisions deferred to preprocessing</a:t>
            </a:r>
          </a:p>
          <a:p>
            <a:pPr>
              <a:buFont typeface="Arial" panose="020B0604020202020204" pitchFamily="34" charset="0"/>
              <a:buChar char="•"/>
            </a:pPr>
            <a:r>
              <a:rPr lang="en-CA"/>
              <a:t>LOST terminal type retained in </a:t>
            </a:r>
            <a:r>
              <a:rPr lang="en-CA" err="1"/>
              <a:t>full_lifecycle</a:t>
            </a:r>
            <a:r>
              <a:rPr lang="en-CA"/>
              <a:t>; excluded from </a:t>
            </a:r>
            <a:r>
              <a:rPr lang="en-CA" err="1"/>
              <a:t>lstm_sequences</a:t>
            </a:r>
            <a:endParaRPr lang="en-CA"/>
          </a:p>
          <a:p>
            <a:pPr>
              <a:buFont typeface="Arial" panose="020B0604020202020204" pitchFamily="34" charset="0"/>
              <a:buChar char="•"/>
            </a:pPr>
            <a:r>
              <a:rPr lang="en-CA" err="1"/>
              <a:t>terminal_type</a:t>
            </a:r>
            <a:r>
              <a:rPr lang="en-CA"/>
              <a:t> retained as metadata only, not as an LSTM feature (future leakage risk)</a:t>
            </a:r>
          </a:p>
          <a:p>
            <a:endParaRPr lang="en-US"/>
          </a:p>
        </p:txBody>
      </p:sp>
      <p:sp>
        <p:nvSpPr>
          <p:cNvPr id="4" name="Slide Number Placeholder 3">
            <a:extLst>
              <a:ext uri="{FF2B5EF4-FFF2-40B4-BE49-F238E27FC236}">
                <a16:creationId xmlns:a16="http://schemas.microsoft.com/office/drawing/2014/main" id="{7E9D2CC3-E4B5-E16B-A7E7-CD31E003E1E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175298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9DB45-D433-6B23-343A-3F2D06F35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5B292-0515-1442-F694-0F15A1446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FA2D1-2C2C-FE18-B0E9-EB24B6141BCC}"/>
              </a:ext>
            </a:extLst>
          </p:cNvPr>
          <p:cNvSpPr>
            <a:spLocks noGrp="1"/>
          </p:cNvSpPr>
          <p:nvPr>
            <p:ph type="body" idx="1"/>
          </p:nvPr>
        </p:nvSpPr>
        <p:spPr/>
        <p:txBody>
          <a:bodyPr/>
          <a:lstStyle/>
          <a:p>
            <a:r>
              <a:rPr lang="en-CA" b="1" dirty="0"/>
              <a:t>Column Definitions</a:t>
            </a:r>
            <a:endParaRPr lang="en-CA" dirty="0"/>
          </a:p>
          <a:p>
            <a:pPr>
              <a:buFont typeface="Arial" panose="020B0604020202020204" pitchFamily="34" charset="0"/>
              <a:buChar char="•"/>
            </a:pPr>
            <a:r>
              <a:rPr lang="en-CA" b="1" dirty="0" err="1"/>
              <a:t>period_h</a:t>
            </a:r>
            <a:r>
              <a:rPr lang="en-CA" dirty="0"/>
              <a:t> — the 5-minute planning period index since the start of the trace. Period 1 is the first 5 minutes of May 1, period 8,929 is the last period of May 31.</a:t>
            </a:r>
          </a:p>
          <a:p>
            <a:pPr>
              <a:buFont typeface="Arial" panose="020B0604020202020204" pitchFamily="34" charset="0"/>
              <a:buChar char="•"/>
            </a:pPr>
            <a:r>
              <a:rPr lang="en-CA" b="1" dirty="0" err="1"/>
              <a:t>collection_id</a:t>
            </a:r>
            <a:r>
              <a:rPr lang="en-CA" dirty="0"/>
              <a:t> — unique identifier for the job. This is the unit of prediction for both optimization models.</a:t>
            </a:r>
          </a:p>
          <a:p>
            <a:pPr>
              <a:buFont typeface="Arial" panose="020B0604020202020204" pitchFamily="34" charset="0"/>
              <a:buChar char="•"/>
            </a:pPr>
            <a:r>
              <a:rPr lang="en-CA" b="1" dirty="0" err="1"/>
              <a:t>instance_index</a:t>
            </a:r>
            <a:r>
              <a:rPr lang="en-CA" dirty="0"/>
              <a:t> — position of the task within the job. Most jobs have only one task (index 0).</a:t>
            </a:r>
          </a:p>
          <a:p>
            <a:pPr>
              <a:buFont typeface="Arial" panose="020B0604020202020204" pitchFamily="34" charset="0"/>
              <a:buChar char="•"/>
            </a:pPr>
            <a:r>
              <a:rPr lang="en-CA" b="1" dirty="0"/>
              <a:t>tenant</a:t>
            </a:r>
            <a:r>
              <a:rPr lang="en-CA" dirty="0"/>
              <a:t> — the workload owner, mapped from the hashed user field. Used for plan-ahead aggregation, never an LSTM feature.</a:t>
            </a:r>
          </a:p>
          <a:p>
            <a:pPr>
              <a:buFont typeface="Arial" panose="020B0604020202020204" pitchFamily="34" charset="0"/>
              <a:buChar char="•"/>
            </a:pPr>
            <a:r>
              <a:rPr lang="en-CA" b="1" dirty="0" err="1"/>
              <a:t>avg_cpu</a:t>
            </a:r>
            <a:r>
              <a:rPr lang="en-CA" dirty="0"/>
              <a:t> — average CPU consumption during the 5-minute window, in normalised units (NCU).</a:t>
            </a:r>
          </a:p>
          <a:p>
            <a:pPr>
              <a:buFont typeface="Arial" panose="020B0604020202020204" pitchFamily="34" charset="0"/>
              <a:buChar char="•"/>
            </a:pPr>
            <a:r>
              <a:rPr lang="en-CA" b="1" dirty="0" err="1"/>
              <a:t>avg_mem</a:t>
            </a:r>
            <a:r>
              <a:rPr lang="en-CA" dirty="0"/>
              <a:t> — average memory consumption during the 5-minute window, in normalised bytes.</a:t>
            </a:r>
          </a:p>
          <a:p>
            <a:pPr>
              <a:buFont typeface="Arial" panose="020B0604020202020204" pitchFamily="34" charset="0"/>
              <a:buChar char="•"/>
            </a:pPr>
            <a:r>
              <a:rPr lang="en-CA" b="1" dirty="0"/>
              <a:t>p90_cpu</a:t>
            </a:r>
            <a:r>
              <a:rPr lang="en-CA" dirty="0"/>
              <a:t> — 90th percentile of CPU usage samples within the window. This is the direct source of the pred_cpu_p95 target variable for the real-time model.</a:t>
            </a:r>
          </a:p>
          <a:p>
            <a:pPr>
              <a:buFont typeface="Arial" panose="020B0604020202020204" pitchFamily="34" charset="0"/>
              <a:buChar char="•"/>
            </a:pPr>
            <a:r>
              <a:rPr lang="en-CA" b="1" dirty="0" err="1"/>
              <a:t>assigned_memory</a:t>
            </a:r>
            <a:r>
              <a:rPr lang="en-CA" dirty="0"/>
              <a:t> — the memory limit enforced by the OS kernel for this instance. Represents the ceiling the scheduler committed to this job.</a:t>
            </a:r>
          </a:p>
          <a:p>
            <a:pPr>
              <a:buFont typeface="Arial" panose="020B0604020202020204" pitchFamily="34" charset="0"/>
              <a:buChar char="•"/>
            </a:pPr>
            <a:r>
              <a:rPr lang="en-CA" b="1" dirty="0" err="1"/>
              <a:t>page_cache_memory</a:t>
            </a:r>
            <a:r>
              <a:rPr lang="en-CA" dirty="0"/>
              <a:t> — memory used for file caching by the OS on behalf of this instance. Included for completeness but not an LSTM feature.</a:t>
            </a:r>
          </a:p>
          <a:p>
            <a:pPr>
              <a:buFont typeface="Arial" panose="020B0604020202020204" pitchFamily="34" charset="0"/>
              <a:buChar char="•"/>
            </a:pPr>
            <a:r>
              <a:rPr lang="en-CA" b="1" dirty="0" err="1"/>
              <a:t>req_cpu</a:t>
            </a:r>
            <a:r>
              <a:rPr lang="en-CA" dirty="0"/>
              <a:t> — CPU amount the user declared when submitting the job. Often a poor predictor of actual usage (r = 0.069 correlation with </a:t>
            </a:r>
            <a:r>
              <a:rPr lang="en-CA" dirty="0" err="1"/>
              <a:t>max_cpu</a:t>
            </a:r>
            <a:r>
              <a:rPr lang="en-CA" dirty="0"/>
              <a:t>).</a:t>
            </a:r>
          </a:p>
          <a:p>
            <a:pPr>
              <a:buFont typeface="Arial" panose="020B0604020202020204" pitchFamily="34" charset="0"/>
              <a:buChar char="•"/>
            </a:pPr>
            <a:r>
              <a:rPr lang="en-CA" b="1" dirty="0" err="1"/>
              <a:t>req_memory</a:t>
            </a:r>
            <a:r>
              <a:rPr lang="en-CA" dirty="0"/>
              <a:t> — memory amount the user declared at submission. Moderate predictor of actual usage (r = 0.52 correlation with </a:t>
            </a:r>
            <a:r>
              <a:rPr lang="en-CA" dirty="0" err="1"/>
              <a:t>avg_mem</a:t>
            </a:r>
            <a:r>
              <a:rPr lang="en-CA" dirty="0"/>
              <a:t>).</a:t>
            </a:r>
          </a:p>
          <a:p>
            <a:pPr>
              <a:buFont typeface="Arial" panose="020B0604020202020204" pitchFamily="34" charset="0"/>
              <a:buChar char="•"/>
            </a:pPr>
            <a:r>
              <a:rPr lang="en-CA" b="1" dirty="0" err="1"/>
              <a:t>scheduling_class</a:t>
            </a:r>
            <a:r>
              <a:rPr lang="en-CA" dirty="0"/>
              <a:t> — job latency sensitivity tier: 0 = non-production, 2 = batch, 3 = latency-sensitive.</a:t>
            </a:r>
          </a:p>
          <a:p>
            <a:pPr>
              <a:buFont typeface="Arial" panose="020B0604020202020204" pitchFamily="34" charset="0"/>
              <a:buChar char="•"/>
            </a:pPr>
            <a:r>
              <a:rPr lang="en-CA" b="1" dirty="0" err="1"/>
              <a:t>instance_age_windows</a:t>
            </a:r>
            <a:r>
              <a:rPr lang="en-CA" dirty="0"/>
              <a:t> — how many 5-minute windows this instance has been running at the time of this record. Used to construct LSTM sequences.</a:t>
            </a:r>
          </a:p>
          <a:p>
            <a:pPr>
              <a:buFont typeface="Arial" panose="020B0604020202020204" pitchFamily="34" charset="0"/>
              <a:buChar char="•"/>
            </a:pPr>
            <a:r>
              <a:rPr lang="en-CA" b="1" dirty="0" err="1"/>
              <a:t>n_instances_in_collection</a:t>
            </a:r>
            <a:r>
              <a:rPr lang="en-CA" dirty="0"/>
              <a:t> — total number of tasks in this job. Drives the aggregation strategy: if &gt; 1, predictions are taken as max across all instances.</a:t>
            </a:r>
          </a:p>
          <a:p>
            <a:endParaRPr lang="en-US" dirty="0"/>
          </a:p>
          <a:p>
            <a:r>
              <a:rPr lang="en-CA" b="1" dirty="0"/>
              <a:t>Row 1 — High-demand, period 1</a:t>
            </a:r>
            <a:r>
              <a:rPr lang="en-CA" dirty="0"/>
              <a:t> This is a Batch job (</a:t>
            </a:r>
            <a:r>
              <a:rPr lang="en-CA" dirty="0" err="1"/>
              <a:t>scheduling_class</a:t>
            </a:r>
            <a:r>
              <a:rPr lang="en-CA" dirty="0"/>
              <a:t> = 2) from the heaviest tenant in the cluster, observed in the very first 5-minute window of the trace. It has 2 instances in the collection (</a:t>
            </a:r>
            <a:r>
              <a:rPr lang="en-CA" dirty="0" err="1"/>
              <a:t>n_instances_in_collection</a:t>
            </a:r>
            <a:r>
              <a:rPr lang="en-CA" dirty="0"/>
              <a:t> = 2) and has been running for exactly 1 window (</a:t>
            </a:r>
            <a:r>
              <a:rPr lang="en-CA" dirty="0" err="1"/>
              <a:t>instance_age</a:t>
            </a:r>
            <a:r>
              <a:rPr lang="en-CA" dirty="0"/>
              <a:t> = 1), meaning it just started. It requested 0.044 NCU of CPU and 0.0364 normalised bytes of memory, but is actually consuming 0.0111 NCU on average with a p90 spike of 0.014 — meaning its actual CPU usage is about 4× lower than what it declared. Memory consumption (0.0209) is also below the assigned limit (0.0364), suggesting the user over-requested resources, which is a common pattern in production clusters.</a:t>
            </a:r>
          </a:p>
          <a:p>
            <a:r>
              <a:rPr lang="en-CA" b="1" dirty="0"/>
              <a:t>Row 3 — Spiky-1, period 662</a:t>
            </a:r>
            <a:r>
              <a:rPr lang="en-CA" dirty="0"/>
              <a:t> This row illustrates exactly why Spiky-1 is classified as erratic. Both </a:t>
            </a:r>
            <a:r>
              <a:rPr lang="en-CA" dirty="0" err="1"/>
              <a:t>avg_cpu</a:t>
            </a:r>
            <a:r>
              <a:rPr lang="en-CA" dirty="0"/>
              <a:t> and </a:t>
            </a:r>
            <a:r>
              <a:rPr lang="en-CA" dirty="0" err="1"/>
              <a:t>avg_mem</a:t>
            </a:r>
            <a:r>
              <a:rPr lang="en-CA" dirty="0"/>
              <a:t> are zero, and p90_cpu is missing (NA) — meaning this instance was running but consuming no measurable resources during this particular 5-minute window. This is a known trace behaviour where a job is in RUNNING state but no process is actively executing, typically during idle waiting periods. Period 662 corresponds to roughly day 2 of the trace, </a:t>
            </a:r>
            <a:r>
              <a:rPr lang="en-CA" strike="sngStrike" dirty="0"/>
              <a:t>which falls in Spiky-1's near-zero activity phase before its burst event in weeks 4–5</a:t>
            </a:r>
            <a:r>
              <a:rPr lang="en-CA" dirty="0"/>
              <a:t>. This row would be excluded from LSTM training by the zero-CPU filter applied during preprocessing.</a:t>
            </a:r>
          </a:p>
          <a:p>
            <a:endParaRPr lang="en-US" dirty="0"/>
          </a:p>
        </p:txBody>
      </p:sp>
      <p:sp>
        <p:nvSpPr>
          <p:cNvPr id="4" name="Slide Number Placeholder 3">
            <a:extLst>
              <a:ext uri="{FF2B5EF4-FFF2-40B4-BE49-F238E27FC236}">
                <a16:creationId xmlns:a16="http://schemas.microsoft.com/office/drawing/2014/main" id="{7E9D2CC3-E4B5-E16B-A7E7-CD31E003E1E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447959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68C1B-7E6A-E20F-15DF-B85FC6DC9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6139E-396B-690A-4833-791F8A2EB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812C6E-1033-C1AF-9571-CF928A7E97B7}"/>
              </a:ext>
            </a:extLst>
          </p:cNvPr>
          <p:cNvSpPr>
            <a:spLocks noGrp="1"/>
          </p:cNvSpPr>
          <p:nvPr>
            <p:ph type="body" idx="1"/>
          </p:nvPr>
        </p:nvSpPr>
        <p:spPr/>
        <p:txBody>
          <a:bodyPr/>
          <a:lstStyle/>
          <a:p>
            <a:r>
              <a:rPr lang="en-CA" sz="1800">
                <a:effectLst/>
                <a:latin typeface="Arial" panose="020B0604020202020204" pitchFamily="34" charset="0"/>
                <a:ea typeface="Arial" panose="020B0604020202020204" pitchFamily="34" charset="0"/>
              </a:rPr>
              <a:t>All 9 tenants are present across all weeks, confirming the eligibility filter worked correctly. Stable-1, Stable-2, Medium-2, and High-demand show near-uniform weekly distributions (~22% per week), indicating consistent workload behaviour suitable for time-series modelling. One clear exception is Spiky-1 concentrates 89% of its rows in Week 5.</a:t>
            </a:r>
          </a:p>
          <a:p>
            <a:endParaRPr lang="en-CA" sz="1800">
              <a:effectLst/>
              <a:latin typeface="Arial" panose="020B0604020202020204" pitchFamily="34" charset="0"/>
              <a:ea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a:effectLst/>
                <a:latin typeface="Arial" panose="020B0604020202020204" pitchFamily="34" charset="0"/>
                <a:ea typeface="Arial" panose="020B0604020202020204" pitchFamily="34" charset="0"/>
              </a:rPr>
              <a:t>Most tenants distribute rows uniformly across weekdays (~14.3% per day is the expected baseline), however Spiky-1 is the clear difference with 41.4% of its rows on Thursday and 47.5% on Friday, confirming its activity is event-driven rather than continuous, and Low-2 shows a similar Friday concentration (38.6%).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a:effectLst/>
              <a:latin typeface="Arial" panose="020B0604020202020204" pitchFamily="34" charset="0"/>
              <a:ea typeface="Arial" panose="020B0604020202020204" pitchFamily="34" charset="0"/>
            </a:endParaRPr>
          </a:p>
          <a:p>
            <a:r>
              <a:rPr lang="en-CA" sz="2800">
                <a:effectLst/>
              </a:rPr>
              <a:t>Each panel is one tenant. The blue line is CPU (left axis) and the red line is memory (right axis) across the days of the week. Each tenant has its own scale so you can see the pattern within that tenant clearly — you cannot compare the height of bars across tenants, only the shape of the lines within each panel.</a:t>
            </a:r>
          </a:p>
          <a:p>
            <a:endParaRPr lang="en-CA" sz="2800">
              <a:effectLst/>
            </a:endParaRPr>
          </a:p>
          <a:p>
            <a:r>
              <a:rPr lang="en-CA" sz="2800" b="1">
                <a:effectLst/>
              </a:rPr>
              <a:t>Key stories per tenant group</a:t>
            </a:r>
            <a:endParaRPr lang="en-CA" sz="2800">
              <a:effectLst/>
            </a:endParaRPr>
          </a:p>
          <a:p>
            <a:r>
              <a:rPr lang="en-CA" sz="2800" b="1">
                <a:effectLst/>
              </a:rPr>
              <a:t>High-demand</a:t>
            </a:r>
            <a:r>
              <a:rPr lang="en-CA" sz="2800">
                <a:effectLst/>
              </a:rPr>
              <a:t> is the most dramatic panel. CPU peaks on Tuesday and drops sharply on Saturday–Sunday to about half its weekday level. Memory follows a similar but softer drop. This is the clearest business-hours workload in the dataset.</a:t>
            </a:r>
          </a:p>
          <a:p>
            <a:r>
              <a:rPr lang="en-CA" sz="2800" b="1">
                <a:effectLst/>
              </a:rPr>
              <a:t>Medium-1 and Medium-2</a:t>
            </a:r>
            <a:r>
              <a:rPr lang="en-CA" sz="2800">
                <a:effectLst/>
              </a:rPr>
              <a:t> are relatively flat across the week with minor fluctuations.</a:t>
            </a:r>
          </a:p>
          <a:p>
            <a:r>
              <a:rPr lang="en-CA" sz="2800" b="1">
                <a:effectLst/>
              </a:rPr>
              <a:t>Low-1 and Low-2</a:t>
            </a:r>
            <a:r>
              <a:rPr lang="en-CA" sz="2800">
                <a:effectLst/>
              </a:rPr>
              <a:t> show more erratic day-to-day patterns despite their small footprint. Low-2 has a notable Friday CPU spike. This is expected for small tenants where a single job starting or stopping creates a visible percentage change.</a:t>
            </a:r>
          </a:p>
          <a:p>
            <a:r>
              <a:rPr lang="en-CA" sz="2800" b="1">
                <a:effectLst/>
              </a:rPr>
              <a:t>Spiky-1</a:t>
            </a:r>
            <a:r>
              <a:rPr lang="en-CA" sz="2800">
                <a:effectLst/>
              </a:rPr>
              <a:t> shows an interesting divergence — CPU drops mid-week while memory climbs toward the weekend. This decoupling between CPU and memory is unusual and reflects the burst nature of this tenant where memory can linger after a CPU spike ends.</a:t>
            </a:r>
          </a:p>
          <a:p>
            <a:r>
              <a:rPr lang="en-CA" sz="2800" b="1">
                <a:effectLst/>
              </a:rPr>
              <a:t>Spiky-2</a:t>
            </a:r>
            <a:r>
              <a:rPr lang="en-CA" sz="2800">
                <a:effectLst/>
              </a:rPr>
              <a:t> shows a strong Monday CPU peak that drops through the week. Memory behaves somewhat independently again.</a:t>
            </a:r>
          </a:p>
          <a:p>
            <a:r>
              <a:rPr lang="en-CA" sz="2800" b="1">
                <a:effectLst/>
              </a:rPr>
              <a:t>Stable-1 and Stable-2</a:t>
            </a:r>
            <a:r>
              <a:rPr lang="en-CA" sz="2800">
                <a:effectLst/>
              </a:rPr>
              <a:t> are the flattest panels in the entire chart. Both CPU and memory lines are nearly horizontal across all seven days — visually confirming their near-zero coefficient of variation and why they serve as the predictable baseline in the dataset.</a:t>
            </a:r>
          </a:p>
          <a:p>
            <a:r>
              <a:rPr lang="en-CA" sz="2800" b="1">
                <a:effectLst/>
              </a:rPr>
              <a:t>The one-sentence takeaway for your slide:</a:t>
            </a:r>
            <a:endParaRPr lang="en-CA" sz="2800">
              <a:effectLst/>
            </a:endParaRPr>
          </a:p>
          <a:p>
            <a:r>
              <a:rPr lang="en-CA" sz="2800">
                <a:effectLst/>
              </a:rPr>
              <a:t>Each tenant has a distinct weekly fingerprint — from perfectly flat (Stable) to sharply business-hours driven (High-demand) to erratic and decoupled (Spiky) — confirming that day-of-week is a tenant-specific feature rather than a global cluster pattern, and that a single forecasting model must learn these individual behaviours separately.</a:t>
            </a:r>
            <a:endParaRPr lang="en-CA" sz="1800">
              <a:effectLst/>
              <a:latin typeface="Arial" panose="020B0604020202020204" pitchFamily="34" charset="0"/>
              <a:ea typeface="Arial" panose="020B0604020202020204" pitchFamily="34" charset="0"/>
            </a:endParaRPr>
          </a:p>
          <a:p>
            <a:endParaRPr lang="en-CA" sz="1800">
              <a:effectLst/>
              <a:latin typeface="Arial" panose="020B0604020202020204" pitchFamily="34" charset="0"/>
              <a:ea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4B1E1C2A-D027-5C58-4908-E984575A4B88}"/>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847184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68C1B-7E6A-E20F-15DF-B85FC6DC9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6139E-396B-690A-4833-791F8A2EB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812C6E-1033-C1AF-9571-CF928A7E97B7}"/>
              </a:ext>
            </a:extLst>
          </p:cNvPr>
          <p:cNvSpPr>
            <a:spLocks noGrp="1"/>
          </p:cNvSpPr>
          <p:nvPr>
            <p:ph type="body" idx="1"/>
          </p:nvPr>
        </p:nvSpPr>
        <p:spPr/>
        <p:txBody>
          <a:bodyPr/>
          <a:lstStyle/>
          <a:p>
            <a:pPr marL="0" indent="0">
              <a:buFont typeface="Arial" panose="020B0604020202020204" pitchFamily="34" charset="0"/>
              <a:buNone/>
            </a:pPr>
            <a:r>
              <a:rPr lang="en-CA" sz="4000"/>
              <a:t>The dashed line at 1.0 is the reference point meaning "no difference between weekdays and weekends." Every bar above 1.0 means that tenant uses </a:t>
            </a:r>
            <a:r>
              <a:rPr lang="en-CA" sz="4000" b="1"/>
              <a:t>more</a:t>
            </a:r>
            <a:r>
              <a:rPr lang="en-CA" sz="4000"/>
              <a:t> resources on weekends, every bar below 1.0 means they use </a:t>
            </a:r>
            <a:r>
              <a:rPr lang="en-CA" sz="4000" b="1"/>
              <a:t>less</a:t>
            </a:r>
            <a:r>
              <a:rPr lang="en-CA" sz="4000"/>
              <a:t> on weekends compared to weekdays.</a:t>
            </a:r>
            <a:endParaRPr lang="en-CA" sz="2800" b="1"/>
          </a:p>
          <a:p>
            <a:pPr marL="0" indent="0">
              <a:buFont typeface="Arial" panose="020B0604020202020204" pitchFamily="34" charset="0"/>
              <a:buNone/>
            </a:pPr>
            <a:endParaRPr lang="en-CA" sz="2800" b="1"/>
          </a:p>
          <a:p>
            <a:pPr marL="0" indent="0">
              <a:buFont typeface="Arial" panose="020B0604020202020204" pitchFamily="34" charset="0"/>
              <a:buNone/>
            </a:pPr>
            <a:r>
              <a:rPr lang="en-CA" sz="2800" b="1"/>
              <a:t>High-demand and Spiky-2</a:t>
            </a:r>
            <a:r>
              <a:rPr lang="en-CA" sz="2800"/>
              <a:t> have the lowest CPU bars (around 0.47 and 0.53) — meaning their CPU consumption nearly </a:t>
            </a:r>
            <a:r>
              <a:rPr lang="en-CA" sz="2800" b="1"/>
              <a:t>halves on weekends</a:t>
            </a:r>
            <a:r>
              <a:rPr lang="en-CA" sz="2800"/>
              <a:t>. These are clearly business-hours workloads that slow down when people are not at work.</a:t>
            </a:r>
          </a:p>
          <a:p>
            <a:r>
              <a:rPr lang="en-CA" sz="2800" b="1"/>
              <a:t>Medium-1 and Low 2</a:t>
            </a:r>
            <a:r>
              <a:rPr lang="en-CA" sz="2800"/>
              <a:t> are tenants whose CPU goes slightly </a:t>
            </a:r>
            <a:r>
              <a:rPr lang="en-CA" sz="2800" b="1"/>
              <a:t>above</a:t>
            </a:r>
            <a:r>
              <a:rPr lang="en-CA" sz="2800"/>
              <a:t> 1.0 on weekends — suggesting some of its process run more heavily over the weekend, possibly scheduled maintenance or data pipeline jobs.</a:t>
            </a:r>
          </a:p>
          <a:p>
            <a:r>
              <a:rPr lang="en-CA" sz="2800" b="1"/>
              <a:t>Stable-1 and Stable-2</a:t>
            </a:r>
            <a:r>
              <a:rPr lang="en-CA" sz="2800"/>
              <a:t> have both bars sitting right at 1.0 — meaning their resource usage is completely </a:t>
            </a:r>
            <a:r>
              <a:rPr lang="en-CA" sz="2800" b="1"/>
              <a:t>indifferent to the day of the week</a:t>
            </a:r>
            <a:r>
              <a:rPr lang="en-CA" sz="2800"/>
              <a:t>. This confirms they are always-on services running continuously regardless of business hours.</a:t>
            </a:r>
          </a:p>
          <a:p>
            <a:r>
              <a:rPr lang="en-CA" sz="2800" b="1"/>
              <a:t>Memory bars (orange) are much closer to 1.0 across all tenants</a:t>
            </a:r>
            <a:r>
              <a:rPr lang="en-CA" sz="2800"/>
              <a:t> compared to CPU bars (blue) — meaning memory consumption stays relatively constant regardless of the day, while CPU is the resource that fluctuates with human activity patterns.</a:t>
            </a:r>
          </a:p>
          <a:p>
            <a:r>
              <a:rPr lang="en-CA" sz="2800" b="1"/>
              <a:t>The one-sentence takeaway for your slide:</a:t>
            </a:r>
            <a:endParaRPr lang="en-CA" sz="2800"/>
          </a:p>
          <a:p>
            <a:r>
              <a:rPr lang="en-CA" sz="2800"/>
              <a:t>CPU demand is sensitive to business hours for most tenants, while memory remains stable — making weekday a useful feature for CPU forecasting but less critical for memory prediction.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800">
              <a:effectLst/>
              <a:latin typeface="Arial" panose="020B0604020202020204" pitchFamily="34" charset="0"/>
              <a:ea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800">
                <a:effectLst/>
                <a:latin typeface="Arial" panose="020B0604020202020204" pitchFamily="34" charset="0"/>
                <a:ea typeface="Arial" panose="020B0604020202020204" pitchFamily="34" charset="0"/>
              </a:rPr>
              <a:t>97.8% of collections are single-instance jobs, with a long-tail distribution reaching a maximum of 108 instances per collection. For the multi-instance collections, the intra-collection memory standard deviation reaches up to 0.048 normalised bytes, meaning instances within the same collection behave differently enough that they must be predicted individually and then aggregated to collection level by taking the max across instances (for the Real Time model).</a:t>
            </a:r>
          </a:p>
          <a:p>
            <a:pPr marL="285750" indent="-285750">
              <a:buFont typeface="Arial" panose="020B0604020202020204" pitchFamily="34" charset="0"/>
              <a:buChar char="•"/>
            </a:pPr>
            <a:r>
              <a:rPr lang="en-CA" sz="1800">
                <a:effectLst/>
                <a:latin typeface="Arial" panose="020B0604020202020204" pitchFamily="34" charset="0"/>
                <a:ea typeface="Arial" panose="020B0604020202020204" pitchFamily="34" charset="0"/>
              </a:rPr>
              <a:t>Instance duration is strongly bimodal: 78.7% of instances terminate within 5 minutes (median 0.3 min), while 1.5% run longer than one day </a:t>
            </a:r>
            <a:endParaRPr lang="en-US"/>
          </a:p>
        </p:txBody>
      </p:sp>
      <p:sp>
        <p:nvSpPr>
          <p:cNvPr id="4" name="Slide Number Placeholder 3">
            <a:extLst>
              <a:ext uri="{FF2B5EF4-FFF2-40B4-BE49-F238E27FC236}">
                <a16:creationId xmlns:a16="http://schemas.microsoft.com/office/drawing/2014/main" id="{4B1E1C2A-D027-5C58-4908-E984575A4B8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984302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5DFDD-1F01-FA7A-778A-775C5F82E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41E65-82EE-C871-0A78-7F79852FA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2E73FD-B2B7-5CD4-B9C8-DD98EDFA6C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3AB0E8-B368-B719-6A31-A574FA5EDE4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99895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68C1B-7E6A-E20F-15DF-B85FC6DC9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6139E-396B-690A-4833-791F8A2EB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812C6E-1033-C1AF-9571-CF928A7E97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1E1C2A-D027-5C58-4908-E984575A4B88}"/>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01044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95940-73AA-9D67-2D99-63636453F4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635AE1-7542-E1CB-D379-D0FCA69F6B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F04995-5C88-D5C4-471D-90B7234054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4F764A-4836-2466-84E2-79B8C2F76EC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660636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8129091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1852A-6998-8545-AE4C-5080C113F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30FA7-D38D-8764-C685-5FD04CF1BC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D3270-FCA8-8AF5-F49D-50469311A7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8738FF-3E2D-E683-FA63-0A6D2FEEF484}"/>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4211396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31A8B-0EC5-41BB-6D59-6978DE133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A80F7-E896-B54D-C0AF-1BC7DB2A6F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B706F5-339B-9621-2FB7-6DB3C1BFE4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8E534A-839F-9492-1483-32D5383F75DD}"/>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4344701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CA"/>
          </a:p>
        </p:txBody>
      </p:sp>
      <p:sp>
        <p:nvSpPr>
          <p:cNvPr id="3" name="Text 1"/>
          <p:cNvSpPr/>
          <p:nvPr/>
        </p:nvSpPr>
        <p:spPr>
          <a:xfrm>
            <a:off x="411480" y="1371600"/>
            <a:ext cx="8321040" cy="914400"/>
          </a:xfrm>
          <a:prstGeom prst="rect">
            <a:avLst/>
          </a:prstGeom>
          <a:noFill/>
          <a:ln/>
        </p:spPr>
        <p:txBody>
          <a:bodyPr wrap="square" lIns="91440" tIns="45720" rIns="91440" bIns="45720" rtlCol="0" anchor="ctr"/>
          <a:lstStyle/>
          <a:p>
            <a:pPr marL="0" indent="0">
              <a:buNone/>
            </a:pPr>
            <a:r>
              <a:rPr lang="en-US" sz="4400" b="1" kern="0" spc="300">
                <a:solidFill>
                  <a:srgbClr val="FFFFFF"/>
                </a:solidFill>
                <a:latin typeface="Calibri"/>
                <a:ea typeface="Calibri"/>
                <a:cs typeface="Calibri"/>
              </a:rPr>
              <a:t>PREDICTIVE LAYER</a:t>
            </a:r>
            <a:endParaRPr lang="en-US" sz="4400"/>
          </a:p>
        </p:txBody>
      </p:sp>
      <p:sp>
        <p:nvSpPr>
          <p:cNvPr id="4" name="Text 2"/>
          <p:cNvSpPr/>
          <p:nvPr/>
        </p:nvSpPr>
        <p:spPr>
          <a:xfrm>
            <a:off x="411480" y="2331720"/>
            <a:ext cx="8321040" cy="457200"/>
          </a:xfrm>
          <a:prstGeom prst="rect">
            <a:avLst/>
          </a:prstGeom>
          <a:noFill/>
          <a:ln/>
        </p:spPr>
        <p:txBody>
          <a:bodyPr wrap="square" rtlCol="0" anchor="ctr"/>
          <a:lstStyle/>
          <a:p>
            <a:pPr marL="0" indent="0">
              <a:buNone/>
            </a:pPr>
            <a:r>
              <a:rPr lang="en-US" sz="1800">
                <a:solidFill>
                  <a:srgbClr val="94D2BD"/>
                </a:solidFill>
                <a:latin typeface="Calibri" pitchFamily="34" charset="0"/>
                <a:ea typeface="Calibri" pitchFamily="34" charset="-122"/>
                <a:cs typeface="Calibri" pitchFamily="34" charset="-120"/>
              </a:rPr>
              <a:t>LSTM Resource Forecasting</a:t>
            </a:r>
            <a:endParaRPr lang="en-US" sz="1800"/>
          </a:p>
        </p:txBody>
      </p:sp>
      <p:sp>
        <p:nvSpPr>
          <p:cNvPr id="5" name="Shape 3"/>
          <p:cNvSpPr/>
          <p:nvPr/>
        </p:nvSpPr>
        <p:spPr>
          <a:xfrm>
            <a:off x="411480" y="2880360"/>
            <a:ext cx="2286000" cy="54864"/>
          </a:xfrm>
          <a:prstGeom prst="rect">
            <a:avLst/>
          </a:prstGeom>
          <a:solidFill>
            <a:srgbClr val="0A9396"/>
          </a:solidFill>
          <a:ln w="12700">
            <a:solidFill>
              <a:srgbClr val="0A9396"/>
            </a:solidFill>
            <a:prstDash val="solid"/>
          </a:ln>
        </p:spPr>
        <p:txBody>
          <a:bodyPr/>
          <a:lstStyle/>
          <a:p>
            <a:endParaRPr lang="en-CA"/>
          </a:p>
        </p:txBody>
      </p:sp>
      <p:sp>
        <p:nvSpPr>
          <p:cNvPr id="6" name="Text 7">
            <a:extLst>
              <a:ext uri="{FF2B5EF4-FFF2-40B4-BE49-F238E27FC236}">
                <a16:creationId xmlns:a16="http://schemas.microsoft.com/office/drawing/2014/main" id="{BE73F5DC-C6F7-4748-9DA8-A8C479FC6013}"/>
              </a:ext>
            </a:extLst>
          </p:cNvPr>
          <p:cNvSpPr/>
          <p:nvPr/>
        </p:nvSpPr>
        <p:spPr>
          <a:xfrm>
            <a:off x="548640" y="3079462"/>
            <a:ext cx="7772400" cy="1401097"/>
          </a:xfrm>
          <a:prstGeom prst="rect">
            <a:avLst/>
          </a:prstGeom>
          <a:noFill/>
          <a:ln/>
        </p:spPr>
        <p:txBody>
          <a:bodyPr wrap="square" lIns="91440" tIns="45720" rIns="91440" bIns="45720" rtlCol="0" anchor="t"/>
          <a:lstStyle/>
          <a:p>
            <a:pPr marL="0" indent="0">
              <a:buNone/>
            </a:pPr>
            <a:r>
              <a:rPr lang="en-US" sz="1300" b="1">
                <a:solidFill>
                  <a:srgbClr val="94A3B8"/>
                </a:solidFill>
                <a:latin typeface="Calibri"/>
                <a:ea typeface="Calibri"/>
                <a:cs typeface="Calibri"/>
              </a:rPr>
              <a:t>Course: </a:t>
            </a:r>
            <a:r>
              <a:rPr lang="en-US" sz="1300">
                <a:solidFill>
                  <a:srgbClr val="FFFFFF"/>
                </a:solidFill>
                <a:latin typeface="Calibri"/>
                <a:ea typeface="Calibri"/>
                <a:cs typeface="Calibri"/>
              </a:rPr>
              <a:t>DAMO 699 — Capstone Project
</a:t>
            </a:r>
            <a:r>
              <a:rPr lang="en-US" sz="1300" b="1">
                <a:solidFill>
                  <a:srgbClr val="94A3B8"/>
                </a:solidFill>
                <a:latin typeface="Calibri"/>
                <a:ea typeface="Calibri"/>
                <a:cs typeface="Calibri"/>
              </a:rPr>
              <a:t>Project: </a:t>
            </a:r>
            <a:r>
              <a:rPr lang="en-CA" sz="1300">
                <a:solidFill>
                  <a:srgbClr val="FFFFFF"/>
                </a:solidFill>
                <a:latin typeface="Calibri"/>
                <a:ea typeface="Calibri"/>
                <a:cs typeface="Calibri"/>
              </a:rPr>
              <a:t>Optimal Shared Memory Utilization with Service Level Guarantees in Multi-Tenant Clusters</a:t>
            </a:r>
            <a:r>
              <a:rPr lang="en-US" sz="1300">
                <a:solidFill>
                  <a:srgbClr val="FFFFFF"/>
                </a:solidFill>
                <a:latin typeface="Calibri"/>
                <a:ea typeface="Calibri"/>
                <a:cs typeface="Calibri"/>
              </a:rPr>
              <a:t>
</a:t>
            </a:r>
            <a:endParaRPr lang="en-US" sz="1300">
              <a:solidFill>
                <a:srgbClr val="F0F4F8"/>
              </a:solidFill>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txBody>
          <a:bodyPr/>
          <a:lstStyle/>
          <a:p>
            <a:endParaRPr lang="en-CA"/>
          </a:p>
        </p:txBody>
      </p:sp>
      <p:sp>
        <p:nvSpPr>
          <p:cNvPr id="3" name="Text 1"/>
          <p:cNvSpPr/>
          <p:nvPr/>
        </p:nvSpPr>
        <p:spPr>
          <a:xfrm>
            <a:off x="411480" y="1920240"/>
            <a:ext cx="8321040" cy="822960"/>
          </a:xfrm>
          <a:prstGeom prst="rect">
            <a:avLst/>
          </a:prstGeom>
          <a:noFill/>
          <a:ln/>
        </p:spPr>
        <p:txBody>
          <a:bodyPr wrap="square" rtlCol="0" anchor="ctr"/>
          <a:lstStyle/>
          <a:p>
            <a:pPr marL="0" indent="0">
              <a:buNone/>
            </a:pPr>
            <a:r>
              <a:rPr lang="en-US" sz="3800" b="1">
                <a:solidFill>
                  <a:srgbClr val="FFFFFF"/>
                </a:solidFill>
                <a:latin typeface="Calibri" pitchFamily="34" charset="0"/>
                <a:ea typeface="Calibri" pitchFamily="34" charset="-122"/>
                <a:cs typeface="Calibri" pitchFamily="34" charset="-120"/>
              </a:rPr>
              <a:t>Data Extraction</a:t>
            </a:r>
            <a:endParaRPr lang="en-US" sz="3800"/>
          </a:p>
        </p:txBody>
      </p:sp>
      <p:sp>
        <p:nvSpPr>
          <p:cNvPr id="4" name="Text 2"/>
          <p:cNvSpPr/>
          <p:nvPr/>
        </p:nvSpPr>
        <p:spPr>
          <a:xfrm>
            <a:off x="411480" y="2834640"/>
            <a:ext cx="8321040" cy="365760"/>
          </a:xfrm>
          <a:prstGeom prst="rect">
            <a:avLst/>
          </a:prstGeom>
          <a:noFill/>
          <a:ln/>
        </p:spPr>
        <p:txBody>
          <a:bodyPr wrap="square" rtlCol="0" anchor="ctr"/>
          <a:lstStyle/>
          <a:p>
            <a:pPr marL="0" indent="0">
              <a:buNone/>
            </a:pPr>
            <a:r>
              <a:rPr lang="en-US" sz="1600">
                <a:solidFill>
                  <a:srgbClr val="94A3B8"/>
                </a:solidFill>
                <a:latin typeface="Calibri" pitchFamily="34" charset="0"/>
                <a:ea typeface="Calibri" pitchFamily="34" charset="-122"/>
                <a:cs typeface="Calibri" pitchFamily="34" charset="-120"/>
              </a:rPr>
              <a:t>Tenant Selection · Dataset Construction · Final Dataset Overview</a:t>
            </a:r>
            <a:endParaRPr 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D0745-5210-7A2F-8A7C-243F9F9184C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9E65C0-6218-46F1-AEE6-DA1B04248EA5}"/>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CA"/>
          </a:p>
        </p:txBody>
      </p:sp>
      <p:sp>
        <p:nvSpPr>
          <p:cNvPr id="3" name="Shape 1">
            <a:extLst>
              <a:ext uri="{FF2B5EF4-FFF2-40B4-BE49-F238E27FC236}">
                <a16:creationId xmlns:a16="http://schemas.microsoft.com/office/drawing/2014/main" id="{D9E0A1CA-5392-6F4F-9D41-813CBF74EE33}"/>
              </a:ext>
            </a:extLst>
          </p:cNvPr>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CA"/>
          </a:p>
        </p:txBody>
      </p:sp>
      <p:sp>
        <p:nvSpPr>
          <p:cNvPr id="4" name="Text 1">
            <a:extLst>
              <a:ext uri="{FF2B5EF4-FFF2-40B4-BE49-F238E27FC236}">
                <a16:creationId xmlns:a16="http://schemas.microsoft.com/office/drawing/2014/main" id="{15D7EC95-B769-E70B-B500-F002F5C4C467}"/>
              </a:ext>
            </a:extLst>
          </p:cNvPr>
          <p:cNvSpPr/>
          <p:nvPr/>
        </p:nvSpPr>
        <p:spPr>
          <a:xfrm>
            <a:off x="164591" y="68580"/>
            <a:ext cx="8843941" cy="822960"/>
          </a:xfrm>
          <a:prstGeom prst="rect">
            <a:avLst/>
          </a:prstGeom>
          <a:noFill/>
          <a:ln/>
        </p:spPr>
        <p:txBody>
          <a:bodyPr wrap="square" rtlCol="0" anchor="ctr"/>
          <a:lstStyle/>
          <a:p>
            <a:r>
              <a:rPr lang="en-US" sz="3600" b="1">
                <a:solidFill>
                  <a:srgbClr val="FFFFFF"/>
                </a:solidFill>
                <a:latin typeface="Calibri" pitchFamily="34" charset="0"/>
                <a:ea typeface="Calibri" pitchFamily="34" charset="-122"/>
                <a:cs typeface="Calibri" pitchFamily="34" charset="-120"/>
              </a:rPr>
              <a:t>Tenant Selection: </a:t>
            </a:r>
            <a:r>
              <a:rPr lang="en-CA" sz="2000" i="1">
                <a:solidFill>
                  <a:srgbClr val="FFFFFF"/>
                </a:solidFill>
                <a:latin typeface="Calibri" pitchFamily="34" charset="0"/>
                <a:ea typeface="Calibri" pitchFamily="34" charset="-122"/>
                <a:cs typeface="Calibri" pitchFamily="34" charset="-120"/>
              </a:rPr>
              <a:t>Selecting 9 Representative Tenants from 1,886</a:t>
            </a:r>
            <a:endParaRPr lang="en-US" sz="3600" i="1"/>
          </a:p>
        </p:txBody>
      </p:sp>
      <p:graphicFrame>
        <p:nvGraphicFramePr>
          <p:cNvPr id="5" name="Diagram 4">
            <a:extLst>
              <a:ext uri="{FF2B5EF4-FFF2-40B4-BE49-F238E27FC236}">
                <a16:creationId xmlns:a16="http://schemas.microsoft.com/office/drawing/2014/main" id="{DF5729CA-4E7E-4278-9C6A-5D05B987D93B}"/>
              </a:ext>
            </a:extLst>
          </p:cNvPr>
          <p:cNvGraphicFramePr/>
          <p:nvPr>
            <p:extLst>
              <p:ext uri="{D42A27DB-BD31-4B8C-83A1-F6EECF244321}">
                <p14:modId xmlns:p14="http://schemas.microsoft.com/office/powerpoint/2010/main" val="3687624571"/>
              </p:ext>
            </p:extLst>
          </p:nvPr>
        </p:nvGraphicFramePr>
        <p:xfrm>
          <a:off x="1542196" y="1035523"/>
          <a:ext cx="7466335" cy="4789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26" name="Picture 2">
            <a:extLst>
              <a:ext uri="{FF2B5EF4-FFF2-40B4-BE49-F238E27FC236}">
                <a16:creationId xmlns:a16="http://schemas.microsoft.com/office/drawing/2014/main" id="{4F915BED-BCB0-480A-A261-01BF970E26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9727" y="1800880"/>
            <a:ext cx="5366182" cy="3092570"/>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8" name="Text 2">
            <a:extLst>
              <a:ext uri="{FF2B5EF4-FFF2-40B4-BE49-F238E27FC236}">
                <a16:creationId xmlns:a16="http://schemas.microsoft.com/office/drawing/2014/main" id="{E63178DC-DF9E-4802-B8E4-BB1465391290}"/>
              </a:ext>
            </a:extLst>
          </p:cNvPr>
          <p:cNvSpPr/>
          <p:nvPr/>
        </p:nvSpPr>
        <p:spPr>
          <a:xfrm>
            <a:off x="268091" y="1056281"/>
            <a:ext cx="1128025" cy="458179"/>
          </a:xfrm>
          <a:prstGeom prst="rect">
            <a:avLst/>
          </a:prstGeom>
          <a:noFill/>
          <a:ln/>
        </p:spPr>
        <p:txBody>
          <a:bodyPr wrap="square" rtlCol="0" anchor="ctr"/>
          <a:lstStyle/>
          <a:p>
            <a:pPr algn="ctr"/>
            <a:r>
              <a:rPr lang="en-US" sz="1600" b="1">
                <a:solidFill>
                  <a:srgbClr val="002060"/>
                </a:solidFill>
                <a:latin typeface="Calibri" pitchFamily="34" charset="0"/>
                <a:ea typeface="Calibri" pitchFamily="34" charset="-122"/>
                <a:cs typeface="Calibri" pitchFamily="34" charset="-120"/>
              </a:rPr>
              <a:t>Eligibility Filters →</a:t>
            </a:r>
          </a:p>
        </p:txBody>
      </p:sp>
      <p:graphicFrame>
        <p:nvGraphicFramePr>
          <p:cNvPr id="6" name="Table 5">
            <a:extLst>
              <a:ext uri="{FF2B5EF4-FFF2-40B4-BE49-F238E27FC236}">
                <a16:creationId xmlns:a16="http://schemas.microsoft.com/office/drawing/2014/main" id="{E87B7459-8CEE-4BB8-8F93-3CF022799F8E}"/>
              </a:ext>
            </a:extLst>
          </p:cNvPr>
          <p:cNvGraphicFramePr>
            <a:graphicFrameLocks noGrp="1"/>
          </p:cNvGraphicFramePr>
          <p:nvPr>
            <p:extLst>
              <p:ext uri="{D42A27DB-BD31-4B8C-83A1-F6EECF244321}">
                <p14:modId xmlns:p14="http://schemas.microsoft.com/office/powerpoint/2010/main" val="611930168"/>
              </p:ext>
            </p:extLst>
          </p:nvPr>
        </p:nvGraphicFramePr>
        <p:xfrm>
          <a:off x="302847" y="2373191"/>
          <a:ext cx="2963691" cy="1447160"/>
        </p:xfrm>
        <a:graphic>
          <a:graphicData uri="http://schemas.openxmlformats.org/drawingml/2006/table">
            <a:tbl>
              <a:tblPr/>
              <a:tblGrid>
                <a:gridCol w="1022668">
                  <a:extLst>
                    <a:ext uri="{9D8B030D-6E8A-4147-A177-3AD203B41FA5}">
                      <a16:colId xmlns:a16="http://schemas.microsoft.com/office/drawing/2014/main" val="2237064712"/>
                    </a:ext>
                  </a:extLst>
                </a:gridCol>
                <a:gridCol w="698557">
                  <a:extLst>
                    <a:ext uri="{9D8B030D-6E8A-4147-A177-3AD203B41FA5}">
                      <a16:colId xmlns:a16="http://schemas.microsoft.com/office/drawing/2014/main" val="2074712626"/>
                    </a:ext>
                  </a:extLst>
                </a:gridCol>
                <a:gridCol w="1242466">
                  <a:extLst>
                    <a:ext uri="{9D8B030D-6E8A-4147-A177-3AD203B41FA5}">
                      <a16:colId xmlns:a16="http://schemas.microsoft.com/office/drawing/2014/main" val="3194061571"/>
                    </a:ext>
                  </a:extLst>
                </a:gridCol>
              </a:tblGrid>
              <a:tr h="177022">
                <a:tc>
                  <a:txBody>
                    <a:bodyPr/>
                    <a:lstStyle/>
                    <a:p>
                      <a:r>
                        <a:rPr lang="en-CA" sz="900" b="1"/>
                        <a:t>Category</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r>
                        <a:rPr lang="en-CA" sz="900" b="1"/>
                        <a:t># Selected</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r>
                        <a:rPr lang="en-CA" sz="900" b="1"/>
                        <a:t>Demand Percentile</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12760046"/>
                  </a:ext>
                </a:extLst>
              </a:tr>
              <a:tr h="177022">
                <a:tc>
                  <a:txBody>
                    <a:bodyPr/>
                    <a:lstStyle/>
                    <a:p>
                      <a:r>
                        <a:rPr lang="en-CA" sz="900"/>
                        <a:t>High-demand</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r>
                        <a:rPr lang="en-CA" sz="900"/>
                        <a:t>1</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r>
                        <a:rPr lang="en-CA" sz="900"/>
                        <a:t>(p94.1%)</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2700555288"/>
                  </a:ext>
                </a:extLst>
              </a:tr>
              <a:tr h="266380">
                <a:tc>
                  <a:txBody>
                    <a:bodyPr/>
                    <a:lstStyle/>
                    <a:p>
                      <a:r>
                        <a:rPr lang="en-CA" sz="900"/>
                        <a:t>Medium-demand</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r>
                        <a:rPr lang="en-CA" sz="900"/>
                        <a:t>2</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r>
                        <a:rPr lang="en-CA" sz="900"/>
                        <a:t>(p50.0%, p50.2%)</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593001870"/>
                  </a:ext>
                </a:extLst>
              </a:tr>
              <a:tr h="266380">
                <a:tc>
                  <a:txBody>
                    <a:bodyPr/>
                    <a:lstStyle/>
                    <a:p>
                      <a:r>
                        <a:rPr lang="en-CA" sz="900"/>
                        <a:t>Low-demand</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r>
                        <a:rPr lang="en-CA" sz="900"/>
                        <a:t>2</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r>
                        <a:rPr lang="en-CA" sz="900"/>
                        <a:t>(p10.3%, p9.5%)</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3774077237"/>
                  </a:ext>
                </a:extLst>
              </a:tr>
              <a:tr h="177022">
                <a:tc>
                  <a:txBody>
                    <a:bodyPr/>
                    <a:lstStyle/>
                    <a:p>
                      <a:r>
                        <a:rPr lang="en-CA" sz="900"/>
                        <a:t>Spiky</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r>
                        <a:rPr lang="en-CA" sz="900"/>
                        <a:t>2</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r>
                        <a:rPr lang="en-CA" sz="900"/>
                        <a:t>(p99.8%, p99.6%)</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300090932"/>
                  </a:ext>
                </a:extLst>
              </a:tr>
              <a:tr h="177022">
                <a:tc>
                  <a:txBody>
                    <a:bodyPr/>
                    <a:lstStyle/>
                    <a:p>
                      <a:r>
                        <a:rPr lang="en-CA" sz="900"/>
                        <a:t>Stable</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r>
                        <a:rPr lang="en-CA" sz="900"/>
                        <a:t>2</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r>
                        <a:rPr lang="en-CA" sz="900"/>
                        <a:t>(p94.1%, p88.9%)</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3994302176"/>
                  </a:ext>
                </a:extLst>
              </a:tr>
            </a:tbl>
          </a:graphicData>
        </a:graphic>
      </p:graphicFrame>
      <p:sp>
        <p:nvSpPr>
          <p:cNvPr id="11" name="TextBox 10">
            <a:extLst>
              <a:ext uri="{FF2B5EF4-FFF2-40B4-BE49-F238E27FC236}">
                <a16:creationId xmlns:a16="http://schemas.microsoft.com/office/drawing/2014/main" id="{8BA6A051-3E7E-4861-A0DE-CFC23565D88B}"/>
              </a:ext>
            </a:extLst>
          </p:cNvPr>
          <p:cNvSpPr txBox="1"/>
          <p:nvPr/>
        </p:nvSpPr>
        <p:spPr>
          <a:xfrm>
            <a:off x="268091" y="3832691"/>
            <a:ext cx="2962783" cy="338554"/>
          </a:xfrm>
          <a:prstGeom prst="rect">
            <a:avLst/>
          </a:prstGeom>
          <a:noFill/>
        </p:spPr>
        <p:txBody>
          <a:bodyPr wrap="square">
            <a:spAutoFit/>
          </a:bodyPr>
          <a:lstStyle/>
          <a:p>
            <a:pPr lvl="0"/>
            <a:r>
              <a:rPr lang="en-CA" sz="800" i="1"/>
              <a:t>*Percentile anchors computed on full 1,886-tenant universe to avoid selection bias</a:t>
            </a:r>
          </a:p>
        </p:txBody>
      </p:sp>
    </p:spTree>
    <p:extLst>
      <p:ext uri="{BB962C8B-B14F-4D97-AF65-F5344CB8AC3E}">
        <p14:creationId xmlns:p14="http://schemas.microsoft.com/office/powerpoint/2010/main" val="1349088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DB04C-E271-F256-1F66-CF62F3C5436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F0751FD-832C-117D-22A8-38EFE823D895}"/>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CA"/>
          </a:p>
        </p:txBody>
      </p:sp>
      <p:sp>
        <p:nvSpPr>
          <p:cNvPr id="3" name="Shape 1">
            <a:extLst>
              <a:ext uri="{FF2B5EF4-FFF2-40B4-BE49-F238E27FC236}">
                <a16:creationId xmlns:a16="http://schemas.microsoft.com/office/drawing/2014/main" id="{D899864D-DC24-1A3D-53F3-251A2B447B20}"/>
              </a:ext>
            </a:extLst>
          </p:cNvPr>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CA"/>
          </a:p>
        </p:txBody>
      </p:sp>
      <p:sp>
        <p:nvSpPr>
          <p:cNvPr id="10" name="Text 2">
            <a:extLst>
              <a:ext uri="{FF2B5EF4-FFF2-40B4-BE49-F238E27FC236}">
                <a16:creationId xmlns:a16="http://schemas.microsoft.com/office/drawing/2014/main" id="{50C2C3E3-6D09-D539-1AB4-659A87B67760}"/>
              </a:ext>
            </a:extLst>
          </p:cNvPr>
          <p:cNvSpPr/>
          <p:nvPr/>
        </p:nvSpPr>
        <p:spPr>
          <a:xfrm>
            <a:off x="338610" y="1302496"/>
            <a:ext cx="1727516" cy="365760"/>
          </a:xfrm>
          <a:prstGeom prst="rect">
            <a:avLst/>
          </a:prstGeom>
          <a:noFill/>
          <a:ln/>
        </p:spPr>
        <p:txBody>
          <a:bodyPr wrap="square" rtlCol="0" anchor="ctr"/>
          <a:lstStyle/>
          <a:p>
            <a:r>
              <a:rPr lang="en-CA" sz="1400" b="1">
                <a:solidFill>
                  <a:srgbClr val="002060"/>
                </a:solidFill>
                <a:latin typeface="Calibri" pitchFamily="34" charset="0"/>
                <a:cs typeface="Calibri" pitchFamily="34" charset="-120"/>
              </a:rPr>
              <a:t>Data Extraction</a:t>
            </a:r>
            <a:endParaRPr lang="en-US" sz="1400" b="1">
              <a:solidFill>
                <a:srgbClr val="002060"/>
              </a:solidFill>
              <a:latin typeface="Calibri" pitchFamily="34" charset="0"/>
              <a:cs typeface="Calibri" pitchFamily="34" charset="-120"/>
            </a:endParaRPr>
          </a:p>
        </p:txBody>
      </p:sp>
      <p:sp>
        <p:nvSpPr>
          <p:cNvPr id="4" name="Text 1">
            <a:extLst>
              <a:ext uri="{FF2B5EF4-FFF2-40B4-BE49-F238E27FC236}">
                <a16:creationId xmlns:a16="http://schemas.microsoft.com/office/drawing/2014/main" id="{6B41F16F-367F-4D47-38A0-3CEBA66C7FE6}"/>
              </a:ext>
            </a:extLst>
          </p:cNvPr>
          <p:cNvSpPr/>
          <p:nvPr/>
        </p:nvSpPr>
        <p:spPr>
          <a:xfrm>
            <a:off x="164592" y="68580"/>
            <a:ext cx="8321040" cy="822960"/>
          </a:xfrm>
          <a:prstGeom prst="rect">
            <a:avLst/>
          </a:prstGeom>
          <a:noFill/>
          <a:ln/>
        </p:spPr>
        <p:txBody>
          <a:bodyPr wrap="square" rtlCol="0" anchor="ctr"/>
          <a:lstStyle/>
          <a:p>
            <a:r>
              <a:rPr lang="en-US" sz="3600" b="1">
                <a:solidFill>
                  <a:srgbClr val="FFFFFF"/>
                </a:solidFill>
                <a:latin typeface="Calibri" pitchFamily="34" charset="0"/>
                <a:ea typeface="Calibri" pitchFamily="34" charset="-122"/>
                <a:cs typeface="Calibri" pitchFamily="34" charset="-120"/>
              </a:rPr>
              <a:t>Dataset Extraction</a:t>
            </a:r>
            <a:endParaRPr lang="en-US" sz="3600"/>
          </a:p>
        </p:txBody>
      </p:sp>
      <p:graphicFrame>
        <p:nvGraphicFramePr>
          <p:cNvPr id="5" name="Diagram 4">
            <a:extLst>
              <a:ext uri="{FF2B5EF4-FFF2-40B4-BE49-F238E27FC236}">
                <a16:creationId xmlns:a16="http://schemas.microsoft.com/office/drawing/2014/main" id="{479430AF-8140-43D8-8647-804851FBD38D}"/>
              </a:ext>
            </a:extLst>
          </p:cNvPr>
          <p:cNvGraphicFramePr/>
          <p:nvPr>
            <p:extLst>
              <p:ext uri="{D42A27DB-BD31-4B8C-83A1-F6EECF244321}">
                <p14:modId xmlns:p14="http://schemas.microsoft.com/office/powerpoint/2010/main" val="3324778489"/>
              </p:ext>
            </p:extLst>
          </p:nvPr>
        </p:nvGraphicFramePr>
        <p:xfrm>
          <a:off x="414155" y="1612414"/>
          <a:ext cx="2738947" cy="33295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A8A0F962-12A9-412F-8CE0-6307998D470C}"/>
              </a:ext>
            </a:extLst>
          </p:cNvPr>
          <p:cNvGraphicFramePr/>
          <p:nvPr>
            <p:extLst>
              <p:ext uri="{D42A27DB-BD31-4B8C-83A1-F6EECF244321}">
                <p14:modId xmlns:p14="http://schemas.microsoft.com/office/powerpoint/2010/main" val="328306708"/>
              </p:ext>
            </p:extLst>
          </p:nvPr>
        </p:nvGraphicFramePr>
        <p:xfrm>
          <a:off x="3699481" y="1444890"/>
          <a:ext cx="5232787" cy="284092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 2">
            <a:extLst>
              <a:ext uri="{FF2B5EF4-FFF2-40B4-BE49-F238E27FC236}">
                <a16:creationId xmlns:a16="http://schemas.microsoft.com/office/drawing/2014/main" id="{73001DA1-452F-4266-B813-DD6E362D5C62}"/>
              </a:ext>
            </a:extLst>
          </p:cNvPr>
          <p:cNvSpPr/>
          <p:nvPr/>
        </p:nvSpPr>
        <p:spPr>
          <a:xfrm>
            <a:off x="3671561" y="1096115"/>
            <a:ext cx="1727516" cy="365760"/>
          </a:xfrm>
          <a:prstGeom prst="rect">
            <a:avLst/>
          </a:prstGeom>
          <a:noFill/>
          <a:ln/>
        </p:spPr>
        <p:txBody>
          <a:bodyPr wrap="square" rtlCol="0" anchor="ctr"/>
          <a:lstStyle/>
          <a:p>
            <a:r>
              <a:rPr lang="en-CA" sz="1400" b="1">
                <a:solidFill>
                  <a:srgbClr val="002060"/>
                </a:solidFill>
                <a:latin typeface="Calibri" pitchFamily="34" charset="0"/>
                <a:cs typeface="Calibri" pitchFamily="34" charset="-120"/>
              </a:rPr>
              <a:t>Justification</a:t>
            </a:r>
            <a:endParaRPr lang="en-US" sz="1400" b="1">
              <a:solidFill>
                <a:srgbClr val="002060"/>
              </a:solidFill>
              <a:latin typeface="Calibri" pitchFamily="34" charset="0"/>
              <a:cs typeface="Calibri" pitchFamily="34" charset="-120"/>
            </a:endParaRPr>
          </a:p>
        </p:txBody>
      </p:sp>
      <p:sp>
        <p:nvSpPr>
          <p:cNvPr id="11" name="TextBox 10">
            <a:extLst>
              <a:ext uri="{FF2B5EF4-FFF2-40B4-BE49-F238E27FC236}">
                <a16:creationId xmlns:a16="http://schemas.microsoft.com/office/drawing/2014/main" id="{3D9F0316-BAA9-463C-BDFA-A5644E5B876B}"/>
              </a:ext>
            </a:extLst>
          </p:cNvPr>
          <p:cNvSpPr txBox="1"/>
          <p:nvPr/>
        </p:nvSpPr>
        <p:spPr>
          <a:xfrm>
            <a:off x="3671561" y="4410483"/>
            <a:ext cx="5347960" cy="461665"/>
          </a:xfrm>
          <a:prstGeom prst="rect">
            <a:avLst/>
          </a:prstGeom>
          <a:noFill/>
        </p:spPr>
        <p:txBody>
          <a:bodyPr wrap="square">
            <a:spAutoFit/>
          </a:bodyPr>
          <a:lstStyle/>
          <a:p>
            <a:r>
              <a:rPr lang="en-CA" sz="1200" i="1"/>
              <a:t>Limitation: 511 intermittent/short-lived tenants not represented — model generalisation to transient workloads is out of scope</a:t>
            </a:r>
          </a:p>
        </p:txBody>
      </p:sp>
      <p:cxnSp>
        <p:nvCxnSpPr>
          <p:cNvPr id="12" name="Straight Connector 11">
            <a:extLst>
              <a:ext uri="{FF2B5EF4-FFF2-40B4-BE49-F238E27FC236}">
                <a16:creationId xmlns:a16="http://schemas.microsoft.com/office/drawing/2014/main" id="{DA4DB06A-E54A-4320-AA1E-CD5149CC5C2A}"/>
              </a:ext>
            </a:extLst>
          </p:cNvPr>
          <p:cNvCxnSpPr/>
          <p:nvPr/>
        </p:nvCxnSpPr>
        <p:spPr>
          <a:xfrm>
            <a:off x="3257552" y="1138979"/>
            <a:ext cx="0" cy="3776033"/>
          </a:xfrm>
          <a:prstGeom prst="line">
            <a:avLst/>
          </a:prstGeom>
          <a:ln>
            <a:solidFill>
              <a:srgbClr val="0A9396"/>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6463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DB04C-E271-F256-1F66-CF62F3C5436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F0751FD-832C-117D-22A8-38EFE823D895}"/>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CA"/>
          </a:p>
        </p:txBody>
      </p:sp>
      <p:sp>
        <p:nvSpPr>
          <p:cNvPr id="3" name="Shape 1">
            <a:extLst>
              <a:ext uri="{FF2B5EF4-FFF2-40B4-BE49-F238E27FC236}">
                <a16:creationId xmlns:a16="http://schemas.microsoft.com/office/drawing/2014/main" id="{D899864D-DC24-1A3D-53F3-251A2B447B20}"/>
              </a:ext>
            </a:extLst>
          </p:cNvPr>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CA"/>
          </a:p>
        </p:txBody>
      </p:sp>
      <p:sp>
        <p:nvSpPr>
          <p:cNvPr id="4" name="Text 1">
            <a:extLst>
              <a:ext uri="{FF2B5EF4-FFF2-40B4-BE49-F238E27FC236}">
                <a16:creationId xmlns:a16="http://schemas.microsoft.com/office/drawing/2014/main" id="{6B41F16F-367F-4D47-38A0-3CEBA66C7FE6}"/>
              </a:ext>
            </a:extLst>
          </p:cNvPr>
          <p:cNvSpPr/>
          <p:nvPr/>
        </p:nvSpPr>
        <p:spPr>
          <a:xfrm>
            <a:off x="164592" y="68580"/>
            <a:ext cx="8321040" cy="822960"/>
          </a:xfrm>
          <a:prstGeom prst="rect">
            <a:avLst/>
          </a:prstGeom>
          <a:noFill/>
          <a:ln/>
        </p:spPr>
        <p:txBody>
          <a:bodyPr wrap="square" rtlCol="0" anchor="ctr"/>
          <a:lstStyle/>
          <a:p>
            <a:r>
              <a:rPr lang="en-US" sz="3600" b="1">
                <a:solidFill>
                  <a:srgbClr val="FFFFFF"/>
                </a:solidFill>
                <a:latin typeface="Calibri" pitchFamily="34" charset="0"/>
                <a:ea typeface="Calibri" pitchFamily="34" charset="-122"/>
                <a:cs typeface="Calibri" pitchFamily="34" charset="-120"/>
              </a:rPr>
              <a:t>Final Dataset: Structure &amp; Key Fields</a:t>
            </a:r>
            <a:endParaRPr lang="en-US" sz="3600"/>
          </a:p>
        </p:txBody>
      </p:sp>
      <p:graphicFrame>
        <p:nvGraphicFramePr>
          <p:cNvPr id="5" name="Table 4">
            <a:extLst>
              <a:ext uri="{FF2B5EF4-FFF2-40B4-BE49-F238E27FC236}">
                <a16:creationId xmlns:a16="http://schemas.microsoft.com/office/drawing/2014/main" id="{581EF0D0-78A3-4140-A5DB-61352E78C343}"/>
              </a:ext>
            </a:extLst>
          </p:cNvPr>
          <p:cNvGraphicFramePr>
            <a:graphicFrameLocks noGrp="1"/>
          </p:cNvGraphicFramePr>
          <p:nvPr>
            <p:extLst>
              <p:ext uri="{D42A27DB-BD31-4B8C-83A1-F6EECF244321}">
                <p14:modId xmlns:p14="http://schemas.microsoft.com/office/powerpoint/2010/main" val="4248766517"/>
              </p:ext>
            </p:extLst>
          </p:nvPr>
        </p:nvGraphicFramePr>
        <p:xfrm>
          <a:off x="278609" y="1240950"/>
          <a:ext cx="2536032" cy="1508760"/>
        </p:xfrm>
        <a:graphic>
          <a:graphicData uri="http://schemas.openxmlformats.org/drawingml/2006/table">
            <a:tbl>
              <a:tblPr/>
              <a:tblGrid>
                <a:gridCol w="1268016">
                  <a:extLst>
                    <a:ext uri="{9D8B030D-6E8A-4147-A177-3AD203B41FA5}">
                      <a16:colId xmlns:a16="http://schemas.microsoft.com/office/drawing/2014/main" val="425104274"/>
                    </a:ext>
                  </a:extLst>
                </a:gridCol>
                <a:gridCol w="1268016">
                  <a:extLst>
                    <a:ext uri="{9D8B030D-6E8A-4147-A177-3AD203B41FA5}">
                      <a16:colId xmlns:a16="http://schemas.microsoft.com/office/drawing/2014/main" val="2748882957"/>
                    </a:ext>
                  </a:extLst>
                </a:gridCol>
              </a:tblGrid>
              <a:tr h="209682">
                <a:tc>
                  <a:txBody>
                    <a:bodyPr/>
                    <a:lstStyle/>
                    <a:p>
                      <a:r>
                        <a:rPr lang="es-PE" sz="1050" b="1" err="1"/>
                        <a:t>Dataset</a:t>
                      </a:r>
                      <a:endParaRPr lang="en-CA" sz="1050" b="1"/>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r>
                        <a:rPr lang="en-CA" sz="1050" dirty="0" err="1"/>
                        <a:t>tenant_full</a:t>
                      </a:r>
                      <a:r>
                        <a:rPr lang="en-CA" sz="1050" dirty="0"/>
                        <a:t> (9)</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1142636055"/>
                  </a:ext>
                </a:extLst>
              </a:tr>
              <a:tr h="209682">
                <a:tc>
                  <a:txBody>
                    <a:bodyPr/>
                    <a:lstStyle/>
                    <a:p>
                      <a:r>
                        <a:rPr lang="en-CA" sz="1050" b="1"/>
                        <a:t>Rows</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r>
                        <a:rPr lang="en-CA" sz="1050" dirty="0"/>
                        <a:t>1,336,507</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1394358928"/>
                  </a:ext>
                </a:extLst>
              </a:tr>
              <a:tr h="209682">
                <a:tc>
                  <a:txBody>
                    <a:bodyPr/>
                    <a:lstStyle/>
                    <a:p>
                      <a:r>
                        <a:rPr lang="en-CA" sz="1050" b="1"/>
                        <a:t>Instances</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r>
                        <a:rPr lang="en-CA" sz="1050"/>
                        <a:t>14,180</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2798121905"/>
                  </a:ext>
                </a:extLst>
              </a:tr>
              <a:tr h="209682">
                <a:tc>
                  <a:txBody>
                    <a:bodyPr/>
                    <a:lstStyle/>
                    <a:p>
                      <a:r>
                        <a:rPr lang="en-CA" sz="1050" b="1"/>
                        <a:t>Collections</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r>
                        <a:rPr lang="en-CA" sz="1050"/>
                        <a:t>11,302</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2775766156"/>
                  </a:ext>
                </a:extLst>
              </a:tr>
              <a:tr h="209682">
                <a:tc>
                  <a:txBody>
                    <a:bodyPr/>
                    <a:lstStyle/>
                    <a:p>
                      <a:r>
                        <a:rPr lang="en-CA" sz="1050" b="1"/>
                        <a:t>Collection types</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r>
                        <a:rPr lang="en-CA" sz="1050"/>
                        <a:t>Jobs + </a:t>
                      </a:r>
                      <a:r>
                        <a:rPr lang="en-CA" sz="1050" err="1"/>
                        <a:t>alloc</a:t>
                      </a:r>
                      <a:r>
                        <a:rPr lang="en-CA" sz="1050"/>
                        <a:t> sets</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310013485"/>
                  </a:ext>
                </a:extLst>
              </a:tr>
              <a:tr h="209682">
                <a:tc>
                  <a:txBody>
                    <a:bodyPr/>
                    <a:lstStyle/>
                    <a:p>
                      <a:r>
                        <a:rPr lang="en-CA" sz="1050" b="1"/>
                        <a:t>Days covered</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r>
                        <a:rPr lang="en-CA" sz="1050" dirty="0"/>
                        <a:t>31</a:t>
                      </a:r>
                    </a:p>
                  </a:txBody>
                  <a:tcPr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517719537"/>
                  </a:ext>
                </a:extLst>
              </a:tr>
            </a:tbl>
          </a:graphicData>
        </a:graphic>
      </p:graphicFrame>
      <p:graphicFrame>
        <p:nvGraphicFramePr>
          <p:cNvPr id="7" name="Table 6">
            <a:extLst>
              <a:ext uri="{FF2B5EF4-FFF2-40B4-BE49-F238E27FC236}">
                <a16:creationId xmlns:a16="http://schemas.microsoft.com/office/drawing/2014/main" id="{59209D7C-B9D0-47AC-BABA-B26ABDDA12C6}"/>
              </a:ext>
            </a:extLst>
          </p:cNvPr>
          <p:cNvGraphicFramePr>
            <a:graphicFrameLocks noGrp="1"/>
          </p:cNvGraphicFramePr>
          <p:nvPr>
            <p:extLst>
              <p:ext uri="{D42A27DB-BD31-4B8C-83A1-F6EECF244321}">
                <p14:modId xmlns:p14="http://schemas.microsoft.com/office/powerpoint/2010/main" val="1663088473"/>
              </p:ext>
            </p:extLst>
          </p:nvPr>
        </p:nvGraphicFramePr>
        <p:xfrm>
          <a:off x="242888" y="3330123"/>
          <a:ext cx="8701091" cy="1506347"/>
        </p:xfrm>
        <a:graphic>
          <a:graphicData uri="http://schemas.openxmlformats.org/drawingml/2006/table">
            <a:tbl>
              <a:tblPr>
                <a:tableStyleId>{5C22544A-7EE6-4342-B048-85BDC9FD1C3A}</a:tableStyleId>
              </a:tblPr>
              <a:tblGrid>
                <a:gridCol w="661298">
                  <a:extLst>
                    <a:ext uri="{9D8B030D-6E8A-4147-A177-3AD203B41FA5}">
                      <a16:colId xmlns:a16="http://schemas.microsoft.com/office/drawing/2014/main" val="65631558"/>
                    </a:ext>
                  </a:extLst>
                </a:gridCol>
                <a:gridCol w="661298">
                  <a:extLst>
                    <a:ext uri="{9D8B030D-6E8A-4147-A177-3AD203B41FA5}">
                      <a16:colId xmlns:a16="http://schemas.microsoft.com/office/drawing/2014/main" val="2492067390"/>
                    </a:ext>
                  </a:extLst>
                </a:gridCol>
                <a:gridCol w="661298">
                  <a:extLst>
                    <a:ext uri="{9D8B030D-6E8A-4147-A177-3AD203B41FA5}">
                      <a16:colId xmlns:a16="http://schemas.microsoft.com/office/drawing/2014/main" val="549169864"/>
                    </a:ext>
                  </a:extLst>
                </a:gridCol>
                <a:gridCol w="661298">
                  <a:extLst>
                    <a:ext uri="{9D8B030D-6E8A-4147-A177-3AD203B41FA5}">
                      <a16:colId xmlns:a16="http://schemas.microsoft.com/office/drawing/2014/main" val="33907241"/>
                    </a:ext>
                  </a:extLst>
                </a:gridCol>
                <a:gridCol w="451668">
                  <a:extLst>
                    <a:ext uri="{9D8B030D-6E8A-4147-A177-3AD203B41FA5}">
                      <a16:colId xmlns:a16="http://schemas.microsoft.com/office/drawing/2014/main" val="2777375134"/>
                    </a:ext>
                  </a:extLst>
                </a:gridCol>
                <a:gridCol w="528486">
                  <a:extLst>
                    <a:ext uri="{9D8B030D-6E8A-4147-A177-3AD203B41FA5}">
                      <a16:colId xmlns:a16="http://schemas.microsoft.com/office/drawing/2014/main" val="530983432"/>
                    </a:ext>
                  </a:extLst>
                </a:gridCol>
                <a:gridCol w="661298">
                  <a:extLst>
                    <a:ext uri="{9D8B030D-6E8A-4147-A177-3AD203B41FA5}">
                      <a16:colId xmlns:a16="http://schemas.microsoft.com/office/drawing/2014/main" val="3104764299"/>
                    </a:ext>
                  </a:extLst>
                </a:gridCol>
                <a:gridCol w="661298">
                  <a:extLst>
                    <a:ext uri="{9D8B030D-6E8A-4147-A177-3AD203B41FA5}">
                      <a16:colId xmlns:a16="http://schemas.microsoft.com/office/drawing/2014/main" val="1278460305"/>
                    </a:ext>
                  </a:extLst>
                </a:gridCol>
                <a:gridCol w="661298">
                  <a:extLst>
                    <a:ext uri="{9D8B030D-6E8A-4147-A177-3AD203B41FA5}">
                      <a16:colId xmlns:a16="http://schemas.microsoft.com/office/drawing/2014/main" val="339302137"/>
                    </a:ext>
                  </a:extLst>
                </a:gridCol>
                <a:gridCol w="446659">
                  <a:extLst>
                    <a:ext uri="{9D8B030D-6E8A-4147-A177-3AD203B41FA5}">
                      <a16:colId xmlns:a16="http://schemas.microsoft.com/office/drawing/2014/main" val="3815677844"/>
                    </a:ext>
                  </a:extLst>
                </a:gridCol>
                <a:gridCol w="661298">
                  <a:extLst>
                    <a:ext uri="{9D8B030D-6E8A-4147-A177-3AD203B41FA5}">
                      <a16:colId xmlns:a16="http://schemas.microsoft.com/office/drawing/2014/main" val="2981906879"/>
                    </a:ext>
                  </a:extLst>
                </a:gridCol>
                <a:gridCol w="661298">
                  <a:extLst>
                    <a:ext uri="{9D8B030D-6E8A-4147-A177-3AD203B41FA5}">
                      <a16:colId xmlns:a16="http://schemas.microsoft.com/office/drawing/2014/main" val="2205594840"/>
                    </a:ext>
                  </a:extLst>
                </a:gridCol>
                <a:gridCol w="661298">
                  <a:extLst>
                    <a:ext uri="{9D8B030D-6E8A-4147-A177-3AD203B41FA5}">
                      <a16:colId xmlns:a16="http://schemas.microsoft.com/office/drawing/2014/main" val="1795177017"/>
                    </a:ext>
                  </a:extLst>
                </a:gridCol>
                <a:gridCol w="661298">
                  <a:extLst>
                    <a:ext uri="{9D8B030D-6E8A-4147-A177-3AD203B41FA5}">
                      <a16:colId xmlns:a16="http://schemas.microsoft.com/office/drawing/2014/main" val="1521740168"/>
                    </a:ext>
                  </a:extLst>
                </a:gridCol>
              </a:tblGrid>
              <a:tr h="562883">
                <a:tc>
                  <a:txBody>
                    <a:bodyPr/>
                    <a:lstStyle/>
                    <a:p>
                      <a:pPr algn="ctr" fontAlgn="ctr"/>
                      <a:r>
                        <a:rPr lang="en-CA" sz="800" b="1" u="none" strike="noStrike" kern="1200" dirty="0" err="1">
                          <a:solidFill>
                            <a:schemeClr val="dk1"/>
                          </a:solidFill>
                          <a:effectLst/>
                          <a:latin typeface="+mn-lt"/>
                          <a:ea typeface="+mn-ea"/>
                          <a:cs typeface="+mn-cs"/>
                        </a:rPr>
                        <a:t>period_h</a:t>
                      </a:r>
                      <a:endParaRPr lang="en-CA" sz="800" b="1" u="none" strike="noStrike" kern="1200" dirty="0">
                        <a:solidFill>
                          <a:schemeClr val="dk1"/>
                        </a:solidFill>
                        <a:effectLst/>
                        <a:latin typeface="+mn-lt"/>
                        <a:ea typeface="+mn-ea"/>
                        <a:cs typeface="+mn-c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ctr"/>
                      <a:r>
                        <a:rPr lang="en-CA" sz="800" b="1" u="none" strike="noStrike" kern="1200" dirty="0" err="1">
                          <a:solidFill>
                            <a:schemeClr val="dk1"/>
                          </a:solidFill>
                          <a:effectLst/>
                          <a:latin typeface="+mn-lt"/>
                          <a:ea typeface="+mn-ea"/>
                          <a:cs typeface="+mn-cs"/>
                        </a:rPr>
                        <a:t>collection_id</a:t>
                      </a:r>
                      <a:r>
                        <a:rPr lang="en-CA" sz="800" b="1" u="none" strike="noStrike" kern="1200" dirty="0">
                          <a:solidFill>
                            <a:schemeClr val="dk1"/>
                          </a:solidFill>
                          <a:effectLst/>
                          <a:latin typeface="+mn-lt"/>
                          <a:ea typeface="+mn-ea"/>
                          <a:cs typeface="+mn-cs"/>
                        </a:rPr>
                        <a:t> </a:t>
                      </a: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ctr"/>
                      <a:r>
                        <a:rPr lang="en-CA" sz="800" b="1" u="none" strike="noStrike" kern="1200" dirty="0" err="1">
                          <a:solidFill>
                            <a:schemeClr val="dk1"/>
                          </a:solidFill>
                          <a:effectLst/>
                          <a:latin typeface="+mn-lt"/>
                          <a:ea typeface="+mn-ea"/>
                          <a:cs typeface="+mn-cs"/>
                        </a:rPr>
                        <a:t>instance_index</a:t>
                      </a:r>
                      <a:endParaRPr lang="en-CA" sz="800" b="1" u="none" strike="noStrike" kern="1200" dirty="0">
                        <a:solidFill>
                          <a:schemeClr val="dk1"/>
                        </a:solidFill>
                        <a:effectLst/>
                        <a:latin typeface="+mn-lt"/>
                        <a:ea typeface="+mn-ea"/>
                        <a:cs typeface="+mn-c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ctr"/>
                      <a:r>
                        <a:rPr lang="en-CA" sz="800" b="1" u="none" strike="noStrike" kern="1200" dirty="0">
                          <a:solidFill>
                            <a:schemeClr val="dk1"/>
                          </a:solidFill>
                          <a:effectLst/>
                          <a:latin typeface="+mn-lt"/>
                          <a:ea typeface="+mn-ea"/>
                          <a:cs typeface="+mn-cs"/>
                        </a:rPr>
                        <a:t>tenant</a:t>
                      </a: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b"/>
                      <a:r>
                        <a:rPr lang="en-CA" sz="900" b="1" u="none" strike="noStrike" dirty="0" err="1">
                          <a:effectLst/>
                        </a:rPr>
                        <a:t>avg_cpu</a:t>
                      </a:r>
                      <a:endParaRPr lang="en-CA" sz="900" b="1"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b"/>
                      <a:r>
                        <a:rPr lang="en-CA" sz="900" b="1" u="none" strike="noStrike" dirty="0" err="1">
                          <a:effectLst/>
                        </a:rPr>
                        <a:t>avg_mem</a:t>
                      </a:r>
                      <a:endParaRPr lang="en-CA" sz="900" b="1"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b"/>
                      <a:r>
                        <a:rPr lang="en-CA" sz="900" b="1" u="none" strike="noStrike">
                          <a:effectLst/>
                        </a:rPr>
                        <a:t>p90_cpu</a:t>
                      </a:r>
                      <a:endParaRPr lang="en-CA" sz="900" b="1"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b"/>
                      <a:r>
                        <a:rPr lang="en-CA" sz="900" b="1" u="none" strike="noStrike" dirty="0">
                          <a:effectLst/>
                        </a:rPr>
                        <a:t>assigned_ memory</a:t>
                      </a:r>
                      <a:endParaRPr lang="en-CA" sz="900" b="1"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b"/>
                      <a:r>
                        <a:rPr lang="en-CA" sz="900" b="1" u="none" strike="noStrike" dirty="0" err="1">
                          <a:effectLst/>
                        </a:rPr>
                        <a:t>page_cache</a:t>
                      </a:r>
                      <a:r>
                        <a:rPr lang="en-CA" sz="900" b="1" u="none" strike="noStrike" dirty="0">
                          <a:effectLst/>
                        </a:rPr>
                        <a:t>_ memory</a:t>
                      </a:r>
                      <a:endParaRPr lang="en-CA" sz="900" b="1"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b"/>
                      <a:r>
                        <a:rPr lang="en-CA" sz="900" b="1" u="none" strike="noStrike" dirty="0" err="1">
                          <a:effectLst/>
                        </a:rPr>
                        <a:t>req_cpu</a:t>
                      </a:r>
                      <a:endParaRPr lang="en-CA" sz="900" b="1"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b"/>
                      <a:r>
                        <a:rPr lang="en-CA" sz="900" b="1" u="none" strike="noStrike" dirty="0" err="1">
                          <a:effectLst/>
                        </a:rPr>
                        <a:t>req_memory</a:t>
                      </a:r>
                      <a:endParaRPr lang="en-CA" sz="900" b="1"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b"/>
                      <a:r>
                        <a:rPr lang="en-CA" sz="900" b="1" u="none" strike="noStrike" dirty="0">
                          <a:effectLst/>
                        </a:rPr>
                        <a:t>scheduling_ class</a:t>
                      </a:r>
                      <a:endParaRPr lang="en-CA" sz="900" b="1"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b"/>
                      <a:r>
                        <a:rPr lang="en-CA" sz="900" b="1" u="none" strike="noStrike" dirty="0" err="1">
                          <a:effectLst/>
                        </a:rPr>
                        <a:t>instance_age</a:t>
                      </a:r>
                      <a:r>
                        <a:rPr lang="en-CA" sz="900" b="1" u="none" strike="noStrike" dirty="0">
                          <a:effectLst/>
                        </a:rPr>
                        <a:t>_ windows</a:t>
                      </a:r>
                      <a:endParaRPr lang="en-CA" sz="900" b="1"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tc>
                  <a:txBody>
                    <a:bodyPr/>
                    <a:lstStyle/>
                    <a:p>
                      <a:pPr algn="ctr" fontAlgn="b"/>
                      <a:r>
                        <a:rPr lang="en-CA" sz="900" b="1" u="none" strike="noStrike" dirty="0" err="1">
                          <a:effectLst/>
                        </a:rPr>
                        <a:t>n_instances</a:t>
                      </a:r>
                      <a:r>
                        <a:rPr lang="en-CA" sz="900" b="1" u="none" strike="noStrike" dirty="0">
                          <a:effectLst/>
                        </a:rPr>
                        <a:t>_ </a:t>
                      </a:r>
                      <a:r>
                        <a:rPr lang="en-CA" sz="900" b="1" u="none" strike="noStrike" dirty="0" err="1">
                          <a:effectLst/>
                        </a:rPr>
                        <a:t>in_collection</a:t>
                      </a:r>
                      <a:endParaRPr lang="en-CA" sz="900" b="1"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52571195"/>
                  </a:ext>
                </a:extLst>
              </a:tr>
              <a:tr h="339924">
                <a:tc>
                  <a:txBody>
                    <a:bodyPr/>
                    <a:lstStyle/>
                    <a:p>
                      <a:pPr algn="ctr" fontAlgn="ctr"/>
                      <a:r>
                        <a:rPr lang="es-PE" sz="800" u="none" strike="noStrike" kern="1200">
                          <a:solidFill>
                            <a:schemeClr val="dk1"/>
                          </a:solidFill>
                          <a:effectLst/>
                          <a:latin typeface="+mn-lt"/>
                          <a:ea typeface="+mn-ea"/>
                          <a:cs typeface="+mn-cs"/>
                        </a:rPr>
                        <a:t>1</a:t>
                      </a:r>
                      <a:endParaRPr lang="en-CA" sz="800" u="none" strike="noStrike" kern="1200">
                        <a:solidFill>
                          <a:schemeClr val="dk1"/>
                        </a:solidFill>
                        <a:effectLst/>
                        <a:latin typeface="+mn-lt"/>
                        <a:ea typeface="+mn-ea"/>
                        <a:cs typeface="+mn-c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ctr"/>
                      <a:r>
                        <a:rPr lang="en-CA" sz="600" u="none" strike="noStrike" kern="1200">
                          <a:solidFill>
                            <a:schemeClr val="dk1"/>
                          </a:solidFill>
                          <a:effectLst/>
                          <a:latin typeface="+mn-lt"/>
                          <a:ea typeface="+mn-ea"/>
                          <a:cs typeface="+mn-cs"/>
                        </a:rPr>
                        <a:t>20129862067 </a:t>
                      </a: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ctr"/>
                      <a:r>
                        <a:rPr lang="es-PE" sz="800" u="none" strike="noStrike" kern="1200">
                          <a:solidFill>
                            <a:schemeClr val="dk1"/>
                          </a:solidFill>
                          <a:effectLst/>
                          <a:latin typeface="+mn-lt"/>
                          <a:ea typeface="+mn-ea"/>
                          <a:cs typeface="+mn-cs"/>
                        </a:rPr>
                        <a:t>0</a:t>
                      </a:r>
                      <a:endParaRPr lang="en-CA" sz="800" u="none" strike="noStrike" kern="1200">
                        <a:solidFill>
                          <a:schemeClr val="dk1"/>
                        </a:solidFill>
                        <a:effectLst/>
                        <a:latin typeface="+mn-lt"/>
                        <a:ea typeface="+mn-ea"/>
                        <a:cs typeface="+mn-c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ctr"/>
                      <a:r>
                        <a:rPr lang="en-CA" sz="800" u="none" strike="noStrike">
                          <a:effectLst/>
                        </a:rPr>
                        <a:t>High-demand</a:t>
                      </a:r>
                      <a:endParaRPr lang="en-CA" sz="800" b="0" i="0" u="none" strike="noStrike">
                        <a:solidFill>
                          <a:srgbClr val="000000"/>
                        </a:solidFill>
                        <a:effectLst/>
                        <a:latin typeface="Arial Unicode M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0.0111</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0.0209</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0.014236</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0.0364</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0.0002</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0.044</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dirty="0">
                          <a:effectLst/>
                        </a:rPr>
                        <a:t>0.0364</a:t>
                      </a:r>
                      <a:endParaRPr lang="en-CA" sz="900" b="0"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2</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1</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2</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262240506"/>
                  </a:ext>
                </a:extLst>
              </a:tr>
              <a:tr h="201180">
                <a:tc>
                  <a:txBody>
                    <a:bodyPr/>
                    <a:lstStyle/>
                    <a:p>
                      <a:pPr algn="ctr" fontAlgn="ctr"/>
                      <a:r>
                        <a:rPr lang="es-PE" sz="800" u="none" strike="noStrike" kern="1200">
                          <a:solidFill>
                            <a:schemeClr val="dk1"/>
                          </a:solidFill>
                          <a:effectLst/>
                          <a:latin typeface="+mn-lt"/>
                          <a:ea typeface="+mn-ea"/>
                          <a:cs typeface="+mn-cs"/>
                        </a:rPr>
                        <a:t>1</a:t>
                      </a:r>
                      <a:endParaRPr lang="en-CA" sz="800" u="none" strike="noStrike" kern="1200">
                        <a:solidFill>
                          <a:schemeClr val="dk1"/>
                        </a:solidFill>
                        <a:effectLst/>
                        <a:latin typeface="+mn-lt"/>
                        <a:ea typeface="+mn-ea"/>
                        <a:cs typeface="+mn-c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ctr"/>
                      <a:r>
                        <a:rPr lang="en-CA" sz="600" u="none" strike="noStrike" kern="1200">
                          <a:solidFill>
                            <a:schemeClr val="dk1"/>
                          </a:solidFill>
                          <a:effectLst/>
                          <a:latin typeface="+mn-lt"/>
                          <a:ea typeface="+mn-ea"/>
                          <a:cs typeface="+mn-cs"/>
                        </a:rPr>
                        <a:t>346742037008 </a:t>
                      </a: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ctr"/>
                      <a:r>
                        <a:rPr lang="es-PE" sz="800" u="none" strike="noStrike" kern="1200">
                          <a:solidFill>
                            <a:schemeClr val="dk1"/>
                          </a:solidFill>
                          <a:effectLst/>
                          <a:latin typeface="+mn-lt"/>
                          <a:ea typeface="+mn-ea"/>
                          <a:cs typeface="+mn-cs"/>
                        </a:rPr>
                        <a:t>0</a:t>
                      </a:r>
                      <a:endParaRPr lang="en-CA" sz="800" u="none" strike="noStrike" kern="1200">
                        <a:solidFill>
                          <a:schemeClr val="dk1"/>
                        </a:solidFill>
                        <a:effectLst/>
                        <a:latin typeface="+mn-lt"/>
                        <a:ea typeface="+mn-ea"/>
                        <a:cs typeface="+mn-c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ctr"/>
                      <a:r>
                        <a:rPr lang="en-CA" sz="800" u="none" strike="noStrike">
                          <a:effectLst/>
                        </a:rPr>
                        <a:t>Medium-1</a:t>
                      </a:r>
                      <a:endParaRPr lang="en-CA" sz="800" b="0" i="0" u="none" strike="noStrike">
                        <a:solidFill>
                          <a:srgbClr val="000000"/>
                        </a:solidFill>
                        <a:effectLst/>
                        <a:latin typeface="Arial Unicode M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0.0002</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0.0008</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0.000277</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0.0022</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0.0006</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0.0081</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0.0022</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1</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1</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2727324313"/>
                  </a:ext>
                </a:extLst>
              </a:tr>
              <a:tr h="201180">
                <a:tc>
                  <a:txBody>
                    <a:bodyPr/>
                    <a:lstStyle/>
                    <a:p>
                      <a:pPr algn="ctr" fontAlgn="ctr"/>
                      <a:r>
                        <a:rPr lang="es-PE" sz="800" u="none" strike="noStrike" kern="1200">
                          <a:solidFill>
                            <a:schemeClr val="dk1"/>
                          </a:solidFill>
                          <a:effectLst/>
                          <a:latin typeface="+mn-lt"/>
                          <a:ea typeface="+mn-ea"/>
                          <a:cs typeface="+mn-cs"/>
                        </a:rPr>
                        <a:t>1</a:t>
                      </a:r>
                      <a:endParaRPr lang="en-CA" sz="800" u="none" strike="noStrike" kern="1200">
                        <a:solidFill>
                          <a:schemeClr val="dk1"/>
                        </a:solidFill>
                        <a:effectLst/>
                        <a:latin typeface="+mn-lt"/>
                        <a:ea typeface="+mn-ea"/>
                        <a:cs typeface="+mn-c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ctr"/>
                      <a:r>
                        <a:rPr lang="en-CA" sz="600" u="none" strike="noStrike" kern="1200">
                          <a:solidFill>
                            <a:schemeClr val="dk1"/>
                          </a:solidFill>
                          <a:effectLst/>
                          <a:latin typeface="+mn-lt"/>
                          <a:ea typeface="+mn-ea"/>
                          <a:cs typeface="+mn-cs"/>
                        </a:rPr>
                        <a:t>374547936418 </a:t>
                      </a: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ctr"/>
                      <a:r>
                        <a:rPr lang="es-PE" sz="800" u="none" strike="noStrike" kern="1200">
                          <a:solidFill>
                            <a:schemeClr val="dk1"/>
                          </a:solidFill>
                          <a:effectLst/>
                          <a:latin typeface="+mn-lt"/>
                          <a:ea typeface="+mn-ea"/>
                          <a:cs typeface="+mn-cs"/>
                        </a:rPr>
                        <a:t>0</a:t>
                      </a:r>
                      <a:endParaRPr lang="en-CA" sz="800" u="none" strike="noStrike" kern="1200">
                        <a:solidFill>
                          <a:schemeClr val="dk1"/>
                        </a:solidFill>
                        <a:effectLst/>
                        <a:latin typeface="+mn-lt"/>
                        <a:ea typeface="+mn-ea"/>
                        <a:cs typeface="+mn-c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ctr"/>
                      <a:r>
                        <a:rPr lang="en-CA" sz="800" u="none" strike="noStrike" dirty="0">
                          <a:effectLst/>
                        </a:rPr>
                        <a:t>Stable-1</a:t>
                      </a:r>
                      <a:endParaRPr lang="en-CA" sz="800" b="0" i="0" u="none" strike="noStrike" dirty="0">
                        <a:solidFill>
                          <a:srgbClr val="000000"/>
                        </a:solidFill>
                        <a:effectLst/>
                        <a:latin typeface="Arial Unicode M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0.002</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0.0066</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dirty="0">
                          <a:effectLst/>
                        </a:rPr>
                        <a:t>0.002193</a:t>
                      </a:r>
                      <a:endParaRPr lang="en-CA" sz="900" b="0"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dirty="0">
                          <a:effectLst/>
                        </a:rPr>
                        <a:t>0.0076</a:t>
                      </a:r>
                      <a:endParaRPr lang="en-CA" sz="900" b="0"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0.0001</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dirty="0">
                          <a:effectLst/>
                        </a:rPr>
                        <a:t>0.0187</a:t>
                      </a:r>
                      <a:endParaRPr lang="en-CA" sz="900" b="0"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dirty="0">
                          <a:effectLst/>
                        </a:rPr>
                        <a:t>0.0069</a:t>
                      </a:r>
                      <a:endParaRPr lang="en-CA" sz="900" b="0"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3</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1</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dirty="0">
                          <a:effectLst/>
                        </a:rPr>
                        <a:t>3</a:t>
                      </a:r>
                      <a:endParaRPr lang="en-CA" sz="900" b="0"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4146493555"/>
                  </a:ext>
                </a:extLst>
              </a:tr>
              <a:tr h="201180">
                <a:tc>
                  <a:txBody>
                    <a:bodyPr/>
                    <a:lstStyle/>
                    <a:p>
                      <a:pPr algn="ctr" fontAlgn="ctr"/>
                      <a:r>
                        <a:rPr lang="es-PE" sz="800" u="none" strike="noStrike" kern="1200">
                          <a:solidFill>
                            <a:schemeClr val="dk1"/>
                          </a:solidFill>
                          <a:effectLst/>
                          <a:latin typeface="+mn-lt"/>
                          <a:ea typeface="+mn-ea"/>
                          <a:cs typeface="+mn-cs"/>
                        </a:rPr>
                        <a:t>1</a:t>
                      </a:r>
                      <a:endParaRPr lang="en-CA" sz="800" u="none" strike="noStrike" kern="1200">
                        <a:solidFill>
                          <a:schemeClr val="dk1"/>
                        </a:solidFill>
                        <a:effectLst/>
                        <a:latin typeface="+mn-lt"/>
                        <a:ea typeface="+mn-ea"/>
                        <a:cs typeface="+mn-c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ctr"/>
                      <a:r>
                        <a:rPr lang="en-CA" sz="600" u="none" strike="noStrike" kern="1200">
                          <a:solidFill>
                            <a:schemeClr val="dk1"/>
                          </a:solidFill>
                          <a:effectLst/>
                          <a:latin typeface="+mn-lt"/>
                          <a:ea typeface="+mn-ea"/>
                          <a:cs typeface="+mn-cs"/>
                        </a:rPr>
                        <a:t>360146492471 </a:t>
                      </a: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ctr"/>
                      <a:r>
                        <a:rPr lang="es-PE" sz="800" u="none" strike="noStrike" kern="1200">
                          <a:solidFill>
                            <a:schemeClr val="dk1"/>
                          </a:solidFill>
                          <a:effectLst/>
                          <a:latin typeface="+mn-lt"/>
                          <a:ea typeface="+mn-ea"/>
                          <a:cs typeface="+mn-cs"/>
                        </a:rPr>
                        <a:t>0</a:t>
                      </a:r>
                      <a:endParaRPr lang="en-CA" sz="800" u="none" strike="noStrike" kern="1200">
                        <a:solidFill>
                          <a:schemeClr val="dk1"/>
                        </a:solidFill>
                        <a:effectLst/>
                        <a:latin typeface="+mn-lt"/>
                        <a:ea typeface="+mn-ea"/>
                        <a:cs typeface="+mn-c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ctr"/>
                      <a:r>
                        <a:rPr lang="en-CA" sz="800" u="none" strike="noStrike">
                          <a:effectLst/>
                        </a:rPr>
                        <a:t>Spiky-2</a:t>
                      </a:r>
                      <a:endParaRPr lang="en-CA" sz="800" b="0" i="0" u="none" strike="noStrike">
                        <a:solidFill>
                          <a:srgbClr val="000000"/>
                        </a:solidFill>
                        <a:effectLst/>
                        <a:latin typeface="Arial Unicode MS"/>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0.001</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0.0145</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0.001297</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0.1072</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0.0016</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0.0077</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0.0013</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2</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a:effectLst/>
                        </a:rPr>
                        <a:t>1</a:t>
                      </a:r>
                      <a:endParaRPr lang="en-CA" sz="900" b="0" i="0" u="none" strike="noStrike">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tc>
                  <a:txBody>
                    <a:bodyPr/>
                    <a:lstStyle/>
                    <a:p>
                      <a:pPr algn="ctr" fontAlgn="b"/>
                      <a:r>
                        <a:rPr lang="en-CA" sz="900" u="none" strike="noStrike" dirty="0">
                          <a:effectLst/>
                        </a:rPr>
                        <a:t>1</a:t>
                      </a:r>
                      <a:endParaRPr lang="en-CA" sz="900" b="0" i="0" u="none" strike="noStrike" dirty="0">
                        <a:solidFill>
                          <a:srgbClr val="000000"/>
                        </a:solidFill>
                        <a:effectLst/>
                        <a:latin typeface="Calibri" panose="020F0502020204030204" pitchFamily="34" charset="0"/>
                      </a:endParaRPr>
                    </a:p>
                  </a:txBody>
                  <a:tcPr marL="5135" marR="5135" marT="5135" marB="0" anchor="ctr">
                    <a:lnL w="12700" cap="flat" cmpd="sng" algn="ctr">
                      <a:solidFill>
                        <a:srgbClr val="0A9396"/>
                      </a:solidFill>
                      <a:prstDash val="solid"/>
                      <a:round/>
                      <a:headEnd type="none" w="med" len="med"/>
                      <a:tailEnd type="none" w="med" len="med"/>
                    </a:lnL>
                    <a:lnR w="12700" cap="flat" cmpd="sng" algn="ctr">
                      <a:solidFill>
                        <a:srgbClr val="0A9396"/>
                      </a:solidFill>
                      <a:prstDash val="solid"/>
                      <a:round/>
                      <a:headEnd type="none" w="med" len="med"/>
                      <a:tailEnd type="none" w="med" len="med"/>
                    </a:lnR>
                    <a:lnT w="12700" cap="flat" cmpd="sng" algn="ctr">
                      <a:solidFill>
                        <a:srgbClr val="0A9396"/>
                      </a:solidFill>
                      <a:prstDash val="solid"/>
                      <a:round/>
                      <a:headEnd type="none" w="med" len="med"/>
                      <a:tailEnd type="none" w="med" len="med"/>
                    </a:lnT>
                    <a:lnB w="12700" cap="flat" cmpd="sng" algn="ctr">
                      <a:solidFill>
                        <a:srgbClr val="0A9396"/>
                      </a:solidFill>
                      <a:prstDash val="solid"/>
                      <a:round/>
                      <a:headEnd type="none" w="med" len="med"/>
                      <a:tailEnd type="none" w="med" len="med"/>
                    </a:lnB>
                  </a:tcPr>
                </a:tc>
                <a:extLst>
                  <a:ext uri="{0D108BD9-81ED-4DB2-BD59-A6C34878D82A}">
                    <a16:rowId xmlns:a16="http://schemas.microsoft.com/office/drawing/2014/main" val="944330959"/>
                  </a:ext>
                </a:extLst>
              </a:tr>
            </a:tbl>
          </a:graphicData>
        </a:graphic>
      </p:graphicFrame>
      <p:sp>
        <p:nvSpPr>
          <p:cNvPr id="11" name="Text 2">
            <a:extLst>
              <a:ext uri="{FF2B5EF4-FFF2-40B4-BE49-F238E27FC236}">
                <a16:creationId xmlns:a16="http://schemas.microsoft.com/office/drawing/2014/main" id="{BE039E21-CEA7-40F6-A07E-483928A44D61}"/>
              </a:ext>
            </a:extLst>
          </p:cNvPr>
          <p:cNvSpPr/>
          <p:nvPr/>
        </p:nvSpPr>
        <p:spPr>
          <a:xfrm>
            <a:off x="203737" y="978068"/>
            <a:ext cx="1289247" cy="294942"/>
          </a:xfrm>
          <a:prstGeom prst="rect">
            <a:avLst/>
          </a:prstGeom>
          <a:noFill/>
          <a:ln/>
        </p:spPr>
        <p:txBody>
          <a:bodyPr wrap="square" rtlCol="0" anchor="ctr"/>
          <a:lstStyle/>
          <a:p>
            <a:r>
              <a:rPr lang="en-US" sz="1200" b="1">
                <a:solidFill>
                  <a:srgbClr val="002060"/>
                </a:solidFill>
                <a:latin typeface="Calibri" pitchFamily="34" charset="0"/>
                <a:ea typeface="Calibri" pitchFamily="34" charset="-122"/>
                <a:cs typeface="Calibri" pitchFamily="34" charset="-120"/>
              </a:rPr>
              <a:t>Summary</a:t>
            </a:r>
          </a:p>
        </p:txBody>
      </p:sp>
      <p:sp>
        <p:nvSpPr>
          <p:cNvPr id="12" name="Text 2">
            <a:extLst>
              <a:ext uri="{FF2B5EF4-FFF2-40B4-BE49-F238E27FC236}">
                <a16:creationId xmlns:a16="http://schemas.microsoft.com/office/drawing/2014/main" id="{02B7EB13-F9C5-4D27-8C17-42E2A4385E59}"/>
              </a:ext>
            </a:extLst>
          </p:cNvPr>
          <p:cNvSpPr/>
          <p:nvPr/>
        </p:nvSpPr>
        <p:spPr>
          <a:xfrm>
            <a:off x="157388" y="3028655"/>
            <a:ext cx="2442937" cy="294942"/>
          </a:xfrm>
          <a:prstGeom prst="rect">
            <a:avLst/>
          </a:prstGeom>
          <a:noFill/>
          <a:ln/>
        </p:spPr>
        <p:txBody>
          <a:bodyPr wrap="square" rtlCol="0" anchor="ctr"/>
          <a:lstStyle/>
          <a:p>
            <a:r>
              <a:rPr lang="en-CA" sz="1200" b="1">
                <a:solidFill>
                  <a:srgbClr val="002060"/>
                </a:solidFill>
                <a:latin typeface="Calibri" pitchFamily="34" charset="0"/>
                <a:ea typeface="Calibri" pitchFamily="34" charset="-122"/>
                <a:cs typeface="Calibri" pitchFamily="34" charset="-120"/>
              </a:rPr>
              <a:t>Key columns — sample rows table</a:t>
            </a:r>
            <a:endParaRPr lang="en-US" sz="1200" b="1">
              <a:solidFill>
                <a:srgbClr val="002060"/>
              </a:solidFill>
              <a:latin typeface="Calibri" pitchFamily="34" charset="0"/>
              <a:ea typeface="Calibri" pitchFamily="34" charset="-122"/>
              <a:cs typeface="Calibri" pitchFamily="34" charset="-120"/>
            </a:endParaRPr>
          </a:p>
        </p:txBody>
      </p:sp>
      <p:sp>
        <p:nvSpPr>
          <p:cNvPr id="13" name="TextBox 12">
            <a:extLst>
              <a:ext uri="{FF2B5EF4-FFF2-40B4-BE49-F238E27FC236}">
                <a16:creationId xmlns:a16="http://schemas.microsoft.com/office/drawing/2014/main" id="{6ED7D0AF-BCF3-4944-8655-E5F00A992233}"/>
              </a:ext>
            </a:extLst>
          </p:cNvPr>
          <p:cNvSpPr txBox="1"/>
          <p:nvPr/>
        </p:nvSpPr>
        <p:spPr>
          <a:xfrm>
            <a:off x="3376953" y="988804"/>
            <a:ext cx="5631678" cy="2238754"/>
          </a:xfrm>
          <a:prstGeom prst="rect">
            <a:avLst/>
          </a:prstGeom>
          <a:noFill/>
        </p:spPr>
        <p:txBody>
          <a:bodyPr wrap="square">
            <a:spAutoFit/>
          </a:bodyPr>
          <a:lstStyle/>
          <a:p>
            <a:pPr>
              <a:lnSpc>
                <a:spcPts val="1200"/>
              </a:lnSpc>
              <a:buFont typeface="Arial" panose="020B0604020202020204" pitchFamily="34" charset="0"/>
              <a:buChar char="•"/>
            </a:pPr>
            <a:r>
              <a:rPr lang="en-CA" sz="900" b="1" dirty="0" err="1"/>
              <a:t>period_h</a:t>
            </a:r>
            <a:r>
              <a:rPr lang="en-CA" sz="900" dirty="0"/>
              <a:t> — the 5-minute planning period index since the start of the trace. Period 1 is the first 5 minutes of May 1, period 8,929 is the last period of May 31.</a:t>
            </a:r>
          </a:p>
          <a:p>
            <a:pPr>
              <a:lnSpc>
                <a:spcPts val="1200"/>
              </a:lnSpc>
              <a:buFont typeface="Arial" panose="020B0604020202020204" pitchFamily="34" charset="0"/>
              <a:buChar char="•"/>
            </a:pPr>
            <a:r>
              <a:rPr lang="en-CA" sz="900" b="1" dirty="0" err="1"/>
              <a:t>collection_id</a:t>
            </a:r>
            <a:r>
              <a:rPr lang="en-CA" sz="900" dirty="0"/>
              <a:t> — unique identifier for the job. This is the unit of prediction for both optimization models.</a:t>
            </a:r>
          </a:p>
          <a:p>
            <a:pPr>
              <a:lnSpc>
                <a:spcPts val="1200"/>
              </a:lnSpc>
              <a:buFont typeface="Arial" panose="020B0604020202020204" pitchFamily="34" charset="0"/>
              <a:buChar char="•"/>
            </a:pPr>
            <a:r>
              <a:rPr lang="en-CA" sz="900" b="1" dirty="0" err="1"/>
              <a:t>instance_index</a:t>
            </a:r>
            <a:r>
              <a:rPr lang="en-CA" sz="900" dirty="0"/>
              <a:t> — position of the task within the job. Most jobs have only one task (index 0).</a:t>
            </a:r>
          </a:p>
          <a:p>
            <a:pPr>
              <a:lnSpc>
                <a:spcPts val="1200"/>
              </a:lnSpc>
              <a:buFont typeface="Arial" panose="020B0604020202020204" pitchFamily="34" charset="0"/>
              <a:buChar char="•"/>
            </a:pPr>
            <a:r>
              <a:rPr lang="en-CA" sz="900" b="1" dirty="0" err="1"/>
              <a:t>avg_cpu</a:t>
            </a:r>
            <a:r>
              <a:rPr lang="en-CA" sz="900" dirty="0"/>
              <a:t> — average CPU consumption during the 5-minute window, in normalised units (NCU).</a:t>
            </a:r>
          </a:p>
          <a:p>
            <a:pPr>
              <a:lnSpc>
                <a:spcPts val="1200"/>
              </a:lnSpc>
              <a:buFont typeface="Arial" panose="020B0604020202020204" pitchFamily="34" charset="0"/>
              <a:buChar char="•"/>
            </a:pPr>
            <a:r>
              <a:rPr lang="en-CA" sz="900" b="1" dirty="0" err="1"/>
              <a:t>avg_mem</a:t>
            </a:r>
            <a:r>
              <a:rPr lang="en-CA" sz="900" dirty="0"/>
              <a:t> — average memory consumption during the 5-minute window, in normalised bytes.</a:t>
            </a:r>
          </a:p>
          <a:p>
            <a:pPr>
              <a:lnSpc>
                <a:spcPts val="1200"/>
              </a:lnSpc>
              <a:buFont typeface="Arial" panose="020B0604020202020204" pitchFamily="34" charset="0"/>
              <a:buChar char="•"/>
            </a:pPr>
            <a:r>
              <a:rPr lang="en-CA" sz="900" b="1" dirty="0"/>
              <a:t>p90_cpu</a:t>
            </a:r>
            <a:r>
              <a:rPr lang="en-CA" sz="900" dirty="0"/>
              <a:t> — 90th percentile of CPU usage samples within the window.</a:t>
            </a:r>
          </a:p>
          <a:p>
            <a:pPr>
              <a:lnSpc>
                <a:spcPts val="1200"/>
              </a:lnSpc>
              <a:buFont typeface="Arial" panose="020B0604020202020204" pitchFamily="34" charset="0"/>
              <a:buChar char="•"/>
            </a:pPr>
            <a:r>
              <a:rPr lang="en-CA" sz="900" b="1" dirty="0" err="1"/>
              <a:t>assigned_memory</a:t>
            </a:r>
            <a:r>
              <a:rPr lang="en-CA" sz="900" dirty="0"/>
              <a:t> — the memory limit enforced by the OS kernel for this instance. </a:t>
            </a:r>
          </a:p>
          <a:p>
            <a:pPr>
              <a:lnSpc>
                <a:spcPts val="1200"/>
              </a:lnSpc>
              <a:buFont typeface="Arial" panose="020B0604020202020204" pitchFamily="34" charset="0"/>
              <a:buChar char="•"/>
            </a:pPr>
            <a:r>
              <a:rPr lang="en-CA" sz="900" b="1" dirty="0" err="1"/>
              <a:t>page_cache_memory</a:t>
            </a:r>
            <a:r>
              <a:rPr lang="en-CA" sz="900" dirty="0"/>
              <a:t> — memory used for file caching by the OS on behalf of this instance. </a:t>
            </a:r>
          </a:p>
          <a:p>
            <a:pPr>
              <a:lnSpc>
                <a:spcPts val="1200"/>
              </a:lnSpc>
              <a:buFont typeface="Arial" panose="020B0604020202020204" pitchFamily="34" charset="0"/>
              <a:buChar char="•"/>
            </a:pPr>
            <a:r>
              <a:rPr lang="en-CA" sz="900" b="1" dirty="0" err="1"/>
              <a:t>req_cpu</a:t>
            </a:r>
            <a:r>
              <a:rPr lang="en-CA" sz="900" dirty="0"/>
              <a:t> — CPU amount the user declared when submitting the job. </a:t>
            </a:r>
          </a:p>
          <a:p>
            <a:pPr>
              <a:lnSpc>
                <a:spcPts val="1200"/>
              </a:lnSpc>
              <a:buFont typeface="Arial" panose="020B0604020202020204" pitchFamily="34" charset="0"/>
              <a:buChar char="•"/>
            </a:pPr>
            <a:r>
              <a:rPr lang="en-CA" sz="900" b="1" dirty="0" err="1"/>
              <a:t>req_memory</a:t>
            </a:r>
            <a:r>
              <a:rPr lang="en-CA" sz="900" dirty="0"/>
              <a:t> — memory amount the user declared at submission. </a:t>
            </a:r>
          </a:p>
          <a:p>
            <a:pPr>
              <a:lnSpc>
                <a:spcPts val="1200"/>
              </a:lnSpc>
              <a:buFont typeface="Arial" panose="020B0604020202020204" pitchFamily="34" charset="0"/>
              <a:buChar char="•"/>
            </a:pPr>
            <a:r>
              <a:rPr lang="en-CA" sz="900" b="1" dirty="0" err="1"/>
              <a:t>scheduling_class</a:t>
            </a:r>
            <a:r>
              <a:rPr lang="en-CA" sz="900" dirty="0"/>
              <a:t> — job latency sensitivity tier: 0 = non-production, 2 = batch, 3 = latency-sensitive.</a:t>
            </a:r>
          </a:p>
          <a:p>
            <a:pPr>
              <a:lnSpc>
                <a:spcPts val="1200"/>
              </a:lnSpc>
              <a:buFont typeface="Arial" panose="020B0604020202020204" pitchFamily="34" charset="0"/>
              <a:buChar char="•"/>
            </a:pPr>
            <a:r>
              <a:rPr lang="en-CA" sz="900" b="1" dirty="0" err="1"/>
              <a:t>instance_age_windows</a:t>
            </a:r>
            <a:r>
              <a:rPr lang="en-CA" sz="900" dirty="0"/>
              <a:t> — how many 5-minute windows this instance has been running at the time of this record. </a:t>
            </a:r>
          </a:p>
          <a:p>
            <a:pPr>
              <a:lnSpc>
                <a:spcPts val="1200"/>
              </a:lnSpc>
              <a:buFont typeface="Arial" panose="020B0604020202020204" pitchFamily="34" charset="0"/>
              <a:buChar char="•"/>
            </a:pPr>
            <a:r>
              <a:rPr lang="en-CA" sz="900" b="1" dirty="0" err="1"/>
              <a:t>n_instances_in_collection</a:t>
            </a:r>
            <a:r>
              <a:rPr lang="en-CA" sz="900" dirty="0"/>
              <a:t> — total number of tasks in this job. </a:t>
            </a:r>
          </a:p>
        </p:txBody>
      </p:sp>
    </p:spTree>
    <p:extLst>
      <p:ext uri="{BB962C8B-B14F-4D97-AF65-F5344CB8AC3E}">
        <p14:creationId xmlns:p14="http://schemas.microsoft.com/office/powerpoint/2010/main" val="3285812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6DD5B97-7D99-6D5B-5A3D-1664BF7125F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51DCC3-7844-5922-6182-774268A9D1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CA"/>
          </a:p>
        </p:txBody>
      </p:sp>
      <p:sp>
        <p:nvSpPr>
          <p:cNvPr id="3" name="Shape 1">
            <a:extLst>
              <a:ext uri="{FF2B5EF4-FFF2-40B4-BE49-F238E27FC236}">
                <a16:creationId xmlns:a16="http://schemas.microsoft.com/office/drawing/2014/main" id="{88ABFBA6-65E6-0121-ECD9-9015CD7F1936}"/>
              </a:ext>
            </a:extLst>
          </p:cNvPr>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CA"/>
          </a:p>
        </p:txBody>
      </p:sp>
      <p:pic>
        <p:nvPicPr>
          <p:cNvPr id="6" name="Picture 5">
            <a:extLst>
              <a:ext uri="{FF2B5EF4-FFF2-40B4-BE49-F238E27FC236}">
                <a16:creationId xmlns:a16="http://schemas.microsoft.com/office/drawing/2014/main" id="{76B4AF81-922D-48FA-A564-B5BFCB8463D1}"/>
              </a:ext>
            </a:extLst>
          </p:cNvPr>
          <p:cNvPicPr/>
          <p:nvPr/>
        </p:nvPicPr>
        <p:blipFill rotWithShape="1">
          <a:blip r:embed="rId3">
            <a:extLst>
              <a:ext uri="{28A0092B-C50C-407E-A947-70E740481C1C}">
                <a14:useLocalDpi xmlns:a14="http://schemas.microsoft.com/office/drawing/2010/main" val="0"/>
              </a:ext>
            </a:extLst>
          </a:blip>
          <a:srcRect l="51470" t="15369"/>
          <a:stretch/>
        </p:blipFill>
        <p:spPr bwMode="auto">
          <a:xfrm>
            <a:off x="294008" y="1205707"/>
            <a:ext cx="3106270" cy="1612207"/>
          </a:xfrm>
          <a:prstGeom prst="rect">
            <a:avLst/>
          </a:prstGeom>
          <a:noFill/>
          <a:ln>
            <a:solidFill>
              <a:schemeClr val="bg1">
                <a:lumMod val="75000"/>
              </a:schemeClr>
            </a:solidFill>
          </a:ln>
        </p:spPr>
      </p:pic>
      <p:pic>
        <p:nvPicPr>
          <p:cNvPr id="7" name="Picture 6">
            <a:extLst>
              <a:ext uri="{FF2B5EF4-FFF2-40B4-BE49-F238E27FC236}">
                <a16:creationId xmlns:a16="http://schemas.microsoft.com/office/drawing/2014/main" id="{22115F27-90B0-48E3-B3A0-971BD7865927}"/>
              </a:ext>
            </a:extLst>
          </p:cNvPr>
          <p:cNvPicPr/>
          <p:nvPr/>
        </p:nvPicPr>
        <p:blipFill rotWithShape="1">
          <a:blip r:embed="rId4" cstate="print">
            <a:extLst>
              <a:ext uri="{28A0092B-C50C-407E-A947-70E740481C1C}">
                <a14:useLocalDpi xmlns:a14="http://schemas.microsoft.com/office/drawing/2010/main" val="0"/>
              </a:ext>
            </a:extLst>
          </a:blip>
          <a:srcRect t="11952" r="53676"/>
          <a:stretch/>
        </p:blipFill>
        <p:spPr bwMode="auto">
          <a:xfrm>
            <a:off x="294008" y="3029880"/>
            <a:ext cx="3106270" cy="1524059"/>
          </a:xfrm>
          <a:prstGeom prst="rect">
            <a:avLst/>
          </a:prstGeom>
          <a:noFill/>
          <a:ln>
            <a:solidFill>
              <a:schemeClr val="bg1">
                <a:lumMod val="75000"/>
              </a:schemeClr>
            </a:solidFill>
          </a:ln>
        </p:spPr>
      </p:pic>
      <p:pic>
        <p:nvPicPr>
          <p:cNvPr id="3078" name="Picture 6">
            <a:extLst>
              <a:ext uri="{FF2B5EF4-FFF2-40B4-BE49-F238E27FC236}">
                <a16:creationId xmlns:a16="http://schemas.microsoft.com/office/drawing/2014/main" id="{787D0AE8-F3BB-4ADE-84B2-81BF52AE24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9694" y="1094678"/>
            <a:ext cx="5508159" cy="3870404"/>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11" name="Text 1">
            <a:extLst>
              <a:ext uri="{FF2B5EF4-FFF2-40B4-BE49-F238E27FC236}">
                <a16:creationId xmlns:a16="http://schemas.microsoft.com/office/drawing/2014/main" id="{E6C494E7-A1B0-4B47-A705-9BA85F5581D4}"/>
              </a:ext>
            </a:extLst>
          </p:cNvPr>
          <p:cNvSpPr/>
          <p:nvPr/>
        </p:nvSpPr>
        <p:spPr>
          <a:xfrm>
            <a:off x="223412" y="-12322"/>
            <a:ext cx="8321040" cy="822960"/>
          </a:xfrm>
          <a:prstGeom prst="rect">
            <a:avLst/>
          </a:prstGeom>
          <a:noFill/>
          <a:ln/>
        </p:spPr>
        <p:txBody>
          <a:bodyPr wrap="square" rtlCol="0" anchor="ctr"/>
          <a:lstStyle/>
          <a:p>
            <a:pPr marL="0" indent="0">
              <a:buNone/>
            </a:pPr>
            <a:r>
              <a:rPr lang="en-US" sz="3800" b="1">
                <a:solidFill>
                  <a:srgbClr val="FFFFFF"/>
                </a:solidFill>
                <a:latin typeface="Calibri" pitchFamily="34" charset="0"/>
                <a:ea typeface="Calibri" pitchFamily="34" charset="-122"/>
                <a:cs typeface="Calibri" pitchFamily="34" charset="-120"/>
              </a:rPr>
              <a:t>EDA: </a:t>
            </a:r>
            <a:r>
              <a:rPr lang="en-CA" sz="2000" i="1">
                <a:solidFill>
                  <a:srgbClr val="FFFFFF"/>
                </a:solidFill>
                <a:latin typeface="Calibri" pitchFamily="34" charset="0"/>
                <a:ea typeface="Calibri" pitchFamily="34" charset="-122"/>
                <a:cs typeface="Calibri" pitchFamily="34" charset="-120"/>
              </a:rPr>
              <a:t>Temporal Patterns — Weekly and Daily Demand Cycles</a:t>
            </a:r>
            <a:endParaRPr lang="en-US" sz="3800" i="1"/>
          </a:p>
        </p:txBody>
      </p:sp>
    </p:spTree>
    <p:extLst>
      <p:ext uri="{BB962C8B-B14F-4D97-AF65-F5344CB8AC3E}">
        <p14:creationId xmlns:p14="http://schemas.microsoft.com/office/powerpoint/2010/main" val="1811074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6DD5B97-7D99-6D5B-5A3D-1664BF7125F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51DCC3-7844-5922-6182-774268A9D1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CA"/>
          </a:p>
        </p:txBody>
      </p:sp>
      <p:sp>
        <p:nvSpPr>
          <p:cNvPr id="3" name="Shape 1">
            <a:extLst>
              <a:ext uri="{FF2B5EF4-FFF2-40B4-BE49-F238E27FC236}">
                <a16:creationId xmlns:a16="http://schemas.microsoft.com/office/drawing/2014/main" id="{88ABFBA6-65E6-0121-ECD9-9015CD7F1936}"/>
              </a:ext>
            </a:extLst>
          </p:cNvPr>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CA"/>
          </a:p>
        </p:txBody>
      </p:sp>
      <p:sp>
        <p:nvSpPr>
          <p:cNvPr id="5" name="Text 1">
            <a:extLst>
              <a:ext uri="{FF2B5EF4-FFF2-40B4-BE49-F238E27FC236}">
                <a16:creationId xmlns:a16="http://schemas.microsoft.com/office/drawing/2014/main" id="{5B2EF9AF-9C68-0A42-8702-22A15629F933}"/>
              </a:ext>
            </a:extLst>
          </p:cNvPr>
          <p:cNvSpPr/>
          <p:nvPr/>
        </p:nvSpPr>
        <p:spPr>
          <a:xfrm>
            <a:off x="223412" y="-12322"/>
            <a:ext cx="8321040" cy="822960"/>
          </a:xfrm>
          <a:prstGeom prst="rect">
            <a:avLst/>
          </a:prstGeom>
          <a:noFill/>
          <a:ln/>
        </p:spPr>
        <p:txBody>
          <a:bodyPr wrap="square" rtlCol="0" anchor="ctr"/>
          <a:lstStyle/>
          <a:p>
            <a:pPr marL="0" indent="0">
              <a:buNone/>
            </a:pPr>
            <a:r>
              <a:rPr lang="en-US" sz="3800" b="1">
                <a:solidFill>
                  <a:srgbClr val="FFFFFF"/>
                </a:solidFill>
                <a:latin typeface="Calibri" pitchFamily="34" charset="0"/>
                <a:ea typeface="Calibri" pitchFamily="34" charset="-122"/>
                <a:cs typeface="Calibri" pitchFamily="34" charset="-120"/>
              </a:rPr>
              <a:t>EDA: </a:t>
            </a:r>
            <a:r>
              <a:rPr lang="en-CA" sz="2000" i="1">
                <a:solidFill>
                  <a:srgbClr val="FFFFFF"/>
                </a:solidFill>
                <a:latin typeface="Calibri" pitchFamily="34" charset="0"/>
                <a:ea typeface="Calibri" pitchFamily="34" charset="-122"/>
                <a:cs typeface="Calibri" pitchFamily="34" charset="-120"/>
              </a:rPr>
              <a:t>Instance Structure &amp; Lifecycle — Short-Lived Jobs Dominate</a:t>
            </a:r>
            <a:endParaRPr lang="en-US" sz="3800" i="1"/>
          </a:p>
        </p:txBody>
      </p:sp>
      <p:pic>
        <p:nvPicPr>
          <p:cNvPr id="8" name="Picture 7">
            <a:extLst>
              <a:ext uri="{FF2B5EF4-FFF2-40B4-BE49-F238E27FC236}">
                <a16:creationId xmlns:a16="http://schemas.microsoft.com/office/drawing/2014/main" id="{93D9293A-C0FB-40A2-B9BE-DBEC987BC1A0}"/>
              </a:ext>
            </a:extLst>
          </p:cNvPr>
          <p:cNvPicPr/>
          <p:nvPr/>
        </p:nvPicPr>
        <p:blipFill rotWithShape="1">
          <a:blip r:embed="rId3" cstate="print">
            <a:extLst>
              <a:ext uri="{28A0092B-C50C-407E-A947-70E740481C1C}">
                <a14:useLocalDpi xmlns:a14="http://schemas.microsoft.com/office/drawing/2010/main" val="0"/>
              </a:ext>
            </a:extLst>
          </a:blip>
          <a:srcRect l="55357"/>
          <a:stretch/>
        </p:blipFill>
        <p:spPr bwMode="auto">
          <a:xfrm>
            <a:off x="1145070" y="1075743"/>
            <a:ext cx="3041153" cy="1642223"/>
          </a:xfrm>
          <a:prstGeom prst="rect">
            <a:avLst/>
          </a:prstGeom>
          <a:noFill/>
          <a:ln>
            <a:solidFill>
              <a:schemeClr val="bg1">
                <a:lumMod val="75000"/>
              </a:schemeClr>
            </a:solidFill>
          </a:ln>
        </p:spPr>
      </p:pic>
      <p:pic>
        <p:nvPicPr>
          <p:cNvPr id="9" name="Picture 8">
            <a:extLst>
              <a:ext uri="{FF2B5EF4-FFF2-40B4-BE49-F238E27FC236}">
                <a16:creationId xmlns:a16="http://schemas.microsoft.com/office/drawing/2014/main" id="{F9FE3305-6C57-4BC8-8CB1-FE0B399FE4B9}"/>
              </a:ext>
            </a:extLst>
          </p:cNvPr>
          <p:cNvPicPr/>
          <p:nvPr/>
        </p:nvPicPr>
        <p:blipFill rotWithShape="1">
          <a:blip r:embed="rId4">
            <a:extLst>
              <a:ext uri="{28A0092B-C50C-407E-A947-70E740481C1C}">
                <a14:useLocalDpi xmlns:a14="http://schemas.microsoft.com/office/drawing/2010/main" val="0"/>
              </a:ext>
            </a:extLst>
          </a:blip>
          <a:srcRect r="50945"/>
          <a:stretch/>
        </p:blipFill>
        <p:spPr bwMode="auto">
          <a:xfrm>
            <a:off x="5114957" y="1075744"/>
            <a:ext cx="2996282" cy="1642223"/>
          </a:xfrm>
          <a:prstGeom prst="rect">
            <a:avLst/>
          </a:prstGeom>
          <a:noFill/>
          <a:ln>
            <a:solidFill>
              <a:schemeClr val="bg1">
                <a:lumMod val="75000"/>
              </a:schemeClr>
            </a:solidFill>
          </a:ln>
        </p:spPr>
      </p:pic>
      <p:pic>
        <p:nvPicPr>
          <p:cNvPr id="10" name="Picture 9">
            <a:extLst>
              <a:ext uri="{FF2B5EF4-FFF2-40B4-BE49-F238E27FC236}">
                <a16:creationId xmlns:a16="http://schemas.microsoft.com/office/drawing/2014/main" id="{5AB49952-A1E9-4F01-9158-A5EB7C9A68F5}"/>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698137" y="2867449"/>
            <a:ext cx="7747725" cy="2132930"/>
          </a:xfrm>
          <a:prstGeom prst="rect">
            <a:avLst/>
          </a:prstGeom>
          <a:noFill/>
          <a:ln>
            <a:solidFill>
              <a:schemeClr val="bg1">
                <a:lumMod val="75000"/>
              </a:schemeClr>
            </a:solidFill>
          </a:ln>
        </p:spPr>
      </p:pic>
    </p:spTree>
    <p:extLst>
      <p:ext uri="{BB962C8B-B14F-4D97-AF65-F5344CB8AC3E}">
        <p14:creationId xmlns:p14="http://schemas.microsoft.com/office/powerpoint/2010/main" val="2449403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B7111385-2763-B7A3-0D98-80BAD052DF2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1AD8E9E-9F51-DEA5-59AD-7EC01D29A964}"/>
              </a:ext>
            </a:extLst>
          </p:cNvPr>
          <p:cNvSpPr/>
          <p:nvPr/>
        </p:nvSpPr>
        <p:spPr>
          <a:xfrm>
            <a:off x="0" y="0"/>
            <a:ext cx="164592" cy="5143500"/>
          </a:xfrm>
          <a:prstGeom prst="rect">
            <a:avLst/>
          </a:prstGeom>
          <a:solidFill>
            <a:srgbClr val="1C7293"/>
          </a:solidFill>
          <a:ln w="12700">
            <a:solidFill>
              <a:srgbClr val="1C7293"/>
            </a:solidFill>
            <a:prstDash val="solid"/>
          </a:ln>
        </p:spPr>
        <p:txBody>
          <a:bodyPr/>
          <a:lstStyle/>
          <a:p>
            <a:endParaRPr lang="en-CA"/>
          </a:p>
        </p:txBody>
      </p:sp>
      <p:sp>
        <p:nvSpPr>
          <p:cNvPr id="3" name="Text 1">
            <a:extLst>
              <a:ext uri="{FF2B5EF4-FFF2-40B4-BE49-F238E27FC236}">
                <a16:creationId xmlns:a16="http://schemas.microsoft.com/office/drawing/2014/main" id="{300F06EE-9AFD-16CC-B046-FEBFE7610782}"/>
              </a:ext>
            </a:extLst>
          </p:cNvPr>
          <p:cNvSpPr/>
          <p:nvPr/>
        </p:nvSpPr>
        <p:spPr>
          <a:xfrm>
            <a:off x="411480" y="1920240"/>
            <a:ext cx="8321040" cy="822960"/>
          </a:xfrm>
          <a:prstGeom prst="rect">
            <a:avLst/>
          </a:prstGeom>
          <a:noFill/>
          <a:ln/>
        </p:spPr>
        <p:txBody>
          <a:bodyPr wrap="square" lIns="91440" tIns="45720" rIns="91440" bIns="45720" rtlCol="0" anchor="ctr"/>
          <a:lstStyle/>
          <a:p>
            <a:r>
              <a:rPr lang="en-US" sz="3800" b="1">
                <a:solidFill>
                  <a:srgbClr val="FFFFFF"/>
                </a:solidFill>
                <a:latin typeface="Calibri"/>
                <a:ea typeface="Calibri"/>
                <a:cs typeface="Calibri"/>
              </a:rPr>
              <a:t>Outliers and Seasonality Analysis</a:t>
            </a:r>
            <a:endParaRPr lang="en-US"/>
          </a:p>
        </p:txBody>
      </p:sp>
    </p:spTree>
    <p:extLst>
      <p:ext uri="{BB962C8B-B14F-4D97-AF65-F5344CB8AC3E}">
        <p14:creationId xmlns:p14="http://schemas.microsoft.com/office/powerpoint/2010/main" val="2610676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5B97-7D99-6D5B-5A3D-1664BF7125F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51DCC3-7844-5922-6182-774268A9D18B}"/>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CA"/>
          </a:p>
        </p:txBody>
      </p:sp>
      <p:sp>
        <p:nvSpPr>
          <p:cNvPr id="3" name="Shape 1">
            <a:extLst>
              <a:ext uri="{FF2B5EF4-FFF2-40B4-BE49-F238E27FC236}">
                <a16:creationId xmlns:a16="http://schemas.microsoft.com/office/drawing/2014/main" id="{88ABFBA6-65E6-0121-ECD9-9015CD7F1936}"/>
              </a:ext>
            </a:extLst>
          </p:cNvPr>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CA"/>
          </a:p>
        </p:txBody>
      </p:sp>
      <p:sp>
        <p:nvSpPr>
          <p:cNvPr id="5" name="Text 1">
            <a:extLst>
              <a:ext uri="{FF2B5EF4-FFF2-40B4-BE49-F238E27FC236}">
                <a16:creationId xmlns:a16="http://schemas.microsoft.com/office/drawing/2014/main" id="{5B2EF9AF-9C68-0A42-8702-22A15629F933}"/>
              </a:ext>
            </a:extLst>
          </p:cNvPr>
          <p:cNvSpPr/>
          <p:nvPr/>
        </p:nvSpPr>
        <p:spPr>
          <a:xfrm>
            <a:off x="223412" y="-12322"/>
            <a:ext cx="8321040" cy="822960"/>
          </a:xfrm>
          <a:prstGeom prst="rect">
            <a:avLst/>
          </a:prstGeom>
          <a:noFill/>
          <a:ln/>
        </p:spPr>
        <p:txBody>
          <a:bodyPr wrap="square" lIns="91440" tIns="45720" rIns="91440" bIns="45720" rtlCol="0" anchor="ctr"/>
          <a:lstStyle/>
          <a:p>
            <a:r>
              <a:rPr lang="en-US" sz="3800" b="1">
                <a:solidFill>
                  <a:srgbClr val="FFFFFF"/>
                </a:solidFill>
                <a:latin typeface="Calibri"/>
                <a:ea typeface="Calibri"/>
                <a:cs typeface="Calibri"/>
              </a:rPr>
              <a:t>Outliers and Seasonality Analysis</a:t>
            </a:r>
            <a:endParaRPr lang="en-US" sz="3800"/>
          </a:p>
        </p:txBody>
      </p:sp>
      <p:pic>
        <p:nvPicPr>
          <p:cNvPr id="4" name="Picture 3" descr="A screenshot of a screen&#10;&#10;AI-generated content may be incorrect.">
            <a:extLst>
              <a:ext uri="{FF2B5EF4-FFF2-40B4-BE49-F238E27FC236}">
                <a16:creationId xmlns:a16="http://schemas.microsoft.com/office/drawing/2014/main" id="{1FB001D4-F81A-0B9D-3287-D0F3AA1FDB31}"/>
              </a:ext>
            </a:extLst>
          </p:cNvPr>
          <p:cNvPicPr>
            <a:picLocks noChangeAspect="1"/>
          </p:cNvPicPr>
          <p:nvPr/>
        </p:nvPicPr>
        <p:blipFill>
          <a:blip r:embed="rId3"/>
          <a:stretch>
            <a:fillRect/>
          </a:stretch>
        </p:blipFill>
        <p:spPr>
          <a:xfrm>
            <a:off x="109602" y="965026"/>
            <a:ext cx="8924795" cy="4074612"/>
          </a:xfrm>
          <a:prstGeom prst="rect">
            <a:avLst/>
          </a:prstGeom>
        </p:spPr>
      </p:pic>
    </p:spTree>
    <p:extLst>
      <p:ext uri="{BB962C8B-B14F-4D97-AF65-F5344CB8AC3E}">
        <p14:creationId xmlns:p14="http://schemas.microsoft.com/office/powerpoint/2010/main" val="3960725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2A"/>
          </a:solidFill>
          <a:ln w="12700">
            <a:solidFill>
              <a:srgbClr val="0D1B2A"/>
            </a:solidFill>
            <a:prstDash val="solid"/>
          </a:ln>
        </p:spPr>
        <p:txBody>
          <a:bodyPr/>
          <a:lstStyle/>
          <a:p>
            <a:endParaRPr lang="en-CA"/>
          </a:p>
        </p:txBody>
      </p:sp>
      <p:sp>
        <p:nvSpPr>
          <p:cNvPr id="3" name="Shape 1"/>
          <p:cNvSpPr/>
          <p:nvPr/>
        </p:nvSpPr>
        <p:spPr>
          <a:xfrm>
            <a:off x="0" y="0"/>
            <a:ext cx="109728" cy="5143500"/>
          </a:xfrm>
          <a:prstGeom prst="rect">
            <a:avLst/>
          </a:prstGeom>
          <a:solidFill>
            <a:srgbClr val="00897B"/>
          </a:solidFill>
          <a:ln w="12700">
            <a:solidFill>
              <a:srgbClr val="00897B"/>
            </a:solidFill>
            <a:prstDash val="solid"/>
          </a:ln>
        </p:spPr>
        <p:txBody>
          <a:bodyPr/>
          <a:lstStyle/>
          <a:p>
            <a:endParaRPr lang="en-CA"/>
          </a:p>
        </p:txBody>
      </p:sp>
      <p:sp>
        <p:nvSpPr>
          <p:cNvPr id="4" name="Text 2"/>
          <p:cNvSpPr/>
          <p:nvPr/>
        </p:nvSpPr>
        <p:spPr>
          <a:xfrm>
            <a:off x="256032" y="73152"/>
            <a:ext cx="8595360" cy="502920"/>
          </a:xfrm>
          <a:prstGeom prst="rect">
            <a:avLst/>
          </a:prstGeom>
          <a:noFill/>
          <a:ln/>
        </p:spPr>
        <p:txBody>
          <a:bodyPr wrap="square" lIns="0" tIns="0" rIns="0" bIns="0" rtlCol="0" anchor="ctr"/>
          <a:lstStyle/>
          <a:p>
            <a:pPr marL="0" indent="0">
              <a:buNone/>
            </a:pPr>
            <a:r>
              <a:rPr lang="en-US" sz="2200" b="1">
                <a:solidFill>
                  <a:srgbClr val="FFFFFF"/>
                </a:solidFill>
                <a:latin typeface="Calibri"/>
                <a:ea typeface="Calibri"/>
                <a:cs typeface="Calibri"/>
              </a:rPr>
              <a:t>Outlier Analysis — Statistics</a:t>
            </a:r>
            <a:endParaRPr lang="en-US" sz="2200">
              <a:latin typeface="Calibri"/>
              <a:ea typeface="Calibri"/>
              <a:cs typeface="Calibri"/>
            </a:endParaRPr>
          </a:p>
        </p:txBody>
      </p:sp>
      <p:sp>
        <p:nvSpPr>
          <p:cNvPr id="5" name="Text 3"/>
          <p:cNvSpPr/>
          <p:nvPr/>
        </p:nvSpPr>
        <p:spPr>
          <a:xfrm>
            <a:off x="256032" y="594360"/>
            <a:ext cx="8595360" cy="256032"/>
          </a:xfrm>
          <a:prstGeom prst="rect">
            <a:avLst/>
          </a:prstGeom>
          <a:noFill/>
          <a:ln/>
        </p:spPr>
        <p:txBody>
          <a:bodyPr wrap="square" lIns="0" tIns="0" rIns="0" bIns="0" rtlCol="0" anchor="t"/>
          <a:lstStyle/>
          <a:p>
            <a:pPr marL="0" indent="0">
              <a:buNone/>
            </a:pPr>
            <a:endParaRPr lang="en-US" sz="1000">
              <a:solidFill>
                <a:srgbClr val="A8C0CC"/>
              </a:solidFill>
              <a:ea typeface="Calibri"/>
              <a:cs typeface="Calibri"/>
            </a:endParaRPr>
          </a:p>
        </p:txBody>
      </p:sp>
      <p:sp>
        <p:nvSpPr>
          <p:cNvPr id="6" name="Text 4"/>
          <p:cNvSpPr/>
          <p:nvPr/>
        </p:nvSpPr>
        <p:spPr>
          <a:xfrm>
            <a:off x="256032" y="932688"/>
            <a:ext cx="4846320" cy="182880"/>
          </a:xfrm>
          <a:prstGeom prst="rect">
            <a:avLst/>
          </a:prstGeom>
          <a:noFill/>
          <a:ln/>
        </p:spPr>
        <p:txBody>
          <a:bodyPr wrap="square" rtlCol="0" anchor="ctr"/>
          <a:lstStyle/>
          <a:p>
            <a:pPr marL="0" indent="0">
              <a:buNone/>
            </a:pPr>
            <a:r>
              <a:rPr lang="en-US" sz="850" b="1">
                <a:solidFill>
                  <a:srgbClr val="0D1B2A"/>
                </a:solidFill>
                <a:latin typeface="Calibri" pitchFamily="34" charset="0"/>
                <a:ea typeface="Calibri" pitchFamily="34" charset="-122"/>
                <a:cs typeface="Calibri" pitchFamily="34" charset="-120"/>
              </a:rPr>
              <a:t>avg_cpu  (NCU)</a:t>
            </a:r>
            <a:endParaRPr lang="en-US" sz="850"/>
          </a:p>
        </p:txBody>
      </p:sp>
      <p:graphicFrame>
        <p:nvGraphicFramePr>
          <p:cNvPr id="7" name="Table 0"/>
          <p:cNvGraphicFramePr>
            <a:graphicFrameLocks noGrp="1"/>
          </p:cNvGraphicFramePr>
          <p:nvPr/>
        </p:nvGraphicFramePr>
        <p:xfrm>
          <a:off x="256032" y="1115568"/>
          <a:ext cx="4846320" cy="2377440"/>
        </p:xfrm>
        <a:graphic>
          <a:graphicData uri="http://schemas.openxmlformats.org/drawingml/2006/table">
            <a:tbl>
              <a:tblPr/>
              <a:tblGrid>
                <a:gridCol w="1188720">
                  <a:extLst>
                    <a:ext uri="{9D8B030D-6E8A-4147-A177-3AD203B41FA5}">
                      <a16:colId xmlns:a16="http://schemas.microsoft.com/office/drawing/2014/main" val="20000"/>
                    </a:ext>
                  </a:extLst>
                </a:gridCol>
                <a:gridCol w="411480">
                  <a:extLst>
                    <a:ext uri="{9D8B030D-6E8A-4147-A177-3AD203B41FA5}">
                      <a16:colId xmlns:a16="http://schemas.microsoft.com/office/drawing/2014/main" val="20001"/>
                    </a:ext>
                  </a:extLst>
                </a:gridCol>
                <a:gridCol w="384048">
                  <a:extLst>
                    <a:ext uri="{9D8B030D-6E8A-4147-A177-3AD203B41FA5}">
                      <a16:colId xmlns:a16="http://schemas.microsoft.com/office/drawing/2014/main" val="20002"/>
                    </a:ext>
                  </a:extLst>
                </a:gridCol>
                <a:gridCol w="621792">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38912">
                  <a:extLst>
                    <a:ext uri="{9D8B030D-6E8A-4147-A177-3AD203B41FA5}">
                      <a16:colId xmlns:a16="http://schemas.microsoft.com/office/drawing/2014/main" val="20005"/>
                    </a:ext>
                  </a:extLst>
                </a:gridCol>
                <a:gridCol w="438912">
                  <a:extLst>
                    <a:ext uri="{9D8B030D-6E8A-4147-A177-3AD203B41FA5}">
                      <a16:colId xmlns:a16="http://schemas.microsoft.com/office/drawing/2014/main" val="20006"/>
                    </a:ext>
                  </a:extLst>
                </a:gridCol>
                <a:gridCol w="475488">
                  <a:extLst>
                    <a:ext uri="{9D8B030D-6E8A-4147-A177-3AD203B41FA5}">
                      <a16:colId xmlns:a16="http://schemas.microsoft.com/office/drawing/2014/main" val="20007"/>
                    </a:ext>
                  </a:extLst>
                </a:gridCol>
                <a:gridCol w="475488">
                  <a:extLst>
                    <a:ext uri="{9D8B030D-6E8A-4147-A177-3AD203B41FA5}">
                      <a16:colId xmlns:a16="http://schemas.microsoft.com/office/drawing/2014/main" val="20008"/>
                    </a:ext>
                  </a:extLst>
                </a:gridCol>
              </a:tblGrid>
              <a:tr h="237744">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Tenant</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n</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CV</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IQR out.</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IQR%</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3σ</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Zeros</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p99</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Max</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High-demand</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769k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b="1">
                          <a:solidFill>
                            <a:srgbClr val="A32D2D"/>
                          </a:solidFill>
                          <a:latin typeface="Calibri" pitchFamily="34" charset="0"/>
                          <a:ea typeface="Calibri" pitchFamily="34" charset="-122"/>
                          <a:cs typeface="Calibri" pitchFamily="34" charset="-120"/>
                        </a:rPr>
                        <a:t>2.76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104,475</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13.6%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13,580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10,354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0.177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10.72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Med-demand-1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139k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1.00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12,436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9.0%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1,823</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2,283</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0.0017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0.014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Med-demand-2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113k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0.95</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160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8</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877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0.0028</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Low-demand-1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1.2k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2.04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72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5.9%</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295</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0.0034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0.086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Low-demand-2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0.8k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1.78</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124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16.2%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9</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167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0.0005</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0.356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5"/>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Spiky-1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7.0k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b="1">
                          <a:solidFill>
                            <a:srgbClr val="A32D2D"/>
                          </a:solidFill>
                          <a:latin typeface="Calibri" pitchFamily="34" charset="0"/>
                          <a:ea typeface="Calibri" pitchFamily="34" charset="-122"/>
                          <a:cs typeface="Calibri" pitchFamily="34" charset="-120"/>
                        </a:rPr>
                        <a:t>6.94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815</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11.6%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108</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174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0.0041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0.377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6"/>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Spiky-2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197k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b="1">
                          <a:solidFill>
                            <a:srgbClr val="A32D2D"/>
                          </a:solidFill>
                          <a:latin typeface="Calibri" pitchFamily="34" charset="0"/>
                          <a:ea typeface="Calibri" pitchFamily="34" charset="-122"/>
                          <a:cs typeface="Calibri" pitchFamily="34" charset="-120"/>
                        </a:rPr>
                        <a:t>6.77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25,079</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12.7%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4,478</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1,143</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0.0020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1.254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7"/>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Stable-1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55k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0.24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3,011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5.5%</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15</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217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0.0055</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8"/>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Stable-2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55k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0.37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2,339</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4.3%</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206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187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0.0002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Text 5"/>
          <p:cNvSpPr/>
          <p:nvPr/>
        </p:nvSpPr>
        <p:spPr>
          <a:xfrm>
            <a:off x="5303520" y="932688"/>
            <a:ext cx="3767328" cy="182880"/>
          </a:xfrm>
          <a:prstGeom prst="rect">
            <a:avLst/>
          </a:prstGeom>
          <a:noFill/>
          <a:ln/>
        </p:spPr>
        <p:txBody>
          <a:bodyPr wrap="square" rtlCol="0" anchor="ctr"/>
          <a:lstStyle/>
          <a:p>
            <a:pPr marL="0" indent="0">
              <a:buNone/>
            </a:pPr>
            <a:r>
              <a:rPr lang="en-US" sz="850" b="1">
                <a:solidFill>
                  <a:srgbClr val="0D1B2A"/>
                </a:solidFill>
                <a:latin typeface="Calibri" pitchFamily="34" charset="0"/>
                <a:ea typeface="Calibri" pitchFamily="34" charset="-122"/>
                <a:cs typeface="Calibri" pitchFamily="34" charset="-120"/>
              </a:rPr>
              <a:t>avg_mem  (norm. bytes)</a:t>
            </a:r>
            <a:endParaRPr lang="en-US" sz="850"/>
          </a:p>
        </p:txBody>
      </p:sp>
      <p:graphicFrame>
        <p:nvGraphicFramePr>
          <p:cNvPr id="11" name="Table 1"/>
          <p:cNvGraphicFramePr>
            <a:graphicFrameLocks noGrp="1"/>
          </p:cNvGraphicFramePr>
          <p:nvPr>
            <p:extLst>
              <p:ext uri="{D42A27DB-BD31-4B8C-83A1-F6EECF244321}">
                <p14:modId xmlns:p14="http://schemas.microsoft.com/office/powerpoint/2010/main" val="3642642688"/>
              </p:ext>
            </p:extLst>
          </p:nvPr>
        </p:nvGraphicFramePr>
        <p:xfrm>
          <a:off x="5213958" y="1111684"/>
          <a:ext cx="3847240" cy="3276600"/>
        </p:xfrm>
        <a:graphic>
          <a:graphicData uri="http://schemas.openxmlformats.org/drawingml/2006/table">
            <a:tbl>
              <a:tblPr/>
              <a:tblGrid>
                <a:gridCol w="850946">
                  <a:extLst>
                    <a:ext uri="{9D8B030D-6E8A-4147-A177-3AD203B41FA5}">
                      <a16:colId xmlns:a16="http://schemas.microsoft.com/office/drawing/2014/main" val="20000"/>
                    </a:ext>
                  </a:extLst>
                </a:gridCol>
                <a:gridCol w="451735">
                  <a:extLst>
                    <a:ext uri="{9D8B030D-6E8A-4147-A177-3AD203B41FA5}">
                      <a16:colId xmlns:a16="http://schemas.microsoft.com/office/drawing/2014/main" val="20001"/>
                    </a:ext>
                  </a:extLst>
                </a:gridCol>
                <a:gridCol w="368296">
                  <a:extLst>
                    <a:ext uri="{9D8B030D-6E8A-4147-A177-3AD203B41FA5}">
                      <a16:colId xmlns:a16="http://schemas.microsoft.com/office/drawing/2014/main" val="20002"/>
                    </a:ext>
                  </a:extLst>
                </a:gridCol>
                <a:gridCol w="441231">
                  <a:extLst>
                    <a:ext uri="{9D8B030D-6E8A-4147-A177-3AD203B41FA5}">
                      <a16:colId xmlns:a16="http://schemas.microsoft.com/office/drawing/2014/main" val="20003"/>
                    </a:ext>
                  </a:extLst>
                </a:gridCol>
                <a:gridCol w="326861">
                  <a:extLst>
                    <a:ext uri="{9D8B030D-6E8A-4147-A177-3AD203B41FA5}">
                      <a16:colId xmlns:a16="http://schemas.microsoft.com/office/drawing/2014/main" val="20004"/>
                    </a:ext>
                  </a:extLst>
                </a:gridCol>
                <a:gridCol w="292607">
                  <a:extLst>
                    <a:ext uri="{9D8B030D-6E8A-4147-A177-3AD203B41FA5}">
                      <a16:colId xmlns:a16="http://schemas.microsoft.com/office/drawing/2014/main" val="20005"/>
                    </a:ext>
                  </a:extLst>
                </a:gridCol>
                <a:gridCol w="310896">
                  <a:extLst>
                    <a:ext uri="{9D8B030D-6E8A-4147-A177-3AD203B41FA5}">
                      <a16:colId xmlns:a16="http://schemas.microsoft.com/office/drawing/2014/main" val="20006"/>
                    </a:ext>
                  </a:extLst>
                </a:gridCol>
                <a:gridCol w="402334">
                  <a:extLst>
                    <a:ext uri="{9D8B030D-6E8A-4147-A177-3AD203B41FA5}">
                      <a16:colId xmlns:a16="http://schemas.microsoft.com/office/drawing/2014/main" val="20007"/>
                    </a:ext>
                  </a:extLst>
                </a:gridCol>
                <a:gridCol w="402334">
                  <a:extLst>
                    <a:ext uri="{9D8B030D-6E8A-4147-A177-3AD203B41FA5}">
                      <a16:colId xmlns:a16="http://schemas.microsoft.com/office/drawing/2014/main" val="20008"/>
                    </a:ext>
                  </a:extLst>
                </a:gridCol>
              </a:tblGrid>
              <a:tr h="237744">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Tenant</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n</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CV</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IQR out.</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IQR%</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3σ</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Zeros</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p99</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750" b="1">
                          <a:solidFill>
                            <a:srgbClr val="FFFFFF"/>
                          </a:solidFill>
                          <a:latin typeface="Calibri" pitchFamily="34" charset="0"/>
                          <a:ea typeface="Calibri" pitchFamily="34" charset="-122"/>
                          <a:cs typeface="Calibri" pitchFamily="34" charset="-120"/>
                        </a:rPr>
                        <a:t>Max</a:t>
                      </a:r>
                      <a:endParaRPr lang="en-US" sz="75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High-demand</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769k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1.35</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38,494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5.0%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18,553</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0.296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0.314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Med-demand-1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139k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0.21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7,941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5.7%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151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34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0.0011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0.0017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Med-demand-2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113k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33</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0.0006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0.0006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Low-demand-1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1.2k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0.28</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71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5.8%</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8</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19</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0.0009</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0.0016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Low-demand-2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0.8k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0.17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51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6.7%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33</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0.0007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0.0012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5"/>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Spiky-1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7.0k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1.96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481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6.8%</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109</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4,299</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0.0092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0.0415</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6"/>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Spiky-2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197k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1.79</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24,432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12.4%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5,117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0.0089</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0.0396</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7"/>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Stable-1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55k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0.13</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3,183</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5.8%</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0.0060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0.0060</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8"/>
                  </a:ext>
                </a:extLst>
              </a:tr>
              <a:tr h="237744">
                <a:tc>
                  <a:txBody>
                    <a:bodyPr/>
                    <a:lstStyle/>
                    <a:p>
                      <a:pPr marL="0" indent="0" algn="l">
                        <a:buNone/>
                      </a:pPr>
                      <a:r>
                        <a:rPr lang="en-US" sz="700">
                          <a:solidFill>
                            <a:srgbClr val="1A2733"/>
                          </a:solidFill>
                          <a:latin typeface="Calibri" pitchFamily="34" charset="0"/>
                          <a:ea typeface="Calibri" pitchFamily="34" charset="-122"/>
                          <a:cs typeface="Calibri" pitchFamily="34" charset="-120"/>
                        </a:rPr>
                        <a:t>Stable-2</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55k</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0.19</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2,227</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4.1%</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133</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168</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0.0004</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700">
                          <a:solidFill>
                            <a:srgbClr val="1A2733"/>
                          </a:solidFill>
                          <a:latin typeface="Calibri" pitchFamily="34" charset="0"/>
                          <a:ea typeface="Calibri" pitchFamily="34" charset="-122"/>
                          <a:cs typeface="Calibri" pitchFamily="34" charset="-120"/>
                        </a:rPr>
                        <a:t>0.0019</a:t>
                      </a:r>
                      <a:endParaRPr lang="en-US" sz="700">
                        <a:latin typeface="Calibri" charset="0"/>
                        <a:ea typeface="Calibri" charset="0"/>
                        <a:cs typeface="Calibri" charset="0"/>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2A"/>
          </a:solidFill>
          <a:ln w="12700">
            <a:solidFill>
              <a:srgbClr val="0D1B2A"/>
            </a:solidFill>
            <a:prstDash val="solid"/>
          </a:ln>
        </p:spPr>
        <p:txBody>
          <a:bodyPr/>
          <a:lstStyle/>
          <a:p>
            <a:endParaRPr lang="en-CA"/>
          </a:p>
        </p:txBody>
      </p:sp>
      <p:sp>
        <p:nvSpPr>
          <p:cNvPr id="3" name="Shape 1"/>
          <p:cNvSpPr/>
          <p:nvPr/>
        </p:nvSpPr>
        <p:spPr>
          <a:xfrm>
            <a:off x="0" y="0"/>
            <a:ext cx="109728" cy="5143500"/>
          </a:xfrm>
          <a:prstGeom prst="rect">
            <a:avLst/>
          </a:prstGeom>
          <a:solidFill>
            <a:srgbClr val="00897B"/>
          </a:solidFill>
          <a:ln w="12700">
            <a:solidFill>
              <a:srgbClr val="00897B"/>
            </a:solidFill>
            <a:prstDash val="solid"/>
          </a:ln>
        </p:spPr>
        <p:txBody>
          <a:bodyPr/>
          <a:lstStyle/>
          <a:p>
            <a:endParaRPr lang="en-CA"/>
          </a:p>
        </p:txBody>
      </p:sp>
      <p:sp>
        <p:nvSpPr>
          <p:cNvPr id="4" name="Text 2"/>
          <p:cNvSpPr/>
          <p:nvPr/>
        </p:nvSpPr>
        <p:spPr>
          <a:xfrm>
            <a:off x="256032" y="73152"/>
            <a:ext cx="8595360" cy="502920"/>
          </a:xfrm>
          <a:prstGeom prst="rect">
            <a:avLst/>
          </a:prstGeom>
          <a:noFill/>
          <a:ln/>
        </p:spPr>
        <p:txBody>
          <a:bodyPr wrap="square" lIns="0" tIns="0" rIns="0" bIns="0" rtlCol="0" anchor="ctr"/>
          <a:lstStyle/>
          <a:p>
            <a:pPr marL="0" indent="0">
              <a:buNone/>
            </a:pPr>
            <a:r>
              <a:rPr lang="en-US" sz="2200" b="1">
                <a:solidFill>
                  <a:srgbClr val="FFFFFF"/>
                </a:solidFill>
                <a:latin typeface="Calibri"/>
                <a:ea typeface="Calibri"/>
                <a:cs typeface="Calibri"/>
              </a:rPr>
              <a:t>Seasonality Analysis — Time Series &amp; Hypothesis Test</a:t>
            </a:r>
            <a:endParaRPr lang="en-US" sz="2200">
              <a:latin typeface="Calibri"/>
              <a:ea typeface="Calibri"/>
              <a:cs typeface="Calibri"/>
            </a:endParaRPr>
          </a:p>
        </p:txBody>
      </p:sp>
      <p:sp>
        <p:nvSpPr>
          <p:cNvPr id="5" name="Text 3"/>
          <p:cNvSpPr/>
          <p:nvPr/>
        </p:nvSpPr>
        <p:spPr>
          <a:xfrm>
            <a:off x="256032" y="594360"/>
            <a:ext cx="8595360" cy="256032"/>
          </a:xfrm>
          <a:prstGeom prst="rect">
            <a:avLst/>
          </a:prstGeom>
          <a:noFill/>
          <a:ln/>
        </p:spPr>
        <p:txBody>
          <a:bodyPr wrap="square" lIns="0" tIns="0" rIns="0" bIns="0" rtlCol="0" anchor="t"/>
          <a:lstStyle/>
          <a:p>
            <a:pPr marL="0" indent="0">
              <a:buNone/>
            </a:pPr>
            <a:r>
              <a:rPr lang="en-US" sz="1000">
                <a:solidFill>
                  <a:srgbClr val="A8C0CC"/>
                </a:solidFill>
                <a:latin typeface="Calibri" pitchFamily="34" charset="0"/>
                <a:ea typeface="Calibri" pitchFamily="34" charset="-122"/>
                <a:cs typeface="Calibri" pitchFamily="34" charset="-120"/>
              </a:rPr>
              <a:t>Global mean · Kruskal-Wallis H-test · avg_cpu and avg_mem</a:t>
            </a:r>
            <a:endParaRPr lang="en-US" sz="1000"/>
          </a:p>
        </p:txBody>
      </p:sp>
      <p:pic>
        <p:nvPicPr>
          <p:cNvPr id="7" name="Image 0" descr="preencoded.png"/>
          <p:cNvPicPr>
            <a:picLocks noChangeAspect="1"/>
          </p:cNvPicPr>
          <p:nvPr/>
        </p:nvPicPr>
        <p:blipFill>
          <a:blip r:embed="rId3"/>
          <a:stretch>
            <a:fillRect/>
          </a:stretch>
        </p:blipFill>
        <p:spPr>
          <a:xfrm>
            <a:off x="587791" y="1277216"/>
            <a:ext cx="8187625" cy="3244992"/>
          </a:xfrm>
          <a:prstGeom prst="rect">
            <a:avLst/>
          </a:prstGeom>
        </p:spPr>
      </p:pic>
      <p:sp>
        <p:nvSpPr>
          <p:cNvPr id="10" name="Shape 7"/>
          <p:cNvSpPr/>
          <p:nvPr/>
        </p:nvSpPr>
        <p:spPr>
          <a:xfrm>
            <a:off x="256032" y="2377440"/>
            <a:ext cx="54864" cy="530352"/>
          </a:xfrm>
          <a:prstGeom prst="rect">
            <a:avLst/>
          </a:prstGeom>
          <a:solidFill>
            <a:srgbClr val="00897B"/>
          </a:solidFill>
          <a:ln w="12700">
            <a:solidFill>
              <a:srgbClr val="00897B"/>
            </a:solidFill>
            <a:prstDash val="solid"/>
          </a:ln>
        </p:spPr>
        <p:txBody>
          <a:bodyPr/>
          <a:lstStyle/>
          <a:p>
            <a:endParaRPr lang="en-CA"/>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2A"/>
          </a:solidFill>
          <a:ln w="12700">
            <a:solidFill>
              <a:srgbClr val="0D1B2A"/>
            </a:solidFill>
            <a:prstDash val="solid"/>
          </a:ln>
        </p:spPr>
        <p:txBody>
          <a:bodyPr/>
          <a:lstStyle/>
          <a:p>
            <a:endParaRPr lang="en-CA"/>
          </a:p>
        </p:txBody>
      </p:sp>
      <p:sp>
        <p:nvSpPr>
          <p:cNvPr id="3" name="Shape 1"/>
          <p:cNvSpPr/>
          <p:nvPr/>
        </p:nvSpPr>
        <p:spPr>
          <a:xfrm>
            <a:off x="0" y="0"/>
            <a:ext cx="109728" cy="5143500"/>
          </a:xfrm>
          <a:prstGeom prst="rect">
            <a:avLst/>
          </a:prstGeom>
          <a:solidFill>
            <a:srgbClr val="00897B"/>
          </a:solidFill>
          <a:ln w="12700">
            <a:solidFill>
              <a:srgbClr val="00897B"/>
            </a:solidFill>
            <a:prstDash val="solid"/>
          </a:ln>
        </p:spPr>
        <p:txBody>
          <a:bodyPr/>
          <a:lstStyle/>
          <a:p>
            <a:endParaRPr lang="en-CA"/>
          </a:p>
        </p:txBody>
      </p:sp>
      <p:sp>
        <p:nvSpPr>
          <p:cNvPr id="4" name="Text 2"/>
          <p:cNvSpPr/>
          <p:nvPr/>
        </p:nvSpPr>
        <p:spPr>
          <a:xfrm>
            <a:off x="256032" y="73152"/>
            <a:ext cx="8595360" cy="502920"/>
          </a:xfrm>
          <a:prstGeom prst="rect">
            <a:avLst/>
          </a:prstGeom>
          <a:noFill/>
          <a:ln/>
        </p:spPr>
        <p:txBody>
          <a:bodyPr wrap="square" lIns="0" tIns="0" rIns="0" bIns="0" rtlCol="0" anchor="ctr"/>
          <a:lstStyle/>
          <a:p>
            <a:pPr marL="0" indent="0">
              <a:buNone/>
            </a:pPr>
            <a:r>
              <a:rPr lang="en-US" sz="2200" b="1">
                <a:solidFill>
                  <a:srgbClr val="FFFFFF"/>
                </a:solidFill>
                <a:latin typeface="Calibri"/>
                <a:ea typeface="Calibri"/>
                <a:cs typeface="Calibri"/>
              </a:rPr>
              <a:t>Seasonality Analysis — Time Series &amp; Hypothesis Test</a:t>
            </a:r>
            <a:endParaRPr lang="en-US" sz="2200">
              <a:latin typeface="Calibri"/>
              <a:ea typeface="Calibri"/>
              <a:cs typeface="Calibri"/>
            </a:endParaRPr>
          </a:p>
        </p:txBody>
      </p:sp>
      <p:sp>
        <p:nvSpPr>
          <p:cNvPr id="5" name="Text 3"/>
          <p:cNvSpPr/>
          <p:nvPr/>
        </p:nvSpPr>
        <p:spPr>
          <a:xfrm>
            <a:off x="256032" y="594360"/>
            <a:ext cx="8595360" cy="256032"/>
          </a:xfrm>
          <a:prstGeom prst="rect">
            <a:avLst/>
          </a:prstGeom>
          <a:noFill/>
          <a:ln/>
        </p:spPr>
        <p:txBody>
          <a:bodyPr wrap="square" lIns="0" tIns="0" rIns="0" bIns="0" rtlCol="0" anchor="t"/>
          <a:lstStyle/>
          <a:p>
            <a:pPr marL="0" indent="0">
              <a:buNone/>
            </a:pPr>
            <a:r>
              <a:rPr lang="en-US" sz="1000">
                <a:solidFill>
                  <a:srgbClr val="A8C0CC"/>
                </a:solidFill>
                <a:latin typeface="Calibri" pitchFamily="34" charset="0"/>
                <a:ea typeface="Calibri" pitchFamily="34" charset="-122"/>
                <a:cs typeface="Calibri" pitchFamily="34" charset="-120"/>
              </a:rPr>
              <a:t>Global mean · Kruskal-Wallis H-test · avg_cpu and avg_mem</a:t>
            </a:r>
            <a:endParaRPr lang="en-US" sz="1000"/>
          </a:p>
        </p:txBody>
      </p:sp>
      <p:sp>
        <p:nvSpPr>
          <p:cNvPr id="9" name="Shape 6"/>
          <p:cNvSpPr/>
          <p:nvPr/>
        </p:nvSpPr>
        <p:spPr>
          <a:xfrm>
            <a:off x="310833" y="1046550"/>
            <a:ext cx="8631936" cy="530352"/>
          </a:xfrm>
          <a:prstGeom prst="rect">
            <a:avLst/>
          </a:prstGeom>
          <a:solidFill>
            <a:srgbClr val="FFFFFF"/>
          </a:solidFill>
          <a:ln w="6350">
            <a:solidFill>
              <a:srgbClr val="E2E8EF"/>
            </a:solidFill>
            <a:prstDash val="solid"/>
          </a:ln>
          <a:effectLst>
            <a:outerShdw blurRad="76200" dist="25400" dir="8100000" algn="bl" rotWithShape="0">
              <a:srgbClr val="000000">
                <a:alpha val="7000"/>
              </a:srgbClr>
            </a:outerShdw>
          </a:effectLst>
        </p:spPr>
        <p:txBody>
          <a:bodyPr/>
          <a:lstStyle/>
          <a:p>
            <a:endParaRPr lang="en-CA"/>
          </a:p>
        </p:txBody>
      </p:sp>
      <p:sp>
        <p:nvSpPr>
          <p:cNvPr id="10" name="Shape 7"/>
          <p:cNvSpPr/>
          <p:nvPr/>
        </p:nvSpPr>
        <p:spPr>
          <a:xfrm>
            <a:off x="310833" y="1046550"/>
            <a:ext cx="54864" cy="530352"/>
          </a:xfrm>
          <a:prstGeom prst="rect">
            <a:avLst/>
          </a:prstGeom>
          <a:solidFill>
            <a:srgbClr val="00897B"/>
          </a:solidFill>
          <a:ln w="12700">
            <a:solidFill>
              <a:srgbClr val="00897B"/>
            </a:solidFill>
            <a:prstDash val="solid"/>
          </a:ln>
        </p:spPr>
        <p:txBody>
          <a:bodyPr/>
          <a:lstStyle/>
          <a:p>
            <a:endParaRPr lang="en-CA"/>
          </a:p>
        </p:txBody>
      </p:sp>
      <p:sp>
        <p:nvSpPr>
          <p:cNvPr id="11" name="Text 8"/>
          <p:cNvSpPr/>
          <p:nvPr/>
        </p:nvSpPr>
        <p:spPr>
          <a:xfrm>
            <a:off x="438849" y="1064838"/>
            <a:ext cx="8394192" cy="493776"/>
          </a:xfrm>
          <a:prstGeom prst="rect">
            <a:avLst/>
          </a:prstGeom>
          <a:noFill/>
          <a:ln/>
        </p:spPr>
        <p:txBody>
          <a:bodyPr wrap="square" rtlCol="0" anchor="ctr"/>
          <a:lstStyle/>
          <a:p>
            <a:pPr marL="0" indent="0">
              <a:buNone/>
            </a:pPr>
            <a:r>
              <a:rPr lang="en-US" sz="900">
                <a:solidFill>
                  <a:srgbClr val="1A2733"/>
                </a:solidFill>
                <a:latin typeface="Calibri" pitchFamily="34" charset="0"/>
                <a:ea typeface="Calibri" pitchFamily="34" charset="-122"/>
                <a:cs typeface="Calibri" pitchFamily="34" charset="-120"/>
              </a:rPr>
              <a:t>Kruskal-Wallis H-test is used because resource distributions are heavily skewed and zero-inflated — violating ANOVA normality assumptions. Significant results (p &lt; 0.001) confirm the temporal patterns in Figures 4 &amp; 5 are statistically real, justifying sin_time/cos_time features in the LSTM.</a:t>
            </a:r>
            <a:endParaRPr lang="en-US" sz="900"/>
          </a:p>
        </p:txBody>
      </p:sp>
      <p:graphicFrame>
        <p:nvGraphicFramePr>
          <p:cNvPr id="12" name="Table 0"/>
          <p:cNvGraphicFramePr>
            <a:graphicFrameLocks noGrp="1"/>
          </p:cNvGraphicFramePr>
          <p:nvPr>
            <p:extLst>
              <p:ext uri="{D42A27DB-BD31-4B8C-83A1-F6EECF244321}">
                <p14:modId xmlns:p14="http://schemas.microsoft.com/office/powerpoint/2010/main" val="2044571307"/>
              </p:ext>
            </p:extLst>
          </p:nvPr>
        </p:nvGraphicFramePr>
        <p:xfrm>
          <a:off x="463550" y="2078005"/>
          <a:ext cx="8329533" cy="2761821"/>
        </p:xfrm>
        <a:graphic>
          <a:graphicData uri="http://schemas.openxmlformats.org/drawingml/2006/table">
            <a:tbl>
              <a:tblPr/>
              <a:tblGrid>
                <a:gridCol w="1459669">
                  <a:extLst>
                    <a:ext uri="{9D8B030D-6E8A-4147-A177-3AD203B41FA5}">
                      <a16:colId xmlns:a16="http://schemas.microsoft.com/office/drawing/2014/main" val="20000"/>
                    </a:ext>
                  </a:extLst>
                </a:gridCol>
                <a:gridCol w="729923">
                  <a:extLst>
                    <a:ext uri="{9D8B030D-6E8A-4147-A177-3AD203B41FA5}">
                      <a16:colId xmlns:a16="http://schemas.microsoft.com/office/drawing/2014/main" val="20001"/>
                    </a:ext>
                  </a:extLst>
                </a:gridCol>
                <a:gridCol w="987543">
                  <a:extLst>
                    <a:ext uri="{9D8B030D-6E8A-4147-A177-3AD203B41FA5}">
                      <a16:colId xmlns:a16="http://schemas.microsoft.com/office/drawing/2014/main" val="20002"/>
                    </a:ext>
                  </a:extLst>
                </a:gridCol>
                <a:gridCol w="729923">
                  <a:extLst>
                    <a:ext uri="{9D8B030D-6E8A-4147-A177-3AD203B41FA5}">
                      <a16:colId xmlns:a16="http://schemas.microsoft.com/office/drawing/2014/main" val="20003"/>
                    </a:ext>
                  </a:extLst>
                </a:gridCol>
                <a:gridCol w="987543">
                  <a:extLst>
                    <a:ext uri="{9D8B030D-6E8A-4147-A177-3AD203B41FA5}">
                      <a16:colId xmlns:a16="http://schemas.microsoft.com/office/drawing/2014/main" val="20004"/>
                    </a:ext>
                  </a:extLst>
                </a:gridCol>
                <a:gridCol w="729923">
                  <a:extLst>
                    <a:ext uri="{9D8B030D-6E8A-4147-A177-3AD203B41FA5}">
                      <a16:colId xmlns:a16="http://schemas.microsoft.com/office/drawing/2014/main" val="20005"/>
                    </a:ext>
                  </a:extLst>
                </a:gridCol>
                <a:gridCol w="987543">
                  <a:extLst>
                    <a:ext uri="{9D8B030D-6E8A-4147-A177-3AD203B41FA5}">
                      <a16:colId xmlns:a16="http://schemas.microsoft.com/office/drawing/2014/main" val="20006"/>
                    </a:ext>
                  </a:extLst>
                </a:gridCol>
                <a:gridCol w="729923">
                  <a:extLst>
                    <a:ext uri="{9D8B030D-6E8A-4147-A177-3AD203B41FA5}">
                      <a16:colId xmlns:a16="http://schemas.microsoft.com/office/drawing/2014/main" val="20007"/>
                    </a:ext>
                  </a:extLst>
                </a:gridCol>
                <a:gridCol w="987543">
                  <a:extLst>
                    <a:ext uri="{9D8B030D-6E8A-4147-A177-3AD203B41FA5}">
                      <a16:colId xmlns:a16="http://schemas.microsoft.com/office/drawing/2014/main" val="20008"/>
                    </a:ext>
                  </a:extLst>
                </a:gridCol>
              </a:tblGrid>
              <a:tr h="400464">
                <a:tc>
                  <a:txBody>
                    <a:bodyPr/>
                    <a:lstStyle/>
                    <a:p>
                      <a:pPr marL="0" indent="0" algn="ctr">
                        <a:buNone/>
                      </a:pPr>
                      <a:r>
                        <a:rPr lang="en-US" sz="1000" b="1">
                          <a:solidFill>
                            <a:srgbClr val="FFFFFF"/>
                          </a:solidFill>
                          <a:latin typeface="Calibri"/>
                          <a:ea typeface="Calibri"/>
                          <a:cs typeface="Calibri"/>
                        </a:rPr>
                        <a:t>Tenant</a:t>
                      </a:r>
                      <a:endParaRPr lang="en-US" sz="1000">
                        <a:latin typeface="Calibri"/>
                        <a:ea typeface="Calibri"/>
                        <a:cs typeface="Calibri"/>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1000" b="1" err="1">
                          <a:solidFill>
                            <a:srgbClr val="FFFFFF"/>
                          </a:solidFill>
                          <a:latin typeface="Calibri"/>
                          <a:ea typeface="Calibri"/>
                          <a:cs typeface="Calibri"/>
                        </a:rPr>
                        <a:t>cpu</a:t>
                      </a:r>
                      <a:r>
                        <a:rPr lang="en-US" sz="1000" b="1">
                          <a:solidFill>
                            <a:srgbClr val="FFFFFF"/>
                          </a:solidFill>
                          <a:latin typeface="Calibri"/>
                          <a:ea typeface="Calibri"/>
                          <a:cs typeface="Calibri"/>
                        </a:rPr>
                        <a:t> Daily</a:t>
                      </a:r>
                      <a:endParaRPr lang="en-US" sz="1000">
                        <a:latin typeface="Calibri"/>
                        <a:ea typeface="Calibri"/>
                        <a:cs typeface="Calibri"/>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1E3A4A"/>
                    </a:solidFill>
                  </a:tcPr>
                </a:tc>
                <a:tc>
                  <a:txBody>
                    <a:bodyPr/>
                    <a:lstStyle/>
                    <a:p>
                      <a:pPr marL="0" indent="0" algn="ctr">
                        <a:buNone/>
                      </a:pPr>
                      <a:r>
                        <a:rPr lang="en-US" sz="1000" b="1" err="1">
                          <a:solidFill>
                            <a:srgbClr val="FFFFFF"/>
                          </a:solidFill>
                          <a:latin typeface="Calibri"/>
                          <a:ea typeface="Calibri"/>
                          <a:cs typeface="Calibri"/>
                        </a:rPr>
                        <a:t>cpu</a:t>
                      </a:r>
                      <a:r>
                        <a:rPr lang="en-US" sz="1000" b="1">
                          <a:solidFill>
                            <a:srgbClr val="FFFFFF"/>
                          </a:solidFill>
                          <a:latin typeface="Calibri"/>
                          <a:ea typeface="Calibri"/>
                          <a:cs typeface="Calibri"/>
                        </a:rPr>
                        <a:t> Daily p</a:t>
                      </a:r>
                      <a:endParaRPr lang="en-US" sz="1000">
                        <a:latin typeface="Calibri"/>
                        <a:ea typeface="Calibri"/>
                        <a:cs typeface="Calibri"/>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1E3A4A"/>
                    </a:solidFill>
                  </a:tcPr>
                </a:tc>
                <a:tc>
                  <a:txBody>
                    <a:bodyPr/>
                    <a:lstStyle/>
                    <a:p>
                      <a:pPr marL="0" indent="0" algn="ctr">
                        <a:buNone/>
                      </a:pPr>
                      <a:r>
                        <a:rPr lang="en-US" sz="1000" b="1" err="1">
                          <a:solidFill>
                            <a:srgbClr val="FFFFFF"/>
                          </a:solidFill>
                          <a:latin typeface="Calibri"/>
                          <a:ea typeface="Calibri"/>
                          <a:cs typeface="Calibri"/>
                        </a:rPr>
                        <a:t>cpu</a:t>
                      </a:r>
                      <a:r>
                        <a:rPr lang="en-US" sz="1000" b="1">
                          <a:solidFill>
                            <a:srgbClr val="FFFFFF"/>
                          </a:solidFill>
                          <a:latin typeface="Calibri"/>
                          <a:ea typeface="Calibri"/>
                          <a:cs typeface="Calibri"/>
                        </a:rPr>
                        <a:t> Weekly</a:t>
                      </a:r>
                      <a:endParaRPr lang="en-US" sz="1000">
                        <a:latin typeface="Calibri"/>
                        <a:ea typeface="Calibri"/>
                        <a:cs typeface="Calibri"/>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1E3A4A"/>
                    </a:solidFill>
                  </a:tcPr>
                </a:tc>
                <a:tc>
                  <a:txBody>
                    <a:bodyPr/>
                    <a:lstStyle/>
                    <a:p>
                      <a:pPr marL="0" indent="0" algn="ctr">
                        <a:buNone/>
                      </a:pPr>
                      <a:r>
                        <a:rPr lang="en-US" sz="1000" b="1" err="1">
                          <a:solidFill>
                            <a:srgbClr val="FFFFFF"/>
                          </a:solidFill>
                          <a:latin typeface="Calibri"/>
                          <a:ea typeface="Calibri"/>
                          <a:cs typeface="Calibri"/>
                        </a:rPr>
                        <a:t>cpu</a:t>
                      </a:r>
                      <a:r>
                        <a:rPr lang="en-US" sz="1000" b="1">
                          <a:solidFill>
                            <a:srgbClr val="FFFFFF"/>
                          </a:solidFill>
                          <a:latin typeface="Calibri"/>
                          <a:ea typeface="Calibri"/>
                          <a:cs typeface="Calibri"/>
                        </a:rPr>
                        <a:t> Weekly p</a:t>
                      </a:r>
                      <a:endParaRPr lang="en-US" sz="1000">
                        <a:latin typeface="Calibri"/>
                        <a:ea typeface="Calibri"/>
                        <a:cs typeface="Calibri"/>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1E3A4A"/>
                    </a:solidFill>
                  </a:tcPr>
                </a:tc>
                <a:tc>
                  <a:txBody>
                    <a:bodyPr/>
                    <a:lstStyle/>
                    <a:p>
                      <a:pPr marL="0" indent="0" algn="ctr">
                        <a:buNone/>
                      </a:pPr>
                      <a:r>
                        <a:rPr lang="en-US" sz="1000" b="1">
                          <a:solidFill>
                            <a:srgbClr val="FFFFFF"/>
                          </a:solidFill>
                          <a:latin typeface="Calibri"/>
                          <a:ea typeface="Calibri"/>
                          <a:cs typeface="Calibri"/>
                        </a:rPr>
                        <a:t>mem Daily</a:t>
                      </a:r>
                      <a:endParaRPr lang="en-US" sz="1000">
                        <a:latin typeface="Calibri"/>
                        <a:ea typeface="Calibri"/>
                        <a:cs typeface="Calibri"/>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1000" b="1">
                          <a:solidFill>
                            <a:srgbClr val="FFFFFF"/>
                          </a:solidFill>
                          <a:latin typeface="Calibri"/>
                          <a:ea typeface="Calibri"/>
                          <a:cs typeface="Calibri"/>
                        </a:rPr>
                        <a:t>mem Daily p</a:t>
                      </a:r>
                      <a:endParaRPr lang="en-US" sz="1000">
                        <a:latin typeface="Calibri"/>
                        <a:ea typeface="Calibri"/>
                        <a:cs typeface="Calibri"/>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1000" b="1">
                          <a:solidFill>
                            <a:srgbClr val="FFFFFF"/>
                          </a:solidFill>
                          <a:latin typeface="Calibri"/>
                          <a:ea typeface="Calibri"/>
                          <a:cs typeface="Calibri"/>
                        </a:rPr>
                        <a:t>mem Weekly</a:t>
                      </a:r>
                      <a:endParaRPr lang="en-US" sz="1000">
                        <a:latin typeface="Calibri"/>
                        <a:ea typeface="Calibri"/>
                        <a:cs typeface="Calibri"/>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tc>
                  <a:txBody>
                    <a:bodyPr/>
                    <a:lstStyle/>
                    <a:p>
                      <a:pPr marL="0" indent="0" algn="ctr">
                        <a:buNone/>
                      </a:pPr>
                      <a:r>
                        <a:rPr lang="en-US" sz="1000" b="1">
                          <a:solidFill>
                            <a:srgbClr val="FFFFFF"/>
                          </a:solidFill>
                          <a:latin typeface="Calibri"/>
                          <a:ea typeface="Calibri"/>
                          <a:cs typeface="Calibri"/>
                        </a:rPr>
                        <a:t>mem Weekly p</a:t>
                      </a:r>
                      <a:endParaRPr lang="en-US" sz="1000">
                        <a:latin typeface="Calibri"/>
                        <a:ea typeface="Calibri"/>
                        <a:cs typeface="Calibri"/>
                      </a:endParaRPr>
                    </a:p>
                  </a:txBody>
                  <a:tcPr anchor="ct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262373">
                <a:tc>
                  <a:txBody>
                    <a:bodyPr/>
                    <a:lstStyle/>
                    <a:p>
                      <a:pPr marL="0" indent="0" algn="l">
                        <a:buNone/>
                      </a:pPr>
                      <a:r>
                        <a:rPr lang="en-US" sz="1000">
                          <a:solidFill>
                            <a:srgbClr val="1A2733"/>
                          </a:solidFill>
                          <a:latin typeface="Calibri"/>
                          <a:ea typeface="Calibri"/>
                          <a:cs typeface="Calibri"/>
                        </a:rPr>
                        <a:t>High-demand</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&lt; 10⁻¹⁰</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&lt; 10⁻¹⁰</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&lt; 10⁻¹⁰</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&lt; 10⁻¹⁰</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1"/>
                  </a:ext>
                </a:extLst>
              </a:tr>
              <a:tr h="262373">
                <a:tc>
                  <a:txBody>
                    <a:bodyPr/>
                    <a:lstStyle/>
                    <a:p>
                      <a:pPr marL="0" indent="0" algn="l">
                        <a:buNone/>
                      </a:pPr>
                      <a:r>
                        <a:rPr lang="en-US" sz="1000">
                          <a:solidFill>
                            <a:srgbClr val="1A2733"/>
                          </a:solidFill>
                          <a:latin typeface="Calibri"/>
                          <a:ea typeface="Calibri"/>
                          <a:cs typeface="Calibri"/>
                        </a:rPr>
                        <a:t>Med-demand-1</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&lt; 10⁻¹⁰</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&lt; 10⁻¹⁰</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&lt; 10⁻¹⁰</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&lt; 10⁻¹⁰</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2"/>
                  </a:ext>
                </a:extLst>
              </a:tr>
              <a:tr h="262373">
                <a:tc>
                  <a:txBody>
                    <a:bodyPr/>
                    <a:lstStyle/>
                    <a:p>
                      <a:pPr marL="0" indent="0" algn="l">
                        <a:buNone/>
                      </a:pPr>
                      <a:r>
                        <a:rPr lang="en-US" sz="1000">
                          <a:solidFill>
                            <a:srgbClr val="1A2733"/>
                          </a:solidFill>
                          <a:latin typeface="Calibri"/>
                          <a:ea typeface="Calibri"/>
                          <a:cs typeface="Calibri"/>
                        </a:rPr>
                        <a:t>Med-demand-2</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7A8A99"/>
                          </a:solidFill>
                          <a:latin typeface="Calibri"/>
                          <a:ea typeface="Calibri"/>
                          <a:cs typeface="Calibri"/>
                        </a:rPr>
                        <a:t>ns</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0.122</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3.0e-9</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7A8A99"/>
                          </a:solidFill>
                          <a:latin typeface="Calibri"/>
                          <a:ea typeface="Calibri"/>
                          <a:cs typeface="Calibri"/>
                        </a:rPr>
                        <a:t>ns</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0.244</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4.1e-5</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3"/>
                  </a:ext>
                </a:extLst>
              </a:tr>
              <a:tr h="262373">
                <a:tc>
                  <a:txBody>
                    <a:bodyPr/>
                    <a:lstStyle/>
                    <a:p>
                      <a:pPr marL="0" indent="0" algn="l">
                        <a:buNone/>
                      </a:pPr>
                      <a:r>
                        <a:rPr lang="en-US" sz="1000">
                          <a:solidFill>
                            <a:srgbClr val="1A2733"/>
                          </a:solidFill>
                          <a:latin typeface="Calibri"/>
                          <a:ea typeface="Calibri"/>
                          <a:cs typeface="Calibri"/>
                        </a:rPr>
                        <a:t>Low-demand-1</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7A8A99"/>
                          </a:solidFill>
                          <a:latin typeface="Calibri"/>
                          <a:ea typeface="Calibri"/>
                          <a:cs typeface="Calibri"/>
                        </a:rPr>
                        <a:t>ns</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0.095</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7A8A99"/>
                          </a:solidFill>
                          <a:latin typeface="Calibri"/>
                          <a:ea typeface="Calibri"/>
                          <a:cs typeface="Calibri"/>
                        </a:rPr>
                        <a:t>ns</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0.400</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7A8A99"/>
                          </a:solidFill>
                          <a:latin typeface="Calibri"/>
                          <a:ea typeface="Calibri"/>
                          <a:cs typeface="Calibri"/>
                        </a:rPr>
                        <a:t>ns</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0.181</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7A8A99"/>
                          </a:solidFill>
                          <a:latin typeface="Calibri"/>
                          <a:ea typeface="Calibri"/>
                          <a:cs typeface="Calibri"/>
                        </a:rPr>
                        <a:t>ns</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0.496</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4"/>
                  </a:ext>
                </a:extLst>
              </a:tr>
              <a:tr h="262373">
                <a:tc>
                  <a:txBody>
                    <a:bodyPr/>
                    <a:lstStyle/>
                    <a:p>
                      <a:pPr marL="0" indent="0" algn="l">
                        <a:buNone/>
                      </a:pPr>
                      <a:r>
                        <a:rPr lang="en-US" sz="1000" dirty="0">
                          <a:solidFill>
                            <a:srgbClr val="1A2733"/>
                          </a:solidFill>
                          <a:latin typeface="Calibri"/>
                          <a:ea typeface="Calibri"/>
                          <a:cs typeface="Calibri"/>
                        </a:rPr>
                        <a:t>Low-demand-2</a:t>
                      </a:r>
                      <a:endParaRPr lang="en-US" sz="1000" dirty="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7A8A99"/>
                          </a:solidFill>
                          <a:latin typeface="Calibri"/>
                          <a:ea typeface="Calibri"/>
                          <a:cs typeface="Calibri"/>
                        </a:rPr>
                        <a:t>ns</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0.081</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7A8A99"/>
                          </a:solidFill>
                          <a:latin typeface="Calibri"/>
                          <a:ea typeface="Calibri"/>
                          <a:cs typeface="Calibri"/>
                        </a:rPr>
                        <a:t>ns</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0.385</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7A8A99"/>
                          </a:solidFill>
                          <a:latin typeface="Calibri"/>
                          <a:ea typeface="Calibri"/>
                          <a:cs typeface="Calibri"/>
                        </a:rPr>
                        <a:t>ns</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0.165</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7A8A99"/>
                          </a:solidFill>
                          <a:latin typeface="Calibri"/>
                          <a:ea typeface="Calibri"/>
                          <a:cs typeface="Calibri"/>
                        </a:rPr>
                        <a:t>ns</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0.571</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5"/>
                  </a:ext>
                </a:extLst>
              </a:tr>
              <a:tr h="262373">
                <a:tc>
                  <a:txBody>
                    <a:bodyPr/>
                    <a:lstStyle/>
                    <a:p>
                      <a:pPr marL="0" indent="0" algn="l">
                        <a:buNone/>
                      </a:pPr>
                      <a:r>
                        <a:rPr lang="en-US" sz="1000">
                          <a:solidFill>
                            <a:srgbClr val="1A2733"/>
                          </a:solidFill>
                          <a:latin typeface="Calibri"/>
                          <a:ea typeface="Calibri"/>
                          <a:cs typeface="Calibri"/>
                        </a:rPr>
                        <a:t>Spiky-1</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1.1e-76</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2.3e-16</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2.4e-35</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6.7e-8</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6"/>
                  </a:ext>
                </a:extLst>
              </a:tr>
              <a:tr h="262373">
                <a:tc>
                  <a:txBody>
                    <a:bodyPr/>
                    <a:lstStyle/>
                    <a:p>
                      <a:pPr marL="0" indent="0" algn="l">
                        <a:buNone/>
                      </a:pPr>
                      <a:r>
                        <a:rPr lang="en-US" sz="1000">
                          <a:solidFill>
                            <a:srgbClr val="1A2733"/>
                          </a:solidFill>
                          <a:latin typeface="Calibri"/>
                          <a:ea typeface="Calibri"/>
                          <a:cs typeface="Calibri"/>
                        </a:rPr>
                        <a:t>Spiky-2</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&lt; 10⁻¹⁰</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5.4e-81</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&lt; 10⁻¹⁰</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4.2e-42</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7"/>
                  </a:ext>
                </a:extLst>
              </a:tr>
              <a:tr h="262373">
                <a:tc>
                  <a:txBody>
                    <a:bodyPr/>
                    <a:lstStyle/>
                    <a:p>
                      <a:pPr marL="0" indent="0" algn="l">
                        <a:buNone/>
                      </a:pPr>
                      <a:r>
                        <a:rPr lang="en-US" sz="1000">
                          <a:solidFill>
                            <a:srgbClr val="1A2733"/>
                          </a:solidFill>
                          <a:latin typeface="Calibri"/>
                          <a:ea typeface="Calibri"/>
                          <a:cs typeface="Calibri"/>
                        </a:rPr>
                        <a:t>Stable-1</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&lt; 10⁻¹⁰</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1.7e-33</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&lt; 10⁻¹⁰</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3.1e-19</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8"/>
                  </a:ext>
                </a:extLst>
              </a:tr>
              <a:tr h="262373">
                <a:tc>
                  <a:txBody>
                    <a:bodyPr/>
                    <a:lstStyle/>
                    <a:p>
                      <a:pPr marL="0" indent="0" algn="l">
                        <a:buNone/>
                      </a:pPr>
                      <a:r>
                        <a:rPr lang="en-US" sz="1000">
                          <a:solidFill>
                            <a:srgbClr val="1A2733"/>
                          </a:solidFill>
                          <a:latin typeface="Calibri"/>
                          <a:ea typeface="Calibri"/>
                          <a:cs typeface="Calibri"/>
                        </a:rPr>
                        <a:t>Stable-2</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2.3e-83</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1.4e-195</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a:solidFill>
                            <a:srgbClr val="1A2733"/>
                          </a:solidFill>
                          <a:latin typeface="Calibri"/>
                          <a:ea typeface="Calibri"/>
                          <a:cs typeface="Calibri"/>
                        </a:rPr>
                        <a:t>8.7e-44</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b="1">
                          <a:solidFill>
                            <a:srgbClr val="27500A"/>
                          </a:solidFill>
                          <a:latin typeface="Calibri"/>
                          <a:ea typeface="Calibri"/>
                          <a:cs typeface="Calibri"/>
                        </a:rPr>
                        <a:t>***</a:t>
                      </a:r>
                      <a:endParaRPr lang="en-US" sz="100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tc>
                  <a:txBody>
                    <a:bodyPr/>
                    <a:lstStyle/>
                    <a:p>
                      <a:pPr marL="0" indent="0" algn="ctr">
                        <a:buNone/>
                      </a:pPr>
                      <a:r>
                        <a:rPr lang="en-US" sz="1000" dirty="0">
                          <a:solidFill>
                            <a:srgbClr val="1A2733"/>
                          </a:solidFill>
                          <a:latin typeface="Calibri"/>
                          <a:ea typeface="Calibri"/>
                          <a:cs typeface="Calibri"/>
                        </a:rPr>
                        <a:t>2.1e-102</a:t>
                      </a:r>
                      <a:endParaRPr lang="en-US" sz="1000" dirty="0">
                        <a:latin typeface="Calibri"/>
                        <a:ea typeface="Calibri"/>
                        <a:cs typeface="Calibri"/>
                      </a:endParaRPr>
                    </a:p>
                  </a:txBody>
                  <a:tcPr>
                    <a:lnL w="3810" cap="flat" cmpd="sng" algn="ctr">
                      <a:solidFill>
                        <a:srgbClr val="E2E8EF"/>
                      </a:solidFill>
                      <a:prstDash val="solid"/>
                      <a:round/>
                      <a:headEnd type="none" w="med" len="med"/>
                      <a:tailEnd type="none" w="med" len="med"/>
                    </a:lnL>
                    <a:lnR w="3810" cap="flat" cmpd="sng" algn="ctr">
                      <a:solidFill>
                        <a:srgbClr val="E2E8EF"/>
                      </a:solidFill>
                      <a:prstDash val="solid"/>
                      <a:round/>
                      <a:headEnd type="none" w="med" len="med"/>
                      <a:tailEnd type="none" w="med" len="med"/>
                    </a:lnR>
                    <a:lnT w="3810" cap="flat" cmpd="sng" algn="ctr">
                      <a:solidFill>
                        <a:srgbClr val="E2E8EF"/>
                      </a:solidFill>
                      <a:prstDash val="solid"/>
                      <a:round/>
                      <a:headEnd type="none" w="med" len="med"/>
                      <a:tailEnd type="none" w="med" len="med"/>
                    </a:lnT>
                    <a:lnB w="3810" cap="flat" cmpd="sng" algn="ctr">
                      <a:solidFill>
                        <a:srgbClr val="E2E8E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252223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a:extLst>
            <a:ext uri="{FF2B5EF4-FFF2-40B4-BE49-F238E27FC236}">
              <a16:creationId xmlns:a16="http://schemas.microsoft.com/office/drawing/2014/main" id="{1CCAEEEF-7ED4-7ED6-7A22-2353197665F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05BE58C-FEB1-9ADB-3DC2-D64BC2B03EE4}"/>
              </a:ext>
            </a:extLst>
          </p:cNvPr>
          <p:cNvSpPr/>
          <p:nvPr/>
        </p:nvSpPr>
        <p:spPr>
          <a:xfrm>
            <a:off x="0" y="0"/>
            <a:ext cx="9144000" cy="868680"/>
          </a:xfrm>
          <a:prstGeom prst="rect">
            <a:avLst/>
          </a:prstGeom>
          <a:solidFill>
            <a:srgbClr val="0D1B2A"/>
          </a:solidFill>
          <a:ln w="12700">
            <a:solidFill>
              <a:srgbClr val="0D1B2A"/>
            </a:solidFill>
            <a:prstDash val="solid"/>
          </a:ln>
        </p:spPr>
        <p:txBody>
          <a:bodyPr/>
          <a:lstStyle/>
          <a:p>
            <a:endParaRPr lang="en-CA"/>
          </a:p>
        </p:txBody>
      </p:sp>
      <p:sp>
        <p:nvSpPr>
          <p:cNvPr id="3" name="Shape 1">
            <a:extLst>
              <a:ext uri="{FF2B5EF4-FFF2-40B4-BE49-F238E27FC236}">
                <a16:creationId xmlns:a16="http://schemas.microsoft.com/office/drawing/2014/main" id="{79E94AAC-EB23-DE9B-84E0-83DB95CB53B5}"/>
              </a:ext>
            </a:extLst>
          </p:cNvPr>
          <p:cNvSpPr/>
          <p:nvPr/>
        </p:nvSpPr>
        <p:spPr>
          <a:xfrm>
            <a:off x="0" y="0"/>
            <a:ext cx="109728" cy="5143500"/>
          </a:xfrm>
          <a:prstGeom prst="rect">
            <a:avLst/>
          </a:prstGeom>
          <a:solidFill>
            <a:srgbClr val="00897B"/>
          </a:solidFill>
          <a:ln w="12700">
            <a:solidFill>
              <a:srgbClr val="00897B"/>
            </a:solidFill>
            <a:prstDash val="solid"/>
          </a:ln>
        </p:spPr>
        <p:txBody>
          <a:bodyPr/>
          <a:lstStyle/>
          <a:p>
            <a:endParaRPr lang="en-CA"/>
          </a:p>
        </p:txBody>
      </p:sp>
      <p:sp>
        <p:nvSpPr>
          <p:cNvPr id="4" name="Text 2">
            <a:extLst>
              <a:ext uri="{FF2B5EF4-FFF2-40B4-BE49-F238E27FC236}">
                <a16:creationId xmlns:a16="http://schemas.microsoft.com/office/drawing/2014/main" id="{CE1FD2C5-C46E-D16C-F37D-3FBF2C11B9B2}"/>
              </a:ext>
            </a:extLst>
          </p:cNvPr>
          <p:cNvSpPr/>
          <p:nvPr/>
        </p:nvSpPr>
        <p:spPr>
          <a:xfrm>
            <a:off x="256032" y="73152"/>
            <a:ext cx="8595360" cy="50292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4. Seasonality Analysis — Daily &amp; Weekly Patterns</a:t>
            </a:r>
            <a:endParaRPr lang="en-US" sz="2200"/>
          </a:p>
        </p:txBody>
      </p:sp>
      <p:sp>
        <p:nvSpPr>
          <p:cNvPr id="5" name="Text 3">
            <a:extLst>
              <a:ext uri="{FF2B5EF4-FFF2-40B4-BE49-F238E27FC236}">
                <a16:creationId xmlns:a16="http://schemas.microsoft.com/office/drawing/2014/main" id="{7A86F1E2-1EF7-B514-6B91-4798AAA16CFE}"/>
              </a:ext>
            </a:extLst>
          </p:cNvPr>
          <p:cNvSpPr/>
          <p:nvPr/>
        </p:nvSpPr>
        <p:spPr>
          <a:xfrm>
            <a:off x="256032" y="594360"/>
            <a:ext cx="8595360" cy="256032"/>
          </a:xfrm>
          <a:prstGeom prst="rect">
            <a:avLst/>
          </a:prstGeom>
          <a:noFill/>
          <a:ln/>
        </p:spPr>
        <p:txBody>
          <a:bodyPr wrap="square" lIns="0" tIns="0" rIns="0" bIns="0" rtlCol="0" anchor="t"/>
          <a:lstStyle/>
          <a:p>
            <a:pPr marL="0" indent="0">
              <a:buNone/>
            </a:pPr>
            <a:endParaRPr lang="en-US" sz="1000">
              <a:solidFill>
                <a:srgbClr val="A8C0CC"/>
              </a:solidFill>
              <a:ea typeface="Calibri"/>
              <a:cs typeface="Calibri"/>
            </a:endParaRPr>
          </a:p>
        </p:txBody>
      </p:sp>
      <p:pic>
        <p:nvPicPr>
          <p:cNvPr id="10" name="Image 1" descr="preencoded.png">
            <a:extLst>
              <a:ext uri="{FF2B5EF4-FFF2-40B4-BE49-F238E27FC236}">
                <a16:creationId xmlns:a16="http://schemas.microsoft.com/office/drawing/2014/main" id="{7E34D70E-8959-0627-6710-3C65E0F40213}"/>
              </a:ext>
            </a:extLst>
          </p:cNvPr>
          <p:cNvPicPr>
            <a:picLocks noChangeAspect="1"/>
          </p:cNvPicPr>
          <p:nvPr/>
        </p:nvPicPr>
        <p:blipFill>
          <a:blip r:embed="rId3"/>
          <a:stretch>
            <a:fillRect/>
          </a:stretch>
        </p:blipFill>
        <p:spPr>
          <a:xfrm>
            <a:off x="425760" y="1288865"/>
            <a:ext cx="8449056" cy="2993501"/>
          </a:xfrm>
          <a:prstGeom prst="rect">
            <a:avLst/>
          </a:prstGeom>
        </p:spPr>
      </p:pic>
    </p:spTree>
    <p:extLst>
      <p:ext uri="{BB962C8B-B14F-4D97-AF65-F5344CB8AC3E}">
        <p14:creationId xmlns:p14="http://schemas.microsoft.com/office/powerpoint/2010/main" val="2046790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2A"/>
          </a:solidFill>
          <a:ln w="12700">
            <a:solidFill>
              <a:srgbClr val="0D1B2A"/>
            </a:solidFill>
            <a:prstDash val="solid"/>
          </a:ln>
        </p:spPr>
        <p:txBody>
          <a:bodyPr/>
          <a:lstStyle/>
          <a:p>
            <a:endParaRPr lang="en-CA"/>
          </a:p>
        </p:txBody>
      </p:sp>
      <p:sp>
        <p:nvSpPr>
          <p:cNvPr id="3" name="Shape 1"/>
          <p:cNvSpPr/>
          <p:nvPr/>
        </p:nvSpPr>
        <p:spPr>
          <a:xfrm>
            <a:off x="0" y="0"/>
            <a:ext cx="109728" cy="5143500"/>
          </a:xfrm>
          <a:prstGeom prst="rect">
            <a:avLst/>
          </a:prstGeom>
          <a:solidFill>
            <a:srgbClr val="00897B"/>
          </a:solidFill>
          <a:ln w="12700">
            <a:solidFill>
              <a:srgbClr val="00897B"/>
            </a:solidFill>
            <a:prstDash val="solid"/>
          </a:ln>
        </p:spPr>
        <p:txBody>
          <a:bodyPr/>
          <a:lstStyle/>
          <a:p>
            <a:endParaRPr lang="en-CA"/>
          </a:p>
        </p:txBody>
      </p:sp>
      <p:sp>
        <p:nvSpPr>
          <p:cNvPr id="4" name="Text 2"/>
          <p:cNvSpPr/>
          <p:nvPr/>
        </p:nvSpPr>
        <p:spPr>
          <a:xfrm>
            <a:off x="256032" y="73152"/>
            <a:ext cx="8595360" cy="502920"/>
          </a:xfrm>
          <a:prstGeom prst="rect">
            <a:avLst/>
          </a:prstGeom>
          <a:noFill/>
          <a:ln/>
        </p:spPr>
        <p:txBody>
          <a:bodyPr wrap="square" lIns="0" tIns="0" rIns="0" bIns="0" rtlCol="0" anchor="ctr"/>
          <a:lstStyle/>
          <a:p>
            <a:pPr marL="0" indent="0">
              <a:buNone/>
            </a:pPr>
            <a:r>
              <a:rPr lang="en-US" sz="2200" b="1">
                <a:solidFill>
                  <a:srgbClr val="FFFFFF"/>
                </a:solidFill>
                <a:latin typeface="Calibri"/>
                <a:ea typeface="Calibri"/>
                <a:cs typeface="Calibri"/>
              </a:rPr>
              <a:t>Seasonality Analysis — Daily &amp; Weekly Patterns</a:t>
            </a:r>
            <a:endParaRPr lang="en-US" sz="2200">
              <a:latin typeface="Calibri"/>
              <a:ea typeface="Calibri"/>
              <a:cs typeface="Calibri"/>
            </a:endParaRPr>
          </a:p>
        </p:txBody>
      </p:sp>
      <p:sp>
        <p:nvSpPr>
          <p:cNvPr id="5" name="Text 3"/>
          <p:cNvSpPr/>
          <p:nvPr/>
        </p:nvSpPr>
        <p:spPr>
          <a:xfrm>
            <a:off x="256032" y="594360"/>
            <a:ext cx="8595360" cy="256032"/>
          </a:xfrm>
          <a:prstGeom prst="rect">
            <a:avLst/>
          </a:prstGeom>
          <a:noFill/>
          <a:ln/>
        </p:spPr>
        <p:txBody>
          <a:bodyPr wrap="square" lIns="0" tIns="0" rIns="0" bIns="0" rtlCol="0" anchor="t"/>
          <a:lstStyle/>
          <a:p>
            <a:pPr marL="0" indent="0">
              <a:buNone/>
            </a:pPr>
            <a:r>
              <a:rPr lang="en-US" sz="1000">
                <a:solidFill>
                  <a:srgbClr val="A8C0CC"/>
                </a:solidFill>
                <a:latin typeface="Calibri" pitchFamily="34" charset="0"/>
                <a:ea typeface="Calibri" pitchFamily="34" charset="-122"/>
                <a:cs typeface="Calibri" pitchFamily="34" charset="-120"/>
              </a:rPr>
              <a:t>Hour-of-day and day-of-week aggregations · avg_cpu and avg_mem</a:t>
            </a:r>
            <a:endParaRPr lang="en-US" sz="1000"/>
          </a:p>
        </p:txBody>
      </p:sp>
      <p:sp>
        <p:nvSpPr>
          <p:cNvPr id="6" name="Shape 4"/>
          <p:cNvSpPr/>
          <p:nvPr/>
        </p:nvSpPr>
        <p:spPr>
          <a:xfrm>
            <a:off x="256032" y="960120"/>
            <a:ext cx="8631936" cy="1975104"/>
          </a:xfrm>
          <a:prstGeom prst="rect">
            <a:avLst/>
          </a:prstGeom>
          <a:solidFill>
            <a:srgbClr val="FFFFFF"/>
          </a:solidFill>
          <a:ln w="6350">
            <a:solidFill>
              <a:srgbClr val="E2E8EF"/>
            </a:solidFill>
            <a:prstDash val="solid"/>
          </a:ln>
          <a:effectLst>
            <a:outerShdw blurRad="76200" dist="25400" dir="8100000" algn="bl" rotWithShape="0">
              <a:srgbClr val="000000">
                <a:alpha val="7000"/>
              </a:srgbClr>
            </a:outerShdw>
          </a:effectLst>
        </p:spPr>
        <p:txBody>
          <a:bodyPr/>
          <a:lstStyle/>
          <a:p>
            <a:endParaRPr lang="en-CA"/>
          </a:p>
        </p:txBody>
      </p:sp>
      <p:pic>
        <p:nvPicPr>
          <p:cNvPr id="7" name="Image 0" descr="preencoded.png"/>
          <p:cNvPicPr>
            <a:picLocks noChangeAspect="1"/>
          </p:cNvPicPr>
          <p:nvPr/>
        </p:nvPicPr>
        <p:blipFill>
          <a:blip r:embed="rId3"/>
          <a:stretch>
            <a:fillRect/>
          </a:stretch>
        </p:blipFill>
        <p:spPr>
          <a:xfrm>
            <a:off x="347472" y="1005840"/>
            <a:ext cx="8449056" cy="3788557"/>
          </a:xfrm>
          <a:prstGeom prst="rect">
            <a:avLst/>
          </a:prstGeom>
        </p:spPr>
      </p:pic>
    </p:spTree>
    <p:extLst>
      <p:ext uri="{BB962C8B-B14F-4D97-AF65-F5344CB8AC3E}">
        <p14:creationId xmlns:p14="http://schemas.microsoft.com/office/powerpoint/2010/main" val="454544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w="12700">
            <a:solidFill>
              <a:srgbClr val="1C7293"/>
            </a:solidFill>
            <a:prstDash val="solid"/>
          </a:ln>
        </p:spPr>
        <p:txBody>
          <a:bodyPr/>
          <a:lstStyle/>
          <a:p>
            <a:endParaRPr lang="en-CA"/>
          </a:p>
        </p:txBody>
      </p:sp>
      <p:sp>
        <p:nvSpPr>
          <p:cNvPr id="3" name="Text 1"/>
          <p:cNvSpPr/>
          <p:nvPr/>
        </p:nvSpPr>
        <p:spPr>
          <a:xfrm>
            <a:off x="411480" y="1920240"/>
            <a:ext cx="8321040" cy="822960"/>
          </a:xfrm>
          <a:prstGeom prst="rect">
            <a:avLst/>
          </a:prstGeom>
          <a:noFill/>
          <a:ln/>
        </p:spPr>
        <p:txBody>
          <a:bodyPr wrap="square" rtlCol="0" anchor="ctr"/>
          <a:lstStyle/>
          <a:p>
            <a:pPr marL="0" indent="0">
              <a:buNone/>
            </a:pPr>
            <a:r>
              <a:rPr lang="en-US" sz="3800" b="1">
                <a:solidFill>
                  <a:srgbClr val="FFFFFF"/>
                </a:solidFill>
                <a:latin typeface="Calibri" pitchFamily="34" charset="0"/>
                <a:ea typeface="Calibri" pitchFamily="34" charset="-122"/>
                <a:cs typeface="Calibri" pitchFamily="34" charset="-120"/>
              </a:rPr>
              <a:t>LSTM model</a:t>
            </a:r>
            <a:endParaRPr lang="en-US" sz="3800"/>
          </a:p>
        </p:txBody>
      </p:sp>
      <p:sp>
        <p:nvSpPr>
          <p:cNvPr id="4" name="Text 2"/>
          <p:cNvSpPr/>
          <p:nvPr/>
        </p:nvSpPr>
        <p:spPr>
          <a:xfrm>
            <a:off x="411480" y="2834640"/>
            <a:ext cx="8321040" cy="365760"/>
          </a:xfrm>
          <a:prstGeom prst="rect">
            <a:avLst/>
          </a:prstGeom>
          <a:noFill/>
          <a:ln/>
        </p:spPr>
        <p:txBody>
          <a:bodyPr wrap="square" rtlCol="0" anchor="ctr"/>
          <a:lstStyle/>
          <a:p>
            <a:pPr marL="0" indent="0">
              <a:buNone/>
            </a:pPr>
            <a:r>
              <a:rPr lang="en-US" sz="1600">
                <a:solidFill>
                  <a:srgbClr val="94A3B8"/>
                </a:solidFill>
                <a:latin typeface="Calibri" pitchFamily="34" charset="0"/>
                <a:ea typeface="Calibri" pitchFamily="34" charset="-122"/>
                <a:cs typeface="Calibri" pitchFamily="34" charset="-120"/>
              </a:rPr>
              <a:t>Feature Selection · Model Comparison · Inputs for Optimization Layer</a:t>
            </a:r>
            <a:endParaRPr lang="en-US" sz="1600"/>
          </a:p>
        </p:txBody>
      </p:sp>
    </p:spTree>
    <p:extLst>
      <p:ext uri="{BB962C8B-B14F-4D97-AF65-F5344CB8AC3E}">
        <p14:creationId xmlns:p14="http://schemas.microsoft.com/office/powerpoint/2010/main" val="800849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832777"/>
          </a:xfrm>
          <a:prstGeom prst="rect">
            <a:avLst/>
          </a:prstGeom>
          <a:solidFill>
            <a:srgbClr val="0D1B2A"/>
          </a:solidFill>
          <a:ln w="12700">
            <a:solidFill>
              <a:srgbClr val="0D1B2A"/>
            </a:solidFill>
            <a:prstDash val="solid"/>
          </a:ln>
        </p:spPr>
        <p:txBody>
          <a:bodyPr/>
          <a:lstStyle/>
          <a:p>
            <a:endParaRPr lang="en-CA"/>
          </a:p>
        </p:txBody>
      </p:sp>
      <p:sp>
        <p:nvSpPr>
          <p:cNvPr id="3" name="Shape 1"/>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CA"/>
          </a:p>
        </p:txBody>
      </p:sp>
      <p:sp>
        <p:nvSpPr>
          <p:cNvPr id="4" name="Text 2"/>
          <p:cNvSpPr/>
          <p:nvPr/>
        </p:nvSpPr>
        <p:spPr>
          <a:xfrm>
            <a:off x="365759" y="109728"/>
            <a:ext cx="8291857" cy="640080"/>
          </a:xfrm>
          <a:prstGeom prst="rect">
            <a:avLst/>
          </a:prstGeom>
          <a:noFill/>
          <a:ln/>
        </p:spPr>
        <p:txBody>
          <a:bodyPr wrap="square" rtlCol="0" anchor="ctr"/>
          <a:lstStyle/>
          <a:p>
            <a:r>
              <a:rPr lang="en-US" sz="2800" b="1">
                <a:solidFill>
                  <a:srgbClr val="FFFFFF"/>
                </a:solidFill>
                <a:latin typeface="Calibri" pitchFamily="34" charset="0"/>
                <a:ea typeface="Calibri" pitchFamily="34" charset="-122"/>
                <a:cs typeface="Calibri" pitchFamily="34" charset="-120"/>
              </a:rPr>
              <a:t>Feature Selection</a:t>
            </a:r>
            <a:endParaRPr lang="en-US" sz="2800"/>
          </a:p>
        </p:txBody>
      </p:sp>
      <p:sp>
        <p:nvSpPr>
          <p:cNvPr id="7" name="Shape 5"/>
          <p:cNvSpPr/>
          <p:nvPr/>
        </p:nvSpPr>
        <p:spPr>
          <a:xfrm>
            <a:off x="320040" y="964019"/>
            <a:ext cx="6120000" cy="219456"/>
          </a:xfrm>
          <a:prstGeom prst="rect">
            <a:avLst/>
          </a:prstGeom>
          <a:solidFill>
            <a:srgbClr val="E8F4F8"/>
          </a:solidFill>
          <a:ln w="12700">
            <a:solidFill>
              <a:srgbClr val="D1E8EF"/>
            </a:solidFill>
            <a:prstDash val="solid"/>
          </a:ln>
        </p:spPr>
        <p:txBody>
          <a:bodyPr/>
          <a:lstStyle/>
          <a:p>
            <a:endParaRPr lang="en-CA"/>
          </a:p>
        </p:txBody>
      </p:sp>
      <p:sp>
        <p:nvSpPr>
          <p:cNvPr id="8" name="Text 6"/>
          <p:cNvSpPr/>
          <p:nvPr/>
        </p:nvSpPr>
        <p:spPr>
          <a:xfrm>
            <a:off x="393192" y="982307"/>
            <a:ext cx="2520000" cy="201168"/>
          </a:xfrm>
          <a:prstGeom prst="rect">
            <a:avLst/>
          </a:prstGeom>
          <a:noFill/>
          <a:ln/>
        </p:spPr>
        <p:txBody>
          <a:bodyPr wrap="square" rtlCol="0" anchor="ctr"/>
          <a:lstStyle/>
          <a:p>
            <a:pPr marL="0" indent="0">
              <a:buNone/>
            </a:pPr>
            <a:r>
              <a:rPr lang="en-US" sz="1050" b="1">
                <a:solidFill>
                  <a:srgbClr val="0D1B2A"/>
                </a:solidFill>
                <a:latin typeface="Consolas" pitchFamily="34" charset="0"/>
                <a:ea typeface="Consolas" pitchFamily="34" charset="-122"/>
                <a:cs typeface="Consolas" pitchFamily="34" charset="-120"/>
              </a:rPr>
              <a:t>avg_cpu</a:t>
            </a:r>
            <a:endParaRPr lang="en-US" sz="1050"/>
          </a:p>
        </p:txBody>
      </p:sp>
      <p:sp>
        <p:nvSpPr>
          <p:cNvPr id="9" name="Text 7"/>
          <p:cNvSpPr/>
          <p:nvPr/>
        </p:nvSpPr>
        <p:spPr>
          <a:xfrm>
            <a:off x="3061940" y="982307"/>
            <a:ext cx="5400000" cy="201168"/>
          </a:xfrm>
          <a:prstGeom prst="rect">
            <a:avLst/>
          </a:prstGeom>
          <a:noFill/>
          <a:ln/>
        </p:spPr>
        <p:txBody>
          <a:bodyPr wrap="square" rtlCol="0" anchor="ctr"/>
          <a:lstStyle/>
          <a:p>
            <a:pPr marL="0" indent="0">
              <a:buNone/>
            </a:pPr>
            <a:r>
              <a:rPr lang="en-US" sz="1000">
                <a:solidFill>
                  <a:srgbClr val="1E293B"/>
                </a:solidFill>
                <a:latin typeface="Calibri" pitchFamily="34" charset="0"/>
                <a:ea typeface="Calibri" pitchFamily="34" charset="-122"/>
                <a:cs typeface="Calibri" pitchFamily="34" charset="-120"/>
              </a:rPr>
              <a:t>Past CPU behaviour — input for CPU &amp; memory forecasting</a:t>
            </a:r>
            <a:endParaRPr lang="en-US" sz="1000"/>
          </a:p>
        </p:txBody>
      </p:sp>
      <p:sp>
        <p:nvSpPr>
          <p:cNvPr id="10" name="Shape 8"/>
          <p:cNvSpPr/>
          <p:nvPr/>
        </p:nvSpPr>
        <p:spPr>
          <a:xfrm>
            <a:off x="320040" y="1224623"/>
            <a:ext cx="6120000" cy="237744"/>
          </a:xfrm>
          <a:prstGeom prst="rect">
            <a:avLst/>
          </a:prstGeom>
          <a:solidFill>
            <a:srgbClr val="FFFFFF"/>
          </a:solidFill>
          <a:ln w="12700">
            <a:solidFill>
              <a:srgbClr val="D1E8EF"/>
            </a:solidFill>
            <a:prstDash val="solid"/>
          </a:ln>
        </p:spPr>
        <p:txBody>
          <a:bodyPr/>
          <a:lstStyle/>
          <a:p>
            <a:endParaRPr lang="en-CA"/>
          </a:p>
        </p:txBody>
      </p:sp>
      <p:sp>
        <p:nvSpPr>
          <p:cNvPr id="11" name="Text 9"/>
          <p:cNvSpPr/>
          <p:nvPr/>
        </p:nvSpPr>
        <p:spPr>
          <a:xfrm>
            <a:off x="393192" y="1242911"/>
            <a:ext cx="2520000" cy="201168"/>
          </a:xfrm>
          <a:prstGeom prst="rect">
            <a:avLst/>
          </a:prstGeom>
          <a:noFill/>
          <a:ln/>
        </p:spPr>
        <p:txBody>
          <a:bodyPr wrap="square" rtlCol="0" anchor="ctr"/>
          <a:lstStyle/>
          <a:p>
            <a:pPr marL="0" indent="0">
              <a:buNone/>
            </a:pPr>
            <a:r>
              <a:rPr lang="en-US" sz="1050" b="1">
                <a:solidFill>
                  <a:srgbClr val="0D1B2A"/>
                </a:solidFill>
                <a:latin typeface="Consolas" pitchFamily="34" charset="0"/>
                <a:ea typeface="Consolas" pitchFamily="34" charset="-122"/>
                <a:cs typeface="Consolas" pitchFamily="34" charset="-120"/>
              </a:rPr>
              <a:t>avg_mem</a:t>
            </a:r>
            <a:endParaRPr lang="en-US" sz="1050"/>
          </a:p>
        </p:txBody>
      </p:sp>
      <p:sp>
        <p:nvSpPr>
          <p:cNvPr id="12" name="Text 10"/>
          <p:cNvSpPr/>
          <p:nvPr/>
        </p:nvSpPr>
        <p:spPr>
          <a:xfrm>
            <a:off x="3061941" y="1242911"/>
            <a:ext cx="5400000" cy="201168"/>
          </a:xfrm>
          <a:prstGeom prst="rect">
            <a:avLst/>
          </a:prstGeom>
          <a:noFill/>
          <a:ln/>
        </p:spPr>
        <p:txBody>
          <a:bodyPr wrap="square" rtlCol="0" anchor="ctr"/>
          <a:lstStyle/>
          <a:p>
            <a:r>
              <a:rPr lang="en-US" sz="1000">
                <a:solidFill>
                  <a:srgbClr val="1E293B"/>
                </a:solidFill>
                <a:latin typeface="Calibri" pitchFamily="34" charset="0"/>
                <a:ea typeface="Calibri" pitchFamily="34" charset="-122"/>
                <a:cs typeface="Calibri" pitchFamily="34" charset="-120"/>
              </a:rPr>
              <a:t>Past memory </a:t>
            </a:r>
            <a:r>
              <a:rPr lang="en-US" sz="1000" err="1">
                <a:solidFill>
                  <a:srgbClr val="1E293B"/>
                </a:solidFill>
                <a:latin typeface="Calibri" pitchFamily="34" charset="0"/>
                <a:ea typeface="Calibri" pitchFamily="34" charset="-122"/>
                <a:cs typeface="Calibri" pitchFamily="34" charset="-120"/>
              </a:rPr>
              <a:t>behaviour</a:t>
            </a:r>
            <a:r>
              <a:rPr lang="en-US" sz="1000">
                <a:solidFill>
                  <a:srgbClr val="1E293B"/>
                </a:solidFill>
                <a:latin typeface="Calibri" pitchFamily="34" charset="0"/>
                <a:ea typeface="Calibri" pitchFamily="34" charset="-122"/>
                <a:cs typeface="Calibri" pitchFamily="34" charset="-120"/>
              </a:rPr>
              <a:t> — input for CPU &amp; memory forecasting</a:t>
            </a:r>
            <a:endParaRPr lang="en-US" sz="1000"/>
          </a:p>
        </p:txBody>
      </p:sp>
      <p:sp>
        <p:nvSpPr>
          <p:cNvPr id="13" name="Shape 11"/>
          <p:cNvSpPr/>
          <p:nvPr/>
        </p:nvSpPr>
        <p:spPr>
          <a:xfrm>
            <a:off x="320040" y="1485227"/>
            <a:ext cx="6120000" cy="237744"/>
          </a:xfrm>
          <a:prstGeom prst="rect">
            <a:avLst/>
          </a:prstGeom>
          <a:solidFill>
            <a:srgbClr val="E8F4F8"/>
          </a:solidFill>
          <a:ln w="12700">
            <a:solidFill>
              <a:srgbClr val="D1E8EF"/>
            </a:solidFill>
            <a:prstDash val="solid"/>
          </a:ln>
        </p:spPr>
        <p:txBody>
          <a:bodyPr/>
          <a:lstStyle/>
          <a:p>
            <a:endParaRPr lang="en-CA"/>
          </a:p>
        </p:txBody>
      </p:sp>
      <p:sp>
        <p:nvSpPr>
          <p:cNvPr id="14" name="Text 12"/>
          <p:cNvSpPr/>
          <p:nvPr/>
        </p:nvSpPr>
        <p:spPr>
          <a:xfrm>
            <a:off x="393192" y="1503515"/>
            <a:ext cx="2520000" cy="201168"/>
          </a:xfrm>
          <a:prstGeom prst="rect">
            <a:avLst/>
          </a:prstGeom>
          <a:noFill/>
          <a:ln/>
        </p:spPr>
        <p:txBody>
          <a:bodyPr wrap="square" rtlCol="0" anchor="ctr"/>
          <a:lstStyle/>
          <a:p>
            <a:pPr marL="0" indent="0">
              <a:buNone/>
            </a:pPr>
            <a:r>
              <a:rPr lang="en-US" sz="1050" b="1">
                <a:solidFill>
                  <a:srgbClr val="0D1B2A"/>
                </a:solidFill>
                <a:latin typeface="Consolas" pitchFamily="34" charset="0"/>
                <a:ea typeface="Consolas" pitchFamily="34" charset="-122"/>
                <a:cs typeface="Consolas" pitchFamily="34" charset="-120"/>
              </a:rPr>
              <a:t>p90_cpu</a:t>
            </a:r>
            <a:endParaRPr lang="en-US" sz="1050"/>
          </a:p>
        </p:txBody>
      </p:sp>
      <p:sp>
        <p:nvSpPr>
          <p:cNvPr id="15" name="Text 13"/>
          <p:cNvSpPr/>
          <p:nvPr/>
        </p:nvSpPr>
        <p:spPr>
          <a:xfrm>
            <a:off x="3061941" y="1503515"/>
            <a:ext cx="5400000" cy="201168"/>
          </a:xfrm>
          <a:prstGeom prst="rect">
            <a:avLst/>
          </a:prstGeom>
          <a:noFill/>
          <a:ln/>
        </p:spPr>
        <p:txBody>
          <a:bodyPr wrap="square" rtlCol="0" anchor="ctr"/>
          <a:lstStyle/>
          <a:p>
            <a:pPr marL="0" indent="0">
              <a:buNone/>
            </a:pPr>
            <a:r>
              <a:rPr lang="en-US" sz="1000">
                <a:solidFill>
                  <a:srgbClr val="1E293B"/>
                </a:solidFill>
                <a:latin typeface="Calibri" pitchFamily="34" charset="0"/>
                <a:ea typeface="Calibri" pitchFamily="34" charset="-122"/>
                <a:cs typeface="Calibri" pitchFamily="34" charset="-120"/>
              </a:rPr>
              <a:t>CPU peak/percentile signal</a:t>
            </a:r>
            <a:endParaRPr lang="en-US" sz="1000"/>
          </a:p>
        </p:txBody>
      </p:sp>
      <p:sp>
        <p:nvSpPr>
          <p:cNvPr id="16" name="Shape 14"/>
          <p:cNvSpPr/>
          <p:nvPr/>
        </p:nvSpPr>
        <p:spPr>
          <a:xfrm>
            <a:off x="320040" y="1745831"/>
            <a:ext cx="6120000" cy="237744"/>
          </a:xfrm>
          <a:prstGeom prst="rect">
            <a:avLst/>
          </a:prstGeom>
          <a:solidFill>
            <a:srgbClr val="FFFFFF"/>
          </a:solidFill>
          <a:ln w="12700">
            <a:solidFill>
              <a:srgbClr val="D1E8EF"/>
            </a:solidFill>
            <a:prstDash val="solid"/>
          </a:ln>
        </p:spPr>
        <p:txBody>
          <a:bodyPr/>
          <a:lstStyle/>
          <a:p>
            <a:endParaRPr lang="en-CA"/>
          </a:p>
        </p:txBody>
      </p:sp>
      <p:sp>
        <p:nvSpPr>
          <p:cNvPr id="17" name="Text 15"/>
          <p:cNvSpPr/>
          <p:nvPr/>
        </p:nvSpPr>
        <p:spPr>
          <a:xfrm>
            <a:off x="393192" y="1764119"/>
            <a:ext cx="2520000" cy="201168"/>
          </a:xfrm>
          <a:prstGeom prst="rect">
            <a:avLst/>
          </a:prstGeom>
          <a:noFill/>
          <a:ln/>
        </p:spPr>
        <p:txBody>
          <a:bodyPr wrap="square" rtlCol="0" anchor="ctr"/>
          <a:lstStyle/>
          <a:p>
            <a:pPr marL="0" indent="0">
              <a:buNone/>
            </a:pPr>
            <a:r>
              <a:rPr lang="en-US" sz="1050" b="1">
                <a:solidFill>
                  <a:srgbClr val="0D1B2A"/>
                </a:solidFill>
                <a:latin typeface="Consolas" pitchFamily="34" charset="0"/>
                <a:ea typeface="Consolas" pitchFamily="34" charset="-122"/>
                <a:cs typeface="Consolas" pitchFamily="34" charset="-120"/>
              </a:rPr>
              <a:t>assigned_memory</a:t>
            </a:r>
            <a:endParaRPr lang="en-US" sz="1050"/>
          </a:p>
        </p:txBody>
      </p:sp>
      <p:sp>
        <p:nvSpPr>
          <p:cNvPr id="18" name="Text 16"/>
          <p:cNvSpPr/>
          <p:nvPr/>
        </p:nvSpPr>
        <p:spPr>
          <a:xfrm>
            <a:off x="3061941" y="1764119"/>
            <a:ext cx="5400000" cy="201168"/>
          </a:xfrm>
          <a:prstGeom prst="rect">
            <a:avLst/>
          </a:prstGeom>
          <a:noFill/>
          <a:ln/>
        </p:spPr>
        <p:txBody>
          <a:bodyPr wrap="square" rtlCol="0" anchor="ctr"/>
          <a:lstStyle/>
          <a:p>
            <a:pPr marL="0" indent="0">
              <a:buNone/>
            </a:pPr>
            <a:r>
              <a:rPr lang="en-US" sz="1000">
                <a:solidFill>
                  <a:srgbClr val="1E293B"/>
                </a:solidFill>
                <a:latin typeface="Calibri" pitchFamily="34" charset="0"/>
                <a:ea typeface="Calibri" pitchFamily="34" charset="-122"/>
                <a:cs typeface="Calibri" pitchFamily="34" charset="-120"/>
              </a:rPr>
              <a:t>Memory allocation context</a:t>
            </a:r>
            <a:endParaRPr lang="en-US" sz="1000"/>
          </a:p>
        </p:txBody>
      </p:sp>
      <p:sp>
        <p:nvSpPr>
          <p:cNvPr id="19" name="Shape 17"/>
          <p:cNvSpPr/>
          <p:nvPr/>
        </p:nvSpPr>
        <p:spPr>
          <a:xfrm>
            <a:off x="320040" y="2006435"/>
            <a:ext cx="6120000" cy="237744"/>
          </a:xfrm>
          <a:prstGeom prst="rect">
            <a:avLst/>
          </a:prstGeom>
          <a:solidFill>
            <a:srgbClr val="E8F4F8"/>
          </a:solidFill>
          <a:ln w="12700">
            <a:solidFill>
              <a:srgbClr val="D1E8EF"/>
            </a:solidFill>
            <a:prstDash val="solid"/>
          </a:ln>
        </p:spPr>
        <p:txBody>
          <a:bodyPr/>
          <a:lstStyle/>
          <a:p>
            <a:endParaRPr lang="en-CA"/>
          </a:p>
        </p:txBody>
      </p:sp>
      <p:sp>
        <p:nvSpPr>
          <p:cNvPr id="20" name="Text 18"/>
          <p:cNvSpPr/>
          <p:nvPr/>
        </p:nvSpPr>
        <p:spPr>
          <a:xfrm>
            <a:off x="393192" y="2024723"/>
            <a:ext cx="2520000" cy="201168"/>
          </a:xfrm>
          <a:prstGeom prst="rect">
            <a:avLst/>
          </a:prstGeom>
          <a:noFill/>
          <a:ln/>
        </p:spPr>
        <p:txBody>
          <a:bodyPr wrap="square" rtlCol="0" anchor="ctr"/>
          <a:lstStyle/>
          <a:p>
            <a:pPr marL="0" indent="0">
              <a:buNone/>
            </a:pPr>
            <a:r>
              <a:rPr lang="en-US" sz="1050" b="1">
                <a:solidFill>
                  <a:srgbClr val="0D1B2A"/>
                </a:solidFill>
                <a:latin typeface="Consolas" pitchFamily="34" charset="0"/>
                <a:ea typeface="Consolas" pitchFamily="34" charset="-122"/>
                <a:cs typeface="Consolas" pitchFamily="34" charset="-120"/>
              </a:rPr>
              <a:t>page_cache_memory</a:t>
            </a:r>
            <a:endParaRPr lang="en-US" sz="1050"/>
          </a:p>
        </p:txBody>
      </p:sp>
      <p:sp>
        <p:nvSpPr>
          <p:cNvPr id="21" name="Text 19"/>
          <p:cNvSpPr/>
          <p:nvPr/>
        </p:nvSpPr>
        <p:spPr>
          <a:xfrm>
            <a:off x="3061941" y="2024723"/>
            <a:ext cx="5400000" cy="201168"/>
          </a:xfrm>
          <a:prstGeom prst="rect">
            <a:avLst/>
          </a:prstGeom>
          <a:noFill/>
          <a:ln/>
        </p:spPr>
        <p:txBody>
          <a:bodyPr wrap="square" rtlCol="0" anchor="ctr"/>
          <a:lstStyle/>
          <a:p>
            <a:pPr marL="0" indent="0">
              <a:buNone/>
            </a:pPr>
            <a:r>
              <a:rPr lang="en-US" sz="1000">
                <a:solidFill>
                  <a:srgbClr val="1E293B"/>
                </a:solidFill>
                <a:latin typeface="Calibri" pitchFamily="34" charset="0"/>
                <a:ea typeface="Calibri" pitchFamily="34" charset="-122"/>
                <a:cs typeface="Calibri" pitchFamily="34" charset="-120"/>
              </a:rPr>
              <a:t>Separates real pressure from cached memory</a:t>
            </a:r>
            <a:endParaRPr lang="en-US" sz="1000"/>
          </a:p>
        </p:txBody>
      </p:sp>
      <p:sp>
        <p:nvSpPr>
          <p:cNvPr id="22" name="Shape 20"/>
          <p:cNvSpPr/>
          <p:nvPr/>
        </p:nvSpPr>
        <p:spPr>
          <a:xfrm>
            <a:off x="320040" y="2267039"/>
            <a:ext cx="6120000" cy="237744"/>
          </a:xfrm>
          <a:prstGeom prst="rect">
            <a:avLst/>
          </a:prstGeom>
          <a:solidFill>
            <a:srgbClr val="FFFFFF"/>
          </a:solidFill>
          <a:ln w="12700">
            <a:solidFill>
              <a:srgbClr val="D1E8EF"/>
            </a:solidFill>
            <a:prstDash val="solid"/>
          </a:ln>
        </p:spPr>
        <p:txBody>
          <a:bodyPr/>
          <a:lstStyle/>
          <a:p>
            <a:endParaRPr lang="en-CA"/>
          </a:p>
        </p:txBody>
      </p:sp>
      <p:sp>
        <p:nvSpPr>
          <p:cNvPr id="23" name="Text 21"/>
          <p:cNvSpPr/>
          <p:nvPr/>
        </p:nvSpPr>
        <p:spPr>
          <a:xfrm>
            <a:off x="393192" y="2285327"/>
            <a:ext cx="2520000" cy="201168"/>
          </a:xfrm>
          <a:prstGeom prst="rect">
            <a:avLst/>
          </a:prstGeom>
          <a:noFill/>
          <a:ln/>
        </p:spPr>
        <p:txBody>
          <a:bodyPr wrap="square" rtlCol="0" anchor="ctr"/>
          <a:lstStyle/>
          <a:p>
            <a:pPr marL="0" indent="0">
              <a:buNone/>
            </a:pPr>
            <a:r>
              <a:rPr lang="en-US" sz="1050" b="1">
                <a:solidFill>
                  <a:srgbClr val="0D1B2A"/>
                </a:solidFill>
                <a:latin typeface="Consolas" pitchFamily="34" charset="0"/>
                <a:ea typeface="Consolas" pitchFamily="34" charset="-122"/>
                <a:cs typeface="Consolas" pitchFamily="34" charset="-120"/>
              </a:rPr>
              <a:t>true_app_memory</a:t>
            </a:r>
            <a:endParaRPr lang="en-US" sz="1050"/>
          </a:p>
        </p:txBody>
      </p:sp>
      <p:sp>
        <p:nvSpPr>
          <p:cNvPr id="24" name="Text 22"/>
          <p:cNvSpPr/>
          <p:nvPr/>
        </p:nvSpPr>
        <p:spPr>
          <a:xfrm>
            <a:off x="3061941" y="2285327"/>
            <a:ext cx="5400000" cy="201168"/>
          </a:xfrm>
          <a:prstGeom prst="rect">
            <a:avLst/>
          </a:prstGeom>
          <a:noFill/>
          <a:ln/>
        </p:spPr>
        <p:txBody>
          <a:bodyPr wrap="square" rtlCol="0" anchor="ctr"/>
          <a:lstStyle/>
          <a:p>
            <a:pPr marL="0" indent="0">
              <a:buNone/>
            </a:pPr>
            <a:r>
              <a:rPr lang="en-US" sz="1000">
                <a:solidFill>
                  <a:srgbClr val="1E293B"/>
                </a:solidFill>
                <a:latin typeface="Calibri" pitchFamily="34" charset="0"/>
                <a:ea typeface="Calibri" pitchFamily="34" charset="-122"/>
                <a:cs typeface="Calibri" pitchFamily="34" charset="-120"/>
              </a:rPr>
              <a:t>Engineered: avg_mem − page_cache_memory</a:t>
            </a:r>
            <a:endParaRPr lang="en-US" sz="1000"/>
          </a:p>
        </p:txBody>
      </p:sp>
      <p:sp>
        <p:nvSpPr>
          <p:cNvPr id="25" name="Shape 23"/>
          <p:cNvSpPr/>
          <p:nvPr/>
        </p:nvSpPr>
        <p:spPr>
          <a:xfrm>
            <a:off x="320040" y="2527643"/>
            <a:ext cx="6120000" cy="237744"/>
          </a:xfrm>
          <a:prstGeom prst="rect">
            <a:avLst/>
          </a:prstGeom>
          <a:solidFill>
            <a:srgbClr val="E8F4F8"/>
          </a:solidFill>
          <a:ln w="12700">
            <a:solidFill>
              <a:srgbClr val="D1E8EF"/>
            </a:solidFill>
            <a:prstDash val="solid"/>
          </a:ln>
        </p:spPr>
        <p:txBody>
          <a:bodyPr/>
          <a:lstStyle/>
          <a:p>
            <a:endParaRPr lang="en-CA"/>
          </a:p>
        </p:txBody>
      </p:sp>
      <p:sp>
        <p:nvSpPr>
          <p:cNvPr id="26" name="Text 24"/>
          <p:cNvSpPr/>
          <p:nvPr/>
        </p:nvSpPr>
        <p:spPr>
          <a:xfrm>
            <a:off x="393192" y="2545931"/>
            <a:ext cx="2520000" cy="201168"/>
          </a:xfrm>
          <a:prstGeom prst="rect">
            <a:avLst/>
          </a:prstGeom>
          <a:noFill/>
          <a:ln/>
        </p:spPr>
        <p:txBody>
          <a:bodyPr wrap="square" rtlCol="0" anchor="ctr"/>
          <a:lstStyle/>
          <a:p>
            <a:pPr marL="0" indent="0">
              <a:buNone/>
            </a:pPr>
            <a:r>
              <a:rPr lang="en-US" sz="1050" b="1">
                <a:solidFill>
                  <a:srgbClr val="0D1B2A"/>
                </a:solidFill>
                <a:latin typeface="Consolas" pitchFamily="34" charset="0"/>
                <a:ea typeface="Consolas" pitchFamily="34" charset="-122"/>
                <a:cs typeface="Consolas" pitchFamily="34" charset="-120"/>
              </a:rPr>
              <a:t>req_cpu / req_memory</a:t>
            </a:r>
            <a:endParaRPr lang="en-US" sz="1050"/>
          </a:p>
        </p:txBody>
      </p:sp>
      <p:sp>
        <p:nvSpPr>
          <p:cNvPr id="27" name="Text 25"/>
          <p:cNvSpPr/>
          <p:nvPr/>
        </p:nvSpPr>
        <p:spPr>
          <a:xfrm>
            <a:off x="3061941" y="2545931"/>
            <a:ext cx="5400000" cy="201168"/>
          </a:xfrm>
          <a:prstGeom prst="rect">
            <a:avLst/>
          </a:prstGeom>
          <a:noFill/>
          <a:ln/>
        </p:spPr>
        <p:txBody>
          <a:bodyPr wrap="square" rtlCol="0" anchor="ctr"/>
          <a:lstStyle/>
          <a:p>
            <a:pPr marL="0" indent="0">
              <a:buNone/>
            </a:pPr>
            <a:r>
              <a:rPr lang="en-US" sz="1000">
                <a:solidFill>
                  <a:srgbClr val="1E293B"/>
                </a:solidFill>
                <a:latin typeface="Calibri" pitchFamily="34" charset="0"/>
                <a:ea typeface="Calibri" pitchFamily="34" charset="-122"/>
                <a:cs typeface="Calibri" pitchFamily="34" charset="-120"/>
              </a:rPr>
              <a:t>Requested resource allocation</a:t>
            </a:r>
            <a:endParaRPr lang="en-US" sz="1000"/>
          </a:p>
        </p:txBody>
      </p:sp>
      <p:sp>
        <p:nvSpPr>
          <p:cNvPr id="28" name="Shape 26"/>
          <p:cNvSpPr/>
          <p:nvPr/>
        </p:nvSpPr>
        <p:spPr>
          <a:xfrm>
            <a:off x="320040" y="2788247"/>
            <a:ext cx="6120000" cy="237744"/>
          </a:xfrm>
          <a:prstGeom prst="rect">
            <a:avLst/>
          </a:prstGeom>
          <a:solidFill>
            <a:srgbClr val="FFFFFF"/>
          </a:solidFill>
          <a:ln w="12700">
            <a:solidFill>
              <a:srgbClr val="D1E8EF"/>
            </a:solidFill>
            <a:prstDash val="solid"/>
          </a:ln>
        </p:spPr>
        <p:txBody>
          <a:bodyPr/>
          <a:lstStyle/>
          <a:p>
            <a:endParaRPr lang="en-CA"/>
          </a:p>
        </p:txBody>
      </p:sp>
      <p:sp>
        <p:nvSpPr>
          <p:cNvPr id="29" name="Text 27"/>
          <p:cNvSpPr/>
          <p:nvPr/>
        </p:nvSpPr>
        <p:spPr>
          <a:xfrm>
            <a:off x="393192" y="2806535"/>
            <a:ext cx="2520000" cy="201168"/>
          </a:xfrm>
          <a:prstGeom prst="rect">
            <a:avLst/>
          </a:prstGeom>
          <a:noFill/>
          <a:ln/>
        </p:spPr>
        <p:txBody>
          <a:bodyPr wrap="square" rtlCol="0" anchor="ctr"/>
          <a:lstStyle/>
          <a:p>
            <a:pPr marL="0" indent="0">
              <a:buNone/>
            </a:pPr>
            <a:r>
              <a:rPr lang="en-US" sz="1050" b="1">
                <a:solidFill>
                  <a:srgbClr val="0D1B2A"/>
                </a:solidFill>
                <a:latin typeface="Consolas" pitchFamily="34" charset="0"/>
                <a:ea typeface="Consolas" pitchFamily="34" charset="-122"/>
                <a:cs typeface="Consolas" pitchFamily="34" charset="-120"/>
              </a:rPr>
              <a:t>scheduling_class</a:t>
            </a:r>
            <a:endParaRPr lang="en-US" sz="1050"/>
          </a:p>
        </p:txBody>
      </p:sp>
      <p:sp>
        <p:nvSpPr>
          <p:cNvPr id="30" name="Text 28"/>
          <p:cNvSpPr/>
          <p:nvPr/>
        </p:nvSpPr>
        <p:spPr>
          <a:xfrm>
            <a:off x="3061941" y="2806535"/>
            <a:ext cx="5400000" cy="201168"/>
          </a:xfrm>
          <a:prstGeom prst="rect">
            <a:avLst/>
          </a:prstGeom>
          <a:noFill/>
          <a:ln/>
        </p:spPr>
        <p:txBody>
          <a:bodyPr wrap="square" rtlCol="0" anchor="ctr"/>
          <a:lstStyle/>
          <a:p>
            <a:pPr marL="0" indent="0">
              <a:buNone/>
            </a:pPr>
            <a:r>
              <a:rPr lang="en-US" sz="1000">
                <a:solidFill>
                  <a:srgbClr val="1E293B"/>
                </a:solidFill>
                <a:latin typeface="Calibri" pitchFamily="34" charset="0"/>
                <a:ea typeface="Calibri" pitchFamily="34" charset="-122"/>
                <a:cs typeface="Calibri" pitchFamily="34" charset="-120"/>
              </a:rPr>
              <a:t>Scheduling behaviour context</a:t>
            </a:r>
            <a:endParaRPr lang="en-US" sz="1000"/>
          </a:p>
        </p:txBody>
      </p:sp>
      <p:sp>
        <p:nvSpPr>
          <p:cNvPr id="31" name="Shape 29"/>
          <p:cNvSpPr/>
          <p:nvPr/>
        </p:nvSpPr>
        <p:spPr>
          <a:xfrm>
            <a:off x="320040" y="3048851"/>
            <a:ext cx="6120000" cy="237744"/>
          </a:xfrm>
          <a:prstGeom prst="rect">
            <a:avLst/>
          </a:prstGeom>
          <a:solidFill>
            <a:srgbClr val="E8F4F8"/>
          </a:solidFill>
          <a:ln w="12700">
            <a:solidFill>
              <a:srgbClr val="D1E8EF"/>
            </a:solidFill>
            <a:prstDash val="solid"/>
          </a:ln>
        </p:spPr>
        <p:txBody>
          <a:bodyPr/>
          <a:lstStyle/>
          <a:p>
            <a:endParaRPr lang="en-CA"/>
          </a:p>
        </p:txBody>
      </p:sp>
      <p:sp>
        <p:nvSpPr>
          <p:cNvPr id="32" name="Text 30"/>
          <p:cNvSpPr/>
          <p:nvPr/>
        </p:nvSpPr>
        <p:spPr>
          <a:xfrm>
            <a:off x="393192" y="3067139"/>
            <a:ext cx="2520000" cy="201168"/>
          </a:xfrm>
          <a:prstGeom prst="rect">
            <a:avLst/>
          </a:prstGeom>
          <a:noFill/>
          <a:ln/>
        </p:spPr>
        <p:txBody>
          <a:bodyPr wrap="square" rtlCol="0" anchor="ctr"/>
          <a:lstStyle/>
          <a:p>
            <a:pPr marL="0" indent="0">
              <a:buNone/>
            </a:pPr>
            <a:r>
              <a:rPr lang="en-US" sz="1050" b="1">
                <a:solidFill>
                  <a:srgbClr val="0D1B2A"/>
                </a:solidFill>
                <a:latin typeface="Consolas" pitchFamily="34" charset="0"/>
                <a:ea typeface="Consolas" pitchFamily="34" charset="-122"/>
                <a:cs typeface="Consolas" pitchFamily="34" charset="-120"/>
              </a:rPr>
              <a:t>priority_tier_encoded</a:t>
            </a:r>
            <a:endParaRPr lang="en-US" sz="1050"/>
          </a:p>
        </p:txBody>
      </p:sp>
      <p:sp>
        <p:nvSpPr>
          <p:cNvPr id="33" name="Text 31"/>
          <p:cNvSpPr/>
          <p:nvPr/>
        </p:nvSpPr>
        <p:spPr>
          <a:xfrm>
            <a:off x="3061941" y="3067139"/>
            <a:ext cx="5400000" cy="201168"/>
          </a:xfrm>
          <a:prstGeom prst="rect">
            <a:avLst/>
          </a:prstGeom>
          <a:noFill/>
          <a:ln/>
        </p:spPr>
        <p:txBody>
          <a:bodyPr wrap="square" rtlCol="0" anchor="ctr"/>
          <a:lstStyle/>
          <a:p>
            <a:pPr marL="0" indent="0">
              <a:buNone/>
            </a:pPr>
            <a:r>
              <a:rPr lang="en-US" sz="1000">
                <a:solidFill>
                  <a:srgbClr val="1E293B"/>
                </a:solidFill>
                <a:latin typeface="Calibri" pitchFamily="34" charset="0"/>
                <a:ea typeface="Calibri" pitchFamily="34" charset="-122"/>
                <a:cs typeface="Calibri" pitchFamily="34" charset="-120"/>
              </a:rPr>
              <a:t>Encoded priority tier (categorical)</a:t>
            </a:r>
            <a:endParaRPr lang="en-US" sz="1000"/>
          </a:p>
        </p:txBody>
      </p:sp>
      <p:sp>
        <p:nvSpPr>
          <p:cNvPr id="34" name="Shape 32"/>
          <p:cNvSpPr/>
          <p:nvPr/>
        </p:nvSpPr>
        <p:spPr>
          <a:xfrm>
            <a:off x="320040" y="3309455"/>
            <a:ext cx="6120000" cy="237744"/>
          </a:xfrm>
          <a:prstGeom prst="rect">
            <a:avLst/>
          </a:prstGeom>
          <a:solidFill>
            <a:srgbClr val="FFFFFF"/>
          </a:solidFill>
          <a:ln w="12700">
            <a:solidFill>
              <a:srgbClr val="D1E8EF"/>
            </a:solidFill>
            <a:prstDash val="solid"/>
          </a:ln>
        </p:spPr>
        <p:txBody>
          <a:bodyPr/>
          <a:lstStyle/>
          <a:p>
            <a:endParaRPr lang="en-CA"/>
          </a:p>
        </p:txBody>
      </p:sp>
      <p:sp>
        <p:nvSpPr>
          <p:cNvPr id="35" name="Text 33"/>
          <p:cNvSpPr/>
          <p:nvPr/>
        </p:nvSpPr>
        <p:spPr>
          <a:xfrm>
            <a:off x="393192" y="3327743"/>
            <a:ext cx="2520000" cy="201168"/>
          </a:xfrm>
          <a:prstGeom prst="rect">
            <a:avLst/>
          </a:prstGeom>
          <a:noFill/>
          <a:ln/>
        </p:spPr>
        <p:txBody>
          <a:bodyPr wrap="square" rtlCol="0" anchor="ctr"/>
          <a:lstStyle/>
          <a:p>
            <a:pPr marL="0" indent="0">
              <a:buNone/>
            </a:pPr>
            <a:r>
              <a:rPr lang="en-US" sz="1050" b="1">
                <a:solidFill>
                  <a:srgbClr val="0D1B2A"/>
                </a:solidFill>
                <a:latin typeface="Consolas" pitchFamily="34" charset="0"/>
                <a:ea typeface="Consolas" pitchFamily="34" charset="-122"/>
                <a:cs typeface="Consolas" pitchFamily="34" charset="-120"/>
              </a:rPr>
              <a:t>sin_time / cos_time</a:t>
            </a:r>
            <a:endParaRPr lang="en-US" sz="1050"/>
          </a:p>
        </p:txBody>
      </p:sp>
      <p:sp>
        <p:nvSpPr>
          <p:cNvPr id="36" name="Text 34"/>
          <p:cNvSpPr/>
          <p:nvPr/>
        </p:nvSpPr>
        <p:spPr>
          <a:xfrm>
            <a:off x="3061941" y="3327743"/>
            <a:ext cx="5400000" cy="201168"/>
          </a:xfrm>
          <a:prstGeom prst="rect">
            <a:avLst/>
          </a:prstGeom>
          <a:noFill/>
          <a:ln/>
        </p:spPr>
        <p:txBody>
          <a:bodyPr wrap="square" rtlCol="0" anchor="ctr"/>
          <a:lstStyle/>
          <a:p>
            <a:pPr marL="0" indent="0">
              <a:buNone/>
            </a:pPr>
            <a:r>
              <a:rPr lang="en-US" sz="1000">
                <a:solidFill>
                  <a:srgbClr val="1E293B"/>
                </a:solidFill>
                <a:latin typeface="Calibri" pitchFamily="34" charset="0"/>
                <a:ea typeface="Calibri" pitchFamily="34" charset="-122"/>
                <a:cs typeface="Calibri" pitchFamily="34" charset="-120"/>
              </a:rPr>
              <a:t>Cyclical time encoding</a:t>
            </a:r>
            <a:endParaRPr lang="en-US" sz="1000"/>
          </a:p>
        </p:txBody>
      </p:sp>
      <p:sp>
        <p:nvSpPr>
          <p:cNvPr id="37" name="Shape 35"/>
          <p:cNvSpPr/>
          <p:nvPr/>
        </p:nvSpPr>
        <p:spPr>
          <a:xfrm>
            <a:off x="320040" y="3570059"/>
            <a:ext cx="6120000" cy="237744"/>
          </a:xfrm>
          <a:prstGeom prst="rect">
            <a:avLst/>
          </a:prstGeom>
          <a:solidFill>
            <a:srgbClr val="E8F4F8"/>
          </a:solidFill>
          <a:ln w="12700">
            <a:solidFill>
              <a:srgbClr val="D1E8EF"/>
            </a:solidFill>
            <a:prstDash val="solid"/>
          </a:ln>
        </p:spPr>
        <p:txBody>
          <a:bodyPr/>
          <a:lstStyle/>
          <a:p>
            <a:endParaRPr lang="en-CA"/>
          </a:p>
        </p:txBody>
      </p:sp>
      <p:sp>
        <p:nvSpPr>
          <p:cNvPr id="38" name="Text 36"/>
          <p:cNvSpPr/>
          <p:nvPr/>
        </p:nvSpPr>
        <p:spPr>
          <a:xfrm>
            <a:off x="393192" y="3588347"/>
            <a:ext cx="2520000" cy="201168"/>
          </a:xfrm>
          <a:prstGeom prst="rect">
            <a:avLst/>
          </a:prstGeom>
          <a:noFill/>
          <a:ln/>
        </p:spPr>
        <p:txBody>
          <a:bodyPr wrap="square" rtlCol="0" anchor="ctr"/>
          <a:lstStyle/>
          <a:p>
            <a:pPr marL="0" indent="0">
              <a:buNone/>
            </a:pPr>
            <a:r>
              <a:rPr lang="en-US" sz="1050" b="1">
                <a:solidFill>
                  <a:srgbClr val="0D1B2A"/>
                </a:solidFill>
                <a:latin typeface="Consolas" pitchFamily="34" charset="0"/>
                <a:ea typeface="Consolas" pitchFamily="34" charset="-122"/>
                <a:cs typeface="Consolas" pitchFamily="34" charset="-120"/>
              </a:rPr>
              <a:t>hour_from_start</a:t>
            </a:r>
            <a:endParaRPr lang="en-US" sz="1050"/>
          </a:p>
        </p:txBody>
      </p:sp>
      <p:sp>
        <p:nvSpPr>
          <p:cNvPr id="39" name="Text 37"/>
          <p:cNvSpPr/>
          <p:nvPr/>
        </p:nvSpPr>
        <p:spPr>
          <a:xfrm>
            <a:off x="3061941" y="3588347"/>
            <a:ext cx="5400000" cy="201168"/>
          </a:xfrm>
          <a:prstGeom prst="rect">
            <a:avLst/>
          </a:prstGeom>
          <a:noFill/>
          <a:ln/>
        </p:spPr>
        <p:txBody>
          <a:bodyPr wrap="square" rtlCol="0" anchor="ctr"/>
          <a:lstStyle/>
          <a:p>
            <a:pPr marL="0" indent="0">
              <a:buNone/>
            </a:pPr>
            <a:r>
              <a:rPr lang="en-US" sz="1000">
                <a:solidFill>
                  <a:srgbClr val="1E293B"/>
                </a:solidFill>
                <a:latin typeface="Calibri" pitchFamily="34" charset="0"/>
                <a:ea typeface="Calibri" pitchFamily="34" charset="-122"/>
                <a:cs typeface="Calibri" pitchFamily="34" charset="-120"/>
              </a:rPr>
              <a:t>Relative time position in sequence</a:t>
            </a:r>
            <a:endParaRPr lang="en-US" sz="1000"/>
          </a:p>
        </p:txBody>
      </p:sp>
      <p:sp>
        <p:nvSpPr>
          <p:cNvPr id="40" name="Shape 38"/>
          <p:cNvSpPr/>
          <p:nvPr/>
        </p:nvSpPr>
        <p:spPr>
          <a:xfrm>
            <a:off x="320040" y="3830663"/>
            <a:ext cx="6120000" cy="237744"/>
          </a:xfrm>
          <a:prstGeom prst="rect">
            <a:avLst/>
          </a:prstGeom>
          <a:solidFill>
            <a:srgbClr val="FFFFFF"/>
          </a:solidFill>
          <a:ln w="12700">
            <a:solidFill>
              <a:srgbClr val="D1E8EF"/>
            </a:solidFill>
            <a:prstDash val="solid"/>
          </a:ln>
        </p:spPr>
        <p:txBody>
          <a:bodyPr/>
          <a:lstStyle/>
          <a:p>
            <a:endParaRPr lang="en-CA"/>
          </a:p>
        </p:txBody>
      </p:sp>
      <p:sp>
        <p:nvSpPr>
          <p:cNvPr id="41" name="Text 39"/>
          <p:cNvSpPr/>
          <p:nvPr/>
        </p:nvSpPr>
        <p:spPr>
          <a:xfrm>
            <a:off x="393192" y="3848951"/>
            <a:ext cx="2771540" cy="201168"/>
          </a:xfrm>
          <a:prstGeom prst="rect">
            <a:avLst/>
          </a:prstGeom>
          <a:noFill/>
          <a:ln/>
        </p:spPr>
        <p:txBody>
          <a:bodyPr wrap="square" rtlCol="0" anchor="ctr"/>
          <a:lstStyle/>
          <a:p>
            <a:pPr marL="0" indent="0">
              <a:buNone/>
            </a:pPr>
            <a:r>
              <a:rPr lang="en-US" sz="900" b="1" err="1">
                <a:solidFill>
                  <a:srgbClr val="0D1B2A"/>
                </a:solidFill>
                <a:latin typeface="Consolas" pitchFamily="34" charset="0"/>
                <a:ea typeface="Consolas" pitchFamily="34" charset="-122"/>
                <a:cs typeface="Consolas" pitchFamily="34" charset="-120"/>
              </a:rPr>
              <a:t>time_step_index</a:t>
            </a:r>
            <a:r>
              <a:rPr lang="en-US" sz="900" b="1">
                <a:solidFill>
                  <a:srgbClr val="0D1B2A"/>
                </a:solidFill>
                <a:latin typeface="Consolas" pitchFamily="34" charset="0"/>
                <a:ea typeface="Consolas" pitchFamily="34" charset="-122"/>
                <a:cs typeface="Consolas" pitchFamily="34" charset="-120"/>
              </a:rPr>
              <a:t> or </a:t>
            </a:r>
            <a:r>
              <a:rPr lang="en-US" sz="900" b="1" err="1">
                <a:solidFill>
                  <a:srgbClr val="0D1B2A"/>
                </a:solidFill>
                <a:latin typeface="Consolas" pitchFamily="34" charset="0"/>
                <a:ea typeface="Consolas" pitchFamily="34" charset="-122"/>
                <a:cs typeface="Consolas" pitchFamily="34" charset="-120"/>
              </a:rPr>
              <a:t>instance_age_windows</a:t>
            </a:r>
            <a:endParaRPr lang="en-US" sz="900"/>
          </a:p>
        </p:txBody>
      </p:sp>
      <p:sp>
        <p:nvSpPr>
          <p:cNvPr id="42" name="Text 40"/>
          <p:cNvSpPr/>
          <p:nvPr/>
        </p:nvSpPr>
        <p:spPr>
          <a:xfrm>
            <a:off x="3061941" y="3848951"/>
            <a:ext cx="5400000" cy="201168"/>
          </a:xfrm>
          <a:prstGeom prst="rect">
            <a:avLst/>
          </a:prstGeom>
          <a:noFill/>
          <a:ln/>
        </p:spPr>
        <p:txBody>
          <a:bodyPr wrap="square" rtlCol="0" anchor="ctr"/>
          <a:lstStyle/>
          <a:p>
            <a:pPr marL="0" indent="0">
              <a:buNone/>
            </a:pPr>
            <a:r>
              <a:rPr lang="en-US" sz="1000">
                <a:solidFill>
                  <a:srgbClr val="1E293B"/>
                </a:solidFill>
                <a:latin typeface="Calibri" pitchFamily="34" charset="0"/>
                <a:ea typeface="Calibri" pitchFamily="34" charset="-122"/>
                <a:cs typeface="Calibri" pitchFamily="34" charset="-120"/>
              </a:rPr>
              <a:t>Sequence age / workload progress</a:t>
            </a:r>
            <a:endParaRPr lang="en-US" sz="1000"/>
          </a:p>
        </p:txBody>
      </p:sp>
      <p:sp>
        <p:nvSpPr>
          <p:cNvPr id="43" name="Shape 41"/>
          <p:cNvSpPr/>
          <p:nvPr/>
        </p:nvSpPr>
        <p:spPr>
          <a:xfrm>
            <a:off x="320040" y="4091267"/>
            <a:ext cx="6120000" cy="237744"/>
          </a:xfrm>
          <a:prstGeom prst="rect">
            <a:avLst/>
          </a:prstGeom>
          <a:solidFill>
            <a:srgbClr val="E8F4F8"/>
          </a:solidFill>
          <a:ln w="12700">
            <a:solidFill>
              <a:srgbClr val="D1E8EF"/>
            </a:solidFill>
            <a:prstDash val="solid"/>
          </a:ln>
        </p:spPr>
        <p:txBody>
          <a:bodyPr/>
          <a:lstStyle/>
          <a:p>
            <a:endParaRPr lang="en-CA"/>
          </a:p>
        </p:txBody>
      </p:sp>
      <p:sp>
        <p:nvSpPr>
          <p:cNvPr id="44" name="Text 42"/>
          <p:cNvSpPr/>
          <p:nvPr/>
        </p:nvSpPr>
        <p:spPr>
          <a:xfrm>
            <a:off x="393192" y="4109555"/>
            <a:ext cx="2520000" cy="201168"/>
          </a:xfrm>
          <a:prstGeom prst="rect">
            <a:avLst/>
          </a:prstGeom>
          <a:noFill/>
          <a:ln/>
        </p:spPr>
        <p:txBody>
          <a:bodyPr wrap="square" rtlCol="0" anchor="ctr"/>
          <a:lstStyle/>
          <a:p>
            <a:pPr marL="0" indent="0">
              <a:buNone/>
            </a:pPr>
            <a:r>
              <a:rPr lang="en-US" sz="1050" b="1">
                <a:solidFill>
                  <a:srgbClr val="0D1B2A"/>
                </a:solidFill>
                <a:latin typeface="Consolas" pitchFamily="34" charset="0"/>
                <a:ea typeface="Consolas" pitchFamily="34" charset="-122"/>
                <a:cs typeface="Consolas" pitchFamily="34" charset="-120"/>
              </a:rPr>
              <a:t>n_instances_in_collection</a:t>
            </a:r>
            <a:endParaRPr lang="en-US" sz="1050"/>
          </a:p>
        </p:txBody>
      </p:sp>
      <p:sp>
        <p:nvSpPr>
          <p:cNvPr id="45" name="Text 43"/>
          <p:cNvSpPr/>
          <p:nvPr/>
        </p:nvSpPr>
        <p:spPr>
          <a:xfrm>
            <a:off x="3061941" y="4109555"/>
            <a:ext cx="5400000" cy="201168"/>
          </a:xfrm>
          <a:prstGeom prst="rect">
            <a:avLst/>
          </a:prstGeom>
          <a:noFill/>
          <a:ln/>
        </p:spPr>
        <p:txBody>
          <a:bodyPr wrap="square" rtlCol="0" anchor="ctr"/>
          <a:lstStyle/>
          <a:p>
            <a:pPr marL="0" indent="0">
              <a:buNone/>
            </a:pPr>
            <a:r>
              <a:rPr lang="en-US" sz="1000">
                <a:solidFill>
                  <a:srgbClr val="1E293B"/>
                </a:solidFill>
                <a:latin typeface="Calibri" pitchFamily="34" charset="0"/>
                <a:ea typeface="Calibri" pitchFamily="34" charset="-122"/>
                <a:cs typeface="Calibri" pitchFamily="34" charset="-120"/>
              </a:rPr>
              <a:t>Collection-level workload size</a:t>
            </a:r>
            <a:endParaRPr lang="en-US" sz="1000"/>
          </a:p>
        </p:txBody>
      </p:sp>
      <p:pic>
        <p:nvPicPr>
          <p:cNvPr id="76" name="Picture 75">
            <a:extLst>
              <a:ext uri="{FF2B5EF4-FFF2-40B4-BE49-F238E27FC236}">
                <a16:creationId xmlns:a16="http://schemas.microsoft.com/office/drawing/2014/main" id="{F4D49FB7-C80F-1E2F-188F-50260E0D449C}"/>
              </a:ext>
            </a:extLst>
          </p:cNvPr>
          <p:cNvPicPr>
            <a:picLocks noChangeAspect="1"/>
          </p:cNvPicPr>
          <p:nvPr/>
        </p:nvPicPr>
        <p:blipFill>
          <a:blip r:embed="rId3"/>
          <a:srcRect r="29206"/>
          <a:stretch>
            <a:fillRect/>
          </a:stretch>
        </p:blipFill>
        <p:spPr>
          <a:xfrm>
            <a:off x="5581941" y="3579540"/>
            <a:ext cx="3449165" cy="1462366"/>
          </a:xfrm>
          <a:prstGeom prst="rect">
            <a:avLst/>
          </a:prstGeom>
          <a:ln>
            <a:solidFill>
              <a:srgbClr val="C00000"/>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7A5107-6841-3475-446E-D25F15D094E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61680BC-9C21-9239-3249-41968ABAA47A}"/>
              </a:ext>
            </a:extLst>
          </p:cNvPr>
          <p:cNvSpPr/>
          <p:nvPr/>
        </p:nvSpPr>
        <p:spPr>
          <a:xfrm>
            <a:off x="0" y="0"/>
            <a:ext cx="9144000" cy="960120"/>
          </a:xfrm>
          <a:prstGeom prst="rect">
            <a:avLst/>
          </a:prstGeom>
          <a:solidFill>
            <a:srgbClr val="0D1B2A"/>
          </a:solidFill>
          <a:ln w="12700">
            <a:solidFill>
              <a:srgbClr val="0D1B2A"/>
            </a:solidFill>
            <a:prstDash val="solid"/>
          </a:ln>
        </p:spPr>
        <p:txBody>
          <a:bodyPr/>
          <a:lstStyle/>
          <a:p>
            <a:endParaRPr lang="en-CA"/>
          </a:p>
        </p:txBody>
      </p:sp>
      <p:sp>
        <p:nvSpPr>
          <p:cNvPr id="3" name="Shape 1">
            <a:extLst>
              <a:ext uri="{FF2B5EF4-FFF2-40B4-BE49-F238E27FC236}">
                <a16:creationId xmlns:a16="http://schemas.microsoft.com/office/drawing/2014/main" id="{72869F6B-F819-835C-5C77-5E3205D3673B}"/>
              </a:ext>
            </a:extLst>
          </p:cNvPr>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CA"/>
          </a:p>
        </p:txBody>
      </p:sp>
      <p:sp>
        <p:nvSpPr>
          <p:cNvPr id="4" name="Text 2">
            <a:extLst>
              <a:ext uri="{FF2B5EF4-FFF2-40B4-BE49-F238E27FC236}">
                <a16:creationId xmlns:a16="http://schemas.microsoft.com/office/drawing/2014/main" id="{FF10C586-CBBC-7B79-389D-9FB429C3D243}"/>
              </a:ext>
            </a:extLst>
          </p:cNvPr>
          <p:cNvSpPr/>
          <p:nvPr/>
        </p:nvSpPr>
        <p:spPr>
          <a:xfrm>
            <a:off x="365760" y="109728"/>
            <a:ext cx="6858000" cy="640080"/>
          </a:xfrm>
          <a:prstGeom prst="rect">
            <a:avLst/>
          </a:prstGeom>
          <a:noFill/>
          <a:ln/>
        </p:spPr>
        <p:txBody>
          <a:bodyPr wrap="square" rtlCol="0" anchor="ctr"/>
          <a:lstStyle/>
          <a:p>
            <a:pPr marL="0" indent="0">
              <a:buNone/>
            </a:pPr>
            <a:r>
              <a:rPr lang="en-US" sz="2800" b="1">
                <a:solidFill>
                  <a:srgbClr val="FFFFFF"/>
                </a:solidFill>
                <a:latin typeface="Calibri" pitchFamily="34" charset="0"/>
                <a:ea typeface="Calibri" pitchFamily="34" charset="-122"/>
                <a:cs typeface="Calibri" pitchFamily="34" charset="-120"/>
              </a:rPr>
              <a:t>Feature Selection – Excluded Features </a:t>
            </a:r>
            <a:endParaRPr lang="en-US" sz="2800"/>
          </a:p>
        </p:txBody>
      </p:sp>
      <p:graphicFrame>
        <p:nvGraphicFramePr>
          <p:cNvPr id="16" name="Table 0">
            <a:extLst>
              <a:ext uri="{FF2B5EF4-FFF2-40B4-BE49-F238E27FC236}">
                <a16:creationId xmlns:a16="http://schemas.microsoft.com/office/drawing/2014/main" id="{DBAC08E2-0B97-8229-E5E9-AC13A3392A10}"/>
              </a:ext>
            </a:extLst>
          </p:cNvPr>
          <p:cNvGraphicFramePr>
            <a:graphicFrameLocks noGrp="1"/>
          </p:cNvGraphicFramePr>
          <p:nvPr>
            <p:extLst>
              <p:ext uri="{D42A27DB-BD31-4B8C-83A1-F6EECF244321}">
                <p14:modId xmlns:p14="http://schemas.microsoft.com/office/powerpoint/2010/main" val="3890444368"/>
              </p:ext>
            </p:extLst>
          </p:nvPr>
        </p:nvGraphicFramePr>
        <p:xfrm>
          <a:off x="288036" y="1088136"/>
          <a:ext cx="8732520" cy="3558540"/>
        </p:xfrm>
        <a:graphic>
          <a:graphicData uri="http://schemas.openxmlformats.org/drawingml/2006/table">
            <a:tbl>
              <a:tblPr/>
              <a:tblGrid>
                <a:gridCol w="1920240">
                  <a:extLst>
                    <a:ext uri="{9D8B030D-6E8A-4147-A177-3AD203B41FA5}">
                      <a16:colId xmlns:a16="http://schemas.microsoft.com/office/drawing/2014/main" val="20000"/>
                    </a:ext>
                  </a:extLst>
                </a:gridCol>
                <a:gridCol w="1528152">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01110">
                  <a:extLst>
                    <a:ext uri="{9D8B030D-6E8A-4147-A177-3AD203B41FA5}">
                      <a16:colId xmlns:a16="http://schemas.microsoft.com/office/drawing/2014/main" val="20003"/>
                    </a:ext>
                  </a:extLst>
                </a:gridCol>
                <a:gridCol w="3368618">
                  <a:extLst>
                    <a:ext uri="{9D8B030D-6E8A-4147-A177-3AD203B41FA5}">
                      <a16:colId xmlns:a16="http://schemas.microsoft.com/office/drawing/2014/main" val="20004"/>
                    </a:ext>
                  </a:extLst>
                </a:gridCol>
              </a:tblGrid>
              <a:tr h="182880">
                <a:tc>
                  <a:txBody>
                    <a:bodyPr/>
                    <a:lstStyle/>
                    <a:p>
                      <a:pPr marL="0" indent="0" algn="ctr">
                        <a:buNone/>
                      </a:pPr>
                      <a:r>
                        <a:rPr lang="en-US" sz="1100" b="1">
                          <a:solidFill>
                            <a:srgbClr val="0D1B2A"/>
                          </a:solidFill>
                          <a:latin typeface="Calibri" pitchFamily="34" charset="0"/>
                          <a:ea typeface="Calibri" pitchFamily="34" charset="-122"/>
                          <a:cs typeface="Calibri" pitchFamily="34" charset="-120"/>
                        </a:rPr>
                        <a:t>Column</a:t>
                      </a:r>
                      <a:endParaRPr lang="en-US" sz="11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C9A9A9"/>
                    </a:solidFill>
                  </a:tcPr>
                </a:tc>
                <a:tc>
                  <a:txBody>
                    <a:bodyPr/>
                    <a:lstStyle/>
                    <a:p>
                      <a:pPr marL="0" indent="0" algn="ctr">
                        <a:buNone/>
                      </a:pPr>
                      <a:r>
                        <a:rPr lang="en-US" sz="1100" b="1">
                          <a:solidFill>
                            <a:srgbClr val="0D1B2A"/>
                          </a:solidFill>
                          <a:latin typeface="Calibri" pitchFamily="34" charset="0"/>
                          <a:ea typeface="Calibri" pitchFamily="34" charset="-122"/>
                          <a:cs typeface="Calibri" pitchFamily="34" charset="-120"/>
                        </a:rPr>
                        <a:t>Dual</a:t>
                      </a:r>
                      <a:endParaRPr lang="en-US" sz="11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C9A9A9"/>
                    </a:solidFill>
                  </a:tcPr>
                </a:tc>
                <a:tc>
                  <a:txBody>
                    <a:bodyPr/>
                    <a:lstStyle/>
                    <a:p>
                      <a:pPr marL="0" indent="0" algn="ctr">
                        <a:buNone/>
                      </a:pPr>
                      <a:r>
                        <a:rPr lang="en-US" sz="1100" b="1">
                          <a:solidFill>
                            <a:srgbClr val="0D1B2A"/>
                          </a:solidFill>
                          <a:latin typeface="Calibri" pitchFamily="34" charset="0"/>
                          <a:ea typeface="Calibri" pitchFamily="34" charset="-122"/>
                          <a:cs typeface="Calibri" pitchFamily="34" charset="-120"/>
                        </a:rPr>
                        <a:t>CPU</a:t>
                      </a:r>
                      <a:endParaRPr lang="en-US" sz="11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C9A9A9"/>
                    </a:solidFill>
                  </a:tcPr>
                </a:tc>
                <a:tc>
                  <a:txBody>
                    <a:bodyPr/>
                    <a:lstStyle/>
                    <a:p>
                      <a:pPr marL="0" indent="0" algn="ctr">
                        <a:buNone/>
                      </a:pPr>
                      <a:r>
                        <a:rPr lang="en-US" sz="1100" b="1">
                          <a:solidFill>
                            <a:srgbClr val="0D1B2A"/>
                          </a:solidFill>
                          <a:latin typeface="Calibri" pitchFamily="34" charset="0"/>
                          <a:ea typeface="Calibri" pitchFamily="34" charset="-122"/>
                          <a:cs typeface="Calibri" pitchFamily="34" charset="-120"/>
                        </a:rPr>
                        <a:t>Mem</a:t>
                      </a:r>
                      <a:endParaRPr lang="en-US" sz="11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C9A9A9"/>
                    </a:solidFill>
                  </a:tcPr>
                </a:tc>
                <a:tc>
                  <a:txBody>
                    <a:bodyPr/>
                    <a:lstStyle/>
                    <a:p>
                      <a:pPr marL="0" indent="0" algn="ctr">
                        <a:buNone/>
                      </a:pPr>
                      <a:r>
                        <a:rPr lang="en-US" sz="1100" b="1">
                          <a:solidFill>
                            <a:srgbClr val="0D1B2A"/>
                          </a:solidFill>
                          <a:latin typeface="Calibri" pitchFamily="34" charset="0"/>
                          <a:ea typeface="Calibri" pitchFamily="34" charset="-122"/>
                          <a:cs typeface="Calibri" pitchFamily="34" charset="-120"/>
                        </a:rPr>
                        <a:t>Reason</a:t>
                      </a:r>
                      <a:endParaRPr lang="en-US" sz="11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C9A9A9"/>
                    </a:solidFill>
                  </a:tcPr>
                </a:tc>
                <a:extLst>
                  <a:ext uri="{0D108BD9-81ED-4DB2-BD59-A6C34878D82A}">
                    <a16:rowId xmlns:a16="http://schemas.microsoft.com/office/drawing/2014/main" val="10000"/>
                  </a:ext>
                </a:extLst>
              </a:tr>
              <a:tr h="182880">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collection_id</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from model input</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Identifier only; keep for metadata/output</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82880">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instance_index</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from model input</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Internal sequence key only</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extLst>
                  <a:ext uri="{0D108BD9-81ED-4DB2-BD59-A6C34878D82A}">
                    <a16:rowId xmlns:a16="http://schemas.microsoft.com/office/drawing/2014/main" val="10002"/>
                  </a:ext>
                </a:extLst>
              </a:tr>
              <a:tr h="182880">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sub_seq_id</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from model input</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Internal sequence key only</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2880">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machine_id</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Machine identifier; may cause unwanted memorization</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extLst>
                  <a:ext uri="{0D108BD9-81ED-4DB2-BD59-A6C34878D82A}">
                    <a16:rowId xmlns:a16="http://schemas.microsoft.com/office/drawing/2014/main" val="10004"/>
                  </a:ext>
                </a:extLst>
              </a:tr>
              <a:tr h="182880">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user</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Tenant ID metadata, not direct model input</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82880">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collection_type</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Excluded</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Excluded</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Excluded</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Could be encoded later, not needed for baseline</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extLst>
                  <a:ext uri="{0D108BD9-81ED-4DB2-BD59-A6C34878D82A}">
                    <a16:rowId xmlns:a16="http://schemas.microsoft.com/office/drawing/2014/main" val="10006"/>
                  </a:ext>
                </a:extLst>
              </a:tr>
              <a:tr h="182880">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alloc_collection_id</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Many missing values and identifier-like</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82880">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submit_time</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from model input</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Metadata; may be transformed instead</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extLst>
                  <a:ext uri="{0D108BD9-81ED-4DB2-BD59-A6C34878D82A}">
                    <a16:rowId xmlns:a16="http://schemas.microsoft.com/office/drawing/2014/main" val="10008"/>
                  </a:ext>
                </a:extLst>
              </a:tr>
              <a:tr h="182880">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scheduled_time</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from model input</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Metadata; may be transformed instead</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terminal_time</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Possible future/lifetime leakage</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extLst>
                  <a:ext uri="{0D108BD9-81ED-4DB2-BD59-A6C34878D82A}">
                    <a16:rowId xmlns:a16="http://schemas.microsoft.com/office/drawing/2014/main" val="10010"/>
                  </a:ext>
                </a:extLst>
              </a:tr>
              <a:tr h="182880">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terminal_type</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Terminal outcome, not safe as forecasting input</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965398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A60AF3-9BF3-AFDC-C2C7-F5BD3A985BB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0E66106-149B-56F7-407D-082C00E078B9}"/>
              </a:ext>
            </a:extLst>
          </p:cNvPr>
          <p:cNvSpPr/>
          <p:nvPr/>
        </p:nvSpPr>
        <p:spPr>
          <a:xfrm>
            <a:off x="0" y="0"/>
            <a:ext cx="9144000" cy="769620"/>
          </a:xfrm>
          <a:prstGeom prst="rect">
            <a:avLst/>
          </a:prstGeom>
          <a:solidFill>
            <a:srgbClr val="0D1B2A"/>
          </a:solidFill>
          <a:ln w="12700">
            <a:solidFill>
              <a:srgbClr val="0D1B2A"/>
            </a:solidFill>
            <a:prstDash val="solid"/>
          </a:ln>
        </p:spPr>
        <p:txBody>
          <a:bodyPr/>
          <a:lstStyle/>
          <a:p>
            <a:endParaRPr lang="en-CA"/>
          </a:p>
        </p:txBody>
      </p:sp>
      <p:sp>
        <p:nvSpPr>
          <p:cNvPr id="3" name="Shape 1">
            <a:extLst>
              <a:ext uri="{FF2B5EF4-FFF2-40B4-BE49-F238E27FC236}">
                <a16:creationId xmlns:a16="http://schemas.microsoft.com/office/drawing/2014/main" id="{2BD4F861-11BF-7F2E-1527-DFFB4870C994}"/>
              </a:ext>
            </a:extLst>
          </p:cNvPr>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CA"/>
          </a:p>
        </p:txBody>
      </p:sp>
      <p:sp>
        <p:nvSpPr>
          <p:cNvPr id="4" name="Text 2">
            <a:extLst>
              <a:ext uri="{FF2B5EF4-FFF2-40B4-BE49-F238E27FC236}">
                <a16:creationId xmlns:a16="http://schemas.microsoft.com/office/drawing/2014/main" id="{BDF3412F-D000-DD66-4D5C-0010B8558A61}"/>
              </a:ext>
            </a:extLst>
          </p:cNvPr>
          <p:cNvSpPr/>
          <p:nvPr/>
        </p:nvSpPr>
        <p:spPr>
          <a:xfrm>
            <a:off x="365760" y="109728"/>
            <a:ext cx="6858000" cy="640080"/>
          </a:xfrm>
          <a:prstGeom prst="rect">
            <a:avLst/>
          </a:prstGeom>
          <a:noFill/>
          <a:ln/>
        </p:spPr>
        <p:txBody>
          <a:bodyPr wrap="square" rtlCol="0" anchor="ctr"/>
          <a:lstStyle/>
          <a:p>
            <a:pPr marL="0" indent="0">
              <a:buNone/>
            </a:pPr>
            <a:r>
              <a:rPr lang="en-US" sz="2800" b="1">
                <a:solidFill>
                  <a:srgbClr val="FFFFFF"/>
                </a:solidFill>
                <a:latin typeface="Calibri" pitchFamily="34" charset="0"/>
                <a:ea typeface="Calibri" pitchFamily="34" charset="-122"/>
                <a:cs typeface="Calibri" pitchFamily="34" charset="-120"/>
              </a:rPr>
              <a:t>Feature Selection – Excluded Features </a:t>
            </a:r>
            <a:endParaRPr lang="en-US" sz="2800"/>
          </a:p>
        </p:txBody>
      </p:sp>
      <p:graphicFrame>
        <p:nvGraphicFramePr>
          <p:cNvPr id="7" name="Table 0">
            <a:extLst>
              <a:ext uri="{FF2B5EF4-FFF2-40B4-BE49-F238E27FC236}">
                <a16:creationId xmlns:a16="http://schemas.microsoft.com/office/drawing/2014/main" id="{84AD4ACE-2392-2DAF-86C5-E386C7982A86}"/>
              </a:ext>
            </a:extLst>
          </p:cNvPr>
          <p:cNvGraphicFramePr>
            <a:graphicFrameLocks noGrp="1"/>
          </p:cNvGraphicFramePr>
          <p:nvPr>
            <p:extLst>
              <p:ext uri="{D42A27DB-BD31-4B8C-83A1-F6EECF244321}">
                <p14:modId xmlns:p14="http://schemas.microsoft.com/office/powerpoint/2010/main" val="2605572726"/>
              </p:ext>
            </p:extLst>
          </p:nvPr>
        </p:nvGraphicFramePr>
        <p:xfrm>
          <a:off x="292449" y="939140"/>
          <a:ext cx="8851551" cy="4034839"/>
        </p:xfrm>
        <a:graphic>
          <a:graphicData uri="http://schemas.openxmlformats.org/drawingml/2006/table">
            <a:tbl>
              <a:tblPr/>
              <a:tblGrid>
                <a:gridCol w="1797349">
                  <a:extLst>
                    <a:ext uri="{9D8B030D-6E8A-4147-A177-3AD203B41FA5}">
                      <a16:colId xmlns:a16="http://schemas.microsoft.com/office/drawing/2014/main" val="20000"/>
                    </a:ext>
                  </a:extLst>
                </a:gridCol>
                <a:gridCol w="1379483">
                  <a:extLst>
                    <a:ext uri="{9D8B030D-6E8A-4147-A177-3AD203B41FA5}">
                      <a16:colId xmlns:a16="http://schemas.microsoft.com/office/drawing/2014/main" val="20001"/>
                    </a:ext>
                  </a:extLst>
                </a:gridCol>
                <a:gridCol w="1174531">
                  <a:extLst>
                    <a:ext uri="{9D8B030D-6E8A-4147-A177-3AD203B41FA5}">
                      <a16:colId xmlns:a16="http://schemas.microsoft.com/office/drawing/2014/main" val="20002"/>
                    </a:ext>
                  </a:extLst>
                </a:gridCol>
                <a:gridCol w="1198179">
                  <a:extLst>
                    <a:ext uri="{9D8B030D-6E8A-4147-A177-3AD203B41FA5}">
                      <a16:colId xmlns:a16="http://schemas.microsoft.com/office/drawing/2014/main" val="20003"/>
                    </a:ext>
                  </a:extLst>
                </a:gridCol>
                <a:gridCol w="3302009">
                  <a:extLst>
                    <a:ext uri="{9D8B030D-6E8A-4147-A177-3AD203B41FA5}">
                      <a16:colId xmlns:a16="http://schemas.microsoft.com/office/drawing/2014/main" val="20004"/>
                    </a:ext>
                  </a:extLst>
                </a:gridCol>
              </a:tblGrid>
              <a:tr h="282019">
                <a:tc>
                  <a:txBody>
                    <a:bodyPr/>
                    <a:lstStyle/>
                    <a:p>
                      <a:pPr marL="0" indent="0" algn="ctr">
                        <a:buNone/>
                      </a:pPr>
                      <a:r>
                        <a:rPr lang="en-US" sz="1200" b="1">
                          <a:solidFill>
                            <a:srgbClr val="0D1B2A"/>
                          </a:solidFill>
                          <a:latin typeface="Calibri" pitchFamily="34" charset="0"/>
                          <a:ea typeface="Calibri" pitchFamily="34" charset="-122"/>
                          <a:cs typeface="Calibri" pitchFamily="34" charset="-120"/>
                        </a:rPr>
                        <a:t>Column</a:t>
                      </a:r>
                      <a:endParaRPr lang="en-US" sz="12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C9A9A9"/>
                    </a:solidFill>
                  </a:tcPr>
                </a:tc>
                <a:tc>
                  <a:txBody>
                    <a:bodyPr/>
                    <a:lstStyle/>
                    <a:p>
                      <a:pPr marL="0" indent="0" algn="ctr">
                        <a:buNone/>
                      </a:pPr>
                      <a:r>
                        <a:rPr lang="en-US" sz="1200" b="1">
                          <a:solidFill>
                            <a:srgbClr val="0D1B2A"/>
                          </a:solidFill>
                          <a:latin typeface="Calibri" pitchFamily="34" charset="0"/>
                          <a:ea typeface="Calibri" pitchFamily="34" charset="-122"/>
                          <a:cs typeface="Calibri" pitchFamily="34" charset="-120"/>
                        </a:rPr>
                        <a:t>Dual</a:t>
                      </a:r>
                      <a:endParaRPr lang="en-US" sz="12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C9A9A9"/>
                    </a:solidFill>
                  </a:tcPr>
                </a:tc>
                <a:tc>
                  <a:txBody>
                    <a:bodyPr/>
                    <a:lstStyle/>
                    <a:p>
                      <a:pPr marL="0" indent="0" algn="ctr">
                        <a:buNone/>
                      </a:pPr>
                      <a:r>
                        <a:rPr lang="en-US" sz="1200" b="1">
                          <a:solidFill>
                            <a:srgbClr val="0D1B2A"/>
                          </a:solidFill>
                          <a:latin typeface="Calibri" pitchFamily="34" charset="0"/>
                          <a:ea typeface="Calibri" pitchFamily="34" charset="-122"/>
                          <a:cs typeface="Calibri" pitchFamily="34" charset="-120"/>
                        </a:rPr>
                        <a:t>CPU</a:t>
                      </a:r>
                      <a:endParaRPr lang="en-US" sz="12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C9A9A9"/>
                    </a:solidFill>
                  </a:tcPr>
                </a:tc>
                <a:tc>
                  <a:txBody>
                    <a:bodyPr/>
                    <a:lstStyle/>
                    <a:p>
                      <a:pPr marL="0" indent="0" algn="ctr">
                        <a:buNone/>
                      </a:pPr>
                      <a:r>
                        <a:rPr lang="en-US" sz="1200" b="1">
                          <a:solidFill>
                            <a:srgbClr val="0D1B2A"/>
                          </a:solidFill>
                          <a:latin typeface="Calibri" pitchFamily="34" charset="0"/>
                          <a:ea typeface="Calibri" pitchFamily="34" charset="-122"/>
                          <a:cs typeface="Calibri" pitchFamily="34" charset="-120"/>
                        </a:rPr>
                        <a:t>Mem</a:t>
                      </a:r>
                      <a:endParaRPr lang="en-US" sz="12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C9A9A9"/>
                    </a:solidFill>
                  </a:tcPr>
                </a:tc>
                <a:tc>
                  <a:txBody>
                    <a:bodyPr/>
                    <a:lstStyle/>
                    <a:p>
                      <a:pPr marL="0" indent="0" algn="ctr">
                        <a:buNone/>
                      </a:pPr>
                      <a:r>
                        <a:rPr lang="en-US" sz="1200" b="1">
                          <a:solidFill>
                            <a:srgbClr val="0D1B2A"/>
                          </a:solidFill>
                          <a:latin typeface="Calibri" pitchFamily="34" charset="0"/>
                          <a:ea typeface="Calibri" pitchFamily="34" charset="-122"/>
                          <a:cs typeface="Calibri" pitchFamily="34" charset="-120"/>
                        </a:rPr>
                        <a:t>Reason</a:t>
                      </a:r>
                      <a:endParaRPr lang="en-US" sz="12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C9A9A9"/>
                    </a:solidFill>
                  </a:tcPr>
                </a:tc>
                <a:extLst>
                  <a:ext uri="{0D108BD9-81ED-4DB2-BD59-A6C34878D82A}">
                    <a16:rowId xmlns:a16="http://schemas.microsoft.com/office/drawing/2014/main" val="10000"/>
                  </a:ext>
                </a:extLst>
              </a:tr>
              <a:tr h="313354">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collection_submit_time</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from direct input</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Use derived timing features instead</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354">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missing_type_submit</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Mostly missing / missingness indicator</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extLst>
                  <a:ext uri="{0D108BD9-81ED-4DB2-BD59-A6C34878D82A}">
                    <a16:rowId xmlns:a16="http://schemas.microsoft.com/office/drawing/2014/main" val="10002"/>
                  </a:ext>
                </a:extLst>
              </a:tr>
              <a:tr h="313354">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missing_type_schedule</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Many missing values</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8517">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max_cpu</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for baseline</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for baseline</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for baseline</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Peak value may make comparison less clean</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extLst>
                  <a:ext uri="{0D108BD9-81ED-4DB2-BD59-A6C34878D82A}">
                    <a16:rowId xmlns:a16="http://schemas.microsoft.com/office/drawing/2014/main" val="10004"/>
                  </a:ext>
                </a:extLst>
              </a:tr>
              <a:tr h="258517">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max_mem</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for baseline</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for baseline</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for baseline</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Peak value may make memory prediction too direct</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354">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p95_cpu</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Field name kept; actual value should be P90 CPU</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extLst>
                  <a:ext uri="{0D108BD9-81ED-4DB2-BD59-A6C34878D82A}">
                    <a16:rowId xmlns:a16="http://schemas.microsoft.com/office/drawing/2014/main" val="10006"/>
                  </a:ext>
                </a:extLst>
              </a:tr>
              <a:tr h="313354">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mem_overcommit_ratio</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Derived from memory/request relationship</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3028">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priority</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if using priority_tier_encoded</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Avoid duplicate priority information</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extLst>
                  <a:ext uri="{0D108BD9-81ED-4DB2-BD59-A6C34878D82A}">
                    <a16:rowId xmlns:a16="http://schemas.microsoft.com/office/drawing/2014/main" val="10008"/>
                  </a:ext>
                </a:extLst>
              </a:tr>
              <a:tr h="313354">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period_h</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from model input</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Use for plan-ahead output aggregation</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3354">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end_time</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from model input</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ctr">
                        <a:buNone/>
                      </a:pPr>
                      <a:r>
                        <a:rPr lang="en-US" sz="1400" b="1">
                          <a:solidFill>
                            <a:srgbClr val="0A9396"/>
                          </a:solidFill>
                          <a:latin typeface="Calibri" pitchFamily="34" charset="0"/>
                          <a:ea typeface="Calibri" pitchFamily="34" charset="-122"/>
                          <a:cs typeface="Calibri" pitchFamily="34" charset="-120"/>
                        </a:rPr>
                        <a:t>X</a:t>
                      </a:r>
                      <a:endParaRPr lang="en-US" sz="140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Use start_time ordering instead</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5F0F0"/>
                    </a:solidFill>
                  </a:tcPr>
                </a:tc>
                <a:extLst>
                  <a:ext uri="{0D108BD9-81ED-4DB2-BD59-A6C34878D82A}">
                    <a16:rowId xmlns:a16="http://schemas.microsoft.com/office/drawing/2014/main" val="10010"/>
                  </a:ext>
                </a:extLst>
              </a:tr>
              <a:tr h="423028">
                <a:tc>
                  <a:txBody>
                    <a:bodyPr/>
                    <a:lstStyle/>
                    <a:p>
                      <a:pPr marL="0" indent="0" algn="l">
                        <a:buNone/>
                      </a:pPr>
                      <a:r>
                        <a:rPr lang="en-US" sz="1050" b="1">
                          <a:solidFill>
                            <a:srgbClr val="0D1B2A"/>
                          </a:solidFill>
                          <a:latin typeface="Consolas" pitchFamily="34" charset="0"/>
                          <a:ea typeface="Consolas" pitchFamily="34" charset="-122"/>
                          <a:cs typeface="Consolas" pitchFamily="34" charset="-120"/>
                        </a:rPr>
                        <a:t>instance_duration_min</a:t>
                      </a:r>
                      <a:endParaRPr lang="en-US" sz="1050">
                        <a:latin typeface="Consolas" charset="0"/>
                        <a:ea typeface="Consolas" charset="0"/>
                        <a:cs typeface="Consolas"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for baseline</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for baseline</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ctr">
                        <a:buNone/>
                      </a:pPr>
                      <a:r>
                        <a:rPr lang="en-US" sz="1050">
                          <a:solidFill>
                            <a:srgbClr val="1E293B"/>
                          </a:solidFill>
                          <a:latin typeface="Calibri" pitchFamily="34" charset="0"/>
                          <a:ea typeface="Calibri" pitchFamily="34" charset="-122"/>
                          <a:cs typeface="Calibri" pitchFamily="34" charset="-120"/>
                        </a:rPr>
                        <a:t>Excl. for baseline</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tc>
                  <a:txBody>
                    <a:bodyPr/>
                    <a:lstStyle/>
                    <a:p>
                      <a:pPr marL="0" indent="0" algn="l">
                        <a:buNone/>
                      </a:pPr>
                      <a:r>
                        <a:rPr lang="en-US" sz="1050">
                          <a:solidFill>
                            <a:srgbClr val="1E293B"/>
                          </a:solidFill>
                          <a:latin typeface="Calibri" pitchFamily="34" charset="0"/>
                          <a:ea typeface="Calibri" pitchFamily="34" charset="-122"/>
                          <a:cs typeface="Calibri" pitchFamily="34" charset="-120"/>
                        </a:rPr>
                        <a:t>Lifetime-related; may cause leakage depending on when known</a:t>
                      </a:r>
                      <a:endParaRPr lang="en-US" sz="1050">
                        <a:latin typeface="Calibri" charset="0"/>
                        <a:ea typeface="Calibri" charset="0"/>
                        <a:cs typeface="Calibri" charset="0"/>
                      </a:endParaRPr>
                    </a:p>
                  </a:txBody>
                  <a:tcPr anchor="ctr">
                    <a:lnL w="6350" cap="flat" cmpd="sng" algn="ctr">
                      <a:solidFill>
                        <a:srgbClr val="D1C5C5"/>
                      </a:solidFill>
                      <a:prstDash val="solid"/>
                      <a:round/>
                      <a:headEnd type="none" w="med" len="med"/>
                      <a:tailEnd type="none" w="med" len="med"/>
                    </a:lnL>
                    <a:lnR w="6350" cap="flat" cmpd="sng" algn="ctr">
                      <a:solidFill>
                        <a:srgbClr val="D1C5C5"/>
                      </a:solidFill>
                      <a:prstDash val="solid"/>
                      <a:round/>
                      <a:headEnd type="none" w="med" len="med"/>
                      <a:tailEnd type="none" w="med" len="med"/>
                    </a:lnR>
                    <a:lnT w="6350" cap="flat" cmpd="sng" algn="ctr">
                      <a:solidFill>
                        <a:srgbClr val="D1C5C5"/>
                      </a:solidFill>
                      <a:prstDash val="solid"/>
                      <a:round/>
                      <a:headEnd type="none" w="med" len="med"/>
                      <a:tailEnd type="none" w="med" len="med"/>
                    </a:lnT>
                    <a:lnB w="6350" cap="flat" cmpd="sng" algn="ctr">
                      <a:solidFill>
                        <a:srgbClr val="D1C5C5"/>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866768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2A"/>
          </a:solidFill>
          <a:ln w="12700">
            <a:solidFill>
              <a:srgbClr val="0D1B2A"/>
            </a:solidFill>
            <a:prstDash val="solid"/>
          </a:ln>
        </p:spPr>
        <p:txBody>
          <a:bodyPr/>
          <a:lstStyle/>
          <a:p>
            <a:endParaRPr lang="en-CA"/>
          </a:p>
        </p:txBody>
      </p:sp>
      <p:sp>
        <p:nvSpPr>
          <p:cNvPr id="3" name="Shape 1"/>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CA"/>
          </a:p>
        </p:txBody>
      </p:sp>
      <p:sp>
        <p:nvSpPr>
          <p:cNvPr id="4" name="Text 2"/>
          <p:cNvSpPr/>
          <p:nvPr/>
        </p:nvSpPr>
        <p:spPr>
          <a:xfrm>
            <a:off x="320040" y="23641"/>
            <a:ext cx="6858000" cy="420859"/>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Output — Model Comparison</a:t>
            </a:r>
            <a:endParaRPr lang="en-US" sz="2600"/>
          </a:p>
        </p:txBody>
      </p:sp>
      <p:sp>
        <p:nvSpPr>
          <p:cNvPr id="6" name="Text 4"/>
          <p:cNvSpPr/>
          <p:nvPr/>
        </p:nvSpPr>
        <p:spPr>
          <a:xfrm>
            <a:off x="320040" y="389401"/>
            <a:ext cx="8503920" cy="274320"/>
          </a:xfrm>
          <a:prstGeom prst="rect">
            <a:avLst/>
          </a:prstGeom>
          <a:noFill/>
          <a:ln/>
        </p:spPr>
        <p:txBody>
          <a:bodyPr wrap="square" rtlCol="0" anchor="ctr"/>
          <a:lstStyle/>
          <a:p>
            <a:pPr marL="0" indent="0">
              <a:buNone/>
            </a:pPr>
            <a:r>
              <a:rPr lang="en-US" sz="1100" i="1">
                <a:solidFill>
                  <a:schemeClr val="bg1"/>
                </a:solidFill>
                <a:latin typeface="Calibri" pitchFamily="34" charset="0"/>
                <a:ea typeface="Calibri" pitchFamily="34" charset="-122"/>
                <a:cs typeface="Calibri" pitchFamily="34" charset="-120"/>
              </a:rPr>
              <a:t>Results of MAE, RMSE, SMAPE and R² for the developed LSTM forecasting models in the conducted experiments</a:t>
            </a:r>
            <a:endParaRPr lang="en-US" sz="1100">
              <a:solidFill>
                <a:schemeClr val="bg1"/>
              </a:solidFill>
            </a:endParaRPr>
          </a:p>
        </p:txBody>
      </p:sp>
      <p:sp>
        <p:nvSpPr>
          <p:cNvPr id="8" name="Shape 5"/>
          <p:cNvSpPr/>
          <p:nvPr/>
        </p:nvSpPr>
        <p:spPr>
          <a:xfrm>
            <a:off x="164592" y="4831403"/>
            <a:ext cx="8732520" cy="294422"/>
          </a:xfrm>
          <a:prstGeom prst="rect">
            <a:avLst/>
          </a:prstGeom>
          <a:solidFill>
            <a:srgbClr val="ECFDF5"/>
          </a:solidFill>
          <a:ln w="12700">
            <a:solidFill>
              <a:srgbClr val="6EE7B7"/>
            </a:solidFill>
            <a:prstDash val="solid"/>
          </a:ln>
        </p:spPr>
        <p:txBody>
          <a:bodyPr/>
          <a:lstStyle/>
          <a:p>
            <a:endParaRPr lang="en-CA"/>
          </a:p>
        </p:txBody>
      </p:sp>
      <p:sp>
        <p:nvSpPr>
          <p:cNvPr id="7" name="Text 6"/>
          <p:cNvSpPr/>
          <p:nvPr/>
        </p:nvSpPr>
        <p:spPr>
          <a:xfrm>
            <a:off x="320040" y="4831403"/>
            <a:ext cx="8577072" cy="257845"/>
          </a:xfrm>
          <a:prstGeom prst="rect">
            <a:avLst/>
          </a:prstGeom>
          <a:noFill/>
          <a:ln/>
        </p:spPr>
        <p:txBody>
          <a:bodyPr wrap="square" rtlCol="0" anchor="ctr"/>
          <a:lstStyle/>
          <a:p>
            <a:pPr marL="0" indent="0">
              <a:buNone/>
            </a:pPr>
            <a:r>
              <a:rPr lang="en-US" sz="1000">
                <a:solidFill>
                  <a:srgbClr val="065F46"/>
                </a:solidFill>
                <a:latin typeface="Calibri" pitchFamily="34" charset="0"/>
                <a:ea typeface="Calibri" pitchFamily="34" charset="-122"/>
                <a:cs typeface="Calibri" pitchFamily="34" charset="-120"/>
              </a:rPr>
              <a:t>✓  Selected: Separate Memory LSTM (Test R² = 93.98%) + Separate CPU LSTM (Test R² = 37.78%)  |  Dual LSTM not selected — weaker generalization on testing set</a:t>
            </a:r>
            <a:endParaRPr lang="en-US" sz="1000"/>
          </a:p>
        </p:txBody>
      </p:sp>
      <p:graphicFrame>
        <p:nvGraphicFramePr>
          <p:cNvPr id="5" name="Table 4">
            <a:extLst>
              <a:ext uri="{FF2B5EF4-FFF2-40B4-BE49-F238E27FC236}">
                <a16:creationId xmlns:a16="http://schemas.microsoft.com/office/drawing/2014/main" id="{DC4D5313-7FE0-E502-9D9F-37F2944EBCF2}"/>
              </a:ext>
            </a:extLst>
          </p:cNvPr>
          <p:cNvGraphicFramePr>
            <a:graphicFrameLocks noGrp="1"/>
          </p:cNvGraphicFramePr>
          <p:nvPr>
            <p:extLst>
              <p:ext uri="{D42A27DB-BD31-4B8C-83A1-F6EECF244321}">
                <p14:modId xmlns:p14="http://schemas.microsoft.com/office/powerpoint/2010/main" val="1711835524"/>
              </p:ext>
            </p:extLst>
          </p:nvPr>
        </p:nvGraphicFramePr>
        <p:xfrm>
          <a:off x="280153" y="711418"/>
          <a:ext cx="8732521" cy="4057447"/>
        </p:xfrm>
        <a:graphic>
          <a:graphicData uri="http://schemas.openxmlformats.org/drawingml/2006/table">
            <a:tbl>
              <a:tblPr/>
              <a:tblGrid>
                <a:gridCol w="1153414">
                  <a:extLst>
                    <a:ext uri="{9D8B030D-6E8A-4147-A177-3AD203B41FA5}">
                      <a16:colId xmlns:a16="http://schemas.microsoft.com/office/drawing/2014/main" val="759570005"/>
                    </a:ext>
                  </a:extLst>
                </a:gridCol>
                <a:gridCol w="781050">
                  <a:extLst>
                    <a:ext uri="{9D8B030D-6E8A-4147-A177-3AD203B41FA5}">
                      <a16:colId xmlns:a16="http://schemas.microsoft.com/office/drawing/2014/main" val="3762820827"/>
                    </a:ext>
                  </a:extLst>
                </a:gridCol>
                <a:gridCol w="685800">
                  <a:extLst>
                    <a:ext uri="{9D8B030D-6E8A-4147-A177-3AD203B41FA5}">
                      <a16:colId xmlns:a16="http://schemas.microsoft.com/office/drawing/2014/main" val="364538708"/>
                    </a:ext>
                  </a:extLst>
                </a:gridCol>
                <a:gridCol w="355600">
                  <a:extLst>
                    <a:ext uri="{9D8B030D-6E8A-4147-A177-3AD203B41FA5}">
                      <a16:colId xmlns:a16="http://schemas.microsoft.com/office/drawing/2014/main" val="2209201805"/>
                    </a:ext>
                  </a:extLst>
                </a:gridCol>
                <a:gridCol w="850900">
                  <a:extLst>
                    <a:ext uri="{9D8B030D-6E8A-4147-A177-3AD203B41FA5}">
                      <a16:colId xmlns:a16="http://schemas.microsoft.com/office/drawing/2014/main" val="2832464323"/>
                    </a:ext>
                  </a:extLst>
                </a:gridCol>
                <a:gridCol w="673100">
                  <a:extLst>
                    <a:ext uri="{9D8B030D-6E8A-4147-A177-3AD203B41FA5}">
                      <a16:colId xmlns:a16="http://schemas.microsoft.com/office/drawing/2014/main" val="3720059207"/>
                    </a:ext>
                  </a:extLst>
                </a:gridCol>
                <a:gridCol w="304800">
                  <a:extLst>
                    <a:ext uri="{9D8B030D-6E8A-4147-A177-3AD203B41FA5}">
                      <a16:colId xmlns:a16="http://schemas.microsoft.com/office/drawing/2014/main" val="2136888265"/>
                    </a:ext>
                  </a:extLst>
                </a:gridCol>
                <a:gridCol w="914400">
                  <a:extLst>
                    <a:ext uri="{9D8B030D-6E8A-4147-A177-3AD203B41FA5}">
                      <a16:colId xmlns:a16="http://schemas.microsoft.com/office/drawing/2014/main" val="3065303937"/>
                    </a:ext>
                  </a:extLst>
                </a:gridCol>
                <a:gridCol w="895350">
                  <a:extLst>
                    <a:ext uri="{9D8B030D-6E8A-4147-A177-3AD203B41FA5}">
                      <a16:colId xmlns:a16="http://schemas.microsoft.com/office/drawing/2014/main" val="4096457727"/>
                    </a:ext>
                  </a:extLst>
                </a:gridCol>
                <a:gridCol w="279400">
                  <a:extLst>
                    <a:ext uri="{9D8B030D-6E8A-4147-A177-3AD203B41FA5}">
                      <a16:colId xmlns:a16="http://schemas.microsoft.com/office/drawing/2014/main" val="92095548"/>
                    </a:ext>
                  </a:extLst>
                </a:gridCol>
                <a:gridCol w="882650">
                  <a:extLst>
                    <a:ext uri="{9D8B030D-6E8A-4147-A177-3AD203B41FA5}">
                      <a16:colId xmlns:a16="http://schemas.microsoft.com/office/drawing/2014/main" val="657567654"/>
                    </a:ext>
                  </a:extLst>
                </a:gridCol>
                <a:gridCol w="768350">
                  <a:extLst>
                    <a:ext uri="{9D8B030D-6E8A-4147-A177-3AD203B41FA5}">
                      <a16:colId xmlns:a16="http://schemas.microsoft.com/office/drawing/2014/main" val="4197650490"/>
                    </a:ext>
                  </a:extLst>
                </a:gridCol>
                <a:gridCol w="187707">
                  <a:extLst>
                    <a:ext uri="{9D8B030D-6E8A-4147-A177-3AD203B41FA5}">
                      <a16:colId xmlns:a16="http://schemas.microsoft.com/office/drawing/2014/main" val="1470980891"/>
                    </a:ext>
                  </a:extLst>
                </a:gridCol>
              </a:tblGrid>
              <a:tr h="221965">
                <a:tc>
                  <a:txBody>
                    <a:bodyPr/>
                    <a:lstStyle/>
                    <a:p>
                      <a:pPr>
                        <a:buNone/>
                      </a:pPr>
                      <a:r>
                        <a:rPr lang="en-CA" sz="1000"/>
                        <a:t>Experiment</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gridSpan="2">
                  <a:txBody>
                    <a:bodyPr/>
                    <a:lstStyle/>
                    <a:p>
                      <a:pPr>
                        <a:buNone/>
                      </a:pPr>
                      <a:r>
                        <a:rPr lang="en-CA" sz="1000"/>
                        <a:t>Memory LSTM</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a:buNone/>
                      </a:pPr>
                      <a:endParaRPr lang="en-CA" sz="1000"/>
                    </a:p>
                  </a:txBody>
                  <a:tcPr marL="25687" marR="25687" marT="12844" marB="12844" anchor="ctr">
                    <a:lnL>
                      <a:noFill/>
                    </a:lnL>
                    <a:lnR>
                      <a:noFill/>
                    </a:lnR>
                    <a:lnT>
                      <a:noFill/>
                    </a:lnT>
                    <a:lnB w="12700" cap="flat" cmpd="sng" algn="ctr">
                      <a:solidFill>
                        <a:schemeClr val="tx1"/>
                      </a:solidFill>
                      <a:prstDash val="solid"/>
                      <a:round/>
                      <a:headEnd type="none" w="med" len="med"/>
                      <a:tailEnd type="none" w="med" len="med"/>
                    </a:lnB>
                    <a:noFill/>
                  </a:tcPr>
                </a:tc>
                <a:tc rowSpan="2">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gridSpan="2">
                  <a:txBody>
                    <a:bodyPr/>
                    <a:lstStyle/>
                    <a:p>
                      <a:pPr>
                        <a:buNone/>
                      </a:pPr>
                      <a:r>
                        <a:rPr lang="en-CA" sz="1000"/>
                        <a:t>CPU LSTM</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a:buNone/>
                      </a:pPr>
                      <a:endParaRPr lang="en-CA" sz="1000"/>
                    </a:p>
                  </a:txBody>
                  <a:tcPr marL="25687" marR="25687" marT="12844" marB="12844" anchor="ctr">
                    <a:lnL>
                      <a:noFill/>
                    </a:lnL>
                    <a:lnR>
                      <a:noFill/>
                    </a:lnR>
                    <a:lnT>
                      <a:noFill/>
                    </a:lnT>
                    <a:lnB>
                      <a:noFill/>
                    </a:lnB>
                    <a:no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gridSpan="2">
                  <a:txBody>
                    <a:bodyPr/>
                    <a:lstStyle/>
                    <a:p>
                      <a:pPr>
                        <a:buNone/>
                      </a:pPr>
                      <a:r>
                        <a:rPr lang="en-CA" sz="1000"/>
                        <a:t>Dual LSTM (CPU)</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a:buNone/>
                      </a:pPr>
                      <a:endParaRPr lang="en-CA" sz="1000"/>
                    </a:p>
                  </a:txBody>
                  <a:tcPr marL="25687" marR="25687" marT="12844" marB="12844" anchor="ctr">
                    <a:lnL>
                      <a:noFill/>
                    </a:lnL>
                    <a:lnR>
                      <a:noFill/>
                    </a:lnR>
                    <a:lnT>
                      <a:noFill/>
                    </a:lnT>
                    <a:lnB>
                      <a:noFill/>
                    </a:lnB>
                    <a:no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gridSpan="2">
                  <a:txBody>
                    <a:bodyPr/>
                    <a:lstStyle/>
                    <a:p>
                      <a:pPr>
                        <a:buNone/>
                      </a:pPr>
                      <a:r>
                        <a:rPr lang="en-CA" sz="1000"/>
                        <a:t>Dual LSTM  (Memory)</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a:buNone/>
                      </a:pPr>
                      <a:endParaRPr lang="en-CA" sz="1000"/>
                    </a:p>
                  </a:txBody>
                  <a:tcPr marL="25687" marR="25687" marT="12844" marB="12844" anchor="ctr">
                    <a:lnL>
                      <a:noFill/>
                    </a:lnL>
                    <a:lnR>
                      <a:noFill/>
                    </a:lnR>
                    <a:lnT>
                      <a:noFill/>
                    </a:lnT>
                    <a:lnB>
                      <a:noFill/>
                    </a:lnB>
                    <a:no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4171201456"/>
                  </a:ext>
                </a:extLst>
              </a:tr>
              <a:tr h="182642">
                <a:tc>
                  <a:txBody>
                    <a:bodyPr/>
                    <a:lstStyle/>
                    <a:p>
                      <a:pPr>
                        <a:buNone/>
                      </a:pPr>
                      <a:endParaRPr lang="en-CA" sz="1000"/>
                    </a:p>
                  </a:txBody>
                  <a:tcPr marL="25687" marR="25687" marT="12844" marB="12844" anchor="ctr">
                    <a:lnL>
                      <a:noFill/>
                    </a:lnL>
                    <a:lnR>
                      <a:noFill/>
                    </a:lnR>
                    <a:lnT>
                      <a:noFill/>
                    </a:lnT>
                    <a:lnB w="6350" cap="flat" cmpd="sng" algn="ctr">
                      <a:solidFill>
                        <a:schemeClr val="tx1"/>
                      </a:solidFill>
                      <a:prstDash val="solid"/>
                      <a:round/>
                      <a:headEnd type="none" w="med" len="med"/>
                      <a:tailEnd type="none" w="med" len="med"/>
                    </a:lnB>
                    <a:solidFill>
                      <a:schemeClr val="bg1"/>
                    </a:solidFill>
                  </a:tcPr>
                </a:tc>
                <a:tc>
                  <a:txBody>
                    <a:bodyPr/>
                    <a:lstStyle/>
                    <a:p>
                      <a:pPr>
                        <a:buNone/>
                      </a:pPr>
                      <a:r>
                        <a:rPr lang="en-CA" sz="1000"/>
                        <a:t>Training</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buNone/>
                      </a:pPr>
                      <a:r>
                        <a:rPr lang="en-CA" sz="1000"/>
                        <a:t>Testing</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en-CA" sz="1000"/>
                        <a:t>Training</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buNone/>
                      </a:pPr>
                      <a:r>
                        <a:rPr lang="en-CA" sz="1000"/>
                        <a:t>Testing</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buNone/>
                      </a:pPr>
                      <a:endParaRPr lang="en-CA" sz="1000"/>
                    </a:p>
                  </a:txBody>
                  <a:tcPr marL="25687" marR="25687" marT="12844" marB="12844" anchor="ctr">
                    <a:lnL>
                      <a:noFill/>
                    </a:lnL>
                    <a:lnR>
                      <a:noFill/>
                    </a:lnR>
                    <a:lnT>
                      <a:noFill/>
                    </a:lnT>
                    <a:lnB w="6350" cap="flat" cmpd="sng" algn="ctr">
                      <a:solidFill>
                        <a:schemeClr val="tx1"/>
                      </a:solidFill>
                      <a:prstDash val="solid"/>
                      <a:round/>
                      <a:headEnd type="none" w="med" len="med"/>
                      <a:tailEnd type="none" w="med" len="med"/>
                    </a:lnB>
                    <a:solidFill>
                      <a:schemeClr val="bg1"/>
                    </a:solidFill>
                  </a:tcPr>
                </a:tc>
                <a:tc>
                  <a:txBody>
                    <a:bodyPr/>
                    <a:lstStyle/>
                    <a:p>
                      <a:pPr>
                        <a:buNone/>
                      </a:pPr>
                      <a:r>
                        <a:rPr lang="en-CA" sz="1000"/>
                        <a:t>Training</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buNone/>
                      </a:pPr>
                      <a:r>
                        <a:rPr lang="en-CA" sz="1000"/>
                        <a:t>Testing</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buNone/>
                      </a:pPr>
                      <a:endParaRPr lang="en-CA" sz="1000"/>
                    </a:p>
                  </a:txBody>
                  <a:tcPr marL="25687" marR="25687" marT="12844" marB="12844" anchor="ctr">
                    <a:lnL>
                      <a:noFill/>
                    </a:lnL>
                    <a:lnR>
                      <a:noFill/>
                    </a:lnR>
                    <a:lnT>
                      <a:noFill/>
                    </a:lnT>
                    <a:lnB w="6350" cap="flat" cmpd="sng" algn="ctr">
                      <a:solidFill>
                        <a:schemeClr val="tx1"/>
                      </a:solidFill>
                      <a:prstDash val="solid"/>
                      <a:round/>
                      <a:headEnd type="none" w="med" len="med"/>
                      <a:tailEnd type="none" w="med" len="med"/>
                    </a:lnB>
                    <a:solidFill>
                      <a:schemeClr val="bg1"/>
                    </a:solidFill>
                  </a:tcPr>
                </a:tc>
                <a:tc>
                  <a:txBody>
                    <a:bodyPr/>
                    <a:lstStyle/>
                    <a:p>
                      <a:pPr>
                        <a:buNone/>
                      </a:pPr>
                      <a:r>
                        <a:rPr lang="en-CA" sz="1000"/>
                        <a:t>Training</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buNone/>
                      </a:pPr>
                      <a:r>
                        <a:rPr lang="en-CA" sz="1000"/>
                        <a:t>Testing</a:t>
                      </a:r>
                    </a:p>
                  </a:txBody>
                  <a:tcPr marL="25687" marR="25687" marT="12844" marB="12844"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buNone/>
                      </a:pPr>
                      <a:endParaRPr lang="en-CA" sz="1000"/>
                    </a:p>
                  </a:txBody>
                  <a:tcPr marL="25687" marR="25687" marT="12844" marB="12844" anchor="ctr">
                    <a:lnL>
                      <a:noFill/>
                    </a:lnL>
                    <a:lnR>
                      <a:noFill/>
                    </a:lnR>
                    <a:lnT>
                      <a:noFill/>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9815905"/>
                  </a:ext>
                </a:extLst>
              </a:tr>
              <a:tr h="182642">
                <a:tc>
                  <a:txBody>
                    <a:bodyPr/>
                    <a:lstStyle/>
                    <a:p>
                      <a:pPr>
                        <a:buNone/>
                      </a:pPr>
                      <a:r>
                        <a:rPr lang="en-CA" sz="1000" b="1"/>
                        <a:t>MAE</a:t>
                      </a: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tc>
                  <a:txBody>
                    <a:bodyPr/>
                    <a:lstStyle/>
                    <a:p>
                      <a:pPr>
                        <a:buNone/>
                      </a:pPr>
                      <a:endParaRPr lang="en-CA" sz="1000"/>
                    </a:p>
                  </a:txBody>
                  <a:tcPr marL="25687" marR="25687" marT="12844" marB="12844" anchor="ctr">
                    <a:lnL>
                      <a:noFill/>
                    </a:lnL>
                    <a:lnR>
                      <a:noFill/>
                    </a:lnR>
                    <a:lnT w="6350" cap="flat" cmpd="sng" algn="ctr">
                      <a:solidFill>
                        <a:schemeClr val="tx1"/>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634937935"/>
                  </a:ext>
                </a:extLst>
              </a:tr>
              <a:tr h="182642">
                <a:tc>
                  <a:txBody>
                    <a:bodyPr/>
                    <a:lstStyle/>
                    <a:p>
                      <a:pPr>
                        <a:buNone/>
                      </a:pPr>
                      <a:r>
                        <a:rPr lang="en-CA" sz="1000"/>
                        <a:t>1  </a:t>
                      </a:r>
                      <a:r>
                        <a:rPr lang="en-CA" sz="1000">
                          <a:solidFill>
                            <a:schemeClr val="bg2">
                              <a:lumMod val="50000"/>
                            </a:schemeClr>
                          </a:solidFill>
                        </a:rPr>
                        <a:t>Main model</a:t>
                      </a:r>
                    </a:p>
                  </a:txBody>
                  <a:tcPr marL="25687" marR="25687" marT="12844" marB="12844" anchor="ctr">
                    <a:lnL>
                      <a:noFill/>
                    </a:lnL>
                    <a:lnR>
                      <a:noFill/>
                    </a:lnR>
                    <a:lnT>
                      <a:noFill/>
                    </a:lnT>
                    <a:lnB>
                      <a:noFill/>
                    </a:lnB>
                    <a:solidFill>
                      <a:schemeClr val="bg1"/>
                    </a:solidFill>
                  </a:tcPr>
                </a:tc>
                <a:tc>
                  <a:txBody>
                    <a:bodyPr/>
                    <a:lstStyle/>
                    <a:p>
                      <a:pPr>
                        <a:buNone/>
                      </a:pPr>
                      <a:r>
                        <a:rPr lang="en-CA" sz="1000"/>
                        <a:t>0.003068</a:t>
                      </a:r>
                    </a:p>
                  </a:txBody>
                  <a:tcPr marL="25687" marR="25687" marT="12844" marB="12844" anchor="ctr">
                    <a:lnL>
                      <a:noFill/>
                    </a:lnL>
                    <a:lnR>
                      <a:noFill/>
                    </a:lnR>
                    <a:lnT>
                      <a:noFill/>
                    </a:lnT>
                    <a:lnB>
                      <a:noFill/>
                    </a:lnB>
                    <a:solidFill>
                      <a:schemeClr val="bg1"/>
                    </a:solidFill>
                  </a:tcPr>
                </a:tc>
                <a:tc>
                  <a:txBody>
                    <a:bodyPr/>
                    <a:lstStyle/>
                    <a:p>
                      <a:pPr>
                        <a:buNone/>
                      </a:pPr>
                      <a:r>
                        <a:rPr lang="en-CA" sz="1000"/>
                        <a:t>0.005016</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0.008873</a:t>
                      </a:r>
                    </a:p>
                  </a:txBody>
                  <a:tcPr marL="25687" marR="25687" marT="12844" marB="12844" anchor="ctr">
                    <a:lnL>
                      <a:noFill/>
                    </a:lnL>
                    <a:lnR>
                      <a:noFill/>
                    </a:lnR>
                    <a:lnT>
                      <a:noFill/>
                    </a:lnT>
                    <a:lnB>
                      <a:noFill/>
                    </a:lnB>
                    <a:solidFill>
                      <a:schemeClr val="bg1"/>
                    </a:solidFill>
                  </a:tcPr>
                </a:tc>
                <a:tc>
                  <a:txBody>
                    <a:bodyPr/>
                    <a:lstStyle/>
                    <a:p>
                      <a:pPr>
                        <a:buNone/>
                      </a:pPr>
                      <a:r>
                        <a:rPr lang="en-CA" sz="1000"/>
                        <a:t>0.009826</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0.008451</a:t>
                      </a:r>
                    </a:p>
                  </a:txBody>
                  <a:tcPr marL="25687" marR="25687" marT="12844" marB="12844" anchor="ctr">
                    <a:lnL>
                      <a:noFill/>
                    </a:lnL>
                    <a:lnR>
                      <a:noFill/>
                    </a:lnR>
                    <a:lnT>
                      <a:noFill/>
                    </a:lnT>
                    <a:lnB>
                      <a:noFill/>
                    </a:lnB>
                    <a:solidFill>
                      <a:schemeClr val="bg1"/>
                    </a:solidFill>
                  </a:tcPr>
                </a:tc>
                <a:tc>
                  <a:txBody>
                    <a:bodyPr/>
                    <a:lstStyle/>
                    <a:p>
                      <a:pPr>
                        <a:buNone/>
                      </a:pPr>
                      <a:r>
                        <a:rPr lang="en-CA" sz="1000"/>
                        <a:t>0.014863</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0.003098</a:t>
                      </a:r>
                    </a:p>
                  </a:txBody>
                  <a:tcPr marL="25687" marR="25687" marT="12844" marB="12844" anchor="ctr">
                    <a:lnL>
                      <a:noFill/>
                    </a:lnL>
                    <a:lnR>
                      <a:noFill/>
                    </a:lnR>
                    <a:lnT>
                      <a:noFill/>
                    </a:lnT>
                    <a:lnB>
                      <a:noFill/>
                    </a:lnB>
                    <a:solidFill>
                      <a:schemeClr val="bg1"/>
                    </a:solidFill>
                  </a:tcPr>
                </a:tc>
                <a:tc>
                  <a:txBody>
                    <a:bodyPr/>
                    <a:lstStyle/>
                    <a:p>
                      <a:pPr>
                        <a:buNone/>
                      </a:pPr>
                      <a:r>
                        <a:rPr lang="en-CA" sz="1000"/>
                        <a:t>0.015112</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1828064200"/>
                  </a:ext>
                </a:extLst>
              </a:tr>
              <a:tr h="182642">
                <a:tc>
                  <a:txBody>
                    <a:bodyPr/>
                    <a:lstStyle/>
                    <a:p>
                      <a:pPr>
                        <a:buNone/>
                      </a:pPr>
                      <a:r>
                        <a:rPr lang="en-CA" sz="1000"/>
                        <a:t>2  </a:t>
                      </a:r>
                      <a:r>
                        <a:rPr lang="en-CA" sz="1000">
                          <a:solidFill>
                            <a:schemeClr val="bg2">
                              <a:lumMod val="50000"/>
                            </a:schemeClr>
                          </a:solidFill>
                        </a:rPr>
                        <a:t>(W1-&gt;W2)</a:t>
                      </a:r>
                    </a:p>
                  </a:txBody>
                  <a:tcPr marL="25687" marR="25687" marT="12844" marB="12844" anchor="ctr">
                    <a:lnL>
                      <a:noFill/>
                    </a:lnL>
                    <a:lnR>
                      <a:noFill/>
                    </a:lnR>
                    <a:lnT>
                      <a:noFill/>
                    </a:lnT>
                    <a:lnB>
                      <a:noFill/>
                    </a:lnB>
                    <a:solidFill>
                      <a:schemeClr val="bg1"/>
                    </a:solidFill>
                  </a:tcPr>
                </a:tc>
                <a:tc>
                  <a:txBody>
                    <a:bodyPr/>
                    <a:lstStyle/>
                    <a:p>
                      <a:pPr>
                        <a:buNone/>
                      </a:pPr>
                      <a:r>
                        <a:rPr lang="en-CA" sz="1000"/>
                        <a:t>0.003086</a:t>
                      </a:r>
                    </a:p>
                  </a:txBody>
                  <a:tcPr marL="25687" marR="25687" marT="12844" marB="12844" anchor="ctr">
                    <a:lnL>
                      <a:noFill/>
                    </a:lnL>
                    <a:lnR>
                      <a:noFill/>
                    </a:lnR>
                    <a:lnT>
                      <a:noFill/>
                    </a:lnT>
                    <a:lnB>
                      <a:noFill/>
                    </a:lnB>
                    <a:solidFill>
                      <a:schemeClr val="bg1"/>
                    </a:solidFill>
                  </a:tcPr>
                </a:tc>
                <a:tc>
                  <a:txBody>
                    <a:bodyPr/>
                    <a:lstStyle/>
                    <a:p>
                      <a:pPr>
                        <a:buNone/>
                      </a:pPr>
                      <a:r>
                        <a:rPr lang="en-CA" sz="1000"/>
                        <a:t>0.006326</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0.007643</a:t>
                      </a:r>
                    </a:p>
                  </a:txBody>
                  <a:tcPr marL="25687" marR="25687" marT="12844" marB="12844" anchor="ctr">
                    <a:lnL>
                      <a:noFill/>
                    </a:lnL>
                    <a:lnR>
                      <a:noFill/>
                    </a:lnR>
                    <a:lnT>
                      <a:noFill/>
                    </a:lnT>
                    <a:lnB>
                      <a:noFill/>
                    </a:lnB>
                    <a:solidFill>
                      <a:schemeClr val="bg1"/>
                    </a:solidFill>
                  </a:tcPr>
                </a:tc>
                <a:tc>
                  <a:txBody>
                    <a:bodyPr/>
                    <a:lstStyle/>
                    <a:p>
                      <a:pPr>
                        <a:buNone/>
                      </a:pPr>
                      <a:r>
                        <a:rPr lang="en-CA" sz="1000"/>
                        <a:t>0.011275</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0.007062</a:t>
                      </a:r>
                    </a:p>
                  </a:txBody>
                  <a:tcPr marL="25687" marR="25687" marT="12844" marB="12844" anchor="ctr">
                    <a:lnL>
                      <a:noFill/>
                    </a:lnL>
                    <a:lnR>
                      <a:noFill/>
                    </a:lnR>
                    <a:lnT>
                      <a:noFill/>
                    </a:lnT>
                    <a:lnB>
                      <a:noFill/>
                    </a:lnB>
                    <a:solidFill>
                      <a:schemeClr val="bg1"/>
                    </a:solidFill>
                  </a:tcPr>
                </a:tc>
                <a:tc>
                  <a:txBody>
                    <a:bodyPr/>
                    <a:lstStyle/>
                    <a:p>
                      <a:pPr>
                        <a:buNone/>
                      </a:pPr>
                      <a:r>
                        <a:rPr lang="en-CA" sz="1000"/>
                        <a:t>0.010376</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0.002894</a:t>
                      </a:r>
                    </a:p>
                  </a:txBody>
                  <a:tcPr marL="25687" marR="25687" marT="12844" marB="12844" anchor="ctr">
                    <a:lnL>
                      <a:noFill/>
                    </a:lnL>
                    <a:lnR>
                      <a:noFill/>
                    </a:lnR>
                    <a:lnT>
                      <a:noFill/>
                    </a:lnT>
                    <a:lnB>
                      <a:noFill/>
                    </a:lnB>
                    <a:solidFill>
                      <a:schemeClr val="bg1"/>
                    </a:solidFill>
                  </a:tcPr>
                </a:tc>
                <a:tc>
                  <a:txBody>
                    <a:bodyPr/>
                    <a:lstStyle/>
                    <a:p>
                      <a:pPr>
                        <a:buNone/>
                      </a:pPr>
                      <a:r>
                        <a:rPr lang="en-CA" sz="1000"/>
                        <a:t>0.010080</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1986922304"/>
                  </a:ext>
                </a:extLst>
              </a:tr>
              <a:tr h="182642">
                <a:tc>
                  <a:txBody>
                    <a:bodyPr/>
                    <a:lstStyle/>
                    <a:p>
                      <a:pPr>
                        <a:buNone/>
                      </a:pPr>
                      <a:r>
                        <a:rPr lang="en-CA" sz="1000"/>
                        <a:t>3  </a:t>
                      </a:r>
                      <a:r>
                        <a:rPr lang="en-CA" sz="1000">
                          <a:solidFill>
                            <a:schemeClr val="bg2">
                              <a:lumMod val="50000"/>
                            </a:schemeClr>
                          </a:solidFill>
                        </a:rPr>
                        <a:t>(W1-W2-&gt;W3)</a:t>
                      </a:r>
                    </a:p>
                  </a:txBody>
                  <a:tcPr marL="25687" marR="25687" marT="12844" marB="12844" anchor="ctr">
                    <a:lnL>
                      <a:noFill/>
                    </a:lnL>
                    <a:lnR>
                      <a:noFill/>
                    </a:lnR>
                    <a:lnT>
                      <a:noFill/>
                    </a:lnT>
                    <a:lnB>
                      <a:noFill/>
                    </a:lnB>
                    <a:solidFill>
                      <a:schemeClr val="bg1"/>
                    </a:solidFill>
                  </a:tcPr>
                </a:tc>
                <a:tc>
                  <a:txBody>
                    <a:bodyPr/>
                    <a:lstStyle/>
                    <a:p>
                      <a:pPr>
                        <a:buNone/>
                      </a:pPr>
                      <a:r>
                        <a:rPr lang="en-CA" sz="1000"/>
                        <a:t>0.004072</a:t>
                      </a:r>
                    </a:p>
                  </a:txBody>
                  <a:tcPr marL="25687" marR="25687" marT="12844" marB="12844" anchor="ctr">
                    <a:lnL>
                      <a:noFill/>
                    </a:lnL>
                    <a:lnR>
                      <a:noFill/>
                    </a:lnR>
                    <a:lnT>
                      <a:noFill/>
                    </a:lnT>
                    <a:lnB>
                      <a:noFill/>
                    </a:lnB>
                    <a:solidFill>
                      <a:schemeClr val="bg1"/>
                    </a:solidFill>
                  </a:tcPr>
                </a:tc>
                <a:tc>
                  <a:txBody>
                    <a:bodyPr/>
                    <a:lstStyle/>
                    <a:p>
                      <a:pPr>
                        <a:buNone/>
                      </a:pPr>
                      <a:r>
                        <a:rPr lang="en-CA" sz="1000"/>
                        <a:t>0.005013</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0.008290</a:t>
                      </a:r>
                    </a:p>
                  </a:txBody>
                  <a:tcPr marL="25687" marR="25687" marT="12844" marB="12844" anchor="ctr">
                    <a:lnL>
                      <a:noFill/>
                    </a:lnL>
                    <a:lnR>
                      <a:noFill/>
                    </a:lnR>
                    <a:lnT>
                      <a:noFill/>
                    </a:lnT>
                    <a:lnB>
                      <a:noFill/>
                    </a:lnB>
                    <a:solidFill>
                      <a:schemeClr val="bg1"/>
                    </a:solidFill>
                  </a:tcPr>
                </a:tc>
                <a:tc>
                  <a:txBody>
                    <a:bodyPr/>
                    <a:lstStyle/>
                    <a:p>
                      <a:pPr>
                        <a:buNone/>
                      </a:pPr>
                      <a:r>
                        <a:rPr lang="en-CA" sz="1000"/>
                        <a:t>0.009456</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0.008024</a:t>
                      </a:r>
                    </a:p>
                  </a:txBody>
                  <a:tcPr marL="25687" marR="25687" marT="12844" marB="12844" anchor="ctr">
                    <a:lnL>
                      <a:noFill/>
                    </a:lnL>
                    <a:lnR>
                      <a:noFill/>
                    </a:lnR>
                    <a:lnT>
                      <a:noFill/>
                    </a:lnT>
                    <a:lnB>
                      <a:noFill/>
                    </a:lnB>
                    <a:solidFill>
                      <a:schemeClr val="bg1"/>
                    </a:solidFill>
                  </a:tcPr>
                </a:tc>
                <a:tc>
                  <a:txBody>
                    <a:bodyPr/>
                    <a:lstStyle/>
                    <a:p>
                      <a:pPr>
                        <a:buNone/>
                      </a:pPr>
                      <a:r>
                        <a:rPr lang="en-CA" sz="1000"/>
                        <a:t>0.008500</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0.003906</a:t>
                      </a:r>
                    </a:p>
                  </a:txBody>
                  <a:tcPr marL="25687" marR="25687" marT="12844" marB="12844" anchor="ctr">
                    <a:lnL>
                      <a:noFill/>
                    </a:lnL>
                    <a:lnR>
                      <a:noFill/>
                    </a:lnR>
                    <a:lnT>
                      <a:noFill/>
                    </a:lnT>
                    <a:lnB>
                      <a:noFill/>
                    </a:lnB>
                    <a:solidFill>
                      <a:schemeClr val="bg1"/>
                    </a:solidFill>
                  </a:tcPr>
                </a:tc>
                <a:tc>
                  <a:txBody>
                    <a:bodyPr/>
                    <a:lstStyle/>
                    <a:p>
                      <a:pPr>
                        <a:buNone/>
                      </a:pPr>
                      <a:r>
                        <a:rPr lang="en-CA" sz="1000"/>
                        <a:t>0.005204</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1994025266"/>
                  </a:ext>
                </a:extLst>
              </a:tr>
              <a:tr h="182642">
                <a:tc>
                  <a:txBody>
                    <a:bodyPr/>
                    <a:lstStyle/>
                    <a:p>
                      <a:pPr>
                        <a:buNone/>
                      </a:pPr>
                      <a:r>
                        <a:rPr lang="en-CA" sz="1000"/>
                        <a:t>4  </a:t>
                      </a:r>
                      <a:r>
                        <a:rPr lang="en-CA" sz="1000">
                          <a:solidFill>
                            <a:schemeClr val="bg2">
                              <a:lumMod val="50000"/>
                            </a:schemeClr>
                          </a:solidFill>
                        </a:rPr>
                        <a:t>(W1-W3-&gt;W4)</a:t>
                      </a:r>
                    </a:p>
                  </a:txBody>
                  <a:tcPr marL="25687" marR="25687" marT="12844" marB="12844" anchor="ctr">
                    <a:lnL>
                      <a:noFill/>
                    </a:lnL>
                    <a:lnR>
                      <a:noFill/>
                    </a:lnR>
                    <a:lnT>
                      <a:noFill/>
                    </a:lnT>
                    <a:lnB>
                      <a:noFill/>
                    </a:lnB>
                    <a:solidFill>
                      <a:schemeClr val="bg1"/>
                    </a:solidFill>
                  </a:tcPr>
                </a:tc>
                <a:tc>
                  <a:txBody>
                    <a:bodyPr/>
                    <a:lstStyle/>
                    <a:p>
                      <a:pPr>
                        <a:buNone/>
                      </a:pPr>
                      <a:r>
                        <a:rPr lang="en-CA" sz="1000"/>
                        <a:t>0.003789</a:t>
                      </a:r>
                    </a:p>
                  </a:txBody>
                  <a:tcPr marL="25687" marR="25687" marT="12844" marB="12844" anchor="ctr">
                    <a:lnL>
                      <a:noFill/>
                    </a:lnL>
                    <a:lnR>
                      <a:noFill/>
                    </a:lnR>
                    <a:lnT>
                      <a:noFill/>
                    </a:lnT>
                    <a:lnB>
                      <a:noFill/>
                    </a:lnB>
                    <a:solidFill>
                      <a:schemeClr val="bg1"/>
                    </a:solidFill>
                  </a:tcPr>
                </a:tc>
                <a:tc>
                  <a:txBody>
                    <a:bodyPr/>
                    <a:lstStyle/>
                    <a:p>
                      <a:pPr>
                        <a:buNone/>
                      </a:pPr>
                      <a:r>
                        <a:rPr lang="en-CA" sz="1000"/>
                        <a:t>0.005863</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0.008507</a:t>
                      </a:r>
                    </a:p>
                  </a:txBody>
                  <a:tcPr marL="25687" marR="25687" marT="12844" marB="12844" anchor="ctr">
                    <a:lnL>
                      <a:noFill/>
                    </a:lnL>
                    <a:lnR>
                      <a:noFill/>
                    </a:lnR>
                    <a:lnT>
                      <a:noFill/>
                    </a:lnT>
                    <a:lnB>
                      <a:noFill/>
                    </a:lnB>
                    <a:solidFill>
                      <a:schemeClr val="bg1"/>
                    </a:solidFill>
                  </a:tcPr>
                </a:tc>
                <a:tc>
                  <a:txBody>
                    <a:bodyPr/>
                    <a:lstStyle/>
                    <a:p>
                      <a:pPr>
                        <a:buNone/>
                      </a:pPr>
                      <a:r>
                        <a:rPr lang="en-CA" sz="1000"/>
                        <a:t>0.008585</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0.008448</a:t>
                      </a:r>
                    </a:p>
                  </a:txBody>
                  <a:tcPr marL="25687" marR="25687" marT="12844" marB="12844" anchor="ctr">
                    <a:lnL>
                      <a:noFill/>
                    </a:lnL>
                    <a:lnR>
                      <a:noFill/>
                    </a:lnR>
                    <a:lnT>
                      <a:noFill/>
                    </a:lnT>
                    <a:lnB>
                      <a:noFill/>
                    </a:lnB>
                    <a:solidFill>
                      <a:schemeClr val="bg1"/>
                    </a:solidFill>
                  </a:tcPr>
                </a:tc>
                <a:tc>
                  <a:txBody>
                    <a:bodyPr/>
                    <a:lstStyle/>
                    <a:p>
                      <a:pPr>
                        <a:buNone/>
                      </a:pPr>
                      <a:r>
                        <a:rPr lang="en-CA" sz="1000"/>
                        <a:t>0.008535</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0.003733</a:t>
                      </a:r>
                    </a:p>
                  </a:txBody>
                  <a:tcPr marL="25687" marR="25687" marT="12844" marB="12844" anchor="ctr">
                    <a:lnL>
                      <a:noFill/>
                    </a:lnL>
                    <a:lnR>
                      <a:noFill/>
                    </a:lnR>
                    <a:lnT>
                      <a:noFill/>
                    </a:lnT>
                    <a:lnB>
                      <a:noFill/>
                    </a:lnB>
                    <a:solidFill>
                      <a:schemeClr val="bg1"/>
                    </a:solidFill>
                  </a:tcPr>
                </a:tc>
                <a:tc>
                  <a:txBody>
                    <a:bodyPr/>
                    <a:lstStyle/>
                    <a:p>
                      <a:pPr>
                        <a:buNone/>
                      </a:pPr>
                      <a:r>
                        <a:rPr lang="en-CA" sz="1000"/>
                        <a:t>0.005877</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555257392"/>
                  </a:ext>
                </a:extLst>
              </a:tr>
              <a:tr h="182642">
                <a:tc>
                  <a:txBody>
                    <a:bodyPr/>
                    <a:lstStyle/>
                    <a:p>
                      <a:pPr>
                        <a:buNone/>
                      </a:pPr>
                      <a:r>
                        <a:rPr lang="en-CA" sz="1000" b="1"/>
                        <a:t>RMSE</a:t>
                      </a: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1154036029"/>
                  </a:ext>
                </a:extLst>
              </a:tr>
              <a:tr h="182642">
                <a:tc>
                  <a:txBody>
                    <a:bodyPr/>
                    <a:lstStyle/>
                    <a:p>
                      <a:pPr>
                        <a:buNone/>
                      </a:pPr>
                      <a:r>
                        <a:rPr lang="en-CA" sz="1000"/>
                        <a:t>1</a:t>
                      </a:r>
                    </a:p>
                  </a:txBody>
                  <a:tcPr marL="25687" marR="25687" marT="12844" marB="12844" anchor="ctr">
                    <a:lnL>
                      <a:noFill/>
                    </a:lnL>
                    <a:lnR>
                      <a:noFill/>
                    </a:lnR>
                    <a:lnT>
                      <a:noFill/>
                    </a:lnT>
                    <a:lnB>
                      <a:noFill/>
                    </a:lnB>
                    <a:solidFill>
                      <a:schemeClr val="bg1"/>
                    </a:solidFill>
                  </a:tcPr>
                </a:tc>
                <a:tc>
                  <a:txBody>
                    <a:bodyPr/>
                    <a:lstStyle/>
                    <a:p>
                      <a:pPr>
                        <a:buNone/>
                      </a:pPr>
                      <a:r>
                        <a:rPr lang="en-CA" sz="1000"/>
                        <a:t>0.009366</a:t>
                      </a:r>
                    </a:p>
                  </a:txBody>
                  <a:tcPr marL="25687" marR="25687" marT="12844" marB="12844" anchor="ctr">
                    <a:lnL>
                      <a:noFill/>
                    </a:lnL>
                    <a:lnR>
                      <a:noFill/>
                    </a:lnR>
                    <a:lnT>
                      <a:noFill/>
                    </a:lnT>
                    <a:lnB>
                      <a:noFill/>
                    </a:lnB>
                    <a:solidFill>
                      <a:schemeClr val="bg1"/>
                    </a:solidFill>
                  </a:tcPr>
                </a:tc>
                <a:tc>
                  <a:txBody>
                    <a:bodyPr/>
                    <a:lstStyle/>
                    <a:p>
                      <a:pPr>
                        <a:buNone/>
                      </a:pPr>
                      <a:r>
                        <a:rPr lang="en-CA" sz="1000"/>
                        <a:t>0.013275</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0.026046</a:t>
                      </a:r>
                    </a:p>
                  </a:txBody>
                  <a:tcPr marL="25687" marR="25687" marT="12844" marB="12844" anchor="ctr">
                    <a:lnL>
                      <a:noFill/>
                    </a:lnL>
                    <a:lnR>
                      <a:noFill/>
                    </a:lnR>
                    <a:lnT>
                      <a:noFill/>
                    </a:lnT>
                    <a:lnB>
                      <a:noFill/>
                    </a:lnB>
                    <a:solidFill>
                      <a:schemeClr val="bg1"/>
                    </a:solidFill>
                  </a:tcPr>
                </a:tc>
                <a:tc>
                  <a:txBody>
                    <a:bodyPr/>
                    <a:lstStyle/>
                    <a:p>
                      <a:pPr>
                        <a:buNone/>
                      </a:pPr>
                      <a:r>
                        <a:rPr lang="en-CA" sz="1000"/>
                        <a:t>0.028435</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0.025546</a:t>
                      </a:r>
                    </a:p>
                  </a:txBody>
                  <a:tcPr marL="25687" marR="25687" marT="12844" marB="12844" anchor="ctr">
                    <a:lnL>
                      <a:noFill/>
                    </a:lnL>
                    <a:lnR>
                      <a:noFill/>
                    </a:lnR>
                    <a:lnT>
                      <a:noFill/>
                    </a:lnT>
                    <a:lnB>
                      <a:noFill/>
                    </a:lnB>
                    <a:solidFill>
                      <a:schemeClr val="bg1"/>
                    </a:solidFill>
                  </a:tcPr>
                </a:tc>
                <a:tc>
                  <a:txBody>
                    <a:bodyPr/>
                    <a:lstStyle/>
                    <a:p>
                      <a:pPr>
                        <a:buNone/>
                      </a:pPr>
                      <a:r>
                        <a:rPr lang="en-CA" sz="1000"/>
                        <a:t>0.040229</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0.009508</a:t>
                      </a:r>
                    </a:p>
                  </a:txBody>
                  <a:tcPr marL="25687" marR="25687" marT="12844" marB="12844" anchor="ctr">
                    <a:lnL>
                      <a:noFill/>
                    </a:lnL>
                    <a:lnR>
                      <a:noFill/>
                    </a:lnR>
                    <a:lnT>
                      <a:noFill/>
                    </a:lnT>
                    <a:lnB>
                      <a:noFill/>
                    </a:lnB>
                    <a:solidFill>
                      <a:schemeClr val="bg1"/>
                    </a:solidFill>
                  </a:tcPr>
                </a:tc>
                <a:tc>
                  <a:txBody>
                    <a:bodyPr/>
                    <a:lstStyle/>
                    <a:p>
                      <a:pPr>
                        <a:buNone/>
                      </a:pPr>
                      <a:r>
                        <a:rPr lang="en-CA" sz="1000"/>
                        <a:t>0.057314</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2933502274"/>
                  </a:ext>
                </a:extLst>
              </a:tr>
              <a:tr h="182642">
                <a:tc>
                  <a:txBody>
                    <a:bodyPr/>
                    <a:lstStyle/>
                    <a:p>
                      <a:pPr>
                        <a:buNone/>
                      </a:pPr>
                      <a:r>
                        <a:rPr lang="en-CA" sz="1000"/>
                        <a:t>2</a:t>
                      </a:r>
                    </a:p>
                  </a:txBody>
                  <a:tcPr marL="25687" marR="25687" marT="12844" marB="12844" anchor="ctr">
                    <a:lnL>
                      <a:noFill/>
                    </a:lnL>
                    <a:lnR>
                      <a:noFill/>
                    </a:lnR>
                    <a:lnT>
                      <a:noFill/>
                    </a:lnT>
                    <a:lnB>
                      <a:noFill/>
                    </a:lnB>
                    <a:solidFill>
                      <a:schemeClr val="bg1"/>
                    </a:solidFill>
                  </a:tcPr>
                </a:tc>
                <a:tc>
                  <a:txBody>
                    <a:bodyPr/>
                    <a:lstStyle/>
                    <a:p>
                      <a:pPr>
                        <a:buNone/>
                      </a:pPr>
                      <a:r>
                        <a:rPr lang="en-CA" sz="1000"/>
                        <a:t>0.008761</a:t>
                      </a:r>
                    </a:p>
                  </a:txBody>
                  <a:tcPr marL="25687" marR="25687" marT="12844" marB="12844" anchor="ctr">
                    <a:lnL>
                      <a:noFill/>
                    </a:lnL>
                    <a:lnR>
                      <a:noFill/>
                    </a:lnR>
                    <a:lnT>
                      <a:noFill/>
                    </a:lnT>
                    <a:lnB>
                      <a:noFill/>
                    </a:lnB>
                    <a:solidFill>
                      <a:schemeClr val="bg1"/>
                    </a:solidFill>
                  </a:tcPr>
                </a:tc>
                <a:tc>
                  <a:txBody>
                    <a:bodyPr/>
                    <a:lstStyle/>
                    <a:p>
                      <a:pPr>
                        <a:buNone/>
                      </a:pPr>
                      <a:r>
                        <a:rPr lang="en-CA" sz="1000"/>
                        <a:t>0.013192</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0.023678</a:t>
                      </a:r>
                    </a:p>
                  </a:txBody>
                  <a:tcPr marL="25687" marR="25687" marT="12844" marB="12844" anchor="ctr">
                    <a:lnL>
                      <a:noFill/>
                    </a:lnL>
                    <a:lnR>
                      <a:noFill/>
                    </a:lnR>
                    <a:lnT>
                      <a:noFill/>
                    </a:lnT>
                    <a:lnB>
                      <a:noFill/>
                    </a:lnB>
                    <a:solidFill>
                      <a:schemeClr val="bg1"/>
                    </a:solidFill>
                  </a:tcPr>
                </a:tc>
                <a:tc>
                  <a:txBody>
                    <a:bodyPr/>
                    <a:lstStyle/>
                    <a:p>
                      <a:pPr>
                        <a:buNone/>
                      </a:pPr>
                      <a:r>
                        <a:rPr lang="en-CA" sz="1000"/>
                        <a:t>0.028615</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0.022080</a:t>
                      </a:r>
                    </a:p>
                  </a:txBody>
                  <a:tcPr marL="25687" marR="25687" marT="12844" marB="12844" anchor="ctr">
                    <a:lnL>
                      <a:noFill/>
                    </a:lnL>
                    <a:lnR>
                      <a:noFill/>
                    </a:lnR>
                    <a:lnT>
                      <a:noFill/>
                    </a:lnT>
                    <a:lnB>
                      <a:noFill/>
                    </a:lnB>
                    <a:solidFill>
                      <a:schemeClr val="bg1"/>
                    </a:solidFill>
                  </a:tcPr>
                </a:tc>
                <a:tc>
                  <a:txBody>
                    <a:bodyPr/>
                    <a:lstStyle/>
                    <a:p>
                      <a:pPr>
                        <a:buNone/>
                      </a:pPr>
                      <a:r>
                        <a:rPr lang="en-CA" sz="1000"/>
                        <a:t>0.028099</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0.008019</a:t>
                      </a:r>
                    </a:p>
                  </a:txBody>
                  <a:tcPr marL="25687" marR="25687" marT="12844" marB="12844" anchor="ctr">
                    <a:lnL>
                      <a:noFill/>
                    </a:lnL>
                    <a:lnR>
                      <a:noFill/>
                    </a:lnR>
                    <a:lnT>
                      <a:noFill/>
                    </a:lnT>
                    <a:lnB>
                      <a:noFill/>
                    </a:lnB>
                    <a:solidFill>
                      <a:schemeClr val="bg1"/>
                    </a:solidFill>
                  </a:tcPr>
                </a:tc>
                <a:tc>
                  <a:txBody>
                    <a:bodyPr/>
                    <a:lstStyle/>
                    <a:p>
                      <a:pPr>
                        <a:buNone/>
                      </a:pPr>
                      <a:r>
                        <a:rPr lang="en-CA" sz="1000"/>
                        <a:t>0.017201</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4071496823"/>
                  </a:ext>
                </a:extLst>
              </a:tr>
              <a:tr h="182642">
                <a:tc>
                  <a:txBody>
                    <a:bodyPr/>
                    <a:lstStyle/>
                    <a:p>
                      <a:pPr>
                        <a:buNone/>
                      </a:pPr>
                      <a:r>
                        <a:rPr lang="en-CA" sz="1000"/>
                        <a:t>3</a:t>
                      </a:r>
                    </a:p>
                  </a:txBody>
                  <a:tcPr marL="25687" marR="25687" marT="12844" marB="12844" anchor="ctr">
                    <a:lnL>
                      <a:noFill/>
                    </a:lnL>
                    <a:lnR>
                      <a:noFill/>
                    </a:lnR>
                    <a:lnT>
                      <a:noFill/>
                    </a:lnT>
                    <a:lnB>
                      <a:noFill/>
                    </a:lnB>
                    <a:solidFill>
                      <a:schemeClr val="bg1"/>
                    </a:solidFill>
                  </a:tcPr>
                </a:tc>
                <a:tc>
                  <a:txBody>
                    <a:bodyPr/>
                    <a:lstStyle/>
                    <a:p>
                      <a:pPr>
                        <a:buNone/>
                      </a:pPr>
                      <a:r>
                        <a:rPr lang="en-CA" sz="1000"/>
                        <a:t>0.011407</a:t>
                      </a:r>
                    </a:p>
                  </a:txBody>
                  <a:tcPr marL="25687" marR="25687" marT="12844" marB="12844" anchor="ctr">
                    <a:lnL>
                      <a:noFill/>
                    </a:lnL>
                    <a:lnR>
                      <a:noFill/>
                    </a:lnR>
                    <a:lnT>
                      <a:noFill/>
                    </a:lnT>
                    <a:lnB>
                      <a:noFill/>
                    </a:lnB>
                    <a:solidFill>
                      <a:schemeClr val="bg1"/>
                    </a:solidFill>
                  </a:tcPr>
                </a:tc>
                <a:tc>
                  <a:txBody>
                    <a:bodyPr/>
                    <a:lstStyle/>
                    <a:p>
                      <a:pPr>
                        <a:buNone/>
                      </a:pPr>
                      <a:r>
                        <a:rPr lang="en-CA" sz="1000"/>
                        <a:t>0.013640</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0.023992</a:t>
                      </a:r>
                    </a:p>
                  </a:txBody>
                  <a:tcPr marL="25687" marR="25687" marT="12844" marB="12844" anchor="ctr">
                    <a:lnL>
                      <a:noFill/>
                    </a:lnL>
                    <a:lnR>
                      <a:noFill/>
                    </a:lnR>
                    <a:lnT>
                      <a:noFill/>
                    </a:lnT>
                    <a:lnB>
                      <a:noFill/>
                    </a:lnB>
                    <a:solidFill>
                      <a:schemeClr val="bg1"/>
                    </a:solidFill>
                  </a:tcPr>
                </a:tc>
                <a:tc>
                  <a:txBody>
                    <a:bodyPr/>
                    <a:lstStyle/>
                    <a:p>
                      <a:pPr>
                        <a:buNone/>
                      </a:pPr>
                      <a:r>
                        <a:rPr lang="en-CA" sz="1000"/>
                        <a:t>0.027280</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0.024081</a:t>
                      </a:r>
                    </a:p>
                  </a:txBody>
                  <a:tcPr marL="25687" marR="25687" marT="12844" marB="12844" anchor="ctr">
                    <a:lnL>
                      <a:noFill/>
                    </a:lnL>
                    <a:lnR>
                      <a:noFill/>
                    </a:lnR>
                    <a:lnT>
                      <a:noFill/>
                    </a:lnT>
                    <a:lnB>
                      <a:noFill/>
                    </a:lnB>
                    <a:solidFill>
                      <a:schemeClr val="bg1"/>
                    </a:solidFill>
                  </a:tcPr>
                </a:tc>
                <a:tc>
                  <a:txBody>
                    <a:bodyPr/>
                    <a:lstStyle/>
                    <a:p>
                      <a:pPr>
                        <a:buNone/>
                      </a:pPr>
                      <a:r>
                        <a:rPr lang="en-CA" sz="1000"/>
                        <a:t>0.026800</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0.011744</a:t>
                      </a:r>
                    </a:p>
                  </a:txBody>
                  <a:tcPr marL="25687" marR="25687" marT="12844" marB="12844" anchor="ctr">
                    <a:lnL>
                      <a:noFill/>
                    </a:lnL>
                    <a:lnR>
                      <a:noFill/>
                    </a:lnR>
                    <a:lnT>
                      <a:noFill/>
                    </a:lnT>
                    <a:lnB>
                      <a:noFill/>
                    </a:lnB>
                    <a:solidFill>
                      <a:schemeClr val="bg1"/>
                    </a:solidFill>
                  </a:tcPr>
                </a:tc>
                <a:tc>
                  <a:txBody>
                    <a:bodyPr/>
                    <a:lstStyle/>
                    <a:p>
                      <a:pPr>
                        <a:buNone/>
                      </a:pPr>
                      <a:r>
                        <a:rPr lang="en-CA" sz="1000"/>
                        <a:t>0.014549</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1206028390"/>
                  </a:ext>
                </a:extLst>
              </a:tr>
              <a:tr h="182642">
                <a:tc>
                  <a:txBody>
                    <a:bodyPr/>
                    <a:lstStyle/>
                    <a:p>
                      <a:pPr>
                        <a:buNone/>
                      </a:pPr>
                      <a:r>
                        <a:rPr lang="en-CA" sz="1000"/>
                        <a:t>4</a:t>
                      </a:r>
                    </a:p>
                  </a:txBody>
                  <a:tcPr marL="25687" marR="25687" marT="12844" marB="12844" anchor="ctr">
                    <a:lnL>
                      <a:noFill/>
                    </a:lnL>
                    <a:lnR>
                      <a:noFill/>
                    </a:lnR>
                    <a:lnT>
                      <a:noFill/>
                    </a:lnT>
                    <a:lnB>
                      <a:noFill/>
                    </a:lnB>
                    <a:solidFill>
                      <a:schemeClr val="bg1"/>
                    </a:solidFill>
                  </a:tcPr>
                </a:tc>
                <a:tc>
                  <a:txBody>
                    <a:bodyPr/>
                    <a:lstStyle/>
                    <a:p>
                      <a:pPr>
                        <a:buNone/>
                      </a:pPr>
                      <a:r>
                        <a:rPr lang="en-CA" sz="1000"/>
                        <a:t>0.010866</a:t>
                      </a:r>
                    </a:p>
                  </a:txBody>
                  <a:tcPr marL="25687" marR="25687" marT="12844" marB="12844" anchor="ctr">
                    <a:lnL>
                      <a:noFill/>
                    </a:lnL>
                    <a:lnR>
                      <a:noFill/>
                    </a:lnR>
                    <a:lnT>
                      <a:noFill/>
                    </a:lnT>
                    <a:lnB>
                      <a:noFill/>
                    </a:lnB>
                    <a:solidFill>
                      <a:schemeClr val="bg1"/>
                    </a:solidFill>
                  </a:tcPr>
                </a:tc>
                <a:tc>
                  <a:txBody>
                    <a:bodyPr/>
                    <a:lstStyle/>
                    <a:p>
                      <a:pPr>
                        <a:buNone/>
                      </a:pPr>
                      <a:r>
                        <a:rPr lang="en-CA" sz="1000"/>
                        <a:t>0.016264</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0.025756</a:t>
                      </a:r>
                    </a:p>
                  </a:txBody>
                  <a:tcPr marL="25687" marR="25687" marT="12844" marB="12844" anchor="ctr">
                    <a:lnL>
                      <a:noFill/>
                    </a:lnL>
                    <a:lnR>
                      <a:noFill/>
                    </a:lnR>
                    <a:lnT>
                      <a:noFill/>
                    </a:lnT>
                    <a:lnB>
                      <a:noFill/>
                    </a:lnB>
                    <a:solidFill>
                      <a:schemeClr val="bg1"/>
                    </a:solidFill>
                  </a:tcPr>
                </a:tc>
                <a:tc>
                  <a:txBody>
                    <a:bodyPr/>
                    <a:lstStyle/>
                    <a:p>
                      <a:pPr>
                        <a:buNone/>
                      </a:pPr>
                      <a:r>
                        <a:rPr lang="en-CA" sz="1000"/>
                        <a:t>0.025872</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0.025089</a:t>
                      </a:r>
                    </a:p>
                  </a:txBody>
                  <a:tcPr marL="25687" marR="25687" marT="12844" marB="12844" anchor="ctr">
                    <a:lnL>
                      <a:noFill/>
                    </a:lnL>
                    <a:lnR>
                      <a:noFill/>
                    </a:lnR>
                    <a:lnT>
                      <a:noFill/>
                    </a:lnT>
                    <a:lnB>
                      <a:noFill/>
                    </a:lnB>
                    <a:solidFill>
                      <a:schemeClr val="bg1"/>
                    </a:solidFill>
                  </a:tcPr>
                </a:tc>
                <a:tc>
                  <a:txBody>
                    <a:bodyPr/>
                    <a:lstStyle/>
                    <a:p>
                      <a:pPr>
                        <a:buNone/>
                      </a:pPr>
                      <a:r>
                        <a:rPr lang="en-CA" sz="1000"/>
                        <a:t>0.026225</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0.009893</a:t>
                      </a:r>
                    </a:p>
                  </a:txBody>
                  <a:tcPr marL="25687" marR="25687" marT="12844" marB="12844" anchor="ctr">
                    <a:lnL>
                      <a:noFill/>
                    </a:lnL>
                    <a:lnR>
                      <a:noFill/>
                    </a:lnR>
                    <a:lnT>
                      <a:noFill/>
                    </a:lnT>
                    <a:lnB>
                      <a:noFill/>
                    </a:lnB>
                    <a:solidFill>
                      <a:schemeClr val="bg1"/>
                    </a:solidFill>
                  </a:tcPr>
                </a:tc>
                <a:tc>
                  <a:txBody>
                    <a:bodyPr/>
                    <a:lstStyle/>
                    <a:p>
                      <a:pPr>
                        <a:buNone/>
                      </a:pPr>
                      <a:r>
                        <a:rPr lang="en-CA" sz="1000"/>
                        <a:t>0.014391</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3809427547"/>
                  </a:ext>
                </a:extLst>
              </a:tr>
              <a:tr h="182642">
                <a:tc>
                  <a:txBody>
                    <a:bodyPr/>
                    <a:lstStyle/>
                    <a:p>
                      <a:pPr>
                        <a:buNone/>
                      </a:pPr>
                      <a:r>
                        <a:rPr lang="en-CA" sz="1000" b="1"/>
                        <a:t>SMAPE (%)</a:t>
                      </a: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2654500902"/>
                  </a:ext>
                </a:extLst>
              </a:tr>
              <a:tr h="182642">
                <a:tc>
                  <a:txBody>
                    <a:bodyPr/>
                    <a:lstStyle/>
                    <a:p>
                      <a:pPr>
                        <a:buNone/>
                      </a:pPr>
                      <a:r>
                        <a:rPr lang="en-CA" sz="1000"/>
                        <a:t>1</a:t>
                      </a:r>
                    </a:p>
                  </a:txBody>
                  <a:tcPr marL="25687" marR="25687" marT="12844" marB="12844" anchor="ctr">
                    <a:lnL>
                      <a:noFill/>
                    </a:lnL>
                    <a:lnR>
                      <a:noFill/>
                    </a:lnR>
                    <a:lnT>
                      <a:noFill/>
                    </a:lnT>
                    <a:lnB>
                      <a:noFill/>
                    </a:lnB>
                    <a:solidFill>
                      <a:schemeClr val="bg1"/>
                    </a:solidFill>
                  </a:tcPr>
                </a:tc>
                <a:tc>
                  <a:txBody>
                    <a:bodyPr/>
                    <a:lstStyle/>
                    <a:p>
                      <a:pPr>
                        <a:buNone/>
                      </a:pPr>
                      <a:r>
                        <a:rPr lang="en-CA" sz="1000"/>
                        <a:t>30.50</a:t>
                      </a:r>
                    </a:p>
                  </a:txBody>
                  <a:tcPr marL="25687" marR="25687" marT="12844" marB="12844" anchor="ctr">
                    <a:lnL>
                      <a:noFill/>
                    </a:lnL>
                    <a:lnR>
                      <a:noFill/>
                    </a:lnR>
                    <a:lnT>
                      <a:noFill/>
                    </a:lnT>
                    <a:lnB>
                      <a:noFill/>
                    </a:lnB>
                    <a:solidFill>
                      <a:schemeClr val="bg1"/>
                    </a:solidFill>
                  </a:tcPr>
                </a:tc>
                <a:tc>
                  <a:txBody>
                    <a:bodyPr/>
                    <a:lstStyle/>
                    <a:p>
                      <a:pPr>
                        <a:buNone/>
                      </a:pPr>
                      <a:r>
                        <a:rPr lang="en-CA" sz="1000"/>
                        <a:t>39.37</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100.22</a:t>
                      </a:r>
                    </a:p>
                  </a:txBody>
                  <a:tcPr marL="25687" marR="25687" marT="12844" marB="12844" anchor="ctr">
                    <a:lnL>
                      <a:noFill/>
                    </a:lnL>
                    <a:lnR>
                      <a:noFill/>
                    </a:lnR>
                    <a:lnT>
                      <a:noFill/>
                    </a:lnT>
                    <a:lnB>
                      <a:noFill/>
                    </a:lnB>
                    <a:solidFill>
                      <a:schemeClr val="bg1"/>
                    </a:solidFill>
                  </a:tcPr>
                </a:tc>
                <a:tc>
                  <a:txBody>
                    <a:bodyPr/>
                    <a:lstStyle/>
                    <a:p>
                      <a:pPr>
                        <a:buNone/>
                      </a:pPr>
                      <a:r>
                        <a:rPr lang="en-CA" sz="1000"/>
                        <a:t>115.57</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78.36</a:t>
                      </a:r>
                    </a:p>
                  </a:txBody>
                  <a:tcPr marL="25687" marR="25687" marT="12844" marB="12844" anchor="ctr">
                    <a:lnL>
                      <a:noFill/>
                    </a:lnL>
                    <a:lnR>
                      <a:noFill/>
                    </a:lnR>
                    <a:lnT>
                      <a:noFill/>
                    </a:lnT>
                    <a:lnB>
                      <a:noFill/>
                    </a:lnB>
                    <a:solidFill>
                      <a:schemeClr val="bg1"/>
                    </a:solidFill>
                  </a:tcPr>
                </a:tc>
                <a:tc>
                  <a:txBody>
                    <a:bodyPr/>
                    <a:lstStyle/>
                    <a:p>
                      <a:pPr>
                        <a:buNone/>
                      </a:pPr>
                      <a:r>
                        <a:rPr lang="en-CA" sz="1000"/>
                        <a:t>92.74</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42.65</a:t>
                      </a:r>
                    </a:p>
                  </a:txBody>
                  <a:tcPr marL="25687" marR="25687" marT="12844" marB="12844" anchor="ctr">
                    <a:lnL>
                      <a:noFill/>
                    </a:lnL>
                    <a:lnR>
                      <a:noFill/>
                    </a:lnR>
                    <a:lnT>
                      <a:noFill/>
                    </a:lnT>
                    <a:lnB>
                      <a:noFill/>
                    </a:lnB>
                    <a:solidFill>
                      <a:schemeClr val="bg1"/>
                    </a:solidFill>
                  </a:tcPr>
                </a:tc>
                <a:tc>
                  <a:txBody>
                    <a:bodyPr/>
                    <a:lstStyle/>
                    <a:p>
                      <a:pPr>
                        <a:buNone/>
                      </a:pPr>
                      <a:r>
                        <a:rPr lang="en-CA" sz="1000"/>
                        <a:t>48.06</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2572612989"/>
                  </a:ext>
                </a:extLst>
              </a:tr>
              <a:tr h="182642">
                <a:tc>
                  <a:txBody>
                    <a:bodyPr/>
                    <a:lstStyle/>
                    <a:p>
                      <a:pPr>
                        <a:buNone/>
                      </a:pPr>
                      <a:r>
                        <a:rPr lang="en-CA" sz="1000"/>
                        <a:t>2</a:t>
                      </a:r>
                    </a:p>
                  </a:txBody>
                  <a:tcPr marL="25687" marR="25687" marT="12844" marB="12844" anchor="ctr">
                    <a:lnL>
                      <a:noFill/>
                    </a:lnL>
                    <a:lnR>
                      <a:noFill/>
                    </a:lnR>
                    <a:lnT>
                      <a:noFill/>
                    </a:lnT>
                    <a:lnB>
                      <a:noFill/>
                    </a:lnB>
                    <a:solidFill>
                      <a:schemeClr val="bg1"/>
                    </a:solidFill>
                  </a:tcPr>
                </a:tc>
                <a:tc>
                  <a:txBody>
                    <a:bodyPr/>
                    <a:lstStyle/>
                    <a:p>
                      <a:pPr>
                        <a:buNone/>
                      </a:pPr>
                      <a:r>
                        <a:rPr lang="en-CA" sz="1000"/>
                        <a:t>34.39</a:t>
                      </a:r>
                    </a:p>
                  </a:txBody>
                  <a:tcPr marL="25687" marR="25687" marT="12844" marB="12844" anchor="ctr">
                    <a:lnL>
                      <a:noFill/>
                    </a:lnL>
                    <a:lnR>
                      <a:noFill/>
                    </a:lnR>
                    <a:lnT>
                      <a:noFill/>
                    </a:lnT>
                    <a:lnB>
                      <a:noFill/>
                    </a:lnB>
                    <a:solidFill>
                      <a:schemeClr val="bg1"/>
                    </a:solidFill>
                  </a:tcPr>
                </a:tc>
                <a:tc>
                  <a:txBody>
                    <a:bodyPr/>
                    <a:lstStyle/>
                    <a:p>
                      <a:pPr>
                        <a:buNone/>
                      </a:pPr>
                      <a:r>
                        <a:rPr lang="en-CA" sz="1000"/>
                        <a:t>44.39</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76.67</a:t>
                      </a:r>
                    </a:p>
                  </a:txBody>
                  <a:tcPr marL="25687" marR="25687" marT="12844" marB="12844" anchor="ctr">
                    <a:lnL>
                      <a:noFill/>
                    </a:lnL>
                    <a:lnR>
                      <a:noFill/>
                    </a:lnR>
                    <a:lnT>
                      <a:noFill/>
                    </a:lnT>
                    <a:lnB>
                      <a:noFill/>
                    </a:lnB>
                    <a:solidFill>
                      <a:schemeClr val="bg1"/>
                    </a:solidFill>
                  </a:tcPr>
                </a:tc>
                <a:tc>
                  <a:txBody>
                    <a:bodyPr/>
                    <a:lstStyle/>
                    <a:p>
                      <a:pPr>
                        <a:buNone/>
                      </a:pPr>
                      <a:r>
                        <a:rPr lang="en-CA" sz="1000"/>
                        <a:t>100.90</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80.11</a:t>
                      </a:r>
                    </a:p>
                  </a:txBody>
                  <a:tcPr marL="25687" marR="25687" marT="12844" marB="12844" anchor="ctr">
                    <a:lnL>
                      <a:noFill/>
                    </a:lnL>
                    <a:lnR>
                      <a:noFill/>
                    </a:lnR>
                    <a:lnT>
                      <a:noFill/>
                    </a:lnT>
                    <a:lnB>
                      <a:noFill/>
                    </a:lnB>
                    <a:solidFill>
                      <a:schemeClr val="bg1"/>
                    </a:solidFill>
                  </a:tcPr>
                </a:tc>
                <a:tc>
                  <a:txBody>
                    <a:bodyPr/>
                    <a:lstStyle/>
                    <a:p>
                      <a:pPr>
                        <a:buNone/>
                      </a:pPr>
                      <a:r>
                        <a:rPr lang="en-CA" sz="1000"/>
                        <a:t>120.83</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37.67</a:t>
                      </a:r>
                    </a:p>
                  </a:txBody>
                  <a:tcPr marL="25687" marR="25687" marT="12844" marB="12844" anchor="ctr">
                    <a:lnL>
                      <a:noFill/>
                    </a:lnL>
                    <a:lnR>
                      <a:noFill/>
                    </a:lnR>
                    <a:lnT>
                      <a:noFill/>
                    </a:lnT>
                    <a:lnB>
                      <a:noFill/>
                    </a:lnB>
                    <a:solidFill>
                      <a:schemeClr val="bg1"/>
                    </a:solidFill>
                  </a:tcPr>
                </a:tc>
                <a:tc>
                  <a:txBody>
                    <a:bodyPr/>
                    <a:lstStyle/>
                    <a:p>
                      <a:pPr>
                        <a:buNone/>
                      </a:pPr>
                      <a:r>
                        <a:rPr lang="en-CA" sz="1000"/>
                        <a:t>108.32</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48886795"/>
                  </a:ext>
                </a:extLst>
              </a:tr>
              <a:tr h="182642">
                <a:tc>
                  <a:txBody>
                    <a:bodyPr/>
                    <a:lstStyle/>
                    <a:p>
                      <a:pPr>
                        <a:buNone/>
                      </a:pPr>
                      <a:r>
                        <a:rPr lang="en-CA" sz="1000"/>
                        <a:t>3</a:t>
                      </a:r>
                    </a:p>
                  </a:txBody>
                  <a:tcPr marL="25687" marR="25687" marT="12844" marB="12844" anchor="ctr">
                    <a:lnL>
                      <a:noFill/>
                    </a:lnL>
                    <a:lnR>
                      <a:noFill/>
                    </a:lnR>
                    <a:lnT>
                      <a:noFill/>
                    </a:lnT>
                    <a:lnB>
                      <a:noFill/>
                    </a:lnB>
                    <a:solidFill>
                      <a:schemeClr val="bg1"/>
                    </a:solidFill>
                  </a:tcPr>
                </a:tc>
                <a:tc>
                  <a:txBody>
                    <a:bodyPr/>
                    <a:lstStyle/>
                    <a:p>
                      <a:pPr>
                        <a:buNone/>
                      </a:pPr>
                      <a:r>
                        <a:rPr lang="en-CA" sz="1000"/>
                        <a:t>30.64</a:t>
                      </a:r>
                    </a:p>
                  </a:txBody>
                  <a:tcPr marL="25687" marR="25687" marT="12844" marB="12844" anchor="ctr">
                    <a:lnL>
                      <a:noFill/>
                    </a:lnL>
                    <a:lnR>
                      <a:noFill/>
                    </a:lnR>
                    <a:lnT>
                      <a:noFill/>
                    </a:lnT>
                    <a:lnB>
                      <a:noFill/>
                    </a:lnB>
                    <a:solidFill>
                      <a:schemeClr val="bg1"/>
                    </a:solidFill>
                  </a:tcPr>
                </a:tc>
                <a:tc>
                  <a:txBody>
                    <a:bodyPr/>
                    <a:lstStyle/>
                    <a:p>
                      <a:pPr>
                        <a:buNone/>
                      </a:pPr>
                      <a:r>
                        <a:rPr lang="en-CA" sz="1000"/>
                        <a:t>39.81</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99.97</a:t>
                      </a:r>
                    </a:p>
                  </a:txBody>
                  <a:tcPr marL="25687" marR="25687" marT="12844" marB="12844" anchor="ctr">
                    <a:lnL>
                      <a:noFill/>
                    </a:lnL>
                    <a:lnR>
                      <a:noFill/>
                    </a:lnR>
                    <a:lnT>
                      <a:noFill/>
                    </a:lnT>
                    <a:lnB>
                      <a:noFill/>
                    </a:lnB>
                    <a:solidFill>
                      <a:schemeClr val="bg1"/>
                    </a:solidFill>
                  </a:tcPr>
                </a:tc>
                <a:tc>
                  <a:txBody>
                    <a:bodyPr/>
                    <a:lstStyle/>
                    <a:p>
                      <a:pPr>
                        <a:buNone/>
                      </a:pPr>
                      <a:r>
                        <a:rPr lang="en-CA" sz="1000"/>
                        <a:t>103.75</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89.46</a:t>
                      </a:r>
                    </a:p>
                  </a:txBody>
                  <a:tcPr marL="25687" marR="25687" marT="12844" marB="12844" anchor="ctr">
                    <a:lnL>
                      <a:noFill/>
                    </a:lnL>
                    <a:lnR>
                      <a:noFill/>
                    </a:lnR>
                    <a:lnT>
                      <a:noFill/>
                    </a:lnT>
                    <a:lnB>
                      <a:noFill/>
                    </a:lnB>
                    <a:solidFill>
                      <a:schemeClr val="bg1"/>
                    </a:solidFill>
                  </a:tcPr>
                </a:tc>
                <a:tc>
                  <a:txBody>
                    <a:bodyPr/>
                    <a:lstStyle/>
                    <a:p>
                      <a:pPr>
                        <a:buNone/>
                      </a:pPr>
                      <a:r>
                        <a:rPr lang="en-CA" sz="1000"/>
                        <a:t>88.00</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34.79</a:t>
                      </a:r>
                    </a:p>
                  </a:txBody>
                  <a:tcPr marL="25687" marR="25687" marT="12844" marB="12844" anchor="ctr">
                    <a:lnL>
                      <a:noFill/>
                    </a:lnL>
                    <a:lnR>
                      <a:noFill/>
                    </a:lnR>
                    <a:lnT>
                      <a:noFill/>
                    </a:lnT>
                    <a:lnB>
                      <a:noFill/>
                    </a:lnB>
                    <a:solidFill>
                      <a:schemeClr val="bg1"/>
                    </a:solidFill>
                  </a:tcPr>
                </a:tc>
                <a:tc>
                  <a:txBody>
                    <a:bodyPr/>
                    <a:lstStyle/>
                    <a:p>
                      <a:pPr>
                        <a:buNone/>
                      </a:pPr>
                      <a:r>
                        <a:rPr lang="en-CA" sz="1000"/>
                        <a:t>44.76</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3165578533"/>
                  </a:ext>
                </a:extLst>
              </a:tr>
              <a:tr h="182642">
                <a:tc>
                  <a:txBody>
                    <a:bodyPr/>
                    <a:lstStyle/>
                    <a:p>
                      <a:pPr>
                        <a:buNone/>
                      </a:pPr>
                      <a:r>
                        <a:rPr lang="en-CA" sz="1000"/>
                        <a:t>4</a:t>
                      </a:r>
                    </a:p>
                  </a:txBody>
                  <a:tcPr marL="25687" marR="25687" marT="12844" marB="12844" anchor="ctr">
                    <a:lnL>
                      <a:noFill/>
                    </a:lnL>
                    <a:lnR>
                      <a:noFill/>
                    </a:lnR>
                    <a:lnT>
                      <a:noFill/>
                    </a:lnT>
                    <a:lnB>
                      <a:noFill/>
                    </a:lnB>
                    <a:solidFill>
                      <a:schemeClr val="bg1"/>
                    </a:solidFill>
                  </a:tcPr>
                </a:tc>
                <a:tc>
                  <a:txBody>
                    <a:bodyPr/>
                    <a:lstStyle/>
                    <a:p>
                      <a:pPr>
                        <a:buNone/>
                      </a:pPr>
                      <a:r>
                        <a:rPr lang="en-CA" sz="1000"/>
                        <a:t>34.46</a:t>
                      </a:r>
                    </a:p>
                  </a:txBody>
                  <a:tcPr marL="25687" marR="25687" marT="12844" marB="12844" anchor="ctr">
                    <a:lnL>
                      <a:noFill/>
                    </a:lnL>
                    <a:lnR>
                      <a:noFill/>
                    </a:lnR>
                    <a:lnT>
                      <a:noFill/>
                    </a:lnT>
                    <a:lnB>
                      <a:noFill/>
                    </a:lnB>
                    <a:solidFill>
                      <a:schemeClr val="bg1"/>
                    </a:solidFill>
                  </a:tcPr>
                </a:tc>
                <a:tc>
                  <a:txBody>
                    <a:bodyPr/>
                    <a:lstStyle/>
                    <a:p>
                      <a:pPr>
                        <a:buNone/>
                      </a:pPr>
                      <a:r>
                        <a:rPr lang="en-CA" sz="1000"/>
                        <a:t>40.30</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120.51</a:t>
                      </a:r>
                    </a:p>
                  </a:txBody>
                  <a:tcPr marL="25687" marR="25687" marT="12844" marB="12844" anchor="ctr">
                    <a:lnL>
                      <a:noFill/>
                    </a:lnL>
                    <a:lnR>
                      <a:noFill/>
                    </a:lnR>
                    <a:lnT>
                      <a:noFill/>
                    </a:lnT>
                    <a:lnB>
                      <a:noFill/>
                    </a:lnB>
                    <a:solidFill>
                      <a:schemeClr val="bg1"/>
                    </a:solidFill>
                  </a:tcPr>
                </a:tc>
                <a:tc>
                  <a:txBody>
                    <a:bodyPr/>
                    <a:lstStyle/>
                    <a:p>
                      <a:pPr>
                        <a:buNone/>
                      </a:pPr>
                      <a:r>
                        <a:rPr lang="en-CA" sz="1000"/>
                        <a:t>120.40</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78.17</a:t>
                      </a:r>
                    </a:p>
                  </a:txBody>
                  <a:tcPr marL="25687" marR="25687" marT="12844" marB="12844" anchor="ctr">
                    <a:lnL>
                      <a:noFill/>
                    </a:lnL>
                    <a:lnR>
                      <a:noFill/>
                    </a:lnR>
                    <a:lnT>
                      <a:noFill/>
                    </a:lnT>
                    <a:lnB>
                      <a:noFill/>
                    </a:lnB>
                    <a:solidFill>
                      <a:schemeClr val="bg1"/>
                    </a:solidFill>
                  </a:tcPr>
                </a:tc>
                <a:tc>
                  <a:txBody>
                    <a:bodyPr/>
                    <a:lstStyle/>
                    <a:p>
                      <a:pPr>
                        <a:buNone/>
                      </a:pPr>
                      <a:r>
                        <a:rPr lang="en-CA" sz="1000"/>
                        <a:t>83.06</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37.14</a:t>
                      </a:r>
                    </a:p>
                  </a:txBody>
                  <a:tcPr marL="25687" marR="25687" marT="12844" marB="12844" anchor="ctr">
                    <a:lnL>
                      <a:noFill/>
                    </a:lnL>
                    <a:lnR>
                      <a:noFill/>
                    </a:lnR>
                    <a:lnT>
                      <a:noFill/>
                    </a:lnT>
                    <a:lnB>
                      <a:noFill/>
                    </a:lnB>
                    <a:solidFill>
                      <a:schemeClr val="bg1"/>
                    </a:solidFill>
                  </a:tcPr>
                </a:tc>
                <a:tc>
                  <a:txBody>
                    <a:bodyPr/>
                    <a:lstStyle/>
                    <a:p>
                      <a:pPr>
                        <a:buNone/>
                      </a:pPr>
                      <a:r>
                        <a:rPr lang="en-CA" sz="1000"/>
                        <a:t>47.39</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3871979401"/>
                  </a:ext>
                </a:extLst>
              </a:tr>
              <a:tr h="182642">
                <a:tc>
                  <a:txBody>
                    <a:bodyPr/>
                    <a:lstStyle/>
                    <a:p>
                      <a:pPr>
                        <a:buNone/>
                      </a:pPr>
                      <a:r>
                        <a:rPr lang="en-CA" sz="1000" b="1"/>
                        <a:t>R² (%)</a:t>
                      </a: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766479773"/>
                  </a:ext>
                </a:extLst>
              </a:tr>
              <a:tr h="182642">
                <a:tc>
                  <a:txBody>
                    <a:bodyPr/>
                    <a:lstStyle/>
                    <a:p>
                      <a:pPr>
                        <a:buNone/>
                      </a:pPr>
                      <a:r>
                        <a:rPr lang="en-CA" sz="1000"/>
                        <a:t>1</a:t>
                      </a:r>
                    </a:p>
                  </a:txBody>
                  <a:tcPr marL="25687" marR="25687" marT="12844" marB="12844" anchor="ctr">
                    <a:lnL>
                      <a:noFill/>
                    </a:lnL>
                    <a:lnR>
                      <a:noFill/>
                    </a:lnR>
                    <a:lnT>
                      <a:noFill/>
                    </a:lnT>
                    <a:lnB>
                      <a:noFill/>
                    </a:lnB>
                    <a:solidFill>
                      <a:schemeClr val="bg1"/>
                    </a:solidFill>
                  </a:tcPr>
                </a:tc>
                <a:tc>
                  <a:txBody>
                    <a:bodyPr/>
                    <a:lstStyle/>
                    <a:p>
                      <a:pPr>
                        <a:buNone/>
                      </a:pPr>
                      <a:r>
                        <a:rPr lang="en-CA" sz="1000"/>
                        <a:t>96.67</a:t>
                      </a:r>
                    </a:p>
                  </a:txBody>
                  <a:tcPr marL="25687" marR="25687" marT="12844" marB="12844" anchor="ctr">
                    <a:lnL>
                      <a:noFill/>
                    </a:lnL>
                    <a:lnR>
                      <a:noFill/>
                    </a:lnR>
                    <a:lnT>
                      <a:noFill/>
                    </a:lnT>
                    <a:lnB>
                      <a:noFill/>
                    </a:lnB>
                    <a:solidFill>
                      <a:schemeClr val="bg1"/>
                    </a:solidFill>
                  </a:tcPr>
                </a:tc>
                <a:tc>
                  <a:txBody>
                    <a:bodyPr/>
                    <a:lstStyle/>
                    <a:p>
                      <a:pPr>
                        <a:buNone/>
                      </a:pPr>
                      <a:r>
                        <a:rPr lang="en-CA" sz="1000"/>
                        <a:t>93.98</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38.32</a:t>
                      </a:r>
                    </a:p>
                  </a:txBody>
                  <a:tcPr marL="25687" marR="25687" marT="12844" marB="12844" anchor="ctr">
                    <a:lnL>
                      <a:noFill/>
                    </a:lnL>
                    <a:lnR>
                      <a:noFill/>
                    </a:lnR>
                    <a:lnT>
                      <a:noFill/>
                    </a:lnT>
                    <a:lnB>
                      <a:noFill/>
                    </a:lnB>
                    <a:solidFill>
                      <a:schemeClr val="bg1"/>
                    </a:solidFill>
                  </a:tcPr>
                </a:tc>
                <a:tc>
                  <a:txBody>
                    <a:bodyPr/>
                    <a:lstStyle/>
                    <a:p>
                      <a:pPr>
                        <a:buNone/>
                      </a:pPr>
                      <a:r>
                        <a:rPr lang="en-CA" sz="1000"/>
                        <a:t>37.78</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40.46</a:t>
                      </a:r>
                    </a:p>
                  </a:txBody>
                  <a:tcPr marL="25687" marR="25687" marT="12844" marB="12844" anchor="ctr">
                    <a:lnL>
                      <a:noFill/>
                    </a:lnL>
                    <a:lnR>
                      <a:noFill/>
                    </a:lnR>
                    <a:lnT>
                      <a:noFill/>
                    </a:lnT>
                    <a:lnB>
                      <a:noFill/>
                    </a:lnB>
                    <a:solidFill>
                      <a:schemeClr val="bg1"/>
                    </a:solidFill>
                  </a:tcPr>
                </a:tc>
                <a:tc>
                  <a:txBody>
                    <a:bodyPr/>
                    <a:lstStyle/>
                    <a:p>
                      <a:pPr>
                        <a:buNone/>
                      </a:pPr>
                      <a:r>
                        <a:rPr lang="en-CA" sz="1000"/>
                        <a:t>27.80</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96.57</a:t>
                      </a:r>
                    </a:p>
                  </a:txBody>
                  <a:tcPr marL="25687" marR="25687" marT="12844" marB="12844" anchor="ctr">
                    <a:lnL>
                      <a:noFill/>
                    </a:lnL>
                    <a:lnR>
                      <a:noFill/>
                    </a:lnR>
                    <a:lnT>
                      <a:noFill/>
                    </a:lnT>
                    <a:lnB>
                      <a:noFill/>
                    </a:lnB>
                    <a:solidFill>
                      <a:schemeClr val="bg1"/>
                    </a:solidFill>
                  </a:tcPr>
                </a:tc>
                <a:tc>
                  <a:txBody>
                    <a:bodyPr/>
                    <a:lstStyle/>
                    <a:p>
                      <a:pPr>
                        <a:buNone/>
                      </a:pPr>
                      <a:r>
                        <a:rPr lang="en-CA" sz="1000"/>
                        <a:t>89.44</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3158398603"/>
                  </a:ext>
                </a:extLst>
              </a:tr>
              <a:tr h="182642">
                <a:tc>
                  <a:txBody>
                    <a:bodyPr/>
                    <a:lstStyle/>
                    <a:p>
                      <a:pPr>
                        <a:buNone/>
                      </a:pPr>
                      <a:r>
                        <a:rPr lang="en-CA" sz="1000"/>
                        <a:t>2</a:t>
                      </a:r>
                    </a:p>
                  </a:txBody>
                  <a:tcPr marL="25687" marR="25687" marT="12844" marB="12844" anchor="ctr">
                    <a:lnL>
                      <a:noFill/>
                    </a:lnL>
                    <a:lnR>
                      <a:noFill/>
                    </a:lnR>
                    <a:lnT>
                      <a:noFill/>
                    </a:lnT>
                    <a:lnB>
                      <a:noFill/>
                    </a:lnB>
                    <a:solidFill>
                      <a:schemeClr val="bg1"/>
                    </a:solidFill>
                  </a:tcPr>
                </a:tc>
                <a:tc>
                  <a:txBody>
                    <a:bodyPr/>
                    <a:lstStyle/>
                    <a:p>
                      <a:pPr>
                        <a:buNone/>
                      </a:pPr>
                      <a:r>
                        <a:rPr lang="en-CA" sz="1000"/>
                        <a:t>96.63</a:t>
                      </a:r>
                    </a:p>
                  </a:txBody>
                  <a:tcPr marL="25687" marR="25687" marT="12844" marB="12844" anchor="ctr">
                    <a:lnL>
                      <a:noFill/>
                    </a:lnL>
                    <a:lnR>
                      <a:noFill/>
                    </a:lnR>
                    <a:lnT>
                      <a:noFill/>
                    </a:lnT>
                    <a:lnB>
                      <a:noFill/>
                    </a:lnB>
                    <a:solidFill>
                      <a:schemeClr val="bg1"/>
                    </a:solidFill>
                  </a:tcPr>
                </a:tc>
                <a:tc>
                  <a:txBody>
                    <a:bodyPr/>
                    <a:lstStyle/>
                    <a:p>
                      <a:pPr>
                        <a:buNone/>
                      </a:pPr>
                      <a:r>
                        <a:rPr lang="en-CA" sz="1000"/>
                        <a:t>93.22</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37.24</a:t>
                      </a:r>
                    </a:p>
                  </a:txBody>
                  <a:tcPr marL="25687" marR="25687" marT="12844" marB="12844" anchor="ctr">
                    <a:lnL>
                      <a:noFill/>
                    </a:lnL>
                    <a:lnR>
                      <a:noFill/>
                    </a:lnR>
                    <a:lnT>
                      <a:noFill/>
                    </a:lnT>
                    <a:lnB>
                      <a:noFill/>
                    </a:lnB>
                    <a:solidFill>
                      <a:schemeClr val="bg1"/>
                    </a:solidFill>
                  </a:tcPr>
                </a:tc>
                <a:tc>
                  <a:txBody>
                    <a:bodyPr/>
                    <a:lstStyle/>
                    <a:p>
                      <a:pPr>
                        <a:buNone/>
                      </a:pPr>
                      <a:r>
                        <a:rPr lang="en-CA" sz="1000"/>
                        <a:t>30.05</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45.43</a:t>
                      </a:r>
                    </a:p>
                  </a:txBody>
                  <a:tcPr marL="25687" marR="25687" marT="12844" marB="12844" anchor="ctr">
                    <a:lnL>
                      <a:noFill/>
                    </a:lnL>
                    <a:lnR>
                      <a:noFill/>
                    </a:lnR>
                    <a:lnT>
                      <a:noFill/>
                    </a:lnT>
                    <a:lnB>
                      <a:noFill/>
                    </a:lnB>
                    <a:solidFill>
                      <a:schemeClr val="bg1"/>
                    </a:solidFill>
                  </a:tcPr>
                </a:tc>
                <a:tc>
                  <a:txBody>
                    <a:bodyPr/>
                    <a:lstStyle/>
                    <a:p>
                      <a:pPr>
                        <a:buNone/>
                      </a:pPr>
                      <a:r>
                        <a:rPr lang="en-CA" sz="1000"/>
                        <a:t>32.56</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97.18</a:t>
                      </a:r>
                    </a:p>
                  </a:txBody>
                  <a:tcPr marL="25687" marR="25687" marT="12844" marB="12844" anchor="ctr">
                    <a:lnL>
                      <a:noFill/>
                    </a:lnL>
                    <a:lnR>
                      <a:noFill/>
                    </a:lnR>
                    <a:lnT>
                      <a:noFill/>
                    </a:lnT>
                    <a:lnB>
                      <a:noFill/>
                    </a:lnB>
                    <a:solidFill>
                      <a:schemeClr val="bg1"/>
                    </a:solidFill>
                  </a:tcPr>
                </a:tc>
                <a:tc>
                  <a:txBody>
                    <a:bodyPr/>
                    <a:lstStyle/>
                    <a:p>
                      <a:pPr>
                        <a:buNone/>
                      </a:pPr>
                      <a:r>
                        <a:rPr lang="en-CA" sz="1000"/>
                        <a:t>88.48</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3529441016"/>
                  </a:ext>
                </a:extLst>
              </a:tr>
              <a:tr h="182642">
                <a:tc>
                  <a:txBody>
                    <a:bodyPr/>
                    <a:lstStyle/>
                    <a:p>
                      <a:pPr>
                        <a:buNone/>
                      </a:pPr>
                      <a:r>
                        <a:rPr lang="en-CA" sz="1000"/>
                        <a:t>3</a:t>
                      </a:r>
                    </a:p>
                  </a:txBody>
                  <a:tcPr marL="25687" marR="25687" marT="12844" marB="12844" anchor="ctr">
                    <a:lnL>
                      <a:noFill/>
                    </a:lnL>
                    <a:lnR>
                      <a:noFill/>
                    </a:lnR>
                    <a:lnT>
                      <a:noFill/>
                    </a:lnT>
                    <a:lnB>
                      <a:noFill/>
                    </a:lnB>
                    <a:solidFill>
                      <a:schemeClr val="bg1"/>
                    </a:solidFill>
                  </a:tcPr>
                </a:tc>
                <a:tc>
                  <a:txBody>
                    <a:bodyPr/>
                    <a:lstStyle/>
                    <a:p>
                      <a:pPr>
                        <a:buNone/>
                      </a:pPr>
                      <a:r>
                        <a:rPr lang="en-CA" sz="1000"/>
                        <a:t>94.43</a:t>
                      </a:r>
                    </a:p>
                  </a:txBody>
                  <a:tcPr marL="25687" marR="25687" marT="12844" marB="12844" anchor="ctr">
                    <a:lnL>
                      <a:noFill/>
                    </a:lnL>
                    <a:lnR>
                      <a:noFill/>
                    </a:lnR>
                    <a:lnT>
                      <a:noFill/>
                    </a:lnT>
                    <a:lnB>
                      <a:noFill/>
                    </a:lnB>
                    <a:solidFill>
                      <a:schemeClr val="bg1"/>
                    </a:solidFill>
                  </a:tcPr>
                </a:tc>
                <a:tc>
                  <a:txBody>
                    <a:bodyPr/>
                    <a:lstStyle/>
                    <a:p>
                      <a:pPr>
                        <a:buNone/>
                      </a:pPr>
                      <a:r>
                        <a:rPr lang="en-CA" sz="1000"/>
                        <a:t>93.08</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41.38</a:t>
                      </a:r>
                    </a:p>
                  </a:txBody>
                  <a:tcPr marL="25687" marR="25687" marT="12844" marB="12844" anchor="ctr">
                    <a:lnL>
                      <a:noFill/>
                    </a:lnL>
                    <a:lnR>
                      <a:noFill/>
                    </a:lnR>
                    <a:lnT>
                      <a:noFill/>
                    </a:lnT>
                    <a:lnB>
                      <a:noFill/>
                    </a:lnB>
                    <a:solidFill>
                      <a:schemeClr val="bg1"/>
                    </a:solidFill>
                  </a:tcPr>
                </a:tc>
                <a:tc>
                  <a:txBody>
                    <a:bodyPr/>
                    <a:lstStyle/>
                    <a:p>
                      <a:pPr>
                        <a:buNone/>
                      </a:pPr>
                      <a:r>
                        <a:rPr lang="en-CA" sz="1000"/>
                        <a:t>30.24</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40.95</a:t>
                      </a:r>
                    </a:p>
                  </a:txBody>
                  <a:tcPr marL="25687" marR="25687" marT="12844" marB="12844" anchor="ctr">
                    <a:lnL>
                      <a:noFill/>
                    </a:lnL>
                    <a:lnR>
                      <a:noFill/>
                    </a:lnR>
                    <a:lnT>
                      <a:noFill/>
                    </a:lnT>
                    <a:lnB>
                      <a:noFill/>
                    </a:lnB>
                    <a:solidFill>
                      <a:schemeClr val="bg1"/>
                    </a:solidFill>
                  </a:tcPr>
                </a:tc>
                <a:tc>
                  <a:txBody>
                    <a:bodyPr/>
                    <a:lstStyle/>
                    <a:p>
                      <a:pPr>
                        <a:buNone/>
                      </a:pPr>
                      <a:r>
                        <a:rPr lang="en-CA" sz="1000"/>
                        <a:t>32.67</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94.10</a:t>
                      </a:r>
                    </a:p>
                  </a:txBody>
                  <a:tcPr marL="25687" marR="25687" marT="12844" marB="12844" anchor="ctr">
                    <a:lnL>
                      <a:noFill/>
                    </a:lnL>
                    <a:lnR>
                      <a:noFill/>
                    </a:lnR>
                    <a:lnT>
                      <a:noFill/>
                    </a:lnT>
                    <a:lnB>
                      <a:noFill/>
                    </a:lnB>
                    <a:solidFill>
                      <a:schemeClr val="bg1"/>
                    </a:solidFill>
                  </a:tcPr>
                </a:tc>
                <a:tc>
                  <a:txBody>
                    <a:bodyPr/>
                    <a:lstStyle/>
                    <a:p>
                      <a:pPr>
                        <a:buNone/>
                      </a:pPr>
                      <a:r>
                        <a:rPr lang="en-CA" sz="1000"/>
                        <a:t>92.12</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1799069444"/>
                  </a:ext>
                </a:extLst>
              </a:tr>
              <a:tr h="182642">
                <a:tc>
                  <a:txBody>
                    <a:bodyPr/>
                    <a:lstStyle/>
                    <a:p>
                      <a:pPr>
                        <a:buNone/>
                      </a:pPr>
                      <a:r>
                        <a:rPr lang="en-CA" sz="1000"/>
                        <a:t>4</a:t>
                      </a:r>
                    </a:p>
                  </a:txBody>
                  <a:tcPr marL="25687" marR="25687" marT="12844" marB="12844" anchor="ctr">
                    <a:lnL>
                      <a:noFill/>
                    </a:lnL>
                    <a:lnR>
                      <a:noFill/>
                    </a:lnR>
                    <a:lnT>
                      <a:noFill/>
                    </a:lnT>
                    <a:lnB>
                      <a:noFill/>
                    </a:lnB>
                    <a:solidFill>
                      <a:schemeClr val="bg1"/>
                    </a:solidFill>
                  </a:tcPr>
                </a:tc>
                <a:tc>
                  <a:txBody>
                    <a:bodyPr/>
                    <a:lstStyle/>
                    <a:p>
                      <a:pPr>
                        <a:buNone/>
                      </a:pPr>
                      <a:r>
                        <a:rPr lang="en-CA" sz="1000"/>
                        <a:t>95.36</a:t>
                      </a:r>
                    </a:p>
                  </a:txBody>
                  <a:tcPr marL="25687" marR="25687" marT="12844" marB="12844" anchor="ctr">
                    <a:lnL>
                      <a:noFill/>
                    </a:lnL>
                    <a:lnR>
                      <a:noFill/>
                    </a:lnR>
                    <a:lnT>
                      <a:noFill/>
                    </a:lnT>
                    <a:lnB>
                      <a:noFill/>
                    </a:lnB>
                    <a:solidFill>
                      <a:schemeClr val="bg1"/>
                    </a:solidFill>
                  </a:tcPr>
                </a:tc>
                <a:tc>
                  <a:txBody>
                    <a:bodyPr/>
                    <a:lstStyle/>
                    <a:p>
                      <a:pPr>
                        <a:buNone/>
                      </a:pPr>
                      <a:r>
                        <a:rPr lang="en-CA" sz="1000"/>
                        <a:t>89.42</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38.68</a:t>
                      </a:r>
                    </a:p>
                  </a:txBody>
                  <a:tcPr marL="25687" marR="25687" marT="12844" marB="12844" anchor="ctr">
                    <a:lnL>
                      <a:noFill/>
                    </a:lnL>
                    <a:lnR>
                      <a:noFill/>
                    </a:lnR>
                    <a:lnT>
                      <a:noFill/>
                    </a:lnT>
                    <a:lnB>
                      <a:noFill/>
                    </a:lnB>
                    <a:solidFill>
                      <a:schemeClr val="bg1"/>
                    </a:solidFill>
                  </a:tcPr>
                </a:tc>
                <a:tc>
                  <a:txBody>
                    <a:bodyPr/>
                    <a:lstStyle/>
                    <a:p>
                      <a:pPr>
                        <a:buNone/>
                      </a:pPr>
                      <a:r>
                        <a:rPr lang="en-CA" sz="1000"/>
                        <a:t>33.38</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41.82</a:t>
                      </a:r>
                    </a:p>
                  </a:txBody>
                  <a:tcPr marL="25687" marR="25687" marT="12844" marB="12844" anchor="ctr">
                    <a:lnL>
                      <a:noFill/>
                    </a:lnL>
                    <a:lnR>
                      <a:noFill/>
                    </a:lnR>
                    <a:lnT>
                      <a:noFill/>
                    </a:lnT>
                    <a:lnB>
                      <a:noFill/>
                    </a:lnB>
                    <a:solidFill>
                      <a:schemeClr val="bg1"/>
                    </a:solidFill>
                  </a:tcPr>
                </a:tc>
                <a:tc>
                  <a:txBody>
                    <a:bodyPr/>
                    <a:lstStyle/>
                    <a:p>
                      <a:pPr>
                        <a:buNone/>
                      </a:pPr>
                      <a:r>
                        <a:rPr lang="en-CA" sz="1000"/>
                        <a:t>31.55</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tc>
                  <a:txBody>
                    <a:bodyPr/>
                    <a:lstStyle/>
                    <a:p>
                      <a:pPr>
                        <a:buNone/>
                      </a:pPr>
                      <a:r>
                        <a:rPr lang="en-CA" sz="1000"/>
                        <a:t>96.16</a:t>
                      </a:r>
                    </a:p>
                  </a:txBody>
                  <a:tcPr marL="25687" marR="25687" marT="12844" marB="12844" anchor="ctr">
                    <a:lnL>
                      <a:noFill/>
                    </a:lnL>
                    <a:lnR>
                      <a:noFill/>
                    </a:lnR>
                    <a:lnT>
                      <a:noFill/>
                    </a:lnT>
                    <a:lnB>
                      <a:noFill/>
                    </a:lnB>
                    <a:solidFill>
                      <a:schemeClr val="bg1"/>
                    </a:solidFill>
                  </a:tcPr>
                </a:tc>
                <a:tc>
                  <a:txBody>
                    <a:bodyPr/>
                    <a:lstStyle/>
                    <a:p>
                      <a:pPr>
                        <a:buNone/>
                      </a:pPr>
                      <a:r>
                        <a:rPr lang="en-CA" sz="1000"/>
                        <a:t>91.72</a:t>
                      </a:r>
                    </a:p>
                  </a:txBody>
                  <a:tcPr marL="25687" marR="25687" marT="12844" marB="12844" anchor="ctr">
                    <a:lnL>
                      <a:noFill/>
                    </a:lnL>
                    <a:lnR>
                      <a:noFill/>
                    </a:lnR>
                    <a:lnT>
                      <a:noFill/>
                    </a:lnT>
                    <a:lnB>
                      <a:noFill/>
                    </a:lnB>
                    <a:solidFill>
                      <a:schemeClr val="bg1"/>
                    </a:solidFill>
                  </a:tcPr>
                </a:tc>
                <a:tc>
                  <a:txBody>
                    <a:bodyPr/>
                    <a:lstStyle/>
                    <a:p>
                      <a:pPr>
                        <a:buNone/>
                      </a:pPr>
                      <a:endParaRPr lang="en-CA" sz="1000"/>
                    </a:p>
                  </a:txBody>
                  <a:tcPr marL="25687" marR="25687" marT="12844" marB="12844" anchor="ctr">
                    <a:lnL>
                      <a:noFill/>
                    </a:lnL>
                    <a:lnR>
                      <a:noFill/>
                    </a:lnR>
                    <a:lnT>
                      <a:noFill/>
                    </a:lnT>
                    <a:lnB>
                      <a:noFill/>
                    </a:lnB>
                    <a:solidFill>
                      <a:schemeClr val="bg1"/>
                    </a:solidFill>
                  </a:tcPr>
                </a:tc>
                <a:extLst>
                  <a:ext uri="{0D108BD9-81ED-4DB2-BD59-A6C34878D82A}">
                    <a16:rowId xmlns:a16="http://schemas.microsoft.com/office/drawing/2014/main" val="198404194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1B2A"/>
          </a:solidFill>
          <a:ln w="12700">
            <a:solidFill>
              <a:srgbClr val="0D1B2A"/>
            </a:solidFill>
            <a:prstDash val="solid"/>
          </a:ln>
        </p:spPr>
        <p:txBody>
          <a:bodyPr/>
          <a:lstStyle/>
          <a:p>
            <a:endParaRPr lang="en-CA"/>
          </a:p>
        </p:txBody>
      </p:sp>
      <p:sp>
        <p:nvSpPr>
          <p:cNvPr id="3" name="Shape 1"/>
          <p:cNvSpPr/>
          <p:nvPr/>
        </p:nvSpPr>
        <p:spPr>
          <a:xfrm>
            <a:off x="0" y="0"/>
            <a:ext cx="164592" cy="5143500"/>
          </a:xfrm>
          <a:prstGeom prst="rect">
            <a:avLst/>
          </a:prstGeom>
          <a:solidFill>
            <a:srgbClr val="0A9396"/>
          </a:solidFill>
          <a:ln w="12700">
            <a:solidFill>
              <a:srgbClr val="0A9396"/>
            </a:solidFill>
            <a:prstDash val="solid"/>
          </a:ln>
        </p:spPr>
        <p:txBody>
          <a:bodyPr/>
          <a:lstStyle/>
          <a:p>
            <a:endParaRPr lang="en-CA"/>
          </a:p>
        </p:txBody>
      </p:sp>
      <p:sp>
        <p:nvSpPr>
          <p:cNvPr id="4" name="Text 2"/>
          <p:cNvSpPr/>
          <p:nvPr/>
        </p:nvSpPr>
        <p:spPr>
          <a:xfrm>
            <a:off x="365760" y="109728"/>
            <a:ext cx="6858000" cy="64008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Input for Optimization Layer</a:t>
            </a:r>
            <a:endParaRPr lang="en-US" sz="2600"/>
          </a:p>
        </p:txBody>
      </p:sp>
      <p:sp>
        <p:nvSpPr>
          <p:cNvPr id="6" name="Shape 4"/>
          <p:cNvSpPr/>
          <p:nvPr/>
        </p:nvSpPr>
        <p:spPr>
          <a:xfrm>
            <a:off x="274320" y="1051560"/>
            <a:ext cx="4297680" cy="3520440"/>
          </a:xfrm>
          <a:prstGeom prst="rect">
            <a:avLst/>
          </a:prstGeom>
          <a:solidFill>
            <a:srgbClr val="FFFFFF"/>
          </a:solidFill>
          <a:ln w="12700">
            <a:solidFill>
              <a:srgbClr val="0A9396"/>
            </a:solidFill>
            <a:prstDash val="solid"/>
          </a:ln>
          <a:effectLst>
            <a:outerShdw blurRad="76200" dist="25400" dir="8100000" algn="bl" rotWithShape="0">
              <a:srgbClr val="000000">
                <a:alpha val="8000"/>
              </a:srgbClr>
            </a:outerShdw>
          </a:effectLst>
        </p:spPr>
        <p:txBody>
          <a:bodyPr/>
          <a:lstStyle/>
          <a:p>
            <a:endParaRPr lang="en-CA"/>
          </a:p>
        </p:txBody>
      </p:sp>
      <p:sp>
        <p:nvSpPr>
          <p:cNvPr id="7" name="Shape 5"/>
          <p:cNvSpPr/>
          <p:nvPr/>
        </p:nvSpPr>
        <p:spPr>
          <a:xfrm>
            <a:off x="301752" y="1051560"/>
            <a:ext cx="4270248" cy="384048"/>
          </a:xfrm>
          <a:prstGeom prst="rect">
            <a:avLst/>
          </a:prstGeom>
          <a:solidFill>
            <a:srgbClr val="0A9396"/>
          </a:solidFill>
          <a:ln w="12700">
            <a:solidFill>
              <a:srgbClr val="0A9396"/>
            </a:solidFill>
            <a:prstDash val="solid"/>
          </a:ln>
        </p:spPr>
        <p:txBody>
          <a:bodyPr/>
          <a:lstStyle/>
          <a:p>
            <a:endParaRPr lang="en-CA"/>
          </a:p>
        </p:txBody>
      </p:sp>
      <p:sp>
        <p:nvSpPr>
          <p:cNvPr id="8" name="Text 6"/>
          <p:cNvSpPr/>
          <p:nvPr/>
        </p:nvSpPr>
        <p:spPr>
          <a:xfrm>
            <a:off x="347472" y="1069848"/>
            <a:ext cx="4005072"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Input for Real-Time Scheduler</a:t>
            </a:r>
            <a:endParaRPr lang="en-US" sz="1300"/>
          </a:p>
        </p:txBody>
      </p:sp>
      <p:sp>
        <p:nvSpPr>
          <p:cNvPr id="9" name="Text 7"/>
          <p:cNvSpPr/>
          <p:nvPr/>
        </p:nvSpPr>
        <p:spPr>
          <a:xfrm>
            <a:off x="384048" y="1508760"/>
            <a:ext cx="3931920" cy="274320"/>
          </a:xfrm>
          <a:prstGeom prst="rect">
            <a:avLst/>
          </a:prstGeom>
          <a:noFill/>
          <a:ln/>
        </p:spPr>
        <p:txBody>
          <a:bodyPr wrap="square" rtlCol="0" anchor="ctr"/>
          <a:lstStyle/>
          <a:p>
            <a:pPr marL="0" indent="0">
              <a:buNone/>
            </a:pPr>
            <a:r>
              <a:rPr lang="en-US" sz="1000" i="1">
                <a:solidFill>
                  <a:srgbClr val="94A3B8"/>
                </a:solidFill>
                <a:latin typeface="Calibri" pitchFamily="34" charset="0"/>
                <a:ea typeface="Calibri" pitchFamily="34" charset="-122"/>
                <a:cs typeface="Calibri" pitchFamily="34" charset="-120"/>
              </a:rPr>
              <a:t>Per-collection job predictions</a:t>
            </a:r>
            <a:endParaRPr lang="en-US" sz="1000"/>
          </a:p>
        </p:txBody>
      </p:sp>
      <p:sp>
        <p:nvSpPr>
          <p:cNvPr id="10" name="Shape 8"/>
          <p:cNvSpPr/>
          <p:nvPr/>
        </p:nvSpPr>
        <p:spPr>
          <a:xfrm>
            <a:off x="384048" y="1828800"/>
            <a:ext cx="4114800" cy="502920"/>
          </a:xfrm>
          <a:prstGeom prst="rect">
            <a:avLst/>
          </a:prstGeom>
          <a:solidFill>
            <a:srgbClr val="F0FAFA"/>
          </a:solidFill>
          <a:ln w="12700">
            <a:solidFill>
              <a:srgbClr val="94D2BD"/>
            </a:solidFill>
            <a:prstDash val="solid"/>
          </a:ln>
        </p:spPr>
        <p:txBody>
          <a:bodyPr/>
          <a:lstStyle/>
          <a:p>
            <a:endParaRPr lang="en-CA"/>
          </a:p>
        </p:txBody>
      </p:sp>
      <p:sp>
        <p:nvSpPr>
          <p:cNvPr id="11" name="Text 9"/>
          <p:cNvSpPr/>
          <p:nvPr/>
        </p:nvSpPr>
        <p:spPr>
          <a:xfrm>
            <a:off x="338328" y="1865849"/>
            <a:ext cx="4270248" cy="411480"/>
          </a:xfrm>
          <a:prstGeom prst="rect">
            <a:avLst/>
          </a:prstGeom>
          <a:noFill/>
          <a:ln/>
        </p:spPr>
        <p:txBody>
          <a:bodyPr wrap="square" rtlCol="0" anchor="ctr"/>
          <a:lstStyle/>
          <a:p>
            <a:r>
              <a:rPr lang="en-US" sz="800" b="1" err="1">
                <a:solidFill>
                  <a:srgbClr val="0D1B2A"/>
                </a:solidFill>
                <a:latin typeface="Consolas" pitchFamily="34" charset="0"/>
                <a:ea typeface="Consolas" pitchFamily="34" charset="-122"/>
                <a:cs typeface="Consolas" pitchFamily="34" charset="-120"/>
              </a:rPr>
              <a:t>collection_id</a:t>
            </a:r>
            <a:r>
              <a:rPr lang="en-US" sz="800" b="1">
                <a:solidFill>
                  <a:srgbClr val="0D1B2A"/>
                </a:solidFill>
                <a:latin typeface="Consolas" pitchFamily="34" charset="0"/>
                <a:ea typeface="Consolas" pitchFamily="34" charset="-122"/>
                <a:cs typeface="Consolas" pitchFamily="34" charset="-120"/>
              </a:rPr>
              <a:t> | </a:t>
            </a:r>
            <a:r>
              <a:rPr lang="en-US" sz="800" b="1" err="1">
                <a:solidFill>
                  <a:srgbClr val="0D1B2A"/>
                </a:solidFill>
                <a:latin typeface="Consolas" pitchFamily="34" charset="0"/>
                <a:ea typeface="Consolas" pitchFamily="34" charset="-122"/>
                <a:cs typeface="Consolas" pitchFamily="34" charset="-120"/>
              </a:rPr>
              <a:t>tenant_id</a:t>
            </a:r>
            <a:r>
              <a:rPr lang="en-US" sz="800" b="1">
                <a:solidFill>
                  <a:srgbClr val="0D1B2A"/>
                </a:solidFill>
                <a:latin typeface="Consolas" pitchFamily="34" charset="0"/>
                <a:ea typeface="Consolas" pitchFamily="34" charset="-122"/>
                <a:cs typeface="Consolas" pitchFamily="34" charset="-120"/>
              </a:rPr>
              <a:t> | </a:t>
            </a:r>
            <a:r>
              <a:rPr lang="en-US" sz="800" b="1" err="1">
                <a:solidFill>
                  <a:srgbClr val="0D1B2A"/>
                </a:solidFill>
                <a:latin typeface="Consolas" pitchFamily="34" charset="0"/>
                <a:ea typeface="Consolas" pitchFamily="34" charset="-122"/>
                <a:cs typeface="Consolas" pitchFamily="34" charset="-120"/>
              </a:rPr>
              <a:t>prediction_time</a:t>
            </a:r>
            <a:r>
              <a:rPr lang="en-US" sz="800" b="1">
                <a:solidFill>
                  <a:srgbClr val="0D1B2A"/>
                </a:solidFill>
                <a:latin typeface="Consolas" pitchFamily="34" charset="0"/>
                <a:ea typeface="Consolas" pitchFamily="34" charset="-122"/>
                <a:cs typeface="Consolas" pitchFamily="34" charset="-120"/>
              </a:rPr>
              <a:t> | </a:t>
            </a:r>
            <a:r>
              <a:rPr lang="en-US" sz="800" b="1" err="1">
                <a:solidFill>
                  <a:srgbClr val="0D1B2A"/>
                </a:solidFill>
                <a:latin typeface="Consolas" pitchFamily="34" charset="0"/>
                <a:ea typeface="Consolas" pitchFamily="34" charset="-122"/>
                <a:cs typeface="Consolas" pitchFamily="34" charset="-120"/>
              </a:rPr>
              <a:t>pred_mem_mb</a:t>
            </a:r>
            <a:r>
              <a:rPr lang="en-US" sz="800" b="1">
                <a:solidFill>
                  <a:srgbClr val="0D1B2A"/>
                </a:solidFill>
                <a:latin typeface="Consolas" pitchFamily="34" charset="0"/>
                <a:ea typeface="Consolas" pitchFamily="34" charset="-122"/>
                <a:cs typeface="Consolas" pitchFamily="34" charset="-120"/>
              </a:rPr>
              <a:t> | pred_cpu_p95</a:t>
            </a:r>
            <a:endParaRPr lang="en-US" sz="800"/>
          </a:p>
        </p:txBody>
      </p:sp>
      <p:sp>
        <p:nvSpPr>
          <p:cNvPr id="12" name="Shape 10"/>
          <p:cNvSpPr/>
          <p:nvPr/>
        </p:nvSpPr>
        <p:spPr>
          <a:xfrm>
            <a:off x="384048" y="2404872"/>
            <a:ext cx="54864" cy="219456"/>
          </a:xfrm>
          <a:prstGeom prst="rect">
            <a:avLst/>
          </a:prstGeom>
          <a:solidFill>
            <a:srgbClr val="0A9396"/>
          </a:solidFill>
          <a:ln w="12700">
            <a:solidFill>
              <a:srgbClr val="0A9396"/>
            </a:solidFill>
            <a:prstDash val="solid"/>
          </a:ln>
        </p:spPr>
        <p:txBody>
          <a:bodyPr/>
          <a:lstStyle/>
          <a:p>
            <a:endParaRPr lang="en-CA" sz="2000"/>
          </a:p>
        </p:txBody>
      </p:sp>
      <p:sp>
        <p:nvSpPr>
          <p:cNvPr id="13" name="Text 11"/>
          <p:cNvSpPr/>
          <p:nvPr/>
        </p:nvSpPr>
        <p:spPr>
          <a:xfrm>
            <a:off x="512064" y="2404872"/>
            <a:ext cx="1188720" cy="228600"/>
          </a:xfrm>
          <a:prstGeom prst="rect">
            <a:avLst/>
          </a:prstGeom>
          <a:noFill/>
          <a:ln/>
        </p:spPr>
        <p:txBody>
          <a:bodyPr wrap="square" rtlCol="0" anchor="ctr"/>
          <a:lstStyle/>
          <a:p>
            <a:pPr marL="0" indent="0">
              <a:buNone/>
            </a:pPr>
            <a:r>
              <a:rPr lang="en-US" sz="900" b="1">
                <a:solidFill>
                  <a:srgbClr val="0D1B2A"/>
                </a:solidFill>
                <a:latin typeface="Calibri" pitchFamily="34" charset="0"/>
                <a:ea typeface="Calibri" pitchFamily="34" charset="-122"/>
                <a:cs typeface="Calibri" pitchFamily="34" charset="-120"/>
              </a:rPr>
              <a:t>pred_cpu_p95: </a:t>
            </a:r>
            <a:endParaRPr lang="en-US" sz="900"/>
          </a:p>
        </p:txBody>
      </p:sp>
      <p:sp>
        <p:nvSpPr>
          <p:cNvPr id="14" name="Text 12"/>
          <p:cNvSpPr/>
          <p:nvPr/>
        </p:nvSpPr>
        <p:spPr>
          <a:xfrm>
            <a:off x="1737360" y="2404872"/>
            <a:ext cx="2560320" cy="228600"/>
          </a:xfrm>
          <a:prstGeom prst="rect">
            <a:avLst/>
          </a:prstGeom>
          <a:noFill/>
          <a:ln/>
        </p:spPr>
        <p:txBody>
          <a:bodyPr wrap="square" rtlCol="0" anchor="ctr"/>
          <a:lstStyle/>
          <a:p>
            <a:pPr marL="0" indent="0">
              <a:buNone/>
            </a:pPr>
            <a:r>
              <a:rPr lang="en-US" sz="900">
                <a:solidFill>
                  <a:srgbClr val="1E293B"/>
                </a:solidFill>
                <a:latin typeface="Calibri" pitchFamily="34" charset="0"/>
                <a:ea typeface="Calibri" pitchFamily="34" charset="-122"/>
                <a:cs typeface="Calibri" pitchFamily="34" charset="-120"/>
              </a:rPr>
              <a:t>Field name kept; actual value = P90 CPU peak</a:t>
            </a:r>
            <a:endParaRPr lang="en-US" sz="900"/>
          </a:p>
        </p:txBody>
      </p:sp>
      <p:sp>
        <p:nvSpPr>
          <p:cNvPr id="15" name="Shape 13"/>
          <p:cNvSpPr/>
          <p:nvPr/>
        </p:nvSpPr>
        <p:spPr>
          <a:xfrm>
            <a:off x="384048" y="2734056"/>
            <a:ext cx="54864" cy="219456"/>
          </a:xfrm>
          <a:prstGeom prst="rect">
            <a:avLst/>
          </a:prstGeom>
          <a:solidFill>
            <a:srgbClr val="0A9396"/>
          </a:solidFill>
          <a:ln w="12700">
            <a:solidFill>
              <a:srgbClr val="0A9396"/>
            </a:solidFill>
            <a:prstDash val="solid"/>
          </a:ln>
        </p:spPr>
        <p:txBody>
          <a:bodyPr/>
          <a:lstStyle/>
          <a:p>
            <a:endParaRPr lang="en-CA" sz="2000"/>
          </a:p>
        </p:txBody>
      </p:sp>
      <p:sp>
        <p:nvSpPr>
          <p:cNvPr id="16" name="Text 14"/>
          <p:cNvSpPr/>
          <p:nvPr/>
        </p:nvSpPr>
        <p:spPr>
          <a:xfrm>
            <a:off x="512064" y="2734056"/>
            <a:ext cx="1188720" cy="228600"/>
          </a:xfrm>
          <a:prstGeom prst="rect">
            <a:avLst/>
          </a:prstGeom>
          <a:noFill/>
          <a:ln/>
        </p:spPr>
        <p:txBody>
          <a:bodyPr wrap="square" rtlCol="0" anchor="ctr"/>
          <a:lstStyle/>
          <a:p>
            <a:pPr marL="0" indent="0">
              <a:buNone/>
            </a:pPr>
            <a:r>
              <a:rPr lang="en-US" sz="900" b="1">
                <a:solidFill>
                  <a:srgbClr val="0D1B2A"/>
                </a:solidFill>
                <a:latin typeface="Calibri" pitchFamily="34" charset="0"/>
                <a:ea typeface="Calibri" pitchFamily="34" charset="-122"/>
                <a:cs typeface="Calibri" pitchFamily="34" charset="-120"/>
              </a:rPr>
              <a:t>pred_mem_mb: </a:t>
            </a:r>
            <a:endParaRPr lang="en-US" sz="900"/>
          </a:p>
        </p:txBody>
      </p:sp>
      <p:sp>
        <p:nvSpPr>
          <p:cNvPr id="17" name="Text 15"/>
          <p:cNvSpPr/>
          <p:nvPr/>
        </p:nvSpPr>
        <p:spPr>
          <a:xfrm>
            <a:off x="1737360" y="2734056"/>
            <a:ext cx="2560320" cy="228600"/>
          </a:xfrm>
          <a:prstGeom prst="rect">
            <a:avLst/>
          </a:prstGeom>
          <a:noFill/>
          <a:ln/>
        </p:spPr>
        <p:txBody>
          <a:bodyPr wrap="square" rtlCol="0" anchor="ctr"/>
          <a:lstStyle/>
          <a:p>
            <a:pPr marL="0" indent="0">
              <a:buNone/>
            </a:pPr>
            <a:r>
              <a:rPr lang="en-US" sz="900">
                <a:solidFill>
                  <a:srgbClr val="1E293B"/>
                </a:solidFill>
                <a:latin typeface="Calibri" pitchFamily="34" charset="0"/>
                <a:ea typeface="Calibri" pitchFamily="34" charset="-122"/>
                <a:cs typeface="Calibri" pitchFamily="34" charset="-120"/>
              </a:rPr>
              <a:t>Peak memory over job lifetime / 30-min cap</a:t>
            </a:r>
            <a:endParaRPr lang="en-US" sz="900"/>
          </a:p>
        </p:txBody>
      </p:sp>
      <p:sp>
        <p:nvSpPr>
          <p:cNvPr id="18" name="Shape 16"/>
          <p:cNvSpPr/>
          <p:nvPr/>
        </p:nvSpPr>
        <p:spPr>
          <a:xfrm>
            <a:off x="384048" y="3063240"/>
            <a:ext cx="54864" cy="219456"/>
          </a:xfrm>
          <a:prstGeom prst="rect">
            <a:avLst/>
          </a:prstGeom>
          <a:solidFill>
            <a:srgbClr val="0A9396"/>
          </a:solidFill>
          <a:ln w="12700">
            <a:solidFill>
              <a:srgbClr val="0A9396"/>
            </a:solidFill>
            <a:prstDash val="solid"/>
          </a:ln>
        </p:spPr>
        <p:txBody>
          <a:bodyPr/>
          <a:lstStyle/>
          <a:p>
            <a:endParaRPr lang="en-CA" sz="2000"/>
          </a:p>
        </p:txBody>
      </p:sp>
      <p:sp>
        <p:nvSpPr>
          <p:cNvPr id="19" name="Text 17"/>
          <p:cNvSpPr/>
          <p:nvPr/>
        </p:nvSpPr>
        <p:spPr>
          <a:xfrm>
            <a:off x="512064" y="3063240"/>
            <a:ext cx="1188720" cy="228600"/>
          </a:xfrm>
          <a:prstGeom prst="rect">
            <a:avLst/>
          </a:prstGeom>
          <a:noFill/>
          <a:ln/>
        </p:spPr>
        <p:txBody>
          <a:bodyPr wrap="square" rtlCol="0" anchor="ctr"/>
          <a:lstStyle/>
          <a:p>
            <a:pPr marL="0" indent="0">
              <a:buNone/>
            </a:pPr>
            <a:r>
              <a:rPr lang="en-US" sz="900" b="1">
                <a:solidFill>
                  <a:srgbClr val="0D1B2A"/>
                </a:solidFill>
                <a:latin typeface="Calibri" pitchFamily="34" charset="0"/>
                <a:ea typeface="Calibri" pitchFamily="34" charset="-122"/>
                <a:cs typeface="Calibri" pitchFamily="34" charset="-120"/>
              </a:rPr>
              <a:t>Aggregation: </a:t>
            </a:r>
            <a:endParaRPr lang="en-US" sz="900"/>
          </a:p>
        </p:txBody>
      </p:sp>
      <p:sp>
        <p:nvSpPr>
          <p:cNvPr id="20" name="Text 18"/>
          <p:cNvSpPr/>
          <p:nvPr/>
        </p:nvSpPr>
        <p:spPr>
          <a:xfrm>
            <a:off x="1737360" y="3063240"/>
            <a:ext cx="2560320" cy="228600"/>
          </a:xfrm>
          <a:prstGeom prst="rect">
            <a:avLst/>
          </a:prstGeom>
          <a:noFill/>
          <a:ln/>
        </p:spPr>
        <p:txBody>
          <a:bodyPr wrap="square" rtlCol="0" anchor="ctr"/>
          <a:lstStyle/>
          <a:p>
            <a:pPr marL="0" indent="0">
              <a:buNone/>
            </a:pPr>
            <a:r>
              <a:rPr lang="en-US" sz="900">
                <a:solidFill>
                  <a:srgbClr val="1E293B"/>
                </a:solidFill>
                <a:latin typeface="Calibri" pitchFamily="34" charset="0"/>
                <a:ea typeface="Calibri" pitchFamily="34" charset="-122"/>
                <a:cs typeface="Calibri" pitchFamily="34" charset="-120"/>
              </a:rPr>
              <a:t>LSTM predicts at instance level → aggregated to collection_id</a:t>
            </a:r>
            <a:endParaRPr lang="en-US" sz="900"/>
          </a:p>
        </p:txBody>
      </p:sp>
      <p:sp>
        <p:nvSpPr>
          <p:cNvPr id="21" name="Shape 19"/>
          <p:cNvSpPr/>
          <p:nvPr/>
        </p:nvSpPr>
        <p:spPr>
          <a:xfrm>
            <a:off x="384048" y="3392424"/>
            <a:ext cx="54864" cy="219456"/>
          </a:xfrm>
          <a:prstGeom prst="rect">
            <a:avLst/>
          </a:prstGeom>
          <a:solidFill>
            <a:srgbClr val="0A9396"/>
          </a:solidFill>
          <a:ln w="12700">
            <a:solidFill>
              <a:srgbClr val="0A9396"/>
            </a:solidFill>
            <a:prstDash val="solid"/>
          </a:ln>
        </p:spPr>
        <p:txBody>
          <a:bodyPr/>
          <a:lstStyle/>
          <a:p>
            <a:endParaRPr lang="en-CA" sz="2000"/>
          </a:p>
        </p:txBody>
      </p:sp>
      <p:sp>
        <p:nvSpPr>
          <p:cNvPr id="22" name="Text 20"/>
          <p:cNvSpPr/>
          <p:nvPr/>
        </p:nvSpPr>
        <p:spPr>
          <a:xfrm>
            <a:off x="512064" y="3392424"/>
            <a:ext cx="1188720" cy="228600"/>
          </a:xfrm>
          <a:prstGeom prst="rect">
            <a:avLst/>
          </a:prstGeom>
          <a:noFill/>
          <a:ln/>
        </p:spPr>
        <p:txBody>
          <a:bodyPr wrap="square" rtlCol="0" anchor="ctr"/>
          <a:lstStyle/>
          <a:p>
            <a:pPr marL="0" indent="0">
              <a:buNone/>
            </a:pPr>
            <a:r>
              <a:rPr lang="en-US" sz="900" b="1">
                <a:solidFill>
                  <a:srgbClr val="0D1B2A"/>
                </a:solidFill>
                <a:latin typeface="Calibri" pitchFamily="34" charset="0"/>
                <a:ea typeface="Calibri" pitchFamily="34" charset="-122"/>
                <a:cs typeface="Calibri" pitchFamily="34" charset="-120"/>
              </a:rPr>
              <a:t>Fallback logic: </a:t>
            </a:r>
            <a:endParaRPr lang="en-US" sz="900"/>
          </a:p>
        </p:txBody>
      </p:sp>
      <p:sp>
        <p:nvSpPr>
          <p:cNvPr id="23" name="Text 21"/>
          <p:cNvSpPr/>
          <p:nvPr/>
        </p:nvSpPr>
        <p:spPr>
          <a:xfrm>
            <a:off x="1737360" y="3392424"/>
            <a:ext cx="2560320" cy="228600"/>
          </a:xfrm>
          <a:prstGeom prst="rect">
            <a:avLst/>
          </a:prstGeom>
          <a:noFill/>
          <a:ln/>
        </p:spPr>
        <p:txBody>
          <a:bodyPr wrap="square" rtlCol="0" anchor="ctr"/>
          <a:lstStyle/>
          <a:p>
            <a:pPr marL="0" indent="0">
              <a:buNone/>
            </a:pPr>
            <a:r>
              <a:rPr lang="en-US" sz="900">
                <a:solidFill>
                  <a:srgbClr val="1E293B"/>
                </a:solidFill>
                <a:latin typeface="Calibri" pitchFamily="34" charset="0"/>
                <a:ea typeface="Calibri" pitchFamily="34" charset="-122"/>
                <a:cs typeface="Calibri" pitchFamily="34" charset="-120"/>
              </a:rPr>
              <a:t>Known ID → prediction | Known tenant → tenant median | Unknown → global median</a:t>
            </a:r>
            <a:endParaRPr lang="en-US" sz="900"/>
          </a:p>
        </p:txBody>
      </p:sp>
      <p:sp>
        <p:nvSpPr>
          <p:cNvPr id="24" name="Shape 22"/>
          <p:cNvSpPr/>
          <p:nvPr/>
        </p:nvSpPr>
        <p:spPr>
          <a:xfrm>
            <a:off x="384048" y="3721608"/>
            <a:ext cx="54864" cy="219456"/>
          </a:xfrm>
          <a:prstGeom prst="rect">
            <a:avLst/>
          </a:prstGeom>
          <a:solidFill>
            <a:srgbClr val="0A9396"/>
          </a:solidFill>
          <a:ln w="12700">
            <a:solidFill>
              <a:srgbClr val="0A9396"/>
            </a:solidFill>
            <a:prstDash val="solid"/>
          </a:ln>
        </p:spPr>
        <p:txBody>
          <a:bodyPr/>
          <a:lstStyle/>
          <a:p>
            <a:endParaRPr lang="en-CA" sz="2000"/>
          </a:p>
        </p:txBody>
      </p:sp>
      <p:sp>
        <p:nvSpPr>
          <p:cNvPr id="25" name="Text 23"/>
          <p:cNvSpPr/>
          <p:nvPr/>
        </p:nvSpPr>
        <p:spPr>
          <a:xfrm>
            <a:off x="512064" y="3721608"/>
            <a:ext cx="1188720" cy="228600"/>
          </a:xfrm>
          <a:prstGeom prst="rect">
            <a:avLst/>
          </a:prstGeom>
          <a:noFill/>
          <a:ln/>
        </p:spPr>
        <p:txBody>
          <a:bodyPr wrap="square" rtlCol="0" anchor="ctr"/>
          <a:lstStyle/>
          <a:p>
            <a:pPr marL="0" indent="0">
              <a:buNone/>
            </a:pPr>
            <a:r>
              <a:rPr lang="en-US" sz="900" b="1">
                <a:solidFill>
                  <a:srgbClr val="0D1B2A"/>
                </a:solidFill>
                <a:latin typeface="Calibri" pitchFamily="34" charset="0"/>
                <a:ea typeface="Calibri" pitchFamily="34" charset="-122"/>
                <a:cs typeface="Calibri" pitchFamily="34" charset="-120"/>
              </a:rPr>
              <a:t>Input files: </a:t>
            </a:r>
            <a:endParaRPr lang="en-US" sz="900"/>
          </a:p>
        </p:txBody>
      </p:sp>
      <p:sp>
        <p:nvSpPr>
          <p:cNvPr id="26" name="Text 24"/>
          <p:cNvSpPr/>
          <p:nvPr/>
        </p:nvSpPr>
        <p:spPr>
          <a:xfrm>
            <a:off x="1737360" y="3721608"/>
            <a:ext cx="2560320" cy="228600"/>
          </a:xfrm>
          <a:prstGeom prst="rect">
            <a:avLst/>
          </a:prstGeom>
          <a:noFill/>
          <a:ln/>
        </p:spPr>
        <p:txBody>
          <a:bodyPr wrap="square" rtlCol="0" anchor="ctr"/>
          <a:lstStyle/>
          <a:p>
            <a:r>
              <a:rPr lang="en-US" sz="900">
                <a:solidFill>
                  <a:srgbClr val="1E293B"/>
                </a:solidFill>
                <a:latin typeface="Calibri" pitchFamily="34" charset="0"/>
                <a:ea typeface="Calibri" pitchFamily="34" charset="-122"/>
                <a:cs typeface="Calibri" pitchFamily="34" charset="-120"/>
              </a:rPr>
              <a:t>real_time_memory_part_output.csv + real_time_cpu_part_output.csv</a:t>
            </a:r>
            <a:endParaRPr lang="en-US" sz="900"/>
          </a:p>
        </p:txBody>
      </p:sp>
      <p:sp>
        <p:nvSpPr>
          <p:cNvPr id="27" name="Shape 25"/>
          <p:cNvSpPr/>
          <p:nvPr/>
        </p:nvSpPr>
        <p:spPr>
          <a:xfrm>
            <a:off x="384048" y="4050792"/>
            <a:ext cx="54864" cy="219456"/>
          </a:xfrm>
          <a:prstGeom prst="rect">
            <a:avLst/>
          </a:prstGeom>
          <a:solidFill>
            <a:srgbClr val="0A9396"/>
          </a:solidFill>
          <a:ln w="12700">
            <a:solidFill>
              <a:srgbClr val="0A9396"/>
            </a:solidFill>
            <a:prstDash val="solid"/>
          </a:ln>
        </p:spPr>
        <p:txBody>
          <a:bodyPr/>
          <a:lstStyle/>
          <a:p>
            <a:endParaRPr lang="en-CA" sz="2000"/>
          </a:p>
        </p:txBody>
      </p:sp>
      <p:sp>
        <p:nvSpPr>
          <p:cNvPr id="28" name="Text 26"/>
          <p:cNvSpPr/>
          <p:nvPr/>
        </p:nvSpPr>
        <p:spPr>
          <a:xfrm>
            <a:off x="512064" y="4050792"/>
            <a:ext cx="1188720" cy="228600"/>
          </a:xfrm>
          <a:prstGeom prst="rect">
            <a:avLst/>
          </a:prstGeom>
          <a:noFill/>
          <a:ln/>
        </p:spPr>
        <p:txBody>
          <a:bodyPr wrap="square" rtlCol="0" anchor="ctr"/>
          <a:lstStyle/>
          <a:p>
            <a:pPr marL="0" indent="0">
              <a:buNone/>
            </a:pPr>
            <a:r>
              <a:rPr lang="en-US" sz="900" b="1">
                <a:solidFill>
                  <a:srgbClr val="0D1B2A"/>
                </a:solidFill>
                <a:latin typeface="Calibri" pitchFamily="34" charset="0"/>
                <a:ea typeface="Calibri" pitchFamily="34" charset="-122"/>
                <a:cs typeface="Calibri" pitchFamily="34" charset="-120"/>
              </a:rPr>
              <a:t>Merge key: </a:t>
            </a:r>
            <a:endParaRPr lang="en-US" sz="900"/>
          </a:p>
        </p:txBody>
      </p:sp>
      <p:sp>
        <p:nvSpPr>
          <p:cNvPr id="29" name="Text 27"/>
          <p:cNvSpPr/>
          <p:nvPr/>
        </p:nvSpPr>
        <p:spPr>
          <a:xfrm>
            <a:off x="1737360" y="4050792"/>
            <a:ext cx="2560320" cy="228600"/>
          </a:xfrm>
          <a:prstGeom prst="rect">
            <a:avLst/>
          </a:prstGeom>
          <a:noFill/>
          <a:ln/>
        </p:spPr>
        <p:txBody>
          <a:bodyPr wrap="square" rtlCol="0" anchor="ctr"/>
          <a:lstStyle/>
          <a:p>
            <a:pPr marL="0" indent="0">
              <a:buNone/>
            </a:pPr>
            <a:r>
              <a:rPr lang="en-US" sz="900">
                <a:solidFill>
                  <a:srgbClr val="1E293B"/>
                </a:solidFill>
                <a:latin typeface="Calibri" pitchFamily="34" charset="0"/>
                <a:ea typeface="Calibri" pitchFamily="34" charset="-122"/>
                <a:cs typeface="Calibri" pitchFamily="34" charset="-120"/>
              </a:rPr>
              <a:t>collection_id + tenant_id + prediction_time</a:t>
            </a:r>
            <a:endParaRPr lang="en-US" sz="900"/>
          </a:p>
        </p:txBody>
      </p:sp>
      <p:sp>
        <p:nvSpPr>
          <p:cNvPr id="30" name="Shape 28"/>
          <p:cNvSpPr/>
          <p:nvPr/>
        </p:nvSpPr>
        <p:spPr>
          <a:xfrm>
            <a:off x="4709160" y="1051560"/>
            <a:ext cx="4160520" cy="3520440"/>
          </a:xfrm>
          <a:prstGeom prst="rect">
            <a:avLst/>
          </a:prstGeom>
          <a:solidFill>
            <a:srgbClr val="FFFFFF"/>
          </a:solidFill>
          <a:ln w="12700">
            <a:solidFill>
              <a:srgbClr val="EE9B00"/>
            </a:solidFill>
            <a:prstDash val="solid"/>
          </a:ln>
          <a:effectLst>
            <a:outerShdw blurRad="76200" dist="25400" dir="8100000" algn="bl" rotWithShape="0">
              <a:srgbClr val="000000">
                <a:alpha val="8000"/>
              </a:srgbClr>
            </a:outerShdw>
          </a:effectLst>
        </p:spPr>
        <p:txBody>
          <a:bodyPr/>
          <a:lstStyle/>
          <a:p>
            <a:endParaRPr lang="en-CA"/>
          </a:p>
        </p:txBody>
      </p:sp>
      <p:sp>
        <p:nvSpPr>
          <p:cNvPr id="31" name="Shape 29"/>
          <p:cNvSpPr/>
          <p:nvPr/>
        </p:nvSpPr>
        <p:spPr>
          <a:xfrm>
            <a:off x="4709160" y="1051560"/>
            <a:ext cx="4160520" cy="384048"/>
          </a:xfrm>
          <a:prstGeom prst="rect">
            <a:avLst/>
          </a:prstGeom>
          <a:solidFill>
            <a:srgbClr val="EE9B00"/>
          </a:solidFill>
          <a:ln w="12700">
            <a:solidFill>
              <a:srgbClr val="EE9B00"/>
            </a:solidFill>
            <a:prstDash val="solid"/>
          </a:ln>
        </p:spPr>
        <p:txBody>
          <a:bodyPr/>
          <a:lstStyle/>
          <a:p>
            <a:endParaRPr lang="en-CA"/>
          </a:p>
        </p:txBody>
      </p:sp>
      <p:sp>
        <p:nvSpPr>
          <p:cNvPr id="32" name="Text 30"/>
          <p:cNvSpPr/>
          <p:nvPr/>
        </p:nvSpPr>
        <p:spPr>
          <a:xfrm>
            <a:off x="4782312" y="1069848"/>
            <a:ext cx="4005072" cy="347472"/>
          </a:xfrm>
          <a:prstGeom prst="rect">
            <a:avLst/>
          </a:prstGeom>
          <a:noFill/>
          <a:ln/>
        </p:spPr>
        <p:txBody>
          <a:bodyPr wrap="square" rtlCol="0" anchor="ctr"/>
          <a:lstStyle/>
          <a:p>
            <a:pPr marL="0" indent="0">
              <a:buNone/>
            </a:pPr>
            <a:r>
              <a:rPr lang="en-US" sz="1300" b="1">
                <a:solidFill>
                  <a:srgbClr val="FFFFFF"/>
                </a:solidFill>
                <a:latin typeface="Calibri" pitchFamily="34" charset="0"/>
                <a:ea typeface="Calibri" pitchFamily="34" charset="-122"/>
                <a:cs typeface="Calibri" pitchFamily="34" charset="-120"/>
              </a:rPr>
              <a:t>Input for Plan-Ahead Scheduler</a:t>
            </a:r>
            <a:endParaRPr lang="en-US" sz="1300"/>
          </a:p>
        </p:txBody>
      </p:sp>
      <p:sp>
        <p:nvSpPr>
          <p:cNvPr id="33" name="Text 31"/>
          <p:cNvSpPr/>
          <p:nvPr/>
        </p:nvSpPr>
        <p:spPr>
          <a:xfrm>
            <a:off x="4818888" y="1508760"/>
            <a:ext cx="3931920" cy="274320"/>
          </a:xfrm>
          <a:prstGeom prst="rect">
            <a:avLst/>
          </a:prstGeom>
          <a:noFill/>
          <a:ln/>
        </p:spPr>
        <p:txBody>
          <a:bodyPr wrap="square" rtlCol="0" anchor="ctr"/>
          <a:lstStyle/>
          <a:p>
            <a:pPr marL="0" indent="0">
              <a:buNone/>
            </a:pPr>
            <a:r>
              <a:rPr lang="en-US" sz="1000" i="1">
                <a:solidFill>
                  <a:srgbClr val="94A3B8"/>
                </a:solidFill>
                <a:latin typeface="Calibri" pitchFamily="34" charset="0"/>
                <a:ea typeface="Calibri" pitchFamily="34" charset="-122"/>
                <a:cs typeface="Calibri" pitchFamily="34" charset="-120"/>
              </a:rPr>
              <a:t>Aggregate tenant-period demand</a:t>
            </a:r>
            <a:endParaRPr lang="en-US" sz="1000"/>
          </a:p>
        </p:txBody>
      </p:sp>
      <p:sp>
        <p:nvSpPr>
          <p:cNvPr id="34" name="Shape 32"/>
          <p:cNvSpPr/>
          <p:nvPr/>
        </p:nvSpPr>
        <p:spPr>
          <a:xfrm>
            <a:off x="4818888" y="1828800"/>
            <a:ext cx="3840480" cy="502920"/>
          </a:xfrm>
          <a:prstGeom prst="rect">
            <a:avLst/>
          </a:prstGeom>
          <a:solidFill>
            <a:srgbClr val="FFFBF0"/>
          </a:solidFill>
          <a:ln w="12700">
            <a:solidFill>
              <a:srgbClr val="FDE68A"/>
            </a:solidFill>
            <a:prstDash val="solid"/>
          </a:ln>
        </p:spPr>
        <p:txBody>
          <a:bodyPr/>
          <a:lstStyle/>
          <a:p>
            <a:endParaRPr lang="en-CA"/>
          </a:p>
        </p:txBody>
      </p:sp>
      <p:sp>
        <p:nvSpPr>
          <p:cNvPr id="35" name="Text 33"/>
          <p:cNvSpPr/>
          <p:nvPr/>
        </p:nvSpPr>
        <p:spPr>
          <a:xfrm>
            <a:off x="4892040" y="1874520"/>
            <a:ext cx="3703320" cy="411480"/>
          </a:xfrm>
          <a:prstGeom prst="rect">
            <a:avLst/>
          </a:prstGeom>
          <a:noFill/>
          <a:ln/>
        </p:spPr>
        <p:txBody>
          <a:bodyPr wrap="square" rtlCol="0" anchor="ctr"/>
          <a:lstStyle/>
          <a:p>
            <a:pPr marL="0" indent="0">
              <a:buNone/>
            </a:pPr>
            <a:r>
              <a:rPr lang="en-US" sz="800" b="1">
                <a:solidFill>
                  <a:srgbClr val="0D1B2A"/>
                </a:solidFill>
                <a:latin typeface="Consolas" pitchFamily="34" charset="0"/>
                <a:ea typeface="Consolas" pitchFamily="34" charset="-122"/>
                <a:cs typeface="Consolas" pitchFamily="34" charset="-120"/>
              </a:rPr>
              <a:t>tenant_id  |  period_index (0, 6, 12, 18)  |  u  |  sigma2</a:t>
            </a:r>
            <a:endParaRPr lang="en-US" sz="800"/>
          </a:p>
        </p:txBody>
      </p:sp>
      <p:sp>
        <p:nvSpPr>
          <p:cNvPr id="36" name="Shape 34"/>
          <p:cNvSpPr/>
          <p:nvPr/>
        </p:nvSpPr>
        <p:spPr>
          <a:xfrm>
            <a:off x="4818888" y="2404872"/>
            <a:ext cx="54864" cy="219456"/>
          </a:xfrm>
          <a:prstGeom prst="rect">
            <a:avLst/>
          </a:prstGeom>
          <a:solidFill>
            <a:srgbClr val="EE9B00"/>
          </a:solidFill>
          <a:ln w="12700">
            <a:solidFill>
              <a:srgbClr val="EE9B00"/>
            </a:solidFill>
            <a:prstDash val="solid"/>
          </a:ln>
        </p:spPr>
        <p:txBody>
          <a:bodyPr/>
          <a:lstStyle/>
          <a:p>
            <a:endParaRPr lang="en-CA" sz="2000"/>
          </a:p>
        </p:txBody>
      </p:sp>
      <p:sp>
        <p:nvSpPr>
          <p:cNvPr id="37" name="Text 35"/>
          <p:cNvSpPr/>
          <p:nvPr/>
        </p:nvSpPr>
        <p:spPr>
          <a:xfrm>
            <a:off x="4946904" y="2404872"/>
            <a:ext cx="1188720" cy="228600"/>
          </a:xfrm>
          <a:prstGeom prst="rect">
            <a:avLst/>
          </a:prstGeom>
          <a:noFill/>
          <a:ln/>
        </p:spPr>
        <p:txBody>
          <a:bodyPr wrap="square" rtlCol="0" anchor="ctr"/>
          <a:lstStyle/>
          <a:p>
            <a:pPr marL="0" indent="0">
              <a:buNone/>
            </a:pPr>
            <a:r>
              <a:rPr lang="en-US" sz="900" b="1">
                <a:solidFill>
                  <a:srgbClr val="0D1B2A"/>
                </a:solidFill>
                <a:latin typeface="Calibri" pitchFamily="34" charset="0"/>
                <a:ea typeface="Calibri" pitchFamily="34" charset="-122"/>
                <a:cs typeface="Calibri" pitchFamily="34" charset="-120"/>
              </a:rPr>
              <a:t>u[i,h]: </a:t>
            </a:r>
            <a:endParaRPr lang="en-US" sz="900"/>
          </a:p>
        </p:txBody>
      </p:sp>
      <p:sp>
        <p:nvSpPr>
          <p:cNvPr id="38" name="Text 36"/>
          <p:cNvSpPr/>
          <p:nvPr/>
        </p:nvSpPr>
        <p:spPr>
          <a:xfrm>
            <a:off x="6172200" y="2404872"/>
            <a:ext cx="2560320" cy="228600"/>
          </a:xfrm>
          <a:prstGeom prst="rect">
            <a:avLst/>
          </a:prstGeom>
          <a:noFill/>
          <a:ln/>
        </p:spPr>
        <p:txBody>
          <a:bodyPr wrap="square" rtlCol="0" anchor="ctr"/>
          <a:lstStyle/>
          <a:p>
            <a:pPr marL="0" indent="0">
              <a:buNone/>
            </a:pPr>
            <a:r>
              <a:rPr lang="en-US" sz="900">
                <a:solidFill>
                  <a:srgbClr val="1E293B"/>
                </a:solidFill>
                <a:latin typeface="Calibri" pitchFamily="34" charset="0"/>
                <a:ea typeface="Calibri" pitchFamily="34" charset="-122"/>
                <a:cs typeface="Calibri" pitchFamily="34" charset="-120"/>
              </a:rPr>
              <a:t>Sum of predicted peak memory for tenant i in period h</a:t>
            </a:r>
            <a:endParaRPr lang="en-US" sz="900"/>
          </a:p>
        </p:txBody>
      </p:sp>
      <p:sp>
        <p:nvSpPr>
          <p:cNvPr id="39" name="Shape 37"/>
          <p:cNvSpPr/>
          <p:nvPr/>
        </p:nvSpPr>
        <p:spPr>
          <a:xfrm>
            <a:off x="4818888" y="2734056"/>
            <a:ext cx="54864" cy="219456"/>
          </a:xfrm>
          <a:prstGeom prst="rect">
            <a:avLst/>
          </a:prstGeom>
          <a:solidFill>
            <a:srgbClr val="EE9B00"/>
          </a:solidFill>
          <a:ln w="12700">
            <a:solidFill>
              <a:srgbClr val="EE9B00"/>
            </a:solidFill>
            <a:prstDash val="solid"/>
          </a:ln>
        </p:spPr>
        <p:txBody>
          <a:bodyPr/>
          <a:lstStyle/>
          <a:p>
            <a:endParaRPr lang="en-CA" sz="2000"/>
          </a:p>
        </p:txBody>
      </p:sp>
      <p:sp>
        <p:nvSpPr>
          <p:cNvPr id="40" name="Text 38"/>
          <p:cNvSpPr/>
          <p:nvPr/>
        </p:nvSpPr>
        <p:spPr>
          <a:xfrm>
            <a:off x="4946904" y="2734056"/>
            <a:ext cx="1188720" cy="228600"/>
          </a:xfrm>
          <a:prstGeom prst="rect">
            <a:avLst/>
          </a:prstGeom>
          <a:noFill/>
          <a:ln/>
        </p:spPr>
        <p:txBody>
          <a:bodyPr wrap="square" rtlCol="0" anchor="ctr"/>
          <a:lstStyle/>
          <a:p>
            <a:pPr marL="0" indent="0">
              <a:buNone/>
            </a:pPr>
            <a:r>
              <a:rPr lang="en-US" sz="900" b="1">
                <a:solidFill>
                  <a:srgbClr val="0D1B2A"/>
                </a:solidFill>
                <a:latin typeface="Calibri" pitchFamily="34" charset="0"/>
                <a:ea typeface="Calibri" pitchFamily="34" charset="-122"/>
                <a:cs typeface="Calibri" pitchFamily="34" charset="-120"/>
              </a:rPr>
              <a:t>sigma2[i,h]: </a:t>
            </a:r>
            <a:endParaRPr lang="en-US" sz="900"/>
          </a:p>
        </p:txBody>
      </p:sp>
      <p:sp>
        <p:nvSpPr>
          <p:cNvPr id="41" name="Text 39"/>
          <p:cNvSpPr/>
          <p:nvPr/>
        </p:nvSpPr>
        <p:spPr>
          <a:xfrm>
            <a:off x="6172200" y="2734056"/>
            <a:ext cx="2560320" cy="228600"/>
          </a:xfrm>
          <a:prstGeom prst="rect">
            <a:avLst/>
          </a:prstGeom>
          <a:noFill/>
          <a:ln/>
        </p:spPr>
        <p:txBody>
          <a:bodyPr wrap="square" rtlCol="0" anchor="ctr"/>
          <a:lstStyle/>
          <a:p>
            <a:pPr marL="0" indent="0">
              <a:buNone/>
            </a:pPr>
            <a:r>
              <a:rPr lang="en-US" sz="900">
                <a:solidFill>
                  <a:srgbClr val="1E293B"/>
                </a:solidFill>
                <a:latin typeface="Calibri" pitchFamily="34" charset="0"/>
                <a:ea typeface="Calibri" pitchFamily="34" charset="-122"/>
                <a:cs typeface="Calibri" pitchFamily="34" charset="-120"/>
              </a:rPr>
              <a:t>Variance estimate; fallback = (0.20 × u)² if unavailable</a:t>
            </a:r>
            <a:endParaRPr lang="en-US" sz="900"/>
          </a:p>
        </p:txBody>
      </p:sp>
      <p:sp>
        <p:nvSpPr>
          <p:cNvPr id="42" name="Shape 40"/>
          <p:cNvSpPr/>
          <p:nvPr/>
        </p:nvSpPr>
        <p:spPr>
          <a:xfrm>
            <a:off x="4818888" y="3063240"/>
            <a:ext cx="54864" cy="219456"/>
          </a:xfrm>
          <a:prstGeom prst="rect">
            <a:avLst/>
          </a:prstGeom>
          <a:solidFill>
            <a:srgbClr val="EE9B00"/>
          </a:solidFill>
          <a:ln w="12700">
            <a:solidFill>
              <a:srgbClr val="EE9B00"/>
            </a:solidFill>
            <a:prstDash val="solid"/>
          </a:ln>
        </p:spPr>
        <p:txBody>
          <a:bodyPr/>
          <a:lstStyle/>
          <a:p>
            <a:endParaRPr lang="en-CA" sz="2000"/>
          </a:p>
        </p:txBody>
      </p:sp>
      <p:sp>
        <p:nvSpPr>
          <p:cNvPr id="43" name="Text 41"/>
          <p:cNvSpPr/>
          <p:nvPr/>
        </p:nvSpPr>
        <p:spPr>
          <a:xfrm>
            <a:off x="4946904" y="3063240"/>
            <a:ext cx="1188720" cy="228600"/>
          </a:xfrm>
          <a:prstGeom prst="rect">
            <a:avLst/>
          </a:prstGeom>
          <a:noFill/>
          <a:ln/>
        </p:spPr>
        <p:txBody>
          <a:bodyPr wrap="square" rtlCol="0" anchor="ctr"/>
          <a:lstStyle/>
          <a:p>
            <a:pPr marL="0" indent="0">
              <a:buNone/>
            </a:pPr>
            <a:r>
              <a:rPr lang="en-US" sz="900" b="1">
                <a:solidFill>
                  <a:srgbClr val="0D1B2A"/>
                </a:solidFill>
                <a:latin typeface="Calibri" pitchFamily="34" charset="0"/>
                <a:ea typeface="Calibri" pitchFamily="34" charset="-122"/>
                <a:cs typeface="Calibri" pitchFamily="34" charset="-120"/>
              </a:rPr>
              <a:t>Grid: </a:t>
            </a:r>
            <a:endParaRPr lang="en-US" sz="900"/>
          </a:p>
        </p:txBody>
      </p:sp>
      <p:sp>
        <p:nvSpPr>
          <p:cNvPr id="44" name="Text 42"/>
          <p:cNvSpPr/>
          <p:nvPr/>
        </p:nvSpPr>
        <p:spPr>
          <a:xfrm>
            <a:off x="6172200" y="3063240"/>
            <a:ext cx="2560320" cy="228600"/>
          </a:xfrm>
          <a:prstGeom prst="rect">
            <a:avLst/>
          </a:prstGeom>
          <a:noFill/>
          <a:ln/>
        </p:spPr>
        <p:txBody>
          <a:bodyPr wrap="square" rtlCol="0" anchor="ctr"/>
          <a:lstStyle/>
          <a:p>
            <a:pPr marL="0" indent="0">
              <a:buNone/>
            </a:pPr>
            <a:r>
              <a:rPr lang="en-US" sz="900">
                <a:solidFill>
                  <a:srgbClr val="1E293B"/>
                </a:solidFill>
                <a:latin typeface="Calibri" pitchFamily="34" charset="0"/>
                <a:ea typeface="Calibri" pitchFamily="34" charset="-122"/>
                <a:cs typeface="Calibri" pitchFamily="34" charset="-120"/>
              </a:rPr>
              <a:t>Full 9 tenants × 4 periods = 36 rows (no nulls)</a:t>
            </a:r>
            <a:endParaRPr lang="en-US" sz="900"/>
          </a:p>
        </p:txBody>
      </p:sp>
      <p:sp>
        <p:nvSpPr>
          <p:cNvPr id="45" name="Shape 43"/>
          <p:cNvSpPr/>
          <p:nvPr/>
        </p:nvSpPr>
        <p:spPr>
          <a:xfrm>
            <a:off x="4818888" y="3392424"/>
            <a:ext cx="54864" cy="219456"/>
          </a:xfrm>
          <a:prstGeom prst="rect">
            <a:avLst/>
          </a:prstGeom>
          <a:solidFill>
            <a:srgbClr val="EE9B00"/>
          </a:solidFill>
          <a:ln w="12700">
            <a:solidFill>
              <a:srgbClr val="EE9B00"/>
            </a:solidFill>
            <a:prstDash val="solid"/>
          </a:ln>
        </p:spPr>
        <p:txBody>
          <a:bodyPr/>
          <a:lstStyle/>
          <a:p>
            <a:endParaRPr lang="en-CA" sz="2000"/>
          </a:p>
        </p:txBody>
      </p:sp>
      <p:sp>
        <p:nvSpPr>
          <p:cNvPr id="46" name="Text 44"/>
          <p:cNvSpPr/>
          <p:nvPr/>
        </p:nvSpPr>
        <p:spPr>
          <a:xfrm>
            <a:off x="4946904" y="3392424"/>
            <a:ext cx="1188720" cy="228600"/>
          </a:xfrm>
          <a:prstGeom prst="rect">
            <a:avLst/>
          </a:prstGeom>
          <a:noFill/>
          <a:ln/>
        </p:spPr>
        <p:txBody>
          <a:bodyPr wrap="square" rtlCol="0" anchor="ctr"/>
          <a:lstStyle/>
          <a:p>
            <a:pPr marL="0" indent="0">
              <a:buNone/>
            </a:pPr>
            <a:r>
              <a:rPr lang="en-US" sz="900" b="1">
                <a:solidFill>
                  <a:srgbClr val="0D1B2A"/>
                </a:solidFill>
                <a:latin typeface="Calibri" pitchFamily="34" charset="0"/>
                <a:ea typeface="Calibri" pitchFamily="34" charset="-122"/>
                <a:cs typeface="Calibri" pitchFamily="34" charset="-120"/>
              </a:rPr>
              <a:t>Missing tenant: </a:t>
            </a:r>
            <a:endParaRPr lang="en-US" sz="900"/>
          </a:p>
        </p:txBody>
      </p:sp>
      <p:sp>
        <p:nvSpPr>
          <p:cNvPr id="47" name="Text 45"/>
          <p:cNvSpPr/>
          <p:nvPr/>
        </p:nvSpPr>
        <p:spPr>
          <a:xfrm>
            <a:off x="6172200" y="3392424"/>
            <a:ext cx="2560320" cy="228600"/>
          </a:xfrm>
          <a:prstGeom prst="rect">
            <a:avLst/>
          </a:prstGeom>
          <a:noFill/>
          <a:ln/>
        </p:spPr>
        <p:txBody>
          <a:bodyPr wrap="square" rtlCol="0" anchor="ctr"/>
          <a:lstStyle/>
          <a:p>
            <a:pPr marL="0" indent="0">
              <a:buNone/>
            </a:pPr>
            <a:r>
              <a:rPr lang="en-US" sz="900">
                <a:solidFill>
                  <a:srgbClr val="1E293B"/>
                </a:solidFill>
                <a:latin typeface="Calibri" pitchFamily="34" charset="0"/>
                <a:ea typeface="Calibri" pitchFamily="34" charset="-122"/>
                <a:cs typeface="Calibri" pitchFamily="34" charset="-120"/>
              </a:rPr>
              <a:t>Use tenant median u; no history → global median</a:t>
            </a:r>
            <a:endParaRPr lang="en-US" sz="900"/>
          </a:p>
        </p:txBody>
      </p:sp>
      <p:sp>
        <p:nvSpPr>
          <p:cNvPr id="48" name="Shape 46"/>
          <p:cNvSpPr/>
          <p:nvPr/>
        </p:nvSpPr>
        <p:spPr>
          <a:xfrm>
            <a:off x="4818888" y="3721608"/>
            <a:ext cx="54864" cy="219456"/>
          </a:xfrm>
          <a:prstGeom prst="rect">
            <a:avLst/>
          </a:prstGeom>
          <a:solidFill>
            <a:srgbClr val="EE9B00"/>
          </a:solidFill>
          <a:ln w="12700">
            <a:solidFill>
              <a:srgbClr val="EE9B00"/>
            </a:solidFill>
            <a:prstDash val="solid"/>
          </a:ln>
        </p:spPr>
        <p:txBody>
          <a:bodyPr/>
          <a:lstStyle/>
          <a:p>
            <a:endParaRPr lang="en-CA" sz="2000"/>
          </a:p>
        </p:txBody>
      </p:sp>
      <p:sp>
        <p:nvSpPr>
          <p:cNvPr id="49" name="Text 47"/>
          <p:cNvSpPr/>
          <p:nvPr/>
        </p:nvSpPr>
        <p:spPr>
          <a:xfrm>
            <a:off x="4946904" y="3721608"/>
            <a:ext cx="1188720" cy="228600"/>
          </a:xfrm>
          <a:prstGeom prst="rect">
            <a:avLst/>
          </a:prstGeom>
          <a:noFill/>
          <a:ln/>
        </p:spPr>
        <p:txBody>
          <a:bodyPr wrap="square" rtlCol="0" anchor="ctr"/>
          <a:lstStyle/>
          <a:p>
            <a:pPr marL="0" indent="0">
              <a:buNone/>
            </a:pPr>
            <a:r>
              <a:rPr lang="en-US" sz="900" b="1">
                <a:solidFill>
                  <a:srgbClr val="0D1B2A"/>
                </a:solidFill>
                <a:latin typeface="Calibri" pitchFamily="34" charset="0"/>
                <a:ea typeface="Calibri" pitchFamily="34" charset="-122"/>
                <a:cs typeface="Calibri" pitchFamily="34" charset="-120"/>
              </a:rPr>
              <a:t>period_index: </a:t>
            </a:r>
            <a:endParaRPr lang="en-US" sz="900"/>
          </a:p>
        </p:txBody>
      </p:sp>
      <p:sp>
        <p:nvSpPr>
          <p:cNvPr id="50" name="Text 48"/>
          <p:cNvSpPr/>
          <p:nvPr/>
        </p:nvSpPr>
        <p:spPr>
          <a:xfrm>
            <a:off x="6172200" y="3721608"/>
            <a:ext cx="2560320" cy="228600"/>
          </a:xfrm>
          <a:prstGeom prst="rect">
            <a:avLst/>
          </a:prstGeom>
          <a:noFill/>
          <a:ln/>
        </p:spPr>
        <p:txBody>
          <a:bodyPr wrap="square" rtlCol="0" anchor="ctr"/>
          <a:lstStyle/>
          <a:p>
            <a:pPr marL="0" indent="0">
              <a:buNone/>
            </a:pPr>
            <a:r>
              <a:rPr lang="en-US" sz="900">
                <a:solidFill>
                  <a:srgbClr val="1E293B"/>
                </a:solidFill>
                <a:latin typeface="Calibri" pitchFamily="34" charset="0"/>
                <a:ea typeface="Calibri" pitchFamily="34" charset="-122"/>
                <a:cs typeface="Calibri" pitchFamily="34" charset="-120"/>
              </a:rPr>
              <a:t>Converted from trace-based to optimizer slots: 0, 6, 12, 18</a:t>
            </a:r>
            <a:endParaRPr lang="en-US" sz="900"/>
          </a:p>
        </p:txBody>
      </p:sp>
      <p:sp>
        <p:nvSpPr>
          <p:cNvPr id="51" name="Shape 49"/>
          <p:cNvSpPr/>
          <p:nvPr/>
        </p:nvSpPr>
        <p:spPr>
          <a:xfrm>
            <a:off x="4818888" y="4050792"/>
            <a:ext cx="54864" cy="219456"/>
          </a:xfrm>
          <a:prstGeom prst="rect">
            <a:avLst/>
          </a:prstGeom>
          <a:solidFill>
            <a:srgbClr val="EE9B00"/>
          </a:solidFill>
          <a:ln w="12700">
            <a:solidFill>
              <a:srgbClr val="EE9B00"/>
            </a:solidFill>
            <a:prstDash val="solid"/>
          </a:ln>
        </p:spPr>
        <p:txBody>
          <a:bodyPr/>
          <a:lstStyle/>
          <a:p>
            <a:endParaRPr lang="en-CA" sz="2000"/>
          </a:p>
        </p:txBody>
      </p:sp>
      <p:sp>
        <p:nvSpPr>
          <p:cNvPr id="52" name="Text 50"/>
          <p:cNvSpPr/>
          <p:nvPr/>
        </p:nvSpPr>
        <p:spPr>
          <a:xfrm>
            <a:off x="4946904" y="4050792"/>
            <a:ext cx="1188720" cy="228600"/>
          </a:xfrm>
          <a:prstGeom prst="rect">
            <a:avLst/>
          </a:prstGeom>
          <a:noFill/>
          <a:ln/>
        </p:spPr>
        <p:txBody>
          <a:bodyPr wrap="square" rtlCol="0" anchor="ctr"/>
          <a:lstStyle/>
          <a:p>
            <a:pPr marL="0" indent="0">
              <a:buNone/>
            </a:pPr>
            <a:r>
              <a:rPr lang="en-US" sz="900" b="1">
                <a:solidFill>
                  <a:srgbClr val="0D1B2A"/>
                </a:solidFill>
                <a:latin typeface="Calibri" pitchFamily="34" charset="0"/>
                <a:ea typeface="Calibri" pitchFamily="34" charset="-122"/>
                <a:cs typeface="Calibri" pitchFamily="34" charset="-120"/>
              </a:rPr>
              <a:t>Input files: </a:t>
            </a:r>
            <a:endParaRPr lang="en-US" sz="900"/>
          </a:p>
        </p:txBody>
      </p:sp>
      <p:sp>
        <p:nvSpPr>
          <p:cNvPr id="53" name="Text 51"/>
          <p:cNvSpPr/>
          <p:nvPr/>
        </p:nvSpPr>
        <p:spPr>
          <a:xfrm>
            <a:off x="6172200" y="4050792"/>
            <a:ext cx="2560320" cy="228600"/>
          </a:xfrm>
          <a:prstGeom prst="rect">
            <a:avLst/>
          </a:prstGeom>
          <a:noFill/>
          <a:ln/>
        </p:spPr>
        <p:txBody>
          <a:bodyPr wrap="square" rtlCol="0" anchor="ctr"/>
          <a:lstStyle/>
          <a:p>
            <a:pPr marL="0" indent="0">
              <a:buNone/>
            </a:pPr>
            <a:r>
              <a:rPr lang="en-US" sz="900">
                <a:solidFill>
                  <a:srgbClr val="1E293B"/>
                </a:solidFill>
                <a:latin typeface="Calibri" pitchFamily="34" charset="0"/>
                <a:ea typeface="Calibri" pitchFamily="34" charset="-122"/>
                <a:cs typeface="Calibri" pitchFamily="34" charset="-120"/>
              </a:rPr>
              <a:t>Separate Memory LSTM plan_ahead_scheduler_output_memory.csv</a:t>
            </a:r>
            <a:endParaRPr lang="en-US" sz="900"/>
          </a:p>
        </p:txBody>
      </p:sp>
      <p:sp>
        <p:nvSpPr>
          <p:cNvPr id="54" name="Shape 52"/>
          <p:cNvSpPr/>
          <p:nvPr/>
        </p:nvSpPr>
        <p:spPr>
          <a:xfrm>
            <a:off x="274320" y="4663440"/>
            <a:ext cx="8595360" cy="347472"/>
          </a:xfrm>
          <a:prstGeom prst="rect">
            <a:avLst/>
          </a:prstGeom>
          <a:solidFill>
            <a:srgbClr val="F1F5F9"/>
          </a:solidFill>
          <a:ln w="12700">
            <a:solidFill>
              <a:srgbClr val="CBD5E1"/>
            </a:solidFill>
            <a:prstDash val="solid"/>
          </a:ln>
        </p:spPr>
        <p:txBody>
          <a:bodyPr/>
          <a:lstStyle/>
          <a:p>
            <a:endParaRPr lang="en-CA"/>
          </a:p>
        </p:txBody>
      </p:sp>
      <p:sp>
        <p:nvSpPr>
          <p:cNvPr id="55" name="Text 53"/>
          <p:cNvSpPr/>
          <p:nvPr/>
        </p:nvSpPr>
        <p:spPr>
          <a:xfrm>
            <a:off x="384048" y="4681728"/>
            <a:ext cx="8321040" cy="310896"/>
          </a:xfrm>
          <a:prstGeom prst="rect">
            <a:avLst/>
          </a:prstGeom>
          <a:noFill/>
          <a:ln/>
        </p:spPr>
        <p:txBody>
          <a:bodyPr wrap="square" rtlCol="0" anchor="ctr"/>
          <a:lstStyle/>
          <a:p>
            <a:pPr marL="0" indent="0">
              <a:buNone/>
            </a:pPr>
            <a:r>
              <a:rPr lang="en-US" sz="850">
                <a:solidFill>
                  <a:srgbClr val="475569"/>
                </a:solidFill>
                <a:latin typeface="Calibri" pitchFamily="34" charset="0"/>
                <a:ea typeface="Calibri" pitchFamily="34" charset="-122"/>
                <a:cs typeface="Calibri" pitchFamily="34" charset="-120"/>
              </a:rPr>
              <a:t>API/Wrapper Layer (prediction_api.py): reads both CSVs → exposes predict_memory(collection_id), predict_cpu(collection_id), predict_workload(tenant_id, hours) for optimizer team</a:t>
            </a:r>
            <a:endParaRPr lang="en-US" sz="8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4111</Words>
  <Application>Microsoft Office PowerPoint</Application>
  <PresentationFormat>On-screen Show (16:9)</PresentationFormat>
  <Paragraphs>853</Paragraphs>
  <Slides>20</Slides>
  <Notes>20</Notes>
  <HiddenSlides>4</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Layers</dc:title>
  <dc:subject>PptxGenJS Presentation</dc:subject>
  <dc:creator>PptxGenJS</dc:creator>
  <cp:lastModifiedBy>Nadia Fernanda Rios Liza</cp:lastModifiedBy>
  <cp:revision>2</cp:revision>
  <dcterms:created xsi:type="dcterms:W3CDTF">2026-05-31T17:09:02Z</dcterms:created>
  <dcterms:modified xsi:type="dcterms:W3CDTF">2026-06-04T19:45:48Z</dcterms:modified>
</cp:coreProperties>
</file>