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3"/>
  </p:notesMasterIdLst>
  <p:sldIdLst>
    <p:sldId id="265" r:id="rId2"/>
  </p:sldIdLst>
  <p:sldSz cx="43891200" cy="32918400"/>
  <p:notesSz cx="6858000" cy="9144000"/>
  <p:embeddedFontLst>
    <p:embeddedFont>
      <p:font typeface="DM Sans" pitchFamily="2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  <p:embeddedFont>
      <p:font typeface="Source Sans Pro" panose="020B0503030403020204" pitchFamily="34" charset="0"/>
      <p:regular r:id="rId12"/>
      <p:bold r:id="rId13"/>
      <p:italic r:id="rId14"/>
      <p:boldItalic r:id="rId15"/>
    </p:embeddedFont>
  </p:embeddedFontLst>
  <p:custDataLst>
    <p:tags r:id="rId16"/>
  </p:custDataLst>
  <p:defaultTextStyle>
    <a:defPPr>
      <a:defRPr lang="en-US"/>
    </a:defPPr>
    <a:lvl1pPr marL="0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1pPr>
    <a:lvl2pPr marL="2194039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2pPr>
    <a:lvl3pPr marL="4388077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3pPr>
    <a:lvl4pPr marL="6582120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4pPr>
    <a:lvl5pPr marL="8776160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5pPr>
    <a:lvl6pPr marL="10970199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6pPr>
    <a:lvl7pPr marL="13164238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7pPr>
    <a:lvl8pPr marL="15358277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8pPr>
    <a:lvl9pPr marL="17552318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  <p15:guide id="3" orient="horz" pos="10368" userDrawn="1">
          <p15:clr>
            <a:srgbClr val="A4A3A4"/>
          </p15:clr>
        </p15:guide>
        <p15:guide id="4" pos="13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9281"/>
    <a:srgbClr val="F3F4F0"/>
    <a:srgbClr val="0C4480"/>
    <a:srgbClr val="75CAEB"/>
    <a:srgbClr val="0084B1"/>
    <a:srgbClr val="BDF1FF"/>
    <a:srgbClr val="00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577A20-4910-4741-B89D-471E39D90940}" v="704" dt="2026-06-08T00:30:19.091"/>
    <p1510:client id="{E951D40D-7D86-42DA-B519-58A573DDA736}" v="837" dt="2026-06-08T00:25:01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8" autoAdjust="0"/>
  </p:normalViewPr>
  <p:slideViewPr>
    <p:cSldViewPr snapToGrid="0">
      <p:cViewPr>
        <p:scale>
          <a:sx n="98" d="100"/>
          <a:sy n="98" d="100"/>
        </p:scale>
        <p:origin x="-11280" y="-786"/>
      </p:cViewPr>
      <p:guideLst>
        <p:guide orient="horz" pos="6912"/>
        <p:guide pos="10368"/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21" Type="http://schemas.microsoft.com/office/2015/10/relationships/revisionInfo" Target="revisionInfo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C650FC-FBC6-491C-9DF3-881AC676F3B0}" type="doc">
      <dgm:prSet loTypeId="urn:microsoft.com/office/officeart/2005/8/layout/hChevron3" loCatId="process" qsTypeId="urn:microsoft.com/office/officeart/2005/8/quickstyle/simple1" qsCatId="simple" csTypeId="urn:microsoft.com/office/officeart/2005/8/colors/colorful3" csCatId="colorful" phldr="1"/>
      <dgm:spPr/>
    </dgm:pt>
    <dgm:pt modelId="{01937450-FA1B-48EE-9E13-566E5B3CD57B}">
      <dgm:prSet phldrT="[Text]" custT="1"/>
      <dgm:spPr/>
      <dgm:t>
        <a:bodyPr/>
        <a:lstStyle/>
        <a:p>
          <a:r>
            <a:rPr lang="en-CA" sz="3200"/>
            <a:t>LSTM forecasting</a:t>
          </a:r>
        </a:p>
      </dgm:t>
    </dgm:pt>
    <dgm:pt modelId="{C8696CBE-A4AB-4D91-B887-0EEA1DFC94AE}" type="parTrans" cxnId="{4E422087-A73E-4668-A0BB-1424E3D57BCE}">
      <dgm:prSet/>
      <dgm:spPr/>
      <dgm:t>
        <a:bodyPr/>
        <a:lstStyle/>
        <a:p>
          <a:endParaRPr lang="en-CA" sz="3200"/>
        </a:p>
      </dgm:t>
    </dgm:pt>
    <dgm:pt modelId="{DA98AA04-B207-40EC-89E9-9ACF38118BFC}" type="sibTrans" cxnId="{4E422087-A73E-4668-A0BB-1424E3D57BCE}">
      <dgm:prSet/>
      <dgm:spPr/>
      <dgm:t>
        <a:bodyPr/>
        <a:lstStyle/>
        <a:p>
          <a:endParaRPr lang="en-CA" sz="3200"/>
        </a:p>
      </dgm:t>
    </dgm:pt>
    <dgm:pt modelId="{4ED3959C-A633-4AF3-888C-5E240184344A}">
      <dgm:prSet phldrT="[Text]" custT="1"/>
      <dgm:spPr/>
      <dgm:t>
        <a:bodyPr/>
        <a:lstStyle/>
        <a:p>
          <a:r>
            <a:rPr lang="en-CA" sz="3200"/>
            <a:t>Plan Ahead MISOCP</a:t>
          </a:r>
        </a:p>
      </dgm:t>
    </dgm:pt>
    <dgm:pt modelId="{E7AA4AD0-FB1F-4345-94EE-35747A1E36BC}" type="parTrans" cxnId="{4F34C870-1684-42D7-9007-462C18A84380}">
      <dgm:prSet/>
      <dgm:spPr/>
      <dgm:t>
        <a:bodyPr/>
        <a:lstStyle/>
        <a:p>
          <a:endParaRPr lang="en-CA" sz="3200"/>
        </a:p>
      </dgm:t>
    </dgm:pt>
    <dgm:pt modelId="{324F7EFC-3D77-4A89-9F45-28CE6A9C0301}" type="sibTrans" cxnId="{4F34C870-1684-42D7-9007-462C18A84380}">
      <dgm:prSet/>
      <dgm:spPr/>
      <dgm:t>
        <a:bodyPr/>
        <a:lstStyle/>
        <a:p>
          <a:endParaRPr lang="en-CA" sz="3200"/>
        </a:p>
      </dgm:t>
    </dgm:pt>
    <dgm:pt modelId="{50D606A6-9A10-4165-8AA7-3A133F977586}">
      <dgm:prSet phldrT="[Text]" custT="1"/>
      <dgm:spPr/>
      <dgm:t>
        <a:bodyPr/>
        <a:lstStyle/>
        <a:p>
          <a:r>
            <a:rPr lang="en-CA" sz="3200"/>
            <a:t>Real Time MILP</a:t>
          </a:r>
        </a:p>
      </dgm:t>
    </dgm:pt>
    <dgm:pt modelId="{D1AEC690-5007-43F5-86DB-8084C1172DBF}" type="parTrans" cxnId="{FF6A58B5-5005-4EBD-9030-5F6CA209A549}">
      <dgm:prSet/>
      <dgm:spPr/>
      <dgm:t>
        <a:bodyPr/>
        <a:lstStyle/>
        <a:p>
          <a:endParaRPr lang="en-CA" sz="3200"/>
        </a:p>
      </dgm:t>
    </dgm:pt>
    <dgm:pt modelId="{38267BF6-BDD0-45C3-B98D-357D6154D829}" type="sibTrans" cxnId="{FF6A58B5-5005-4EBD-9030-5F6CA209A549}">
      <dgm:prSet/>
      <dgm:spPr/>
      <dgm:t>
        <a:bodyPr/>
        <a:lstStyle/>
        <a:p>
          <a:endParaRPr lang="en-CA" sz="3200"/>
        </a:p>
      </dgm:t>
    </dgm:pt>
    <dgm:pt modelId="{7E875AE8-E1C0-404E-A6C4-13ED3118094D}" type="pres">
      <dgm:prSet presAssocID="{36C650FC-FBC6-491C-9DF3-881AC676F3B0}" presName="Name0" presStyleCnt="0">
        <dgm:presLayoutVars>
          <dgm:dir/>
          <dgm:resizeHandles val="exact"/>
        </dgm:presLayoutVars>
      </dgm:prSet>
      <dgm:spPr/>
    </dgm:pt>
    <dgm:pt modelId="{9BEBFFA1-6E64-4BE8-98D1-D565FCD800ED}" type="pres">
      <dgm:prSet presAssocID="{01937450-FA1B-48EE-9E13-566E5B3CD57B}" presName="parTxOnly" presStyleLbl="node1" presStyleIdx="0" presStyleCnt="3">
        <dgm:presLayoutVars>
          <dgm:bulletEnabled val="1"/>
        </dgm:presLayoutVars>
      </dgm:prSet>
      <dgm:spPr/>
    </dgm:pt>
    <dgm:pt modelId="{307B54F2-1F57-47CE-BF80-459C5A0212C3}" type="pres">
      <dgm:prSet presAssocID="{DA98AA04-B207-40EC-89E9-9ACF38118BFC}" presName="parSpace" presStyleCnt="0"/>
      <dgm:spPr/>
    </dgm:pt>
    <dgm:pt modelId="{4042D562-0641-42D0-BCBB-C614F7E727A2}" type="pres">
      <dgm:prSet presAssocID="{4ED3959C-A633-4AF3-888C-5E240184344A}" presName="parTxOnly" presStyleLbl="node1" presStyleIdx="1" presStyleCnt="3">
        <dgm:presLayoutVars>
          <dgm:bulletEnabled val="1"/>
        </dgm:presLayoutVars>
      </dgm:prSet>
      <dgm:spPr/>
    </dgm:pt>
    <dgm:pt modelId="{D7D5D52A-DB10-453E-9F0F-FAD91CDB303B}" type="pres">
      <dgm:prSet presAssocID="{324F7EFC-3D77-4A89-9F45-28CE6A9C0301}" presName="parSpace" presStyleCnt="0"/>
      <dgm:spPr/>
    </dgm:pt>
    <dgm:pt modelId="{5A567498-663D-4D07-AA1D-B1D389782D0F}" type="pres">
      <dgm:prSet presAssocID="{50D606A6-9A10-4165-8AA7-3A133F977586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4C044707-359C-4A08-BF95-875DD94F06A0}" type="presOf" srcId="{36C650FC-FBC6-491C-9DF3-881AC676F3B0}" destId="{7E875AE8-E1C0-404E-A6C4-13ED3118094D}" srcOrd="0" destOrd="0" presId="urn:microsoft.com/office/officeart/2005/8/layout/hChevron3"/>
    <dgm:cxn modelId="{A9150B41-7B27-4C85-B51B-1487484168AF}" type="presOf" srcId="{01937450-FA1B-48EE-9E13-566E5B3CD57B}" destId="{9BEBFFA1-6E64-4BE8-98D1-D565FCD800ED}" srcOrd="0" destOrd="0" presId="urn:microsoft.com/office/officeart/2005/8/layout/hChevron3"/>
    <dgm:cxn modelId="{4F34C870-1684-42D7-9007-462C18A84380}" srcId="{36C650FC-FBC6-491C-9DF3-881AC676F3B0}" destId="{4ED3959C-A633-4AF3-888C-5E240184344A}" srcOrd="1" destOrd="0" parTransId="{E7AA4AD0-FB1F-4345-94EE-35747A1E36BC}" sibTransId="{324F7EFC-3D77-4A89-9F45-28CE6A9C0301}"/>
    <dgm:cxn modelId="{91D81459-535E-4DE4-B709-21C19656CD63}" type="presOf" srcId="{4ED3959C-A633-4AF3-888C-5E240184344A}" destId="{4042D562-0641-42D0-BCBB-C614F7E727A2}" srcOrd="0" destOrd="0" presId="urn:microsoft.com/office/officeart/2005/8/layout/hChevron3"/>
    <dgm:cxn modelId="{4E422087-A73E-4668-A0BB-1424E3D57BCE}" srcId="{36C650FC-FBC6-491C-9DF3-881AC676F3B0}" destId="{01937450-FA1B-48EE-9E13-566E5B3CD57B}" srcOrd="0" destOrd="0" parTransId="{C8696CBE-A4AB-4D91-B887-0EEA1DFC94AE}" sibTransId="{DA98AA04-B207-40EC-89E9-9ACF38118BFC}"/>
    <dgm:cxn modelId="{A525E4B4-C8A6-4F27-AE73-1B057B4C1B6A}" type="presOf" srcId="{50D606A6-9A10-4165-8AA7-3A133F977586}" destId="{5A567498-663D-4D07-AA1D-B1D389782D0F}" srcOrd="0" destOrd="0" presId="urn:microsoft.com/office/officeart/2005/8/layout/hChevron3"/>
    <dgm:cxn modelId="{FF6A58B5-5005-4EBD-9030-5F6CA209A549}" srcId="{36C650FC-FBC6-491C-9DF3-881AC676F3B0}" destId="{50D606A6-9A10-4165-8AA7-3A133F977586}" srcOrd="2" destOrd="0" parTransId="{D1AEC690-5007-43F5-86DB-8084C1172DBF}" sibTransId="{38267BF6-BDD0-45C3-B98D-357D6154D829}"/>
    <dgm:cxn modelId="{727880F7-ACD3-4BDF-8794-C9DE78B564F7}" type="presParOf" srcId="{7E875AE8-E1C0-404E-A6C4-13ED3118094D}" destId="{9BEBFFA1-6E64-4BE8-98D1-D565FCD800ED}" srcOrd="0" destOrd="0" presId="urn:microsoft.com/office/officeart/2005/8/layout/hChevron3"/>
    <dgm:cxn modelId="{A06E2563-3DD3-48C4-899F-5A8202E57A63}" type="presParOf" srcId="{7E875AE8-E1C0-404E-A6C4-13ED3118094D}" destId="{307B54F2-1F57-47CE-BF80-459C5A0212C3}" srcOrd="1" destOrd="0" presId="urn:microsoft.com/office/officeart/2005/8/layout/hChevron3"/>
    <dgm:cxn modelId="{0AA47DD1-DF9A-4A17-9440-232EFBD0B647}" type="presParOf" srcId="{7E875AE8-E1C0-404E-A6C4-13ED3118094D}" destId="{4042D562-0641-42D0-BCBB-C614F7E727A2}" srcOrd="2" destOrd="0" presId="urn:microsoft.com/office/officeart/2005/8/layout/hChevron3"/>
    <dgm:cxn modelId="{52287CB9-E04F-4974-95A0-5917574C66E3}" type="presParOf" srcId="{7E875AE8-E1C0-404E-A6C4-13ED3118094D}" destId="{D7D5D52A-DB10-453E-9F0F-FAD91CDB303B}" srcOrd="3" destOrd="0" presId="urn:microsoft.com/office/officeart/2005/8/layout/hChevron3"/>
    <dgm:cxn modelId="{FF9A2D11-3FE8-480E-9AF0-E6B3380D9680}" type="presParOf" srcId="{7E875AE8-E1C0-404E-A6C4-13ED3118094D}" destId="{5A567498-663D-4D07-AA1D-B1D389782D0F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BFFA1-6E64-4BE8-98D1-D565FCD800ED}">
      <dsp:nvSpPr>
        <dsp:cNvPr id="0" name=""/>
        <dsp:cNvSpPr/>
      </dsp:nvSpPr>
      <dsp:spPr>
        <a:xfrm>
          <a:off x="4097" y="237399"/>
          <a:ext cx="3583001" cy="1433200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85344" rIns="42672" bIns="8534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/>
            <a:t>LSTM forecasting</a:t>
          </a:r>
        </a:p>
      </dsp:txBody>
      <dsp:txXfrm>
        <a:off x="4097" y="237399"/>
        <a:ext cx="3224701" cy="1433200"/>
      </dsp:txXfrm>
    </dsp:sp>
    <dsp:sp modelId="{4042D562-0641-42D0-BCBB-C614F7E727A2}">
      <dsp:nvSpPr>
        <dsp:cNvPr id="0" name=""/>
        <dsp:cNvSpPr/>
      </dsp:nvSpPr>
      <dsp:spPr>
        <a:xfrm>
          <a:off x="2870499" y="237399"/>
          <a:ext cx="3583001" cy="1433200"/>
        </a:xfrm>
        <a:prstGeom prst="chevron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85344" rIns="42672" bIns="8534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/>
            <a:t>Plan Ahead MISOCP</a:t>
          </a:r>
        </a:p>
      </dsp:txBody>
      <dsp:txXfrm>
        <a:off x="3587099" y="237399"/>
        <a:ext cx="2149801" cy="1433200"/>
      </dsp:txXfrm>
    </dsp:sp>
    <dsp:sp modelId="{5A567498-663D-4D07-AA1D-B1D389782D0F}">
      <dsp:nvSpPr>
        <dsp:cNvPr id="0" name=""/>
        <dsp:cNvSpPr/>
      </dsp:nvSpPr>
      <dsp:spPr>
        <a:xfrm>
          <a:off x="5736900" y="237399"/>
          <a:ext cx="3583001" cy="1433200"/>
        </a:xfrm>
        <a:prstGeom prst="chevron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85344" rIns="42672" bIns="8534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/>
            <a:t>Real Time MILP</a:t>
          </a:r>
        </a:p>
      </dsp:txBody>
      <dsp:txXfrm>
        <a:off x="6453500" y="237399"/>
        <a:ext cx="2149801" cy="1433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  <a:lvl1pPr algn="r">
              <a:defRPr sz="1200"/>
            </a:lvl1pPr>
          </a:lstStyle>
          <a:p>
            <a:fld id="{7B0E8FA9-8B5F-4493-A208-FBBD06A1EBF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kern="1200"/>
            </a:defPPr>
            <a:lvl1pPr algn="r">
              <a:defRPr sz="1200"/>
            </a:lvl1pPr>
          </a:lstStyle>
          <a:p>
            <a:fld id="{CD15AFD9-35F1-4A8D-8AD3-EDB94817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1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039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8077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2120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6160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0199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4238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58277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2318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96767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9462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67314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5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3" name="New picture"/>
          <p:cNvPicPr/>
          <p:nvPr/>
        </p:nvPicPr>
        <p:blipFill>
          <a:blip r:embed="rId5"/>
          <a:stretch>
            <a:fillRect/>
          </a:stretch>
        </p:blipFill>
        <p:spPr>
          <a:xfrm rot="5400000">
            <a:off x="40690800" y="16459200"/>
            <a:ext cx="14274800" cy="3937000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6946900" y="33426400"/>
            <a:ext cx="29997400" cy="1447800"/>
          </a:xfrm>
          <a:prstGeom prst="rect">
            <a:avLst/>
          </a:prstGeom>
        </p:spPr>
      </p:pic>
      <p:sp>
        <p:nvSpPr>
          <p:cNvPr id="5" name="New shape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assessingslate  Size: 48x36</a:t>
            </a:r>
          </a:p>
        </p:txBody>
      </p:sp>
    </p:spTree>
    <p:extLst>
      <p:ext uri="{BB962C8B-B14F-4D97-AF65-F5344CB8AC3E}">
        <p14:creationId xmlns:p14="http://schemas.microsoft.com/office/powerpoint/2010/main" val="2054342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</p:sldLayoutIdLst>
  <p:transition/>
  <p:txStyles>
    <p:titleStyle>
      <a:defPPr>
        <a:defRPr kern="1200"/>
      </a:defPPr>
      <a:lvl1pPr algn="ctr" defTabSz="4389028" rtl="0" eaLnBrk="1" latinLnBrk="0" hangingPunct="1">
        <a:spcBef>
          <a:spcPct val="0"/>
        </a:spcBef>
        <a:buNone/>
        <a:defRPr sz="1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>
        <a:defRPr kern="1200"/>
      </a:defPPr>
      <a:lvl1pPr marL="0" indent="0" algn="l" defTabSz="4389028" rtl="0" eaLnBrk="1" latinLnBrk="0" hangingPunct="1">
        <a:spcBef>
          <a:spcPct val="20000"/>
        </a:spcBef>
        <a:buFont typeface="Arial" pitchFamily="34" charset="0"/>
        <a:buNone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4389028" rtl="0" eaLnBrk="1" latinLnBrk="0" hangingPunct="1">
        <a:spcBef>
          <a:spcPct val="20000"/>
        </a:spcBef>
        <a:buFont typeface="Arial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4389028" rtl="0" eaLnBrk="1" latinLnBrk="0" hangingPunct="1">
        <a:spcBef>
          <a:spcPct val="20000"/>
        </a:spcBef>
        <a:buFont typeface="Arial" pitchFamily="34" charset="0"/>
        <a:buChar char="–"/>
        <a:defRPr sz="9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4389028" rtl="0" eaLnBrk="1" latinLnBrk="0" hangingPunct="1">
        <a:spcBef>
          <a:spcPct val="20000"/>
        </a:spcBef>
        <a:buFont typeface="Arial" pitchFamily="34" charset="0"/>
        <a:buChar char="»"/>
        <a:defRPr sz="9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7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1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4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EC9E8-5175-D726-6AAF-914E1BC3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0F9A1B88-438A-C38D-C3AC-66C998B46FC9}"/>
              </a:ext>
            </a:extLst>
          </p:cNvPr>
          <p:cNvSpPr/>
          <p:nvPr/>
        </p:nvSpPr>
        <p:spPr>
          <a:xfrm>
            <a:off x="1" y="0"/>
            <a:ext cx="43891199" cy="4704527"/>
          </a:xfrm>
          <a:prstGeom prst="rect">
            <a:avLst/>
          </a:prstGeom>
          <a:solidFill>
            <a:srgbClr val="0C448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1150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054E051C-3DFF-450E-D7A0-D4FD8D8592D8}"/>
              </a:ext>
            </a:extLst>
          </p:cNvPr>
          <p:cNvSpPr txBox="1"/>
          <p:nvPr/>
        </p:nvSpPr>
        <p:spPr>
          <a:xfrm>
            <a:off x="10230853" y="400331"/>
            <a:ext cx="31302158" cy="4411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761086">
              <a:lnSpc>
                <a:spcPts val="9200"/>
              </a:lnSpc>
              <a:spcBef>
                <a:spcPct val="20000"/>
              </a:spcBef>
              <a:defRPr/>
            </a:pPr>
            <a:r>
              <a:rPr lang="en-CA" sz="9600" b="1">
                <a:solidFill>
                  <a:srgbClr val="F3F4F0"/>
                </a:solidFill>
                <a:latin typeface="Source Sans Pro" panose="020F0502020204030204" pitchFamily="34" charset="0"/>
                <a:ea typeface="+mj-ea"/>
                <a:cs typeface="+mj-cs"/>
              </a:rPr>
              <a:t>Predict, Plan Ahead, Dispatch:</a:t>
            </a:r>
          </a:p>
          <a:p>
            <a:pPr algn="ctr" defTabSz="3761086">
              <a:lnSpc>
                <a:spcPts val="9200"/>
              </a:lnSpc>
              <a:spcBef>
                <a:spcPct val="20000"/>
              </a:spcBef>
              <a:defRPr/>
            </a:pPr>
            <a:r>
              <a:rPr lang="en-CA" sz="8500" b="1">
                <a:solidFill>
                  <a:srgbClr val="F3F4F0"/>
                </a:solidFill>
                <a:latin typeface="Source Sans Pro" panose="020F0502020204030204" pitchFamily="34" charset="0"/>
                <a:ea typeface="+mj-ea"/>
                <a:cs typeface="+mj-cs"/>
              </a:rPr>
              <a:t> </a:t>
            </a:r>
            <a:r>
              <a:rPr lang="en-CA" sz="8000" b="1">
                <a:solidFill>
                  <a:srgbClr val="F3F4F0"/>
                </a:solidFill>
                <a:latin typeface="Source Sans Pro" panose="020F0502020204030204" pitchFamily="34" charset="0"/>
                <a:ea typeface="+mj-ea"/>
                <a:cs typeface="+mj-cs"/>
              </a:rPr>
              <a:t>A Unified Framework for Multi-Tenant Cluster Management with Overcommit and Guaranteed Service Level Agreement</a:t>
            </a:r>
            <a:endParaRPr lang="en-CA" sz="8500" b="1">
              <a:solidFill>
                <a:srgbClr val="F3F4F0"/>
              </a:solidFill>
              <a:latin typeface="Source Sans Pro" panose="020F0502020204030204" pitchFamily="34" charset="0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CAE68C-D27F-623B-0552-F5D2CEB101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</a:blip>
          <a:srcRect t="7395" b="12657"/>
          <a:stretch/>
        </p:blipFill>
        <p:spPr>
          <a:xfrm>
            <a:off x="642713" y="400331"/>
            <a:ext cx="8474272" cy="2676095"/>
          </a:xfrm>
          <a:prstGeom prst="rect">
            <a:avLst/>
          </a:prstGeom>
        </p:spPr>
      </p:pic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95D5AD2-7659-AA7C-08D1-8EE89D4BE8B3}"/>
              </a:ext>
            </a:extLst>
          </p:cNvPr>
          <p:cNvSpPr txBox="1"/>
          <p:nvPr/>
        </p:nvSpPr>
        <p:spPr>
          <a:xfrm>
            <a:off x="1069849" y="3468220"/>
            <a:ext cx="76200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48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0"/>
              </a:rPr>
              <a:t>Master of Data Analytics</a:t>
            </a:r>
          </a:p>
        </p:txBody>
      </p:sp>
      <p:sp>
        <p:nvSpPr>
          <p:cNvPr id="9" name="Rounded Rectangle 74">
            <a:extLst>
              <a:ext uri="{FF2B5EF4-FFF2-40B4-BE49-F238E27FC236}">
                <a16:creationId xmlns:a16="http://schemas.microsoft.com/office/drawing/2014/main" id="{9556C9C6-2FAF-A2E4-6985-C45E6373FA1B}"/>
              </a:ext>
            </a:extLst>
          </p:cNvPr>
          <p:cNvSpPr/>
          <p:nvPr/>
        </p:nvSpPr>
        <p:spPr>
          <a:xfrm>
            <a:off x="1" y="4680296"/>
            <a:ext cx="43891199" cy="1940139"/>
          </a:xfrm>
          <a:prstGeom prst="rect">
            <a:avLst/>
          </a:prstGeom>
          <a:solidFill>
            <a:srgbClr val="F3F4F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1150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082B16E-D31D-81A1-DA6C-A96CD8B62351}"/>
              </a:ext>
            </a:extLst>
          </p:cNvPr>
          <p:cNvSpPr txBox="1"/>
          <p:nvPr/>
        </p:nvSpPr>
        <p:spPr>
          <a:xfrm>
            <a:off x="0" y="4812192"/>
            <a:ext cx="43891199" cy="1625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4800" b="1">
                <a:solidFill>
                  <a:srgbClr val="0C448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bon Next LT" panose="02000500000000000000" pitchFamily="2" charset="0"/>
              </a:rPr>
              <a:t>Authors:  THA PYAY HMU  •  LHAGII TSOGTBAYAR  •  NADIA RIOS  •  JORGE MENDOZA  •  ALRICK GRANDISON </a:t>
            </a:r>
          </a:p>
          <a:p>
            <a:pPr algn="ctr">
              <a:defRPr/>
            </a:pPr>
            <a:r>
              <a:rPr lang="en-US" sz="4800" b="1">
                <a:solidFill>
                  <a:srgbClr val="0C448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bon Next LT" panose="02000500000000000000" pitchFamily="2" charset="0"/>
              </a:rPr>
              <a:t>Supervisor:  PhD. HANY OSMAN</a:t>
            </a:r>
          </a:p>
        </p:txBody>
      </p:sp>
      <p:sp>
        <p:nvSpPr>
          <p:cNvPr id="11" name="Rounded Rectangle 74">
            <a:extLst>
              <a:ext uri="{FF2B5EF4-FFF2-40B4-BE49-F238E27FC236}">
                <a16:creationId xmlns:a16="http://schemas.microsoft.com/office/drawing/2014/main" id="{58310CEE-CE6A-D765-C2D5-E7FB27838A9D}"/>
              </a:ext>
            </a:extLst>
          </p:cNvPr>
          <p:cNvSpPr/>
          <p:nvPr/>
        </p:nvSpPr>
        <p:spPr>
          <a:xfrm>
            <a:off x="1" y="6614597"/>
            <a:ext cx="43891199" cy="153773"/>
          </a:xfrm>
          <a:prstGeom prst="rect">
            <a:avLst/>
          </a:prstGeom>
          <a:solidFill>
            <a:srgbClr val="0C448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11500"/>
          </a:p>
        </p:txBody>
      </p:sp>
      <p:sp>
        <p:nvSpPr>
          <p:cNvPr id="12" name="Rounded Rectangle 74">
            <a:extLst>
              <a:ext uri="{FF2B5EF4-FFF2-40B4-BE49-F238E27FC236}">
                <a16:creationId xmlns:a16="http://schemas.microsoft.com/office/drawing/2014/main" id="{738D5D7C-0DB3-2EE1-B38A-97551C2E2388}"/>
              </a:ext>
            </a:extLst>
          </p:cNvPr>
          <p:cNvSpPr/>
          <p:nvPr/>
        </p:nvSpPr>
        <p:spPr>
          <a:xfrm>
            <a:off x="-4307621" y="13403363"/>
            <a:ext cx="43891199" cy="26133529"/>
          </a:xfrm>
          <a:prstGeom prst="rect">
            <a:avLst/>
          </a:prstGeom>
          <a:solidFill>
            <a:srgbClr val="F3F4F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r>
              <a:rPr lang="en-JM" sz="1100">
                <a:solidFill>
                  <a:schemeClr val="accent5">
                    <a:lumMod val="75000"/>
                  </a:schemeClr>
                </a:solidFill>
                <a:latin typeface="Open Sans"/>
              </a:rPr>
              <a:t>Tennant request jobs</a:t>
            </a:r>
            <a:endParaRPr lang="en-JM" sz="1100" dirty="0">
              <a:solidFill>
                <a:schemeClr val="accent5">
                  <a:lumMod val="75000"/>
                </a:schemeClr>
              </a:solidFill>
              <a:latin typeface="Open San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CE572C-762A-D07B-509F-C87EB01057B3}"/>
              </a:ext>
            </a:extLst>
          </p:cNvPr>
          <p:cNvSpPr/>
          <p:nvPr/>
        </p:nvSpPr>
        <p:spPr>
          <a:xfrm>
            <a:off x="807640" y="7430226"/>
            <a:ext cx="9648000" cy="3942597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endParaRPr lang="en-CA" sz="28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CA" sz="28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CA" sz="2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Modern cloud providers operate shared clusters where multiple tenants compete for CPU and memory. Static allocation wastes capacity; reactive scheduling causes SLA violations. No unified framework simultaneously predicts demand, plans forward allocation, and dispatches jobs in real time.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311127-D479-2D1F-F2A7-0D438A9ABC94}"/>
              </a:ext>
            </a:extLst>
          </p:cNvPr>
          <p:cNvSpPr/>
          <p:nvPr/>
        </p:nvSpPr>
        <p:spPr>
          <a:xfrm>
            <a:off x="11119996" y="7449028"/>
            <a:ext cx="21651207" cy="9882193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B148B36-AE5B-5E55-3D15-C44B9818DBA3}"/>
              </a:ext>
            </a:extLst>
          </p:cNvPr>
          <p:cNvSpPr/>
          <p:nvPr/>
        </p:nvSpPr>
        <p:spPr>
          <a:xfrm>
            <a:off x="807640" y="7430225"/>
            <a:ext cx="9648000" cy="726573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Research Problem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9803636-0BA6-1EA5-6AF5-6FAEA92C49BD}"/>
              </a:ext>
            </a:extLst>
          </p:cNvPr>
          <p:cNvSpPr/>
          <p:nvPr/>
        </p:nvSpPr>
        <p:spPr>
          <a:xfrm>
            <a:off x="807640" y="11725003"/>
            <a:ext cx="9648000" cy="4734197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CA" sz="2800" b="1">
              <a:solidFill>
                <a:srgbClr val="0C448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CA" sz="2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Build a three-layer pipeline that guarantees a 90% probabilistic SLA against overcommit while maximising cluster utilisation. </a:t>
            </a:r>
            <a:endParaRPr lang="en-CA" sz="28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CA" sz="28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CA" sz="28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CA" sz="28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CA" sz="28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DB405AA-189B-2105-EEB6-9DC528907F7C}"/>
              </a:ext>
            </a:extLst>
          </p:cNvPr>
          <p:cNvSpPr/>
          <p:nvPr/>
        </p:nvSpPr>
        <p:spPr>
          <a:xfrm>
            <a:off x="807640" y="11725005"/>
            <a:ext cx="9648000" cy="726573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Our Approach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ABA0C69-82CE-5D79-AF8C-F8C52AAB802C}"/>
              </a:ext>
            </a:extLst>
          </p:cNvPr>
          <p:cNvSpPr/>
          <p:nvPr/>
        </p:nvSpPr>
        <p:spPr>
          <a:xfrm>
            <a:off x="769125" y="16847116"/>
            <a:ext cx="9648000" cy="15407585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l"/>
            <a:r>
              <a:rPr lang="en-CA" sz="2000" b="1" i="0" cap="all">
                <a:solidFill>
                  <a:srgbClr val="1A3A6B"/>
                </a:solidFill>
                <a:effectLst/>
                <a:latin typeface="DM Sans"/>
              </a:rPr>
              <a:t>Google Cluster Trace v3</a:t>
            </a:r>
          </a:p>
          <a:p>
            <a:br>
              <a:rPr lang="en-CA" sz="2000"/>
            </a:br>
            <a:endParaRPr lang="en-US" sz="960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13703AA-7D46-145F-43A8-F7A915E673BA}"/>
              </a:ext>
            </a:extLst>
          </p:cNvPr>
          <p:cNvSpPr/>
          <p:nvPr/>
        </p:nvSpPr>
        <p:spPr>
          <a:xfrm>
            <a:off x="802892" y="16847116"/>
            <a:ext cx="9648000" cy="719173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Data Description &amp; Preprocessing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089D9EB-C01B-1469-97E6-1CA5997E278D}"/>
              </a:ext>
            </a:extLst>
          </p:cNvPr>
          <p:cNvSpPr/>
          <p:nvPr/>
        </p:nvSpPr>
        <p:spPr>
          <a:xfrm>
            <a:off x="33435560" y="7449027"/>
            <a:ext cx="9648000" cy="10866021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321517F-B052-A5EE-92AD-7392C315F105}"/>
              </a:ext>
            </a:extLst>
          </p:cNvPr>
          <p:cNvSpPr/>
          <p:nvPr/>
        </p:nvSpPr>
        <p:spPr>
          <a:xfrm>
            <a:off x="33435560" y="7445895"/>
            <a:ext cx="9648000" cy="726573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Results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71E3D79-5E1A-4746-4902-337BFC606FB6}"/>
              </a:ext>
            </a:extLst>
          </p:cNvPr>
          <p:cNvSpPr/>
          <p:nvPr/>
        </p:nvSpPr>
        <p:spPr>
          <a:xfrm>
            <a:off x="33483321" y="18948992"/>
            <a:ext cx="9648000" cy="6720868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2B0F898-59F5-377E-24C9-67A6D808F9F3}"/>
              </a:ext>
            </a:extLst>
          </p:cNvPr>
          <p:cNvSpPr/>
          <p:nvPr/>
        </p:nvSpPr>
        <p:spPr>
          <a:xfrm>
            <a:off x="33483321" y="18948992"/>
            <a:ext cx="9648000" cy="726573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Key Findings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07ED848-F2D8-45D0-95C9-8938BF525D6D}"/>
              </a:ext>
            </a:extLst>
          </p:cNvPr>
          <p:cNvSpPr/>
          <p:nvPr/>
        </p:nvSpPr>
        <p:spPr>
          <a:xfrm>
            <a:off x="33483321" y="26303803"/>
            <a:ext cx="9648000" cy="5950898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6019E62-AAA8-A2ED-A4AC-C450BB392C4E}"/>
              </a:ext>
            </a:extLst>
          </p:cNvPr>
          <p:cNvSpPr/>
          <p:nvPr/>
        </p:nvSpPr>
        <p:spPr>
          <a:xfrm>
            <a:off x="33483321" y="26303803"/>
            <a:ext cx="9648000" cy="727200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Limitations &amp; Future Research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C052D20-9C57-EDF1-D5FD-02252C4B47A9}"/>
              </a:ext>
            </a:extLst>
          </p:cNvPr>
          <p:cNvSpPr/>
          <p:nvPr/>
        </p:nvSpPr>
        <p:spPr>
          <a:xfrm>
            <a:off x="11119996" y="7429598"/>
            <a:ext cx="21644204" cy="727200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System Architecture Diagram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504DAB9C-892C-69F3-0F4F-2EA0F3841AAF}"/>
              </a:ext>
            </a:extLst>
          </p:cNvPr>
          <p:cNvSpPr/>
          <p:nvPr/>
        </p:nvSpPr>
        <p:spPr>
          <a:xfrm>
            <a:off x="21724850" y="17951449"/>
            <a:ext cx="10950830" cy="727200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Optimization Models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52A9A1-BD2C-59C9-8FA9-A50CA4C88AF3}"/>
              </a:ext>
            </a:extLst>
          </p:cNvPr>
          <p:cNvSpPr txBox="1"/>
          <p:nvPr/>
        </p:nvSpPr>
        <p:spPr>
          <a:xfrm>
            <a:off x="7748355" y="18702277"/>
            <a:ext cx="91029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12-hour lookback (144 steps @ 5 min), 30-min horizon (6 steps)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Separate CPU and Memory models — reduces cross-target interference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Cyclical features: </a:t>
            </a:r>
            <a:r>
              <a:rPr lang="en-CA" sz="2800" err="1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sin_time</a:t>
            </a: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CA" sz="2800" err="1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cos_time</a:t>
            </a: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capture daily/weekly seasonality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Shuffle=False — preserves temporal order during training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Outputs: collection-level pred_cpu_p95 and </a:t>
            </a:r>
            <a:r>
              <a:rPr lang="en-CA" sz="2800" err="1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pred_mem_mb</a:t>
            </a: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+ σ²</a:t>
            </a: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F8261A78-1684-C20B-8FFC-9285D7889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088867"/>
              </p:ext>
            </p:extLst>
          </p:nvPr>
        </p:nvGraphicFramePr>
        <p:xfrm>
          <a:off x="11866941" y="25144734"/>
          <a:ext cx="7895578" cy="2514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952089">
                  <a:extLst>
                    <a:ext uri="{9D8B030D-6E8A-4147-A177-3AD203B41FA5}">
                      <a16:colId xmlns:a16="http://schemas.microsoft.com/office/drawing/2014/main" val="1416814499"/>
                    </a:ext>
                  </a:extLst>
                </a:gridCol>
                <a:gridCol w="1981163">
                  <a:extLst>
                    <a:ext uri="{9D8B030D-6E8A-4147-A177-3AD203B41FA5}">
                      <a16:colId xmlns:a16="http://schemas.microsoft.com/office/drawing/2014/main" val="1265224256"/>
                    </a:ext>
                  </a:extLst>
                </a:gridCol>
                <a:gridCol w="1981163">
                  <a:extLst>
                    <a:ext uri="{9D8B030D-6E8A-4147-A177-3AD203B41FA5}">
                      <a16:colId xmlns:a16="http://schemas.microsoft.com/office/drawing/2014/main" val="2079995045"/>
                    </a:ext>
                  </a:extLst>
                </a:gridCol>
                <a:gridCol w="1981163">
                  <a:extLst>
                    <a:ext uri="{9D8B030D-6E8A-4147-A177-3AD203B41FA5}">
                      <a16:colId xmlns:a16="http://schemas.microsoft.com/office/drawing/2014/main" val="4237505161"/>
                    </a:ext>
                  </a:extLst>
                </a:gridCol>
              </a:tblGrid>
              <a:tr h="4266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b="0">
                          <a:solidFill>
                            <a:srgbClr val="FFFFFF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Model</a:t>
                      </a:r>
                    </a:p>
                  </a:txBody>
                  <a:tcPr marL="57150" marR="57150" marT="38100" marB="3810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b="0">
                          <a:solidFill>
                            <a:srgbClr val="FFFFFF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Window</a:t>
                      </a:r>
                    </a:p>
                  </a:txBody>
                  <a:tcPr marL="57150" marR="57150" marT="38100" marB="3810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0">
                          <a:solidFill>
                            <a:srgbClr val="FFFFFF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R²</a:t>
                      </a:r>
                    </a:p>
                  </a:txBody>
                  <a:tcPr marL="57150" marR="57150" marT="38100" marB="3810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0">
                          <a:solidFill>
                            <a:srgbClr val="FFFFFF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MAE</a:t>
                      </a:r>
                    </a:p>
                  </a:txBody>
                  <a:tcPr marL="57150" marR="57150" marT="38100" marB="38100" anchor="ctr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366377"/>
                  </a:ext>
                </a:extLst>
              </a:tr>
              <a:tr h="426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 b="0">
                          <a:solidFill>
                            <a:srgbClr val="0D1F3C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Memory</a:t>
                      </a:r>
                    </a:p>
                  </a:txBody>
                  <a:tcPr marL="57150" marR="57150" marT="38100" marB="381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>
                          <a:solidFill>
                            <a:srgbClr val="3A4F7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W1→W2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0">
                          <a:solidFill>
                            <a:srgbClr val="0A7A4A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93.2%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>
                          <a:solidFill>
                            <a:srgbClr val="0F808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0.0063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372383"/>
                  </a:ext>
                </a:extLst>
              </a:tr>
              <a:tr h="426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 b="0">
                          <a:solidFill>
                            <a:srgbClr val="0D1F3C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Memory</a:t>
                      </a:r>
                    </a:p>
                  </a:txBody>
                  <a:tcPr marL="57150" marR="57150" marT="38100" marB="381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>
                          <a:solidFill>
                            <a:srgbClr val="3A4F7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W1–3→W4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0">
                          <a:solidFill>
                            <a:srgbClr val="0A7A4A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89.4%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>
                          <a:solidFill>
                            <a:srgbClr val="0F808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0.0059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121862"/>
                  </a:ext>
                </a:extLst>
              </a:tr>
              <a:tr h="426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 b="0">
                          <a:solidFill>
                            <a:srgbClr val="0D1F3C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CPU</a:t>
                      </a:r>
                    </a:p>
                  </a:txBody>
                  <a:tcPr marL="57150" marR="57150" marT="38100" marB="381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>
                          <a:solidFill>
                            <a:srgbClr val="3A4F7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W1→W2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0">
                          <a:solidFill>
                            <a:srgbClr val="C84B2F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30.1%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>
                          <a:solidFill>
                            <a:srgbClr val="0F808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0.0113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975668"/>
                  </a:ext>
                </a:extLst>
              </a:tr>
              <a:tr h="426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 b="0">
                          <a:solidFill>
                            <a:srgbClr val="0D1F3C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CPU</a:t>
                      </a:r>
                    </a:p>
                  </a:txBody>
                  <a:tcPr marL="57150" marR="57150" marT="38100" marB="381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>
                          <a:solidFill>
                            <a:srgbClr val="3A4F7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W1–3→W4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0">
                          <a:solidFill>
                            <a:srgbClr val="C84B2F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33.4%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>
                          <a:solidFill>
                            <a:srgbClr val="0F808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0.0086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920502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AF8C0C4C-19D4-DCC6-2E3A-829F424B36BE}"/>
              </a:ext>
            </a:extLst>
          </p:cNvPr>
          <p:cNvSpPr txBox="1"/>
          <p:nvPr/>
        </p:nvSpPr>
        <p:spPr>
          <a:xfrm>
            <a:off x="11263279" y="27991413"/>
            <a:ext cx="91029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Memory forecasting is stable (R² 89–93%).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CPU is harder due to sparsity and burst events; absolute error remains operationally usable.</a:t>
            </a:r>
            <a:endParaRPr lang="en-CA" sz="2800">
              <a:solidFill>
                <a:srgbClr val="F3F4F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890F4A-7017-B9FF-3C00-9A055DC614C7}"/>
              </a:ext>
            </a:extLst>
          </p:cNvPr>
          <p:cNvSpPr txBox="1"/>
          <p:nvPr/>
        </p:nvSpPr>
        <p:spPr>
          <a:xfrm>
            <a:off x="22082760" y="18726912"/>
            <a:ext cx="10332720" cy="868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50800" tIns="25400" rIns="50800" bIns="25400" rtlCol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2700" b="1" i="0" dirty="0">
                <a:solidFill>
                  <a:srgbClr val="F3F4F0"/>
                </a:solidFill>
                <a:latin typeface="Source Sans Pro"/>
              </a:rPr>
              <a:t>Real-Time Optimizer</a:t>
            </a:r>
            <a:endParaRPr lang="en-CA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0" i="1" dirty="0">
                <a:solidFill>
                  <a:srgbClr val="9DB3CC"/>
                </a:solidFill>
                <a:latin typeface="Source Sans Pro"/>
              </a:rPr>
              <a:t>Mixed-Integer Linear Program (MILP)</a:t>
            </a:r>
          </a:p>
        </p:txBody>
      </p:sp>
      <p:graphicFrame>
        <p:nvGraphicFramePr>
          <p:cNvPr id="81" name="Diagram 80">
            <a:extLst>
              <a:ext uri="{FF2B5EF4-FFF2-40B4-BE49-F238E27FC236}">
                <a16:creationId xmlns:a16="http://schemas.microsoft.com/office/drawing/2014/main" id="{4F2C04CF-70EC-4C88-A44D-946FFDDA2B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8274440"/>
              </p:ext>
            </p:extLst>
          </p:nvPr>
        </p:nvGraphicFramePr>
        <p:xfrm>
          <a:off x="997123" y="14084399"/>
          <a:ext cx="9324000" cy="190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2" name="Rounded Rectangle 81"/>
          <p:cNvSpPr/>
          <p:nvPr/>
        </p:nvSpPr>
        <p:spPr>
          <a:xfrm>
            <a:off x="23151523" y="19694364"/>
            <a:ext cx="3188208" cy="713232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700" b="1" i="0" dirty="0">
                <a:solidFill>
                  <a:schemeClr val="tx1"/>
                </a:solidFill>
                <a:latin typeface="Open Sans"/>
              </a:rPr>
              <a:t>Cluster Manager</a:t>
            </a:r>
            <a:r>
              <a:rPr sz="1700" b="1" i="0" dirty="0">
                <a:solidFill>
                  <a:srgbClr val="F3F4F0"/>
                </a:solidFill>
                <a:latin typeface="Open Sans"/>
              </a:rPr>
              <a:t> </a:t>
            </a:r>
            <a:endParaRPr lang="en-JM" sz="1700" b="1" i="0" dirty="0">
              <a:solidFill>
                <a:srgbClr val="F3F4F0"/>
              </a:solidFill>
              <a:latin typeface="Open Sans"/>
            </a:endParaRP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i="0" dirty="0">
                <a:solidFill>
                  <a:schemeClr val="tx1"/>
                </a:solidFill>
                <a:latin typeface="Open Sans"/>
              </a:rPr>
              <a:t>delivers jobs to the pending queue</a:t>
            </a:r>
          </a:p>
        </p:txBody>
      </p:sp>
      <p:sp>
        <p:nvSpPr>
          <p:cNvPr id="83" name="Down Arrow 82"/>
          <p:cNvSpPr/>
          <p:nvPr/>
        </p:nvSpPr>
        <p:spPr>
          <a:xfrm rot="16200000">
            <a:off x="22105040" y="19173276"/>
            <a:ext cx="384048" cy="1755411"/>
          </a:xfrm>
          <a:prstGeom prst="down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Down Arrow 84"/>
          <p:cNvSpPr/>
          <p:nvPr/>
        </p:nvSpPr>
        <p:spPr>
          <a:xfrm>
            <a:off x="29801663" y="20432551"/>
            <a:ext cx="384048" cy="644456"/>
          </a:xfrm>
          <a:prstGeom prst="down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28666722" y="19719036"/>
            <a:ext cx="3346270" cy="69494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700" b="1" i="0" dirty="0">
                <a:solidFill>
                  <a:srgbClr val="3A2A00"/>
                </a:solidFill>
                <a:latin typeface="Open Sans"/>
              </a:rPr>
              <a:t>Real-Time </a:t>
            </a:r>
            <a:r>
              <a:rPr lang="en-JM" sz="1700" b="1" i="0" dirty="0">
                <a:solidFill>
                  <a:srgbClr val="3A2A00"/>
                </a:solidFill>
                <a:latin typeface="Open Sans"/>
              </a:rPr>
              <a:t>Optimizer</a:t>
            </a:r>
            <a:endParaRPr sz="1700" b="1" i="0" dirty="0">
              <a:solidFill>
                <a:srgbClr val="3A2A00"/>
              </a:solidFill>
              <a:latin typeface="Open Sans"/>
            </a:endParaRP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lang="en-JM" sz="1300" b="0" i="0" dirty="0">
                <a:solidFill>
                  <a:srgbClr val="3A2A00"/>
                </a:solidFill>
                <a:latin typeface="Open Sans"/>
              </a:rPr>
              <a:t>Attempts to </a:t>
            </a:r>
            <a:r>
              <a:rPr sz="1300" b="0" i="0" dirty="0">
                <a:solidFill>
                  <a:srgbClr val="3A2A00"/>
                </a:solidFill>
                <a:latin typeface="Open Sans"/>
              </a:rPr>
              <a:t>assign each job to a node</a:t>
            </a:r>
          </a:p>
        </p:txBody>
      </p:sp>
      <p:sp>
        <p:nvSpPr>
          <p:cNvPr id="87" name="Down Arrow 86"/>
          <p:cNvSpPr/>
          <p:nvPr/>
        </p:nvSpPr>
        <p:spPr>
          <a:xfrm>
            <a:off x="29801663" y="22329736"/>
            <a:ext cx="384048" cy="808818"/>
          </a:xfrm>
          <a:prstGeom prst="down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ight Arrow 88"/>
          <p:cNvSpPr/>
          <p:nvPr/>
        </p:nvSpPr>
        <p:spPr>
          <a:xfrm rot="10800000">
            <a:off x="27612975" y="21510230"/>
            <a:ext cx="1933252" cy="310896"/>
          </a:xfrm>
          <a:prstGeom prst="right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9520391" y="21598014"/>
            <a:ext cx="401955" cy="169277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/>
            <a:r>
              <a:rPr sz="1100" b="1" dirty="0">
                <a:solidFill>
                  <a:srgbClr val="9DB3CC"/>
                </a:solidFill>
                <a:latin typeface="Open Sans"/>
              </a:rPr>
              <a:t>no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8964987" y="23141322"/>
            <a:ext cx="3639088" cy="950976"/>
          </a:xfrm>
          <a:prstGeom prst="roundRect">
            <a:avLst>
              <a:gd name="adj" fmla="val 50000"/>
            </a:avLst>
          </a:prstGeom>
          <a:solidFill>
            <a:srgbClr val="E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lang="en-JM" sz="1250" b="1" dirty="0">
                <a:solidFill>
                  <a:schemeClr val="tx1"/>
                </a:solidFill>
                <a:latin typeface="Open Sans"/>
              </a:rPr>
              <a:t>QUEUED</a:t>
            </a:r>
            <a:endParaRPr sz="1250" b="1" i="0" dirty="0">
              <a:solidFill>
                <a:schemeClr val="tx1"/>
              </a:solidFill>
              <a:latin typeface="Open Sans"/>
            </a:endParaRP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lang="en-JM" sz="1150" b="0" i="0" dirty="0">
                <a:solidFill>
                  <a:schemeClr val="tx1"/>
                </a:solidFill>
                <a:latin typeface="Open Sans"/>
              </a:rPr>
              <a:t>Jobs remain in the queue and </a:t>
            </a:r>
            <a:r>
              <a:rPr sz="1150" b="0" i="0" dirty="0">
                <a:solidFill>
                  <a:schemeClr val="tx1"/>
                </a:solidFill>
                <a:latin typeface="Open Sans"/>
              </a:rPr>
              <a:t>wait time grows</a:t>
            </a:r>
            <a:r>
              <a:rPr lang="en-JM" sz="1150" b="0" i="0" dirty="0">
                <a:solidFill>
                  <a:schemeClr val="tx1"/>
                </a:solidFill>
                <a:latin typeface="Open Sans"/>
              </a:rPr>
              <a:t>;</a:t>
            </a:r>
            <a:r>
              <a:rPr sz="1150" b="0" i="0" dirty="0">
                <a:solidFill>
                  <a:schemeClr val="tx1"/>
                </a:solidFill>
                <a:latin typeface="Open Sans"/>
              </a:rPr>
              <a:t> retried next interval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834552" y="21342390"/>
            <a:ext cx="384048" cy="169277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/>
            <a:r>
              <a:rPr sz="1100" b="1" dirty="0">
                <a:solidFill>
                  <a:schemeClr val="tx2">
                    <a:lumMod val="75000"/>
                  </a:schemeClr>
                </a:solidFill>
                <a:latin typeface="Open Sans"/>
              </a:rPr>
              <a:t>yes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4891144" y="21235668"/>
            <a:ext cx="2735580" cy="868680"/>
          </a:xfrm>
          <a:prstGeom prst="roundRect">
            <a:avLst>
              <a:gd name="adj" fmla="val 50000"/>
            </a:avLst>
          </a:prstGeom>
          <a:solidFill>
            <a:srgbClr val="2E9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lang="en-JM" sz="1700" b="1" dirty="0">
                <a:solidFill>
                  <a:schemeClr val="tx1"/>
                </a:solidFill>
                <a:latin typeface="Open Sans"/>
              </a:rPr>
              <a:t>Cluster Manager</a:t>
            </a:r>
            <a:r>
              <a:rPr lang="en-JM" sz="1700" b="1" dirty="0">
                <a:solidFill>
                  <a:srgbClr val="F3F4F0"/>
                </a:solidFill>
                <a:latin typeface="Open Sans"/>
              </a:rPr>
              <a:t> 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i="0" dirty="0">
                <a:solidFill>
                  <a:schemeClr val="tx1"/>
                </a:solidFill>
                <a:latin typeface="Open Sans"/>
              </a:rPr>
              <a:t>places the job on the node</a:t>
            </a:r>
          </a:p>
        </p:txBody>
      </p:sp>
      <p:sp>
        <p:nvSpPr>
          <p:cNvPr id="96" name="Down Arrow 95"/>
          <p:cNvSpPr/>
          <p:nvPr/>
        </p:nvSpPr>
        <p:spPr>
          <a:xfrm rot="3069895">
            <a:off x="28922601" y="26264505"/>
            <a:ext cx="384048" cy="1028394"/>
          </a:xfrm>
          <a:prstGeom prst="down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Down Arrow 97"/>
          <p:cNvSpPr/>
          <p:nvPr/>
        </p:nvSpPr>
        <p:spPr>
          <a:xfrm>
            <a:off x="26885206" y="24808849"/>
            <a:ext cx="384048" cy="2032092"/>
          </a:xfrm>
          <a:prstGeom prst="down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9" name="Rounded Rectangle 98"/>
          <p:cNvSpPr/>
          <p:nvPr/>
        </p:nvSpPr>
        <p:spPr>
          <a:xfrm>
            <a:off x="25215168" y="26831906"/>
            <a:ext cx="3736489" cy="132588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700" b="1" i="0" dirty="0">
                <a:solidFill>
                  <a:srgbClr val="3A2A00"/>
                </a:solidFill>
                <a:latin typeface="Open Sans"/>
              </a:rPr>
              <a:t>Plan-Ahead </a:t>
            </a:r>
            <a:r>
              <a:rPr lang="en-JM" sz="1700" b="1" i="0" dirty="0">
                <a:solidFill>
                  <a:srgbClr val="3A2A00"/>
                </a:solidFill>
                <a:latin typeface="Open Sans"/>
              </a:rPr>
              <a:t>Optimizer</a:t>
            </a:r>
            <a:endParaRPr sz="1700" b="1" i="0" dirty="0">
              <a:solidFill>
                <a:srgbClr val="3A2A00"/>
              </a:solidFill>
              <a:latin typeface="Open Sans"/>
            </a:endParaRP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0" i="0" dirty="0">
                <a:solidFill>
                  <a:srgbClr val="3A2A00"/>
                </a:solidFill>
                <a:latin typeface="Open Sans"/>
              </a:rPr>
              <a:t>reserves machines for each tenant</a:t>
            </a:r>
            <a:r>
              <a:rPr lang="en-JM" sz="1250" b="0" i="0" dirty="0">
                <a:solidFill>
                  <a:srgbClr val="3A2A00"/>
                </a:solidFill>
                <a:latin typeface="Open Sans"/>
              </a:rPr>
              <a:t> group</a:t>
            </a:r>
            <a:r>
              <a:rPr sz="1250" b="0" i="0" dirty="0">
                <a:solidFill>
                  <a:srgbClr val="3A2A00"/>
                </a:solidFill>
                <a:latin typeface="Open Sans"/>
              </a:rPr>
              <a:t> per period</a:t>
            </a:r>
          </a:p>
        </p:txBody>
      </p:sp>
      <p:sp>
        <p:nvSpPr>
          <p:cNvPr id="100" name="Down Arrow 99"/>
          <p:cNvSpPr/>
          <p:nvPr/>
        </p:nvSpPr>
        <p:spPr>
          <a:xfrm rot="20014192">
            <a:off x="26349176" y="29821101"/>
            <a:ext cx="384048" cy="1487763"/>
          </a:xfrm>
          <a:prstGeom prst="down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22914365" y="28836857"/>
            <a:ext cx="3679104" cy="1079102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lang="en-JM" sz="1700" b="1" i="0" dirty="0">
                <a:solidFill>
                  <a:schemeClr val="tx1"/>
                </a:solidFill>
                <a:latin typeface="Open Sans"/>
              </a:rPr>
              <a:t>Schedule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lang="en-JM" sz="1400" dirty="0">
                <a:solidFill>
                  <a:schemeClr val="tx1"/>
                </a:solidFill>
                <a:latin typeface="Open Sans"/>
              </a:rPr>
              <a:t>Assign Tennant Group to Nodes Per Period</a:t>
            </a:r>
            <a:endParaRPr sz="1400" i="0" dirty="0">
              <a:solidFill>
                <a:schemeClr val="tx1"/>
              </a:solidFill>
              <a:latin typeface="Open Sans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27814375" y="28856138"/>
            <a:ext cx="3378816" cy="907855"/>
          </a:xfrm>
          <a:prstGeom prst="roundRect">
            <a:avLst>
              <a:gd name="adj" fmla="val 50000"/>
            </a:avLst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lang="en-JM" sz="1700" b="1" i="0" dirty="0">
                <a:solidFill>
                  <a:schemeClr val="tx1"/>
                </a:solidFill>
                <a:latin typeface="Open Sans"/>
              </a:rPr>
              <a:t>Reserve?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lang="en-JM" sz="1400" i="0" dirty="0">
                <a:solidFill>
                  <a:schemeClr val="tx1"/>
                </a:solidFill>
                <a:latin typeface="Open Sans"/>
              </a:rPr>
              <a:t>Keep some nodes off if feasible to save energy</a:t>
            </a:r>
            <a:endParaRPr sz="1400" i="0" dirty="0">
              <a:solidFill>
                <a:schemeClr val="tx1"/>
              </a:solidFill>
              <a:latin typeface="Open Sans"/>
            </a:endParaRPr>
          </a:p>
        </p:txBody>
      </p:sp>
      <p:sp>
        <p:nvSpPr>
          <p:cNvPr id="3" name="Down Arrow 82">
            <a:extLst>
              <a:ext uri="{FF2B5EF4-FFF2-40B4-BE49-F238E27FC236}">
                <a16:creationId xmlns:a16="http://schemas.microsoft.com/office/drawing/2014/main" id="{86809D93-4900-9A76-ADE2-4D5305E59456}"/>
              </a:ext>
            </a:extLst>
          </p:cNvPr>
          <p:cNvSpPr/>
          <p:nvPr/>
        </p:nvSpPr>
        <p:spPr>
          <a:xfrm rot="16200000">
            <a:off x="27342880" y="18855807"/>
            <a:ext cx="384048" cy="2390346"/>
          </a:xfrm>
          <a:prstGeom prst="down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ACBE05-8BB8-747C-52AC-F1ADA1CF18C4}"/>
              </a:ext>
            </a:extLst>
          </p:cNvPr>
          <p:cNvSpPr/>
          <p:nvPr/>
        </p:nvSpPr>
        <p:spPr>
          <a:xfrm>
            <a:off x="20719599" y="19883531"/>
            <a:ext cx="680710" cy="334899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M" sz="700" b="1" dirty="0"/>
              <a:t>BEGIN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77C935-20AB-55D1-74A5-88069280D517}"/>
              </a:ext>
            </a:extLst>
          </p:cNvPr>
          <p:cNvSpPr txBox="1"/>
          <p:nvPr/>
        </p:nvSpPr>
        <p:spPr>
          <a:xfrm>
            <a:off x="21479231" y="20167512"/>
            <a:ext cx="1604981" cy="169277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/>
            <a:r>
              <a:rPr lang="en-JM" sz="1100" b="1" dirty="0">
                <a:solidFill>
                  <a:schemeClr val="tx2">
                    <a:lumMod val="75000"/>
                  </a:schemeClr>
                </a:solidFill>
                <a:latin typeface="Open Sans"/>
              </a:rPr>
              <a:t>Tennant request jobs</a:t>
            </a:r>
            <a:endParaRPr sz="1100" b="1" dirty="0">
              <a:solidFill>
                <a:schemeClr val="tx2">
                  <a:lumMod val="75000"/>
                </a:schemeClr>
              </a:solidFill>
              <a:latin typeface="Open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5C00B2-A2F2-2D8C-BC38-403D192CAC5B}"/>
              </a:ext>
            </a:extLst>
          </p:cNvPr>
          <p:cNvSpPr txBox="1"/>
          <p:nvPr/>
        </p:nvSpPr>
        <p:spPr>
          <a:xfrm>
            <a:off x="25706675" y="19752944"/>
            <a:ext cx="3467185" cy="169277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lang="en-US" sz="1100" b="1" dirty="0">
                <a:solidFill>
                  <a:schemeClr val="tx2">
                    <a:lumMod val="75000"/>
                  </a:schemeClr>
                </a:solidFill>
                <a:latin typeface="Open Sans"/>
              </a:rPr>
              <a:t>Filter the jobs and nodes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BB28D5-C7CE-75B6-99F2-F2A3C3734E5A}"/>
              </a:ext>
            </a:extLst>
          </p:cNvPr>
          <p:cNvSpPr txBox="1"/>
          <p:nvPr/>
        </p:nvSpPr>
        <p:spPr>
          <a:xfrm>
            <a:off x="26339731" y="20164052"/>
            <a:ext cx="2122838" cy="169277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lang="en-US" sz="1100" b="1" dirty="0">
                <a:solidFill>
                  <a:schemeClr val="tx2">
                    <a:lumMod val="75000"/>
                  </a:schemeClr>
                </a:solidFill>
                <a:latin typeface="Open Sans"/>
              </a:rPr>
              <a:t>per tenant group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08DE6234-99A0-8B1C-4D4F-F9D760809C3C}"/>
              </a:ext>
            </a:extLst>
          </p:cNvPr>
          <p:cNvSpPr/>
          <p:nvPr/>
        </p:nvSpPr>
        <p:spPr>
          <a:xfrm>
            <a:off x="28919709" y="21040143"/>
            <a:ext cx="2147956" cy="1287075"/>
          </a:xfrm>
          <a:prstGeom prst="triangl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M" sz="1200" b="1" dirty="0">
                <a:solidFill>
                  <a:schemeClr val="tx1"/>
                </a:solidFill>
              </a:rPr>
              <a:t>ASSIGNED?</a:t>
            </a:r>
            <a:endParaRPr lang="en-JM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4E5453-8BB9-FBD4-1753-C5A5C8DBF43F}"/>
              </a:ext>
            </a:extLst>
          </p:cNvPr>
          <p:cNvSpPr txBox="1"/>
          <p:nvPr/>
        </p:nvSpPr>
        <p:spPr>
          <a:xfrm>
            <a:off x="30147833" y="22579692"/>
            <a:ext cx="384048" cy="169277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/>
            <a:r>
              <a:rPr lang="en-JM" sz="1100" b="1" dirty="0">
                <a:solidFill>
                  <a:schemeClr val="tx2">
                    <a:lumMod val="75000"/>
                  </a:schemeClr>
                </a:solidFill>
                <a:latin typeface="Open Sans"/>
              </a:rPr>
              <a:t>no</a:t>
            </a:r>
            <a:endParaRPr sz="1100" b="1" dirty="0">
              <a:solidFill>
                <a:schemeClr val="tx2">
                  <a:lumMod val="75000"/>
                </a:schemeClr>
              </a:solidFill>
              <a:latin typeface="Open Sans"/>
            </a:endParaRPr>
          </a:p>
        </p:txBody>
      </p:sp>
      <p:sp>
        <p:nvSpPr>
          <p:cNvPr id="20" name="Down Arrow 84">
            <a:extLst>
              <a:ext uri="{FF2B5EF4-FFF2-40B4-BE49-F238E27FC236}">
                <a16:creationId xmlns:a16="http://schemas.microsoft.com/office/drawing/2014/main" id="{5B5F36D6-3EF6-60D4-12B4-3E42C71761DD}"/>
              </a:ext>
            </a:extLst>
          </p:cNvPr>
          <p:cNvSpPr/>
          <p:nvPr/>
        </p:nvSpPr>
        <p:spPr>
          <a:xfrm rot="10800000">
            <a:off x="31446216" y="20413980"/>
            <a:ext cx="384048" cy="2737340"/>
          </a:xfrm>
          <a:prstGeom prst="down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BBCF41-29C7-F29F-8F25-B744C8ECB68F}"/>
              </a:ext>
            </a:extLst>
          </p:cNvPr>
          <p:cNvSpPr txBox="1"/>
          <p:nvPr/>
        </p:nvSpPr>
        <p:spPr>
          <a:xfrm>
            <a:off x="31784289" y="21881478"/>
            <a:ext cx="384048" cy="169277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/>
            <a:r>
              <a:rPr lang="en-JM" sz="1100" b="1" dirty="0">
                <a:solidFill>
                  <a:schemeClr val="tx2">
                    <a:lumMod val="75000"/>
                  </a:schemeClr>
                </a:solidFill>
                <a:latin typeface="Open Sans"/>
              </a:rPr>
              <a:t>retry</a:t>
            </a:r>
            <a:endParaRPr sz="1100" b="1" dirty="0">
              <a:solidFill>
                <a:schemeClr val="tx2">
                  <a:lumMod val="75000"/>
                </a:schemeClr>
              </a:solidFill>
              <a:latin typeface="Open Sans"/>
            </a:endParaRPr>
          </a:p>
        </p:txBody>
      </p:sp>
      <p:sp>
        <p:nvSpPr>
          <p:cNvPr id="22" name="Right Arrow 88">
            <a:extLst>
              <a:ext uri="{FF2B5EF4-FFF2-40B4-BE49-F238E27FC236}">
                <a16:creationId xmlns:a16="http://schemas.microsoft.com/office/drawing/2014/main" id="{7981DBB5-7422-7918-6E55-7D9A5114C66A}"/>
              </a:ext>
            </a:extLst>
          </p:cNvPr>
          <p:cNvSpPr/>
          <p:nvPr/>
        </p:nvSpPr>
        <p:spPr>
          <a:xfrm rot="10800000">
            <a:off x="22943442" y="21554613"/>
            <a:ext cx="1933252" cy="310896"/>
          </a:xfrm>
          <a:prstGeom prst="right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AFFE17F-0A11-7E78-FF46-5F8474C08385}"/>
              </a:ext>
            </a:extLst>
          </p:cNvPr>
          <p:cNvSpPr/>
          <p:nvPr/>
        </p:nvSpPr>
        <p:spPr>
          <a:xfrm>
            <a:off x="22233655" y="21553471"/>
            <a:ext cx="680710" cy="334899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M" sz="700" b="1" dirty="0"/>
              <a:t>END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123DD3-D625-EC9E-9B17-E17E9F8EF32A}"/>
              </a:ext>
            </a:extLst>
          </p:cNvPr>
          <p:cNvSpPr txBox="1"/>
          <p:nvPr/>
        </p:nvSpPr>
        <p:spPr>
          <a:xfrm>
            <a:off x="23598159" y="21435741"/>
            <a:ext cx="1604981" cy="169277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/>
            <a:r>
              <a:rPr lang="en-JM" sz="1100" b="1" dirty="0">
                <a:solidFill>
                  <a:schemeClr val="tx2">
                    <a:lumMod val="75000"/>
                  </a:schemeClr>
                </a:solidFill>
                <a:latin typeface="Open Sans"/>
              </a:rPr>
              <a:t>Placed Jobs</a:t>
            </a:r>
            <a:endParaRPr sz="1100" b="1" dirty="0">
              <a:solidFill>
                <a:schemeClr val="tx2">
                  <a:lumMod val="75000"/>
                </a:schemeClr>
              </a:solidFill>
              <a:latin typeface="Open San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8D6BFA5-A5F0-310E-8BD7-E0A0527669C6}"/>
              </a:ext>
            </a:extLst>
          </p:cNvPr>
          <p:cNvSpPr/>
          <p:nvPr/>
        </p:nvSpPr>
        <p:spPr>
          <a:xfrm>
            <a:off x="26698340" y="24473949"/>
            <a:ext cx="680710" cy="334899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M" sz="700" b="1" dirty="0"/>
              <a:t>BEGIN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665F3B1-6F7E-B81D-DF6D-5A476247C975}"/>
              </a:ext>
            </a:extLst>
          </p:cNvPr>
          <p:cNvSpPr/>
          <p:nvPr/>
        </p:nvSpPr>
        <p:spPr>
          <a:xfrm>
            <a:off x="26687717" y="20505506"/>
            <a:ext cx="2530883" cy="721503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M" sz="17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Predict</a:t>
            </a:r>
          </a:p>
          <a:p>
            <a:pPr algn="ctr"/>
            <a:r>
              <a:rPr lang="en-JM" sz="17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CPU? Memory?</a:t>
            </a:r>
          </a:p>
        </p:txBody>
      </p:sp>
      <p:sp>
        <p:nvSpPr>
          <p:cNvPr id="29" name="Down Arrow 84">
            <a:extLst>
              <a:ext uri="{FF2B5EF4-FFF2-40B4-BE49-F238E27FC236}">
                <a16:creationId xmlns:a16="http://schemas.microsoft.com/office/drawing/2014/main" id="{275ED65D-2AED-5979-7576-4E227032802B}"/>
              </a:ext>
            </a:extLst>
          </p:cNvPr>
          <p:cNvSpPr/>
          <p:nvPr/>
        </p:nvSpPr>
        <p:spPr>
          <a:xfrm rot="13470166">
            <a:off x="29069732" y="20291316"/>
            <a:ext cx="384048" cy="534847"/>
          </a:xfrm>
          <a:prstGeom prst="down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4ED6841-7A1E-D25B-9C0F-55121BE2D6F9}"/>
              </a:ext>
            </a:extLst>
          </p:cNvPr>
          <p:cNvSpPr/>
          <p:nvPr/>
        </p:nvSpPr>
        <p:spPr>
          <a:xfrm>
            <a:off x="29039248" y="25840400"/>
            <a:ext cx="2530883" cy="721503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M" sz="17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Forecast</a:t>
            </a:r>
          </a:p>
          <a:p>
            <a:pPr algn="ctr"/>
            <a:r>
              <a:rPr lang="en-JM" sz="17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Workload?</a:t>
            </a:r>
          </a:p>
        </p:txBody>
      </p:sp>
      <p:sp>
        <p:nvSpPr>
          <p:cNvPr id="31" name="Rounded Rectangle 93">
            <a:extLst>
              <a:ext uri="{FF2B5EF4-FFF2-40B4-BE49-F238E27FC236}">
                <a16:creationId xmlns:a16="http://schemas.microsoft.com/office/drawing/2014/main" id="{F4D8CAA1-A8BA-6320-338E-2177855DC564}"/>
              </a:ext>
            </a:extLst>
          </p:cNvPr>
          <p:cNvSpPr/>
          <p:nvPr/>
        </p:nvSpPr>
        <p:spPr>
          <a:xfrm>
            <a:off x="19710791" y="25095460"/>
            <a:ext cx="5484632" cy="1847003"/>
          </a:xfrm>
          <a:prstGeom prst="roundRect">
            <a:avLst>
              <a:gd name="adj" fmla="val 50000"/>
            </a:avLst>
          </a:prstGeom>
          <a:solidFill>
            <a:srgbClr val="2E9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lang="en-JM" sz="1700" b="1" dirty="0">
                <a:solidFill>
                  <a:schemeClr val="tx1"/>
                </a:solidFill>
                <a:latin typeface="Open Sans"/>
              </a:rPr>
              <a:t>Cluster Admin</a:t>
            </a:r>
            <a:endParaRPr lang="en-JM" sz="1700" b="1" dirty="0">
              <a:solidFill>
                <a:srgbClr val="F3F4F0"/>
              </a:solidFill>
              <a:latin typeface="Open Sans"/>
            </a:endParaRPr>
          </a:p>
          <a:p>
            <a:pPr marL="285750" indent="-285750" algn="ctr">
              <a:lnSpc>
                <a:spcPct val="100000"/>
              </a:lnSpc>
              <a:spcAft>
                <a:spcPts val="100"/>
              </a:spcAft>
              <a:buFontTx/>
              <a:buChar char="-"/>
            </a:pPr>
            <a:r>
              <a:rPr lang="en-JM" sz="1600" dirty="0">
                <a:solidFill>
                  <a:schemeClr val="tx1"/>
                </a:solidFill>
                <a:latin typeface="Open Sans"/>
              </a:rPr>
              <a:t>Total machines</a:t>
            </a:r>
          </a:p>
          <a:p>
            <a:pPr marL="285750" indent="-285750" algn="ctr">
              <a:lnSpc>
                <a:spcPct val="100000"/>
              </a:lnSpc>
              <a:spcAft>
                <a:spcPts val="100"/>
              </a:spcAft>
              <a:buFontTx/>
              <a:buChar char="-"/>
            </a:pPr>
            <a:r>
              <a:rPr lang="en-JM" sz="1600" dirty="0">
                <a:solidFill>
                  <a:schemeClr val="tx1"/>
                </a:solidFill>
                <a:latin typeface="Open Sans"/>
              </a:rPr>
              <a:t>Total </a:t>
            </a:r>
            <a:r>
              <a:rPr lang="en-JM" sz="1600" dirty="0" err="1">
                <a:solidFill>
                  <a:schemeClr val="tx1"/>
                </a:solidFill>
                <a:latin typeface="Open Sans"/>
              </a:rPr>
              <a:t>Tennants</a:t>
            </a:r>
            <a:r>
              <a:rPr lang="en-JM" sz="1600" dirty="0">
                <a:solidFill>
                  <a:schemeClr val="tx1"/>
                </a:solidFill>
                <a:latin typeface="Open Sans"/>
              </a:rPr>
              <a:t> (shared and exclusive)</a:t>
            </a:r>
          </a:p>
          <a:p>
            <a:pPr marL="285750" indent="-285750" algn="ctr">
              <a:lnSpc>
                <a:spcPct val="100000"/>
              </a:lnSpc>
              <a:spcAft>
                <a:spcPts val="100"/>
              </a:spcAft>
              <a:buFontTx/>
              <a:buChar char="-"/>
            </a:pPr>
            <a:r>
              <a:rPr lang="en-JM" sz="1600" dirty="0">
                <a:solidFill>
                  <a:schemeClr val="tx1"/>
                </a:solidFill>
                <a:latin typeface="Open Sans"/>
              </a:rPr>
              <a:t>-Horizon length</a:t>
            </a:r>
          </a:p>
          <a:p>
            <a:pPr marL="285750" indent="-285750" algn="ctr">
              <a:lnSpc>
                <a:spcPct val="100000"/>
              </a:lnSpc>
              <a:spcAft>
                <a:spcPts val="100"/>
              </a:spcAft>
              <a:buFontTx/>
              <a:buChar char="-"/>
            </a:pPr>
            <a:r>
              <a:rPr lang="en-JM" sz="1600" dirty="0">
                <a:solidFill>
                  <a:schemeClr val="tx1"/>
                </a:solidFill>
                <a:latin typeface="Open Sans"/>
              </a:rPr>
              <a:t>Period Length</a:t>
            </a:r>
          </a:p>
        </p:txBody>
      </p:sp>
      <p:sp>
        <p:nvSpPr>
          <p:cNvPr id="32" name="Down Arrow 97">
            <a:extLst>
              <a:ext uri="{FF2B5EF4-FFF2-40B4-BE49-F238E27FC236}">
                <a16:creationId xmlns:a16="http://schemas.microsoft.com/office/drawing/2014/main" id="{891888E4-0DC1-D819-28BA-AD876095D5C2}"/>
              </a:ext>
            </a:extLst>
          </p:cNvPr>
          <p:cNvSpPr/>
          <p:nvPr/>
        </p:nvSpPr>
        <p:spPr>
          <a:xfrm rot="17310128">
            <a:off x="24978115" y="26473692"/>
            <a:ext cx="384048" cy="778655"/>
          </a:xfrm>
          <a:prstGeom prst="down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Down Arrow 95">
            <a:extLst>
              <a:ext uri="{FF2B5EF4-FFF2-40B4-BE49-F238E27FC236}">
                <a16:creationId xmlns:a16="http://schemas.microsoft.com/office/drawing/2014/main" id="{02D6D25C-B236-1B74-D08E-D17426E9CC4E}"/>
              </a:ext>
            </a:extLst>
          </p:cNvPr>
          <p:cNvSpPr/>
          <p:nvPr/>
        </p:nvSpPr>
        <p:spPr>
          <a:xfrm rot="2356890">
            <a:off x="24989824" y="27925631"/>
            <a:ext cx="384048" cy="1028394"/>
          </a:xfrm>
          <a:prstGeom prst="down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Down Arrow 97">
            <a:extLst>
              <a:ext uri="{FF2B5EF4-FFF2-40B4-BE49-F238E27FC236}">
                <a16:creationId xmlns:a16="http://schemas.microsoft.com/office/drawing/2014/main" id="{FDCBB613-838F-29DA-300F-59EAA25A4875}"/>
              </a:ext>
            </a:extLst>
          </p:cNvPr>
          <p:cNvSpPr/>
          <p:nvPr/>
        </p:nvSpPr>
        <p:spPr>
          <a:xfrm rot="18455030">
            <a:off x="28995830" y="27774962"/>
            <a:ext cx="384048" cy="1341124"/>
          </a:xfrm>
          <a:prstGeom prst="downArrow">
            <a:avLst/>
          </a:prstGeom>
          <a:solidFill>
            <a:srgbClr val="9DB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A02F4C3-E842-1890-9066-4877FE6E2F46}"/>
              </a:ext>
            </a:extLst>
          </p:cNvPr>
          <p:cNvSpPr/>
          <p:nvPr/>
        </p:nvSpPr>
        <p:spPr>
          <a:xfrm>
            <a:off x="26660480" y="31233600"/>
            <a:ext cx="680710" cy="334899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M" sz="700" b="1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83278781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assessingslate|08-202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sential">
      <a:majorFont>
        <a:latin typeface="Arial Black"/>
        <a:ea typeface="Arial"/>
        <a:cs typeface="Arial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</Words>
  <Application>Microsoft Office PowerPoint</Application>
  <PresentationFormat>Custom</PresentationFormat>
  <Paragraphs>91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Source Sans Pro</vt:lpstr>
      <vt:lpstr>DM Sans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Template For Scientific Poster Presentation</dc:subject>
  <dc:creator>Graphicsland/MakeSigns.com</dc:creator>
  <cp:keywords>scientific, research, template, custom, poster, presentation, symposium, printing, powerpoint, create, design, example, sample, download</cp:keywords>
  <dc:description>We offer free powerpoint poster templates to help you design your very own scientific poster presentation.</dc:description>
  <cp:lastModifiedBy>Alrick Grandison</cp:lastModifiedBy>
  <cp:revision>6</cp:revision>
  <dcterms:modified xsi:type="dcterms:W3CDTF">2026-06-08T02:40:23Z</dcterms:modified>
  <cp:category>science research poster</cp:category>
</cp:coreProperties>
</file>