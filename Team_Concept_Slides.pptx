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2834640"/>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822960"/>
            <a:ext cx="10698480" cy="1737360"/>
          </a:xfrm>
          <a:prstGeom prst="rect">
            <a:avLst/>
          </a:prstGeom>
          <a:noFill/>
        </p:spPr>
        <p:txBody>
          <a:bodyPr wrap="square">
            <a:spAutoFit/>
          </a:bodyPr>
          <a:lstStyle/>
          <a:p>
            <a:pPr algn="ctr"/>
            <a:r>
              <a:rPr sz="3400" b="1">
                <a:solidFill>
                  <a:srgbClr val="FFFFFF"/>
                </a:solidFill>
              </a:rPr>
              <a:t>Node-Level Predictive Admission Control
for Memory Overcommitment</a:t>
            </a:r>
          </a:p>
        </p:txBody>
      </p:sp>
      <p:sp>
        <p:nvSpPr>
          <p:cNvPr id="4" name="TextBox 3"/>
          <p:cNvSpPr txBox="1"/>
          <p:nvPr/>
        </p:nvSpPr>
        <p:spPr>
          <a:xfrm>
            <a:off x="731520" y="2514600"/>
            <a:ext cx="10698480" cy="502920"/>
          </a:xfrm>
          <a:prstGeom prst="rect">
            <a:avLst/>
          </a:prstGeom>
          <a:noFill/>
        </p:spPr>
        <p:txBody>
          <a:bodyPr wrap="square">
            <a:spAutoFit/>
          </a:bodyPr>
          <a:lstStyle/>
          <a:p>
            <a:pPr algn="ctr"/>
            <a:r>
              <a:rPr sz="1500" b="0">
                <a:solidFill>
                  <a:srgbClr val="CAE9FF"/>
                </a:solidFill>
              </a:rPr>
              <a:t>A Theoretical Framework for SLA-Aware Memory Oversubscription on Multi-Tenant Cloud Nodes</a:t>
            </a:r>
          </a:p>
        </p:txBody>
      </p:sp>
      <p:sp>
        <p:nvSpPr>
          <p:cNvPr id="5" name="TextBox 4"/>
          <p:cNvSpPr txBox="1"/>
          <p:nvPr/>
        </p:nvSpPr>
        <p:spPr>
          <a:xfrm>
            <a:off x="731520" y="3108960"/>
            <a:ext cx="10698480" cy="457200"/>
          </a:xfrm>
          <a:prstGeom prst="rect">
            <a:avLst/>
          </a:prstGeom>
          <a:noFill/>
        </p:spPr>
        <p:txBody>
          <a:bodyPr wrap="square">
            <a:spAutoFit/>
          </a:bodyPr>
          <a:lstStyle/>
          <a:p>
            <a:pPr algn="ctr"/>
            <a:r>
              <a:rPr sz="1400" b="0">
                <a:solidFill>
                  <a:srgbClr val="78909C"/>
                </a:solidFill>
              </a:rPr>
              <a:t>DAMO 699 Capstone  |  Team Concept Overview  |  Spring 2026</a:t>
            </a:r>
          </a:p>
        </p:txBody>
      </p:sp>
      <p:sp>
        <p:nvSpPr>
          <p:cNvPr id="6" name="TextBox 5"/>
          <p:cNvSpPr txBox="1"/>
          <p:nvPr/>
        </p:nvSpPr>
        <p:spPr>
          <a:xfrm>
            <a:off x="1371600" y="3749039"/>
            <a:ext cx="9418320" cy="2560320"/>
          </a:xfrm>
          <a:prstGeom prst="rect">
            <a:avLst/>
          </a:prstGeom>
          <a:noFill/>
        </p:spPr>
        <p:txBody>
          <a:bodyPr wrap="square">
            <a:spAutoFit/>
          </a:bodyPr>
          <a:lstStyle/>
          <a:p>
            <a:pPr>
              <a:spcBef>
                <a:spcPts val="600"/>
              </a:spcBef>
            </a:pPr>
            <a:r>
              <a:rPr sz="1400">
                <a:solidFill>
                  <a:srgbClr val="CAE9FF"/>
                </a:solidFill>
              </a:rPr>
              <a:t>▸  Problem: Cloud DRAM utilization stuck at ~40–50% while DRAM costs rise 54–116% YoY</a:t>
            </a:r>
          </a:p>
          <a:p>
            <a:pPr>
              <a:spcBef>
                <a:spcPts val="600"/>
              </a:spcBef>
            </a:pPr>
            <a:r>
              <a:rPr sz="1400">
                <a:solidFill>
                  <a:srgbClr val="CAE9FF"/>
                </a:solidFill>
              </a:rPr>
              <a:t>▸  Goal: Push utilization toward ~80% without SLA violations using a node-side predictive model</a:t>
            </a:r>
          </a:p>
          <a:p>
            <a:pPr>
              <a:spcBef>
                <a:spcPts val="600"/>
              </a:spcBef>
            </a:pPr>
            <a:r>
              <a:rPr sz="1400">
                <a:solidFill>
                  <a:srgbClr val="CAE9FF"/>
                </a:solidFill>
              </a:rPr>
              <a:t>▸  Method: Simulation validated with real Azure trace data + synthetic workloads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64592"/>
            <a:ext cx="11704320" cy="594360"/>
          </a:xfrm>
          <a:prstGeom prst="rect">
            <a:avLst/>
          </a:prstGeom>
          <a:noFill/>
        </p:spPr>
        <p:txBody>
          <a:bodyPr wrap="square">
            <a:spAutoFit/>
          </a:bodyPr>
          <a:lstStyle/>
          <a:p>
            <a:pPr algn="l"/>
            <a:r>
              <a:rPr sz="2800" b="1">
                <a:solidFill>
                  <a:srgbClr val="FFFFFF"/>
                </a:solidFill>
              </a:rPr>
              <a:t>The Core Idea</a:t>
            </a:r>
          </a:p>
        </p:txBody>
      </p:sp>
      <p:sp>
        <p:nvSpPr>
          <p:cNvPr id="4" name="TextBox 3"/>
          <p:cNvSpPr txBox="1"/>
          <p:nvPr/>
        </p:nvSpPr>
        <p:spPr>
          <a:xfrm>
            <a:off x="182880" y="749808"/>
            <a:ext cx="11704320" cy="384048"/>
          </a:xfrm>
          <a:prstGeom prst="rect">
            <a:avLst/>
          </a:prstGeom>
          <a:noFill/>
        </p:spPr>
        <p:txBody>
          <a:bodyPr wrap="square">
            <a:spAutoFit/>
          </a:bodyPr>
          <a:lstStyle/>
          <a:p>
            <a:pPr algn="l"/>
            <a:r>
              <a:rPr sz="1500" b="0">
                <a:solidFill>
                  <a:srgbClr val="00B4D8"/>
                </a:solidFill>
              </a:rPr>
              <a:t>What is our model actually doing?</a:t>
            </a:r>
          </a:p>
        </p:txBody>
      </p:sp>
      <p:sp>
        <p:nvSpPr>
          <p:cNvPr id="5" name="Rectangle 4"/>
          <p:cNvSpPr/>
          <p:nvPr/>
        </p:nvSpPr>
        <p:spPr>
          <a:xfrm>
            <a:off x="274320" y="1417320"/>
            <a:ext cx="3657600" cy="502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417320"/>
            <a:ext cx="3657600" cy="502920"/>
          </a:xfrm>
          <a:prstGeom prst="rect">
            <a:avLst/>
          </a:prstGeom>
          <a:noFill/>
        </p:spPr>
        <p:txBody>
          <a:bodyPr wrap="square">
            <a:spAutoFit/>
          </a:bodyPr>
          <a:lstStyle/>
          <a:p>
            <a:pPr algn="ctr"/>
            <a:r>
              <a:rPr sz="1800" b="1">
                <a:solidFill>
                  <a:srgbClr val="0D1B2A"/>
                </a:solidFill>
              </a:rPr>
              <a:t>WHERE</a:t>
            </a:r>
          </a:p>
        </p:txBody>
      </p:sp>
      <p:sp>
        <p:nvSpPr>
          <p:cNvPr id="7" name="Rectangle 6"/>
          <p:cNvSpPr/>
          <p:nvPr/>
        </p:nvSpPr>
        <p:spPr>
          <a:xfrm>
            <a:off x="274320" y="1920240"/>
            <a:ext cx="3657600" cy="2103120"/>
          </a:xfrm>
          <a:prstGeom prst="rect">
            <a:avLst/>
          </a:prstGeom>
          <a:solidFill>
            <a:srgbClr val="1A2E4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965960"/>
            <a:ext cx="3474720" cy="2011680"/>
          </a:xfrm>
          <a:prstGeom prst="rect">
            <a:avLst/>
          </a:prstGeom>
          <a:noFill/>
        </p:spPr>
        <p:txBody>
          <a:bodyPr wrap="square">
            <a:spAutoFit/>
          </a:bodyPr>
          <a:lstStyle/>
          <a:p>
            <a:pPr algn="ctr"/>
            <a:r>
              <a:rPr sz="1300" b="0">
                <a:solidFill>
                  <a:srgbClr val="FFFFFF"/>
                </a:solidFill>
              </a:rPr>
              <a:t>On every physical node.
Not the cluster manager—
the node itself.</a:t>
            </a:r>
          </a:p>
        </p:txBody>
      </p:sp>
      <p:sp>
        <p:nvSpPr>
          <p:cNvPr id="9" name="Rectangle 8"/>
          <p:cNvSpPr/>
          <p:nvPr/>
        </p:nvSpPr>
        <p:spPr>
          <a:xfrm>
            <a:off x="4206240" y="1417320"/>
            <a:ext cx="3657600" cy="502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0" y="1417320"/>
            <a:ext cx="3657600" cy="502920"/>
          </a:xfrm>
          <a:prstGeom prst="rect">
            <a:avLst/>
          </a:prstGeom>
          <a:noFill/>
        </p:spPr>
        <p:txBody>
          <a:bodyPr wrap="square">
            <a:spAutoFit/>
          </a:bodyPr>
          <a:lstStyle/>
          <a:p>
            <a:pPr algn="ctr"/>
            <a:r>
              <a:rPr sz="1800" b="1">
                <a:solidFill>
                  <a:srgbClr val="0D1B2A"/>
                </a:solidFill>
              </a:rPr>
              <a:t>WHAT</a:t>
            </a:r>
          </a:p>
        </p:txBody>
      </p:sp>
      <p:sp>
        <p:nvSpPr>
          <p:cNvPr id="11" name="Rectangle 10"/>
          <p:cNvSpPr/>
          <p:nvPr/>
        </p:nvSpPr>
        <p:spPr>
          <a:xfrm>
            <a:off x="4206240" y="1920240"/>
            <a:ext cx="3657600" cy="2103120"/>
          </a:xfrm>
          <a:prstGeom prst="rect">
            <a:avLst/>
          </a:prstGeom>
          <a:solidFill>
            <a:srgbClr val="1A2E4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79" y="1965960"/>
            <a:ext cx="3474720" cy="2011680"/>
          </a:xfrm>
          <a:prstGeom prst="rect">
            <a:avLst/>
          </a:prstGeom>
          <a:noFill/>
        </p:spPr>
        <p:txBody>
          <a:bodyPr wrap="square">
            <a:spAutoFit/>
          </a:bodyPr>
          <a:lstStyle/>
          <a:p>
            <a:pPr algn="ctr"/>
            <a:r>
              <a:rPr sz="1300" b="0">
                <a:solidFill>
                  <a:srgbClr val="FFFFFF"/>
                </a:solidFill>
              </a:rPr>
              <a:t>A predictive optimization model
that decides:
'Can I safely accept this VM
now and in the future?'</a:t>
            </a:r>
          </a:p>
        </p:txBody>
      </p:sp>
      <p:sp>
        <p:nvSpPr>
          <p:cNvPr id="13" name="Rectangle 12"/>
          <p:cNvSpPr/>
          <p:nvPr/>
        </p:nvSpPr>
        <p:spPr>
          <a:xfrm>
            <a:off x="8138160" y="1417320"/>
            <a:ext cx="3657600" cy="502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1417320"/>
            <a:ext cx="3657600" cy="502920"/>
          </a:xfrm>
          <a:prstGeom prst="rect">
            <a:avLst/>
          </a:prstGeom>
          <a:noFill/>
        </p:spPr>
        <p:txBody>
          <a:bodyPr wrap="square">
            <a:spAutoFit/>
          </a:bodyPr>
          <a:lstStyle/>
          <a:p>
            <a:pPr algn="ctr"/>
            <a:r>
              <a:rPr sz="1800" b="1">
                <a:solidFill>
                  <a:srgbClr val="0D1B2A"/>
                </a:solidFill>
              </a:rPr>
              <a:t>HOW</a:t>
            </a:r>
          </a:p>
        </p:txBody>
      </p:sp>
      <p:sp>
        <p:nvSpPr>
          <p:cNvPr id="15" name="Rectangle 14"/>
          <p:cNvSpPr/>
          <p:nvPr/>
        </p:nvSpPr>
        <p:spPr>
          <a:xfrm>
            <a:off x="8138160" y="1920240"/>
            <a:ext cx="3657600" cy="2103120"/>
          </a:xfrm>
          <a:prstGeom prst="rect">
            <a:avLst/>
          </a:prstGeom>
          <a:solidFill>
            <a:srgbClr val="1A2E4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965960"/>
            <a:ext cx="3474720" cy="2011680"/>
          </a:xfrm>
          <a:prstGeom prst="rect">
            <a:avLst/>
          </a:prstGeom>
          <a:noFill/>
        </p:spPr>
        <p:txBody>
          <a:bodyPr wrap="square">
            <a:spAutoFit/>
          </a:bodyPr>
          <a:lstStyle/>
          <a:p>
            <a:pPr algn="ctr"/>
            <a:r>
              <a:rPr sz="1300" b="0">
                <a:solidFill>
                  <a:srgbClr val="FFFFFF"/>
                </a:solidFill>
              </a:rPr>
              <a:t>Dual predictive models +
mathematical optimization +
SLA downtime budget-aware
termination as last resort.</a:t>
            </a:r>
          </a:p>
        </p:txBody>
      </p:sp>
      <p:sp>
        <p:nvSpPr>
          <p:cNvPr id="17" name="Rectangle 16"/>
          <p:cNvSpPr/>
          <p:nvPr/>
        </p:nvSpPr>
        <p:spPr>
          <a:xfrm>
            <a:off x="274320" y="4297680"/>
            <a:ext cx="11612880" cy="685800"/>
          </a:xfrm>
          <a:prstGeom prst="rect">
            <a:avLst/>
          </a:prstGeom>
          <a:solidFill>
            <a:srgbClr val="003A52"/>
          </a:solidFill>
          <a:ln w="1905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4315968"/>
            <a:ext cx="11338560" cy="658368"/>
          </a:xfrm>
          <a:prstGeom prst="rect">
            <a:avLst/>
          </a:prstGeom>
          <a:noFill/>
        </p:spPr>
        <p:txBody>
          <a:bodyPr wrap="square">
            <a:spAutoFit/>
          </a:bodyPr>
          <a:lstStyle/>
          <a:p>
            <a:pPr algn="ctr"/>
            <a:r>
              <a:rPr sz="1250" b="0">
                <a:solidFill>
                  <a:srgbClr val="FFD166"/>
                </a:solidFill>
              </a:rPr>
              <a:t>Key insight: Most research optimizes WHERE to place VMs (bin packing at the cluster manager). We optimize WHETHER to accept a VM at the node — a node-side advisory that adds temporal intelligence to any existing bin-packing strategy.</a:t>
            </a:r>
          </a:p>
        </p:txBody>
      </p:sp>
      <p:sp>
        <p:nvSpPr>
          <p:cNvPr id="19" name="TextBox 18"/>
          <p:cNvSpPr txBox="1"/>
          <p:nvPr/>
        </p:nvSpPr>
        <p:spPr>
          <a:xfrm>
            <a:off x="274320" y="5166360"/>
            <a:ext cx="11612880" cy="365760"/>
          </a:xfrm>
          <a:prstGeom prst="rect">
            <a:avLst/>
          </a:prstGeom>
          <a:noFill/>
        </p:spPr>
        <p:txBody>
          <a:bodyPr wrap="square">
            <a:spAutoFit/>
          </a:bodyPr>
          <a:lstStyle/>
          <a:p>
            <a:pPr algn="ctr"/>
            <a:r>
              <a:rPr sz="1200" b="0">
                <a:solidFill>
                  <a:srgbClr val="78909C"/>
                </a:solidFill>
              </a:rPr>
              <a:t>Theoretical model  ·  Validated via simulation  ·  Real + synthetic workload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64592"/>
            <a:ext cx="11704320" cy="594360"/>
          </a:xfrm>
          <a:prstGeom prst="rect">
            <a:avLst/>
          </a:prstGeom>
          <a:noFill/>
        </p:spPr>
        <p:txBody>
          <a:bodyPr wrap="square">
            <a:spAutoFit/>
          </a:bodyPr>
          <a:lstStyle/>
          <a:p>
            <a:pPr algn="l"/>
            <a:r>
              <a:rPr sz="2800" b="1">
                <a:solidFill>
                  <a:srgbClr val="FFFFFF"/>
                </a:solidFill>
              </a:rPr>
              <a:t>System Architecture Overview</a:t>
            </a:r>
          </a:p>
        </p:txBody>
      </p:sp>
      <p:sp>
        <p:nvSpPr>
          <p:cNvPr id="4" name="TextBox 3"/>
          <p:cNvSpPr txBox="1"/>
          <p:nvPr/>
        </p:nvSpPr>
        <p:spPr>
          <a:xfrm>
            <a:off x="182880" y="749808"/>
            <a:ext cx="11704320" cy="384048"/>
          </a:xfrm>
          <a:prstGeom prst="rect">
            <a:avLst/>
          </a:prstGeom>
          <a:noFill/>
        </p:spPr>
        <p:txBody>
          <a:bodyPr wrap="square">
            <a:spAutoFit/>
          </a:bodyPr>
          <a:lstStyle/>
          <a:p>
            <a:pPr algn="l"/>
            <a:r>
              <a:rPr sz="1500" b="0">
                <a:solidFill>
                  <a:srgbClr val="00B4D8"/>
                </a:solidFill>
              </a:rPr>
              <a:t>Cluster manager + node model — decoupled, advisory relationship</a:t>
            </a:r>
          </a:p>
        </p:txBody>
      </p:sp>
      <p:sp>
        <p:nvSpPr>
          <p:cNvPr id="5" name="Rectangle 4"/>
          <p:cNvSpPr/>
          <p:nvPr/>
        </p:nvSpPr>
        <p:spPr>
          <a:xfrm>
            <a:off x="228600" y="1280160"/>
            <a:ext cx="3017520" cy="2011680"/>
          </a:xfrm>
          <a:prstGeom prst="rect">
            <a:avLst/>
          </a:prstGeom>
          <a:solidFill>
            <a:srgbClr val="1A2E44"/>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298448"/>
            <a:ext cx="2926080" cy="457200"/>
          </a:xfrm>
          <a:prstGeom prst="rect">
            <a:avLst/>
          </a:prstGeom>
          <a:noFill/>
        </p:spPr>
        <p:txBody>
          <a:bodyPr wrap="square">
            <a:spAutoFit/>
          </a:bodyPr>
          <a:lstStyle/>
          <a:p>
            <a:pPr algn="ctr"/>
            <a:r>
              <a:rPr sz="1400" b="1">
                <a:solidFill>
                  <a:srgbClr val="00B4D8"/>
                </a:solidFill>
              </a:rPr>
              <a:t>Cluster Manager</a:t>
            </a:r>
          </a:p>
        </p:txBody>
      </p:sp>
      <p:sp>
        <p:nvSpPr>
          <p:cNvPr id="7" name="TextBox 6"/>
          <p:cNvSpPr txBox="1"/>
          <p:nvPr/>
        </p:nvSpPr>
        <p:spPr>
          <a:xfrm>
            <a:off x="320040" y="1737360"/>
            <a:ext cx="2880360" cy="1417320"/>
          </a:xfrm>
          <a:prstGeom prst="rect">
            <a:avLst/>
          </a:prstGeom>
          <a:noFill/>
        </p:spPr>
        <p:txBody>
          <a:bodyPr wrap="square">
            <a:spAutoFit/>
          </a:bodyPr>
          <a:lstStyle/>
          <a:p>
            <a:pPr>
              <a:spcBef>
                <a:spcPts val="600"/>
              </a:spcBef>
            </a:pPr>
            <a:r>
              <a:rPr sz="1150">
                <a:solidFill>
                  <a:srgbClr val="FFFFFF"/>
                </a:solidFill>
              </a:rPr>
              <a:t>▸  Receives new VM requests</a:t>
            </a:r>
          </a:p>
          <a:p>
            <a:pPr>
              <a:spcBef>
                <a:spcPts val="600"/>
              </a:spcBef>
            </a:pPr>
            <a:r>
              <a:rPr sz="1150">
                <a:solidFill>
                  <a:srgbClr val="FFFFFF"/>
                </a:solidFill>
              </a:rPr>
              <a:t>▸  Runs bin-packing algorithm</a:t>
            </a:r>
          </a:p>
          <a:p>
            <a:pPr>
              <a:spcBef>
                <a:spcPts val="600"/>
              </a:spcBef>
            </a:pPr>
            <a:r>
              <a:rPr sz="1150">
                <a:solidFill>
                  <a:srgbClr val="FFFFFF"/>
                </a:solidFill>
              </a:rPr>
              <a:t>▸  Selects candidate node</a:t>
            </a:r>
          </a:p>
          <a:p>
            <a:pPr>
              <a:spcBef>
                <a:spcPts val="600"/>
              </a:spcBef>
            </a:pPr>
            <a:r>
              <a:rPr sz="1150">
                <a:solidFill>
                  <a:srgbClr val="FFFFFF"/>
                </a:solidFill>
              </a:rPr>
              <a:t>▸  Handles VM re-launch</a:t>
            </a:r>
          </a:p>
        </p:txBody>
      </p:sp>
      <p:cxnSp>
        <p:nvCxnSpPr>
          <p:cNvPr id="8" name="Connector 7"/>
          <p:cNvCxnSpPr/>
          <p:nvPr/>
        </p:nvCxnSpPr>
        <p:spPr>
          <a:xfrm>
            <a:off x="3246120" y="2286000"/>
            <a:ext cx="1371600" cy="0"/>
          </a:xfrm>
          <a:prstGeom prst="line">
            <a:avLst/>
          </a:prstGeom>
          <a:ln w="31750">
            <a:solidFill>
              <a:srgbClr val="FFD166"/>
            </a:solidFill>
            <a:tailEnd type="none"/>
            <a:headEnd type="arrow"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246120" y="1965960"/>
            <a:ext cx="1371600" cy="594360"/>
          </a:xfrm>
          <a:prstGeom prst="rect">
            <a:avLst/>
          </a:prstGeom>
          <a:noFill/>
        </p:spPr>
        <p:txBody>
          <a:bodyPr wrap="square">
            <a:spAutoFit/>
          </a:bodyPr>
          <a:lstStyle/>
          <a:p>
            <a:pPr algn="ctr"/>
            <a:r>
              <a:rPr sz="1000" b="0">
                <a:solidFill>
                  <a:srgbClr val="FFD166"/>
                </a:solidFill>
              </a:rPr>
              <a:t>Query:
'Accept VM?'</a:t>
            </a:r>
          </a:p>
        </p:txBody>
      </p:sp>
      <p:cxnSp>
        <p:nvCxnSpPr>
          <p:cNvPr id="10" name="Connector 9"/>
          <p:cNvCxnSpPr/>
          <p:nvPr/>
        </p:nvCxnSpPr>
        <p:spPr>
          <a:xfrm flipH="1">
            <a:off x="3246120" y="2651760"/>
            <a:ext cx="1371600" cy="0"/>
          </a:xfrm>
          <a:prstGeom prst="line">
            <a:avLst/>
          </a:prstGeom>
          <a:ln w="31750">
            <a:solidFill>
              <a:srgbClr val="4CAF50"/>
            </a:solidFill>
            <a:tailEnd type="none"/>
            <a:headEnd type="arrow"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291840" y="2633472"/>
            <a:ext cx="1280160" cy="320040"/>
          </a:xfrm>
          <a:prstGeom prst="rect">
            <a:avLst/>
          </a:prstGeom>
          <a:noFill/>
        </p:spPr>
        <p:txBody>
          <a:bodyPr wrap="square">
            <a:spAutoFit/>
          </a:bodyPr>
          <a:lstStyle/>
          <a:p>
            <a:pPr algn="ctr"/>
            <a:r>
              <a:rPr sz="1000" b="1">
                <a:solidFill>
                  <a:srgbClr val="4CAF50"/>
                </a:solidFill>
              </a:rPr>
              <a:t>YES / NO</a:t>
            </a:r>
          </a:p>
        </p:txBody>
      </p:sp>
      <p:sp>
        <p:nvSpPr>
          <p:cNvPr id="12" name="Rectangle 11"/>
          <p:cNvSpPr/>
          <p:nvPr/>
        </p:nvSpPr>
        <p:spPr>
          <a:xfrm>
            <a:off x="4617720" y="1005840"/>
            <a:ext cx="7223760" cy="5303520"/>
          </a:xfrm>
          <a:prstGeom prst="rect">
            <a:avLst/>
          </a:prstGeom>
          <a:solidFill>
            <a:srgbClr val="1A2E44"/>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1024128"/>
            <a:ext cx="7132320" cy="457200"/>
          </a:xfrm>
          <a:prstGeom prst="rect">
            <a:avLst/>
          </a:prstGeom>
          <a:noFill/>
        </p:spPr>
        <p:txBody>
          <a:bodyPr wrap="square">
            <a:spAutoFit/>
          </a:bodyPr>
          <a:lstStyle/>
          <a:p>
            <a:pPr algn="ctr"/>
            <a:r>
              <a:rPr sz="1400" b="1">
                <a:solidFill>
                  <a:srgbClr val="00B4D8"/>
                </a:solidFill>
              </a:rPr>
              <a:t>Physical Node</a:t>
            </a:r>
          </a:p>
        </p:txBody>
      </p:sp>
      <p:sp>
        <p:nvSpPr>
          <p:cNvPr id="14" name="Rectangle 13"/>
          <p:cNvSpPr/>
          <p:nvPr/>
        </p:nvSpPr>
        <p:spPr>
          <a:xfrm>
            <a:off x="4846320" y="1600200"/>
            <a:ext cx="6812280" cy="777240"/>
          </a:xfrm>
          <a:prstGeom prst="rect">
            <a:avLst/>
          </a:prstGeom>
          <a:solidFill>
            <a:srgbClr val="003A52"/>
          </a:solidFill>
          <a:ln w="1905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92040" y="1618488"/>
            <a:ext cx="6720840" cy="384048"/>
          </a:xfrm>
          <a:prstGeom prst="rect">
            <a:avLst/>
          </a:prstGeom>
          <a:noFill/>
        </p:spPr>
        <p:txBody>
          <a:bodyPr wrap="square">
            <a:spAutoFit/>
          </a:bodyPr>
          <a:lstStyle/>
          <a:p>
            <a:pPr algn="ctr"/>
            <a:r>
              <a:rPr sz="1250" b="1">
                <a:solidFill>
                  <a:srgbClr val="FFD166"/>
                </a:solidFill>
              </a:rPr>
              <a:t>Optimization &amp; Admission Control Model</a:t>
            </a:r>
          </a:p>
        </p:txBody>
      </p:sp>
      <p:sp>
        <p:nvSpPr>
          <p:cNvPr id="16" name="TextBox 15"/>
          <p:cNvSpPr txBox="1"/>
          <p:nvPr/>
        </p:nvSpPr>
        <p:spPr>
          <a:xfrm>
            <a:off x="4892040" y="1965960"/>
            <a:ext cx="6720840" cy="347472"/>
          </a:xfrm>
          <a:prstGeom prst="rect">
            <a:avLst/>
          </a:prstGeom>
          <a:noFill/>
        </p:spPr>
        <p:txBody>
          <a:bodyPr wrap="square">
            <a:spAutoFit/>
          </a:bodyPr>
          <a:lstStyle/>
          <a:p>
            <a:pPr algn="ctr"/>
            <a:r>
              <a:rPr sz="1050" b="0">
                <a:solidFill>
                  <a:srgbClr val="CAE9FF"/>
                </a:solidFill>
              </a:rPr>
              <a:t>Accepts/rejects VMs  |  Triggers memory sharing  |  SLA-budget-aware termination</a:t>
            </a:r>
          </a:p>
        </p:txBody>
      </p:sp>
      <p:sp>
        <p:nvSpPr>
          <p:cNvPr id="17" name="Rectangle 16"/>
          <p:cNvSpPr/>
          <p:nvPr/>
        </p:nvSpPr>
        <p:spPr>
          <a:xfrm>
            <a:off x="4846320" y="2514600"/>
            <a:ext cx="3246120" cy="1280160"/>
          </a:xfrm>
          <a:prstGeom prst="rect">
            <a:avLst/>
          </a:prstGeom>
          <a:solidFill>
            <a:srgbClr val="0D2A1A"/>
          </a:solidFill>
          <a:ln w="1524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92040" y="2532888"/>
            <a:ext cx="3154680" cy="475488"/>
          </a:xfrm>
          <a:prstGeom prst="rect">
            <a:avLst/>
          </a:prstGeom>
          <a:noFill/>
        </p:spPr>
        <p:txBody>
          <a:bodyPr wrap="square">
            <a:spAutoFit/>
          </a:bodyPr>
          <a:lstStyle/>
          <a:p>
            <a:pPr algn="ctr"/>
            <a:r>
              <a:rPr sz="1150" b="1">
                <a:solidFill>
                  <a:srgbClr val="4CAF50"/>
                </a:solidFill>
              </a:rPr>
              <a:t>Generalized
Prediction Model</a:t>
            </a:r>
          </a:p>
        </p:txBody>
      </p:sp>
      <p:sp>
        <p:nvSpPr>
          <p:cNvPr id="19" name="TextBox 18"/>
          <p:cNvSpPr txBox="1"/>
          <p:nvPr/>
        </p:nvSpPr>
        <p:spPr>
          <a:xfrm>
            <a:off x="4892040" y="2962656"/>
            <a:ext cx="3154680" cy="777240"/>
          </a:xfrm>
          <a:prstGeom prst="rect">
            <a:avLst/>
          </a:prstGeom>
          <a:noFill/>
        </p:spPr>
        <p:txBody>
          <a:bodyPr wrap="square">
            <a:spAutoFit/>
          </a:bodyPr>
          <a:lstStyle/>
          <a:p>
            <a:pPr algn="l"/>
            <a:r>
              <a:rPr sz="1000" b="0">
                <a:solidFill>
                  <a:srgbClr val="FFFFFF"/>
                </a:solidFill>
              </a:rPr>
              <a:t>Cross-VM trends
VM size, type, temporal patterns
Used for NEW VMs</a:t>
            </a:r>
          </a:p>
        </p:txBody>
      </p:sp>
      <p:sp>
        <p:nvSpPr>
          <p:cNvPr id="20" name="Rectangle 19"/>
          <p:cNvSpPr/>
          <p:nvPr/>
        </p:nvSpPr>
        <p:spPr>
          <a:xfrm>
            <a:off x="8412480" y="2514600"/>
            <a:ext cx="3246120" cy="1280160"/>
          </a:xfrm>
          <a:prstGeom prst="rect">
            <a:avLst/>
          </a:prstGeom>
          <a:solidFill>
            <a:srgbClr val="2A1A0D"/>
          </a:solidFill>
          <a:ln w="15240">
            <a:solidFill>
              <a:srgbClr val="E08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58200" y="2532888"/>
            <a:ext cx="3154680" cy="475488"/>
          </a:xfrm>
          <a:prstGeom prst="rect">
            <a:avLst/>
          </a:prstGeom>
          <a:noFill/>
        </p:spPr>
        <p:txBody>
          <a:bodyPr wrap="square">
            <a:spAutoFit/>
          </a:bodyPr>
          <a:lstStyle/>
          <a:p>
            <a:pPr algn="ctr"/>
            <a:r>
              <a:rPr sz="1150" b="1">
                <a:solidFill>
                  <a:srgbClr val="E0876A"/>
                </a:solidFill>
              </a:rPr>
              <a:t>Curated
Prediction Model</a:t>
            </a:r>
          </a:p>
        </p:txBody>
      </p:sp>
      <p:sp>
        <p:nvSpPr>
          <p:cNvPr id="22" name="TextBox 21"/>
          <p:cNvSpPr txBox="1"/>
          <p:nvPr/>
        </p:nvSpPr>
        <p:spPr>
          <a:xfrm>
            <a:off x="8458200" y="2962656"/>
            <a:ext cx="3154680" cy="777240"/>
          </a:xfrm>
          <a:prstGeom prst="rect">
            <a:avLst/>
          </a:prstGeom>
          <a:noFill/>
        </p:spPr>
        <p:txBody>
          <a:bodyPr wrap="square">
            <a:spAutoFit/>
          </a:bodyPr>
          <a:lstStyle/>
          <a:p>
            <a:pPr algn="l"/>
            <a:r>
              <a:rPr sz="1000" b="0">
                <a:solidFill>
                  <a:srgbClr val="FFFFFF"/>
                </a:solidFill>
              </a:rPr>
              <a:t>Per-VM behavioral history
Learned usage patterns &amp; peaks
Used as history accumulates</a:t>
            </a:r>
          </a:p>
        </p:txBody>
      </p:sp>
      <p:cxnSp>
        <p:nvCxnSpPr>
          <p:cNvPr id="23" name="Connector 22"/>
          <p:cNvCxnSpPr/>
          <p:nvPr/>
        </p:nvCxnSpPr>
        <p:spPr>
          <a:xfrm>
            <a:off x="8092440" y="3154680"/>
            <a:ext cx="320040" cy="0"/>
          </a:xfrm>
          <a:prstGeom prst="line">
            <a:avLst/>
          </a:prstGeom>
          <a:ln w="19050">
            <a:solidFill>
              <a:srgbClr val="78909C"/>
            </a:solidFill>
            <a:tailEnd type="none"/>
            <a:headEnd type="arrow"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846320" y="3977639"/>
            <a:ext cx="6812280" cy="320040"/>
          </a:xfrm>
          <a:prstGeom prst="rect">
            <a:avLst/>
          </a:prstGeom>
          <a:noFill/>
        </p:spPr>
        <p:txBody>
          <a:bodyPr wrap="square">
            <a:spAutoFit/>
          </a:bodyPr>
          <a:lstStyle/>
          <a:p>
            <a:pPr algn="l"/>
            <a:r>
              <a:rPr sz="1100" b="1">
                <a:solidFill>
                  <a:srgbClr val="CAE9FF"/>
                </a:solidFill>
              </a:rPr>
              <a:t>VMs running on node:</a:t>
            </a:r>
          </a:p>
        </p:txBody>
      </p:sp>
      <p:sp>
        <p:nvSpPr>
          <p:cNvPr id="25" name="Rectangle 24"/>
          <p:cNvSpPr/>
          <p:nvPr/>
        </p:nvSpPr>
        <p:spPr>
          <a:xfrm>
            <a:off x="4892040" y="4315968"/>
            <a:ext cx="1051560" cy="868680"/>
          </a:xfrm>
          <a:prstGeom prst="rect">
            <a:avLst/>
          </a:prstGeom>
          <a:solidFill>
            <a:srgbClr val="1A2E44"/>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92040" y="4334256"/>
            <a:ext cx="1051560" cy="822960"/>
          </a:xfrm>
          <a:prstGeom prst="rect">
            <a:avLst/>
          </a:prstGeom>
          <a:noFill/>
        </p:spPr>
        <p:txBody>
          <a:bodyPr wrap="square">
            <a:spAutoFit/>
          </a:bodyPr>
          <a:lstStyle/>
          <a:p>
            <a:pPr algn="ctr"/>
            <a:r>
              <a:rPr sz="950" b="0">
                <a:solidFill>
                  <a:srgbClr val="00B4D8"/>
                </a:solidFill>
              </a:rPr>
              <a:t>VM 1</a:t>
            </a:r>
          </a:p>
        </p:txBody>
      </p:sp>
      <p:sp>
        <p:nvSpPr>
          <p:cNvPr id="27" name="Rectangle 26"/>
          <p:cNvSpPr/>
          <p:nvPr/>
        </p:nvSpPr>
        <p:spPr>
          <a:xfrm>
            <a:off x="6053327" y="4315968"/>
            <a:ext cx="1051560" cy="868680"/>
          </a:xfrm>
          <a:prstGeom prst="rect">
            <a:avLst/>
          </a:prstGeom>
          <a:solidFill>
            <a:srgbClr val="1A2E44"/>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53327" y="4334256"/>
            <a:ext cx="1051560" cy="822960"/>
          </a:xfrm>
          <a:prstGeom prst="rect">
            <a:avLst/>
          </a:prstGeom>
          <a:noFill/>
        </p:spPr>
        <p:txBody>
          <a:bodyPr wrap="square">
            <a:spAutoFit/>
          </a:bodyPr>
          <a:lstStyle/>
          <a:p>
            <a:pPr algn="ctr"/>
            <a:r>
              <a:rPr sz="950" b="0">
                <a:solidFill>
                  <a:srgbClr val="00B4D8"/>
                </a:solidFill>
              </a:rPr>
              <a:t>VM 2</a:t>
            </a:r>
          </a:p>
        </p:txBody>
      </p:sp>
      <p:sp>
        <p:nvSpPr>
          <p:cNvPr id="29" name="Rectangle 28"/>
          <p:cNvSpPr/>
          <p:nvPr/>
        </p:nvSpPr>
        <p:spPr>
          <a:xfrm>
            <a:off x="7214616" y="4315968"/>
            <a:ext cx="1051560" cy="868680"/>
          </a:xfrm>
          <a:prstGeom prst="rect">
            <a:avLst/>
          </a:prstGeom>
          <a:solidFill>
            <a:srgbClr val="1A2E44"/>
          </a:solidFill>
          <a:ln w="15240">
            <a:solidFill>
              <a:srgbClr val="A8D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14616" y="4334256"/>
            <a:ext cx="1051560" cy="822960"/>
          </a:xfrm>
          <a:prstGeom prst="rect">
            <a:avLst/>
          </a:prstGeom>
          <a:noFill/>
        </p:spPr>
        <p:txBody>
          <a:bodyPr wrap="square">
            <a:spAutoFit/>
          </a:bodyPr>
          <a:lstStyle/>
          <a:p>
            <a:pPr algn="ctr"/>
            <a:r>
              <a:rPr sz="950" b="0">
                <a:solidFill>
                  <a:srgbClr val="A8DADC"/>
                </a:solidFill>
              </a:rPr>
              <a:t>VM 3</a:t>
            </a:r>
          </a:p>
        </p:txBody>
      </p:sp>
      <p:sp>
        <p:nvSpPr>
          <p:cNvPr id="31" name="Rectangle 30"/>
          <p:cNvSpPr/>
          <p:nvPr/>
        </p:nvSpPr>
        <p:spPr>
          <a:xfrm>
            <a:off x="8375904" y="4315968"/>
            <a:ext cx="1051560" cy="868680"/>
          </a:xfrm>
          <a:prstGeom prst="rect">
            <a:avLst/>
          </a:prstGeom>
          <a:solidFill>
            <a:srgbClr val="1A2E44"/>
          </a:solidFill>
          <a:ln w="15240">
            <a:solidFill>
              <a:srgbClr val="A8D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75904" y="4334256"/>
            <a:ext cx="1051560" cy="822960"/>
          </a:xfrm>
          <a:prstGeom prst="rect">
            <a:avLst/>
          </a:prstGeom>
          <a:noFill/>
        </p:spPr>
        <p:txBody>
          <a:bodyPr wrap="square">
            <a:spAutoFit/>
          </a:bodyPr>
          <a:lstStyle/>
          <a:p>
            <a:pPr algn="ctr"/>
            <a:r>
              <a:rPr sz="950" b="0">
                <a:solidFill>
                  <a:srgbClr val="A8DADC"/>
                </a:solidFill>
              </a:rPr>
              <a:t>VM 4</a:t>
            </a:r>
          </a:p>
        </p:txBody>
      </p:sp>
      <p:sp>
        <p:nvSpPr>
          <p:cNvPr id="33" name="Rectangle 32"/>
          <p:cNvSpPr/>
          <p:nvPr/>
        </p:nvSpPr>
        <p:spPr>
          <a:xfrm>
            <a:off x="9537192" y="4315968"/>
            <a:ext cx="1051560" cy="868680"/>
          </a:xfrm>
          <a:prstGeom prst="rect">
            <a:avLst/>
          </a:prstGeom>
          <a:solidFill>
            <a:srgbClr val="1A2E44"/>
          </a:solidFill>
          <a:ln w="15240">
            <a:solidFill>
              <a:srgbClr val="E08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537192" y="4334256"/>
            <a:ext cx="1051560" cy="822960"/>
          </a:xfrm>
          <a:prstGeom prst="rect">
            <a:avLst/>
          </a:prstGeom>
          <a:noFill/>
        </p:spPr>
        <p:txBody>
          <a:bodyPr wrap="square">
            <a:spAutoFit/>
          </a:bodyPr>
          <a:lstStyle/>
          <a:p>
            <a:pPr algn="ctr"/>
            <a:r>
              <a:rPr sz="950" b="0">
                <a:solidFill>
                  <a:srgbClr val="E0876A"/>
                </a:solidFill>
              </a:rPr>
              <a:t>VM 5</a:t>
            </a:r>
          </a:p>
        </p:txBody>
      </p:sp>
      <p:sp>
        <p:nvSpPr>
          <p:cNvPr id="35" name="Rectangle 34"/>
          <p:cNvSpPr/>
          <p:nvPr/>
        </p:nvSpPr>
        <p:spPr>
          <a:xfrm>
            <a:off x="10698480" y="4315968"/>
            <a:ext cx="1051560" cy="868680"/>
          </a:xfrm>
          <a:prstGeom prst="rect">
            <a:avLst/>
          </a:prstGeom>
          <a:solidFill>
            <a:srgbClr val="1A2E44"/>
          </a:solidFill>
          <a:ln w="15240">
            <a:solidFill>
              <a:srgbClr val="E08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698480" y="4334256"/>
            <a:ext cx="1051560" cy="822960"/>
          </a:xfrm>
          <a:prstGeom prst="rect">
            <a:avLst/>
          </a:prstGeom>
          <a:noFill/>
        </p:spPr>
        <p:txBody>
          <a:bodyPr wrap="square">
            <a:spAutoFit/>
          </a:bodyPr>
          <a:lstStyle/>
          <a:p>
            <a:pPr algn="ctr"/>
            <a:r>
              <a:rPr sz="950" b="0">
                <a:solidFill>
                  <a:srgbClr val="E0876A"/>
                </a:solidFill>
              </a:rPr>
              <a:t>VM 6</a:t>
            </a:r>
          </a:p>
        </p:txBody>
      </p:sp>
      <p:sp>
        <p:nvSpPr>
          <p:cNvPr id="37" name="Rectangle 36"/>
          <p:cNvSpPr/>
          <p:nvPr/>
        </p:nvSpPr>
        <p:spPr>
          <a:xfrm>
            <a:off x="4846320" y="5349240"/>
            <a:ext cx="6812280" cy="274320"/>
          </a:xfrm>
          <a:prstGeom prst="rect">
            <a:avLst/>
          </a:prstGeom>
          <a:solidFill>
            <a:srgbClr val="1A3A5C"/>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92040" y="5358384"/>
            <a:ext cx="6720840" cy="256032"/>
          </a:xfrm>
          <a:prstGeom prst="rect">
            <a:avLst/>
          </a:prstGeom>
          <a:noFill/>
        </p:spPr>
        <p:txBody>
          <a:bodyPr wrap="square">
            <a:spAutoFit/>
          </a:bodyPr>
          <a:lstStyle/>
          <a:p>
            <a:pPr algn="ctr"/>
            <a:r>
              <a:rPr sz="1000" b="0">
                <a:solidFill>
                  <a:srgbClr val="00B4D8"/>
                </a:solidFill>
              </a:rPr>
              <a:t>Physical RAM  (e.g., 128 GB)</a:t>
            </a:r>
          </a:p>
        </p:txBody>
      </p:sp>
      <p:sp>
        <p:nvSpPr>
          <p:cNvPr id="39" name="TextBox 38"/>
          <p:cNvSpPr txBox="1"/>
          <p:nvPr/>
        </p:nvSpPr>
        <p:spPr>
          <a:xfrm>
            <a:off x="4846320" y="5806440"/>
            <a:ext cx="6812280" cy="320040"/>
          </a:xfrm>
          <a:prstGeom prst="rect">
            <a:avLst/>
          </a:prstGeom>
          <a:noFill/>
        </p:spPr>
        <p:txBody>
          <a:bodyPr wrap="square">
            <a:spAutoFit/>
          </a:bodyPr>
          <a:lstStyle/>
          <a:p>
            <a:pPr algn="ctr"/>
            <a:r>
              <a:rPr sz="1050" b="0">
                <a:solidFill>
                  <a:srgbClr val="EF5350"/>
                </a:solidFill>
              </a:rPr>
              <a:t>✗  Swapping excluded (not used in modern CSPs — Akamai, AWS, GCP)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64592"/>
            <a:ext cx="11704320" cy="594360"/>
          </a:xfrm>
          <a:prstGeom prst="rect">
            <a:avLst/>
          </a:prstGeom>
          <a:noFill/>
        </p:spPr>
        <p:txBody>
          <a:bodyPr wrap="square">
            <a:spAutoFit/>
          </a:bodyPr>
          <a:lstStyle/>
          <a:p>
            <a:pPr algn="l"/>
            <a:r>
              <a:rPr sz="2800" b="1">
                <a:solidFill>
                  <a:srgbClr val="FFFFFF"/>
                </a:solidFill>
              </a:rPr>
              <a:t>SLA Downtime Budget Framework</a:t>
            </a:r>
          </a:p>
        </p:txBody>
      </p:sp>
      <p:sp>
        <p:nvSpPr>
          <p:cNvPr id="4" name="TextBox 3"/>
          <p:cNvSpPr txBox="1"/>
          <p:nvPr/>
        </p:nvSpPr>
        <p:spPr>
          <a:xfrm>
            <a:off x="182880" y="749808"/>
            <a:ext cx="11704320" cy="384048"/>
          </a:xfrm>
          <a:prstGeom prst="rect">
            <a:avLst/>
          </a:prstGeom>
          <a:noFill/>
        </p:spPr>
        <p:txBody>
          <a:bodyPr wrap="square">
            <a:spAutoFit/>
          </a:bodyPr>
          <a:lstStyle/>
          <a:p>
            <a:pPr algn="l"/>
            <a:r>
              <a:rPr sz="1500" b="0">
                <a:solidFill>
                  <a:srgbClr val="00B4D8"/>
                </a:solidFill>
              </a:rPr>
              <a:t>Single configurable parameter α — grounded in real cloud SLA practice</a:t>
            </a:r>
          </a:p>
        </p:txBody>
      </p:sp>
      <p:sp>
        <p:nvSpPr>
          <p:cNvPr id="5" name="Rectangle 4"/>
          <p:cNvSpPr/>
          <p:nvPr/>
        </p:nvSpPr>
        <p:spPr>
          <a:xfrm>
            <a:off x="182880" y="1261872"/>
            <a:ext cx="5120640" cy="5029200"/>
          </a:xfrm>
          <a:prstGeom prst="rect">
            <a:avLst/>
          </a:prstGeom>
          <a:solidFill>
            <a:srgbClr val="1A2E4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 y="1280160"/>
            <a:ext cx="5029200" cy="411480"/>
          </a:xfrm>
          <a:prstGeom prst="rect">
            <a:avLst/>
          </a:prstGeom>
          <a:noFill/>
        </p:spPr>
        <p:txBody>
          <a:bodyPr wrap="square">
            <a:spAutoFit/>
          </a:bodyPr>
          <a:lstStyle/>
          <a:p>
            <a:pPr algn="l"/>
            <a:r>
              <a:rPr sz="1300" b="1">
                <a:solidFill>
                  <a:srgbClr val="00B4D8"/>
                </a:solidFill>
              </a:rPr>
              <a:t>Real-World SLA Context</a:t>
            </a:r>
          </a:p>
        </p:txBody>
      </p:sp>
      <p:sp>
        <p:nvSpPr>
          <p:cNvPr id="7" name="TextBox 6"/>
          <p:cNvSpPr txBox="1"/>
          <p:nvPr/>
        </p:nvSpPr>
        <p:spPr>
          <a:xfrm>
            <a:off x="274320" y="1737360"/>
            <a:ext cx="4983480" cy="4389120"/>
          </a:xfrm>
          <a:prstGeom prst="rect">
            <a:avLst/>
          </a:prstGeom>
          <a:noFill/>
        </p:spPr>
        <p:txBody>
          <a:bodyPr wrap="square">
            <a:spAutoFit/>
          </a:bodyPr>
          <a:lstStyle/>
          <a:p>
            <a:pPr>
              <a:spcBef>
                <a:spcPts val="600"/>
              </a:spcBef>
            </a:pPr>
            <a:r>
              <a:rPr sz="1100">
                <a:solidFill>
                  <a:srgbClr val="FFFFFF"/>
                </a:solidFill>
              </a:rPr>
              <a:t>▸  Akamai (Linode) applies 99.99% monthly uptime to ALL compute VMs — dedicated, shared, GPU, High Memory — no differentiation by VM type</a:t>
            </a:r>
          </a:p>
          <a:p>
            <a:pPr>
              <a:spcBef>
                <a:spcPts val="600"/>
              </a:spcBef>
            </a:pPr>
            <a:r>
              <a:rPr sz="1100">
                <a:solidFill>
                  <a:srgbClr val="FFFFFF"/>
                </a:solidFill>
              </a:rPr>
              <a:t>▸  99.99% = 4.32 min allowed downtime/month</a:t>
            </a:r>
          </a:p>
          <a:p>
            <a:pPr>
              <a:spcBef>
                <a:spcPts val="600"/>
              </a:spcBef>
            </a:pPr>
            <a:r>
              <a:rPr sz="1100">
                <a:solidFill>
                  <a:srgbClr val="FFFFFF"/>
                </a:solidFill>
              </a:rPr>
              <a:t>▸  99.9%  = 43 min allowed downtime/month</a:t>
            </a:r>
          </a:p>
          <a:p>
            <a:pPr>
              <a:spcBef>
                <a:spcPts val="600"/>
              </a:spcBef>
            </a:pPr>
            <a:r>
              <a:rPr sz="1100">
                <a:solidFill>
                  <a:srgbClr val="FFFFFF"/>
                </a:solidFill>
              </a:rPr>
              <a:t>▸  99%    = 7.3 hours allowed downtime/month</a:t>
            </a:r>
          </a:p>
          <a:p>
            <a:pPr>
              <a:spcBef>
                <a:spcPts val="600"/>
              </a:spcBef>
            </a:pPr>
            <a:r>
              <a:rPr sz="1100">
                <a:solidFill>
                  <a:srgbClr val="FFFFFF"/>
                </a:solidFill>
              </a:rPr>
              <a:t>▸  Each additional 'nine' cuts allowed downtime by 10× (Siliceum, 2026)</a:t>
            </a:r>
          </a:p>
          <a:p>
            <a:pPr>
              <a:spcBef>
                <a:spcPts val="600"/>
              </a:spcBef>
            </a:pPr>
            <a:r>
              <a:rPr sz="1100">
                <a:solidFill>
                  <a:srgbClr val="FFFFFF"/>
                </a:solidFill>
              </a:rPr>
              <a:t>▸  Credits are not automatic — consumer must file a ticket (Akamai, 2026)</a:t>
            </a:r>
          </a:p>
          <a:p>
            <a:pPr>
              <a:spcBef>
                <a:spcPts val="600"/>
              </a:spcBef>
            </a:pPr>
            <a:r>
              <a:rPr sz="1100">
                <a:solidFill>
                  <a:srgbClr val="FFFFFF"/>
                </a:solidFill>
              </a:rPr>
              <a:t>▸  Our model adopts platform availability as the SLA metric</a:t>
            </a:r>
          </a:p>
        </p:txBody>
      </p:sp>
      <p:sp>
        <p:nvSpPr>
          <p:cNvPr id="8" name="Rectangle 7"/>
          <p:cNvSpPr/>
          <p:nvPr/>
        </p:nvSpPr>
        <p:spPr>
          <a:xfrm>
            <a:off x="5577840" y="1261872"/>
            <a:ext cx="6355080" cy="5029200"/>
          </a:xfrm>
          <a:prstGeom prst="rect">
            <a:avLst/>
          </a:prstGeom>
          <a:solidFill>
            <a:srgbClr val="002A3A"/>
          </a:solidFill>
          <a:ln w="1905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23560" y="1280160"/>
            <a:ext cx="6263640" cy="411480"/>
          </a:xfrm>
          <a:prstGeom prst="rect">
            <a:avLst/>
          </a:prstGeom>
          <a:noFill/>
        </p:spPr>
        <p:txBody>
          <a:bodyPr wrap="square">
            <a:spAutoFit/>
          </a:bodyPr>
          <a:lstStyle/>
          <a:p>
            <a:pPr algn="l"/>
            <a:r>
              <a:rPr sz="1300" b="1">
                <a:solidFill>
                  <a:srgbClr val="FFD166"/>
                </a:solidFill>
              </a:rPr>
              <a:t>Our Model: Single Parameter α</a:t>
            </a:r>
          </a:p>
        </p:txBody>
      </p:sp>
      <p:sp>
        <p:nvSpPr>
          <p:cNvPr id="10" name="TextBox 9"/>
          <p:cNvSpPr txBox="1"/>
          <p:nvPr/>
        </p:nvSpPr>
        <p:spPr>
          <a:xfrm>
            <a:off x="5669280" y="1737360"/>
            <a:ext cx="6126480" cy="4389120"/>
          </a:xfrm>
          <a:prstGeom prst="rect">
            <a:avLst/>
          </a:prstGeom>
          <a:noFill/>
        </p:spPr>
        <p:txBody>
          <a:bodyPr wrap="square">
            <a:spAutoFit/>
          </a:bodyPr>
          <a:lstStyle/>
          <a:p>
            <a:pPr>
              <a:spcBef>
                <a:spcPts val="300"/>
              </a:spcBef>
            </a:pPr>
            <a:r>
              <a:rPr sz="1200">
                <a:solidFill>
                  <a:srgbClr val="FFEE58"/>
                </a:solidFill>
              </a:rPr>
              <a:t>α  =  configurable SLA uptime %  (e.g., 99.99%)</a:t>
            </a:r>
          </a:p>
          <a:p>
            <a:pPr>
              <a:spcBef>
                <a:spcPts val="300"/>
              </a:spcBef>
            </a:pPr>
            <a:r>
              <a:rPr sz="1200">
                <a:solidFill>
                  <a:srgbClr val="CAE9FF"/>
                </a:solidFill>
              </a:rPr>
              <a:t>T_month  =  minutes in billing month  (43,200)</a:t>
            </a:r>
          </a:p>
          <a:p>
            <a:pPr>
              <a:spcBef>
                <a:spcPts val="300"/>
              </a:spcBef>
            </a:pPr>
            <a:r>
              <a:rPr sz="1200">
                <a:solidFill>
                  <a:srgbClr val="78909C"/>
                </a:solidFill>
              </a:rPr>
              <a:t/>
            </a:r>
          </a:p>
          <a:p>
            <a:pPr>
              <a:spcBef>
                <a:spcPts val="300"/>
              </a:spcBef>
            </a:pPr>
            <a:r>
              <a:rPr sz="1200">
                <a:solidFill>
                  <a:srgbClr val="CAE9FF"/>
                </a:solidFill>
              </a:rPr>
              <a:t>Max allowed downtime per VM:</a:t>
            </a:r>
          </a:p>
          <a:p>
            <a:pPr>
              <a:spcBef>
                <a:spcPts val="300"/>
              </a:spcBef>
            </a:pPr>
            <a:r>
              <a:rPr sz="1200">
                <a:solidFill>
                  <a:srgbClr val="FFEE58"/>
                </a:solidFill>
              </a:rPr>
              <a:t>  D_max = (1 − α) × T_month</a:t>
            </a:r>
          </a:p>
          <a:p>
            <a:pPr>
              <a:spcBef>
                <a:spcPts val="300"/>
              </a:spcBef>
            </a:pPr>
            <a:r>
              <a:rPr sz="1200">
                <a:solidFill>
                  <a:srgbClr val="78909C"/>
                </a:solidFill>
              </a:rPr>
              <a:t/>
            </a:r>
          </a:p>
          <a:p>
            <a:pPr>
              <a:spcBef>
                <a:spcPts val="300"/>
              </a:spcBef>
            </a:pPr>
            <a:r>
              <a:rPr sz="1200">
                <a:solidFill>
                  <a:srgbClr val="CAE9FF"/>
                </a:solidFill>
              </a:rPr>
              <a:t>Remaining budget for VM i:</a:t>
            </a:r>
          </a:p>
          <a:p>
            <a:pPr>
              <a:spcBef>
                <a:spcPts val="300"/>
              </a:spcBef>
            </a:pPr>
            <a:r>
              <a:rPr sz="1200">
                <a:solidFill>
                  <a:srgbClr val="FFEE58"/>
                </a:solidFill>
              </a:rPr>
              <a:t>  B_i = D_max − D_i</a:t>
            </a:r>
          </a:p>
          <a:p>
            <a:pPr>
              <a:spcBef>
                <a:spcPts val="300"/>
              </a:spcBef>
            </a:pPr>
            <a:r>
              <a:rPr sz="1200">
                <a:solidFill>
                  <a:srgbClr val="CAE9FF"/>
                </a:solidFill>
              </a:rPr>
              <a:t>  where D_i = cumulative downtime this month</a:t>
            </a:r>
          </a:p>
          <a:p>
            <a:pPr>
              <a:spcBef>
                <a:spcPts val="300"/>
              </a:spcBef>
            </a:pPr>
            <a:r>
              <a:rPr sz="1200">
                <a:solidFill>
                  <a:srgbClr val="78909C"/>
                </a:solidFill>
              </a:rPr>
              <a:t/>
            </a:r>
          </a:p>
          <a:p>
            <a:pPr>
              <a:spcBef>
                <a:spcPts val="300"/>
              </a:spcBef>
            </a:pPr>
            <a:r>
              <a:rPr sz="1200">
                <a:solidFill>
                  <a:srgbClr val="CAE9FF"/>
                </a:solidFill>
              </a:rPr>
              <a:t>Termination eligibility:</a:t>
            </a:r>
          </a:p>
          <a:p>
            <a:pPr>
              <a:spcBef>
                <a:spcPts val="300"/>
              </a:spcBef>
            </a:pPr>
            <a:r>
              <a:rPr sz="1200">
                <a:solidFill>
                  <a:srgbClr val="FFEE58"/>
                </a:solidFill>
              </a:rPr>
              <a:t>  B_i &gt; τ  (relaunch threshold time)</a:t>
            </a:r>
          </a:p>
          <a:p>
            <a:pPr>
              <a:spcBef>
                <a:spcPts val="300"/>
              </a:spcBef>
            </a:pPr>
            <a:r>
              <a:rPr sz="1200">
                <a:solidFill>
                  <a:srgbClr val="78909C"/>
                </a:solidFill>
              </a:rPr>
              <a:t/>
            </a:r>
          </a:p>
          <a:p>
            <a:pPr>
              <a:spcBef>
                <a:spcPts val="300"/>
              </a:spcBef>
            </a:pPr>
            <a:r>
              <a:rPr sz="1200">
                <a:solidFill>
                  <a:srgbClr val="CAE9FF"/>
                </a:solidFill>
              </a:rPr>
              <a:t>Termination order:</a:t>
            </a:r>
          </a:p>
          <a:p>
            <a:pPr>
              <a:spcBef>
                <a:spcPts val="300"/>
              </a:spcBef>
            </a:pPr>
            <a:r>
              <a:rPr sz="1200">
                <a:solidFill>
                  <a:srgbClr val="FFEE58"/>
                </a:solidFill>
              </a:rPr>
              <a:t>  Sort by B_i descending</a:t>
            </a:r>
          </a:p>
          <a:p>
            <a:pPr>
              <a:spcBef>
                <a:spcPts val="300"/>
              </a:spcBef>
            </a:pPr>
            <a:r>
              <a:rPr sz="1200">
                <a:solidFill>
                  <a:srgbClr val="CAE9FF"/>
                </a:solidFill>
              </a:rPr>
              <a:t>  (most budget remaining → terminated first)</a:t>
            </a:r>
          </a:p>
        </p:txBody>
      </p:sp>
      <p:sp>
        <p:nvSpPr>
          <p:cNvPr id="11" name="Rectangle 10"/>
          <p:cNvSpPr/>
          <p:nvPr/>
        </p:nvSpPr>
        <p:spPr>
          <a:xfrm>
            <a:off x="182880" y="6355080"/>
            <a:ext cx="11795760" cy="347472"/>
          </a:xfrm>
          <a:prstGeom prst="rect">
            <a:avLst/>
          </a:prstGeom>
          <a:solidFill>
            <a:srgbClr val="003A52"/>
          </a:solidFill>
          <a:ln w="1905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6373368"/>
            <a:ext cx="11612880" cy="310896"/>
          </a:xfrm>
          <a:prstGeom prst="rect">
            <a:avLst/>
          </a:prstGeom>
          <a:noFill/>
        </p:spPr>
        <p:txBody>
          <a:bodyPr wrap="square">
            <a:spAutoFit/>
          </a:bodyPr>
          <a:lstStyle/>
          <a:p>
            <a:pPr algn="ctr"/>
            <a:r>
              <a:rPr sz="1100" b="0">
                <a:solidFill>
                  <a:srgbClr val="FFD166"/>
                </a:solidFill>
              </a:rPr>
              <a:t>Simplification: one α for all VMs → mirrors Akamai's uniform compute SLA. Per-VM heterogeneous SLAs are future 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64592"/>
            <a:ext cx="11704320" cy="594360"/>
          </a:xfrm>
          <a:prstGeom prst="rect">
            <a:avLst/>
          </a:prstGeom>
          <a:noFill/>
        </p:spPr>
        <p:txBody>
          <a:bodyPr wrap="square">
            <a:spAutoFit/>
          </a:bodyPr>
          <a:lstStyle/>
          <a:p>
            <a:pPr algn="l"/>
            <a:r>
              <a:rPr sz="2800" b="1">
                <a:solidFill>
                  <a:srgbClr val="FFFFFF"/>
                </a:solidFill>
              </a:rPr>
              <a:t>Admission &amp; Packing Strategy</a:t>
            </a:r>
          </a:p>
        </p:txBody>
      </p:sp>
      <p:sp>
        <p:nvSpPr>
          <p:cNvPr id="4" name="TextBox 3"/>
          <p:cNvSpPr txBox="1"/>
          <p:nvPr/>
        </p:nvSpPr>
        <p:spPr>
          <a:xfrm>
            <a:off x="182880" y="749808"/>
            <a:ext cx="11704320" cy="384048"/>
          </a:xfrm>
          <a:prstGeom prst="rect">
            <a:avLst/>
          </a:prstGeom>
          <a:noFill/>
        </p:spPr>
        <p:txBody>
          <a:bodyPr wrap="square">
            <a:spAutoFit/>
          </a:bodyPr>
          <a:lstStyle/>
          <a:p>
            <a:pPr algn="l"/>
            <a:r>
              <a:rPr sz="1500" b="0">
                <a:solidFill>
                  <a:srgbClr val="00B4D8"/>
                </a:solidFill>
              </a:rPr>
              <a:t>Maximize utilization while guaranteeing no VM exceeds its SLA budget</a:t>
            </a:r>
          </a:p>
        </p:txBody>
      </p:sp>
      <p:sp>
        <p:nvSpPr>
          <p:cNvPr id="5" name="Rectangle 4"/>
          <p:cNvSpPr/>
          <p:nvPr/>
        </p:nvSpPr>
        <p:spPr>
          <a:xfrm>
            <a:off x="182880" y="1261872"/>
            <a:ext cx="3749039" cy="56692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261872"/>
            <a:ext cx="3749039" cy="566928"/>
          </a:xfrm>
          <a:prstGeom prst="rect">
            <a:avLst/>
          </a:prstGeom>
          <a:noFill/>
        </p:spPr>
        <p:txBody>
          <a:bodyPr wrap="square">
            <a:spAutoFit/>
          </a:bodyPr>
          <a:lstStyle/>
          <a:p>
            <a:pPr algn="ctr"/>
            <a:r>
              <a:rPr sz="1200" b="1">
                <a:solidFill>
                  <a:srgbClr val="0D1B2A"/>
                </a:solidFill>
              </a:rPr>
              <a:t>SAFE PACKING
(Baseline)</a:t>
            </a:r>
          </a:p>
        </p:txBody>
      </p:sp>
      <p:sp>
        <p:nvSpPr>
          <p:cNvPr id="7" name="Rectangle 6"/>
          <p:cNvSpPr/>
          <p:nvPr/>
        </p:nvSpPr>
        <p:spPr>
          <a:xfrm>
            <a:off x="182880" y="1828800"/>
            <a:ext cx="3749039" cy="3474720"/>
          </a:xfrm>
          <a:prstGeom prst="rect">
            <a:avLst/>
          </a:prstGeom>
          <a:solidFill>
            <a:srgbClr val="1A2E44"/>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883664"/>
            <a:ext cx="3566160" cy="3383280"/>
          </a:xfrm>
          <a:prstGeom prst="rect">
            <a:avLst/>
          </a:prstGeom>
          <a:noFill/>
        </p:spPr>
        <p:txBody>
          <a:bodyPr wrap="square">
            <a:spAutoFit/>
          </a:bodyPr>
          <a:lstStyle/>
          <a:p>
            <a:pPr algn="l"/>
            <a:r>
              <a:rPr sz="1150" b="0">
                <a:solidFill>
                  <a:srgbClr val="FFFFFF"/>
                </a:solidFill>
              </a:rPr>
              <a:t>Pack VMs such that if ALL active VMs simultaneously use their full allocated RAM,
total memory ≤ physical RAM.
This is the conservative floor — zero overcommitment.
Serves as simulation baseline (represents current industry practice).</a:t>
            </a:r>
          </a:p>
        </p:txBody>
      </p:sp>
      <p:sp>
        <p:nvSpPr>
          <p:cNvPr id="9" name="Rectangle 8"/>
          <p:cNvSpPr/>
          <p:nvPr/>
        </p:nvSpPr>
        <p:spPr>
          <a:xfrm>
            <a:off x="4160520" y="1261872"/>
            <a:ext cx="3749039" cy="566928"/>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60520" y="1261872"/>
            <a:ext cx="3749039" cy="566928"/>
          </a:xfrm>
          <a:prstGeom prst="rect">
            <a:avLst/>
          </a:prstGeom>
          <a:noFill/>
        </p:spPr>
        <p:txBody>
          <a:bodyPr wrap="square">
            <a:spAutoFit/>
          </a:bodyPr>
          <a:lstStyle/>
          <a:p>
            <a:pPr algn="ctr"/>
            <a:r>
              <a:rPr sz="1200" b="1">
                <a:solidFill>
                  <a:srgbClr val="0D1B2A"/>
                </a:solidFill>
              </a:rPr>
              <a:t>PREDICTIVE PACKING
(Our Model)</a:t>
            </a:r>
          </a:p>
        </p:txBody>
      </p:sp>
      <p:sp>
        <p:nvSpPr>
          <p:cNvPr id="11" name="Rectangle 10"/>
          <p:cNvSpPr/>
          <p:nvPr/>
        </p:nvSpPr>
        <p:spPr>
          <a:xfrm>
            <a:off x="4160520" y="1828800"/>
            <a:ext cx="3749039" cy="3474720"/>
          </a:xfrm>
          <a:prstGeom prst="rect">
            <a:avLst/>
          </a:prstGeom>
          <a:solidFill>
            <a:srgbClr val="1A2E44"/>
          </a:solidFill>
          <a:ln w="1905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51959" y="1883664"/>
            <a:ext cx="3566160" cy="3383280"/>
          </a:xfrm>
          <a:prstGeom prst="rect">
            <a:avLst/>
          </a:prstGeom>
          <a:noFill/>
        </p:spPr>
        <p:txBody>
          <a:bodyPr wrap="square">
            <a:spAutoFit/>
          </a:bodyPr>
          <a:lstStyle/>
          <a:p>
            <a:pPr algn="l"/>
            <a:r>
              <a:rPr sz="1150" b="0">
                <a:solidFill>
                  <a:srgbClr val="FFFFFF"/>
                </a:solidFill>
              </a:rPr>
              <a:t>Pack VMs into the statistical headroom.
Generalized + curated models forecast that VMs will NOT all peak simultaneously.
Admission is accepted when predicted aggregate peak ≤ physical RAM.
Target: push utilization from ~45% → ~80%.</a:t>
            </a:r>
          </a:p>
        </p:txBody>
      </p:sp>
      <p:sp>
        <p:nvSpPr>
          <p:cNvPr id="13" name="Rectangle 12"/>
          <p:cNvSpPr/>
          <p:nvPr/>
        </p:nvSpPr>
        <p:spPr>
          <a:xfrm>
            <a:off x="8138159" y="1261872"/>
            <a:ext cx="3749039" cy="566928"/>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59" y="1261872"/>
            <a:ext cx="3749039" cy="566928"/>
          </a:xfrm>
          <a:prstGeom prst="rect">
            <a:avLst/>
          </a:prstGeom>
          <a:noFill/>
        </p:spPr>
        <p:txBody>
          <a:bodyPr wrap="square">
            <a:spAutoFit/>
          </a:bodyPr>
          <a:lstStyle/>
          <a:p>
            <a:pPr algn="ctr"/>
            <a:r>
              <a:rPr sz="1200" b="1">
                <a:solidFill>
                  <a:srgbClr val="FFFFFF"/>
                </a:solidFill>
              </a:rPr>
              <a:t>OVERLOAD RESPONSE
(Last Resort)</a:t>
            </a:r>
          </a:p>
        </p:txBody>
      </p:sp>
      <p:sp>
        <p:nvSpPr>
          <p:cNvPr id="15" name="Rectangle 14"/>
          <p:cNvSpPr/>
          <p:nvPr/>
        </p:nvSpPr>
        <p:spPr>
          <a:xfrm>
            <a:off x="8138159" y="1828800"/>
            <a:ext cx="3749039" cy="3474720"/>
          </a:xfrm>
          <a:prstGeom prst="rect">
            <a:avLst/>
          </a:prstGeom>
          <a:solidFill>
            <a:srgbClr val="1A2E44"/>
          </a:solidFill>
          <a:ln w="19050">
            <a:solidFill>
              <a:srgbClr val="EF5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9" y="1883664"/>
            <a:ext cx="3566160" cy="3383280"/>
          </a:xfrm>
          <a:prstGeom prst="rect">
            <a:avLst/>
          </a:prstGeom>
          <a:noFill/>
        </p:spPr>
        <p:txBody>
          <a:bodyPr wrap="square">
            <a:spAutoFit/>
          </a:bodyPr>
          <a:lstStyle/>
          <a:p>
            <a:pPr algn="l"/>
            <a:r>
              <a:rPr sz="1150" b="0">
                <a:solidFill>
                  <a:srgbClr val="FFFFFF"/>
                </a:solidFill>
              </a:rPr>
              <a:t>When spike is predicted and sharing is insufficient:
1. Check each VM's remaining SLA budget B_i
2. Terminate VM with largest B_i first
3. Never terminate a VM with B_i ≤ τ
4. Notify cluster manager to relaunch</a:t>
            </a:r>
          </a:p>
        </p:txBody>
      </p:sp>
      <p:sp>
        <p:nvSpPr>
          <p:cNvPr id="17" name="TextBox 16"/>
          <p:cNvSpPr txBox="1"/>
          <p:nvPr/>
        </p:nvSpPr>
        <p:spPr>
          <a:xfrm>
            <a:off x="182880" y="5486400"/>
            <a:ext cx="11795760" cy="274320"/>
          </a:xfrm>
          <a:prstGeom prst="rect">
            <a:avLst/>
          </a:prstGeom>
          <a:noFill/>
        </p:spPr>
        <p:txBody>
          <a:bodyPr wrap="square">
            <a:spAutoFit/>
          </a:bodyPr>
          <a:lstStyle/>
          <a:p>
            <a:pPr algn="l"/>
            <a:r>
              <a:rPr sz="1100" b="1">
                <a:solidFill>
                  <a:srgbClr val="CAE9FF"/>
                </a:solidFill>
              </a:rPr>
              <a:t>Memory utilization illustration (128 GB node):</a:t>
            </a:r>
          </a:p>
        </p:txBody>
      </p:sp>
      <p:sp>
        <p:nvSpPr>
          <p:cNvPr id="18" name="Rectangle 17"/>
          <p:cNvSpPr/>
          <p:nvPr/>
        </p:nvSpPr>
        <p:spPr>
          <a:xfrm>
            <a:off x="182880" y="5760720"/>
            <a:ext cx="11795760" cy="502920"/>
          </a:xfrm>
          <a:prstGeom prst="rect">
            <a:avLst/>
          </a:prstGeom>
          <a:solidFill>
            <a:srgbClr val="122638"/>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2880" y="5760720"/>
            <a:ext cx="5303520" cy="50292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 y="5760720"/>
            <a:ext cx="5212080" cy="502920"/>
          </a:xfrm>
          <a:prstGeom prst="rect">
            <a:avLst/>
          </a:prstGeom>
          <a:noFill/>
        </p:spPr>
        <p:txBody>
          <a:bodyPr wrap="square">
            <a:spAutoFit/>
          </a:bodyPr>
          <a:lstStyle/>
          <a:p>
            <a:pPr algn="ctr"/>
            <a:r>
              <a:rPr sz="900" b="0">
                <a:solidFill>
                  <a:srgbClr val="0D1B2A"/>
                </a:solidFill>
              </a:rPr>
              <a:t>Currently used (safe pack ~45%)</a:t>
            </a:r>
          </a:p>
        </p:txBody>
      </p:sp>
      <p:sp>
        <p:nvSpPr>
          <p:cNvPr id="21" name="Rectangle 20"/>
          <p:cNvSpPr/>
          <p:nvPr/>
        </p:nvSpPr>
        <p:spPr>
          <a:xfrm>
            <a:off x="5486400" y="5760720"/>
            <a:ext cx="4114800" cy="502920"/>
          </a:xfrm>
          <a:prstGeom prst="rect">
            <a:avLst/>
          </a:prstGeom>
          <a:solidFill>
            <a:srgbClr val="CC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32120" y="5760720"/>
            <a:ext cx="4023360" cy="502920"/>
          </a:xfrm>
          <a:prstGeom prst="rect">
            <a:avLst/>
          </a:prstGeom>
          <a:noFill/>
        </p:spPr>
        <p:txBody>
          <a:bodyPr wrap="square">
            <a:spAutoFit/>
          </a:bodyPr>
          <a:lstStyle/>
          <a:p>
            <a:pPr algn="ctr"/>
            <a:r>
              <a:rPr sz="900" b="0">
                <a:solidFill>
                  <a:srgbClr val="0D1B2A"/>
                </a:solidFill>
              </a:rPr>
              <a:t>Predictive headroom packing (~35%)</a:t>
            </a:r>
          </a:p>
        </p:txBody>
      </p:sp>
      <p:sp>
        <p:nvSpPr>
          <p:cNvPr id="23" name="Rectangle 22"/>
          <p:cNvSpPr/>
          <p:nvPr/>
        </p:nvSpPr>
        <p:spPr>
          <a:xfrm>
            <a:off x="9601200" y="5760720"/>
            <a:ext cx="2377440" cy="502920"/>
          </a:xfrm>
          <a:prstGeom prst="rect">
            <a:avLst/>
          </a:prstGeom>
          <a:solidFill>
            <a:srgbClr val="1A2E44"/>
          </a:solidFill>
          <a:ln w="19050">
            <a:solidFill>
              <a:srgbClr val="7890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46920" y="5760720"/>
            <a:ext cx="2286000" cy="502920"/>
          </a:xfrm>
          <a:prstGeom prst="rect">
            <a:avLst/>
          </a:prstGeom>
          <a:noFill/>
        </p:spPr>
        <p:txBody>
          <a:bodyPr wrap="square">
            <a:spAutoFit/>
          </a:bodyPr>
          <a:lstStyle/>
          <a:p>
            <a:pPr algn="ctr"/>
            <a:r>
              <a:rPr sz="900" b="0">
                <a:solidFill>
                  <a:srgbClr val="78909C"/>
                </a:solidFill>
              </a:rPr>
              <a:t>Safety buffer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64592"/>
            <a:ext cx="11704320" cy="594360"/>
          </a:xfrm>
          <a:prstGeom prst="rect">
            <a:avLst/>
          </a:prstGeom>
          <a:noFill/>
        </p:spPr>
        <p:txBody>
          <a:bodyPr wrap="square">
            <a:spAutoFit/>
          </a:bodyPr>
          <a:lstStyle/>
          <a:p>
            <a:pPr algn="l"/>
            <a:r>
              <a:rPr sz="2800" b="1">
                <a:solidFill>
                  <a:srgbClr val="FFFFFF"/>
                </a:solidFill>
              </a:rPr>
              <a:t>Dual Prediction Model Architecture</a:t>
            </a:r>
          </a:p>
        </p:txBody>
      </p:sp>
      <p:sp>
        <p:nvSpPr>
          <p:cNvPr id="4" name="TextBox 3"/>
          <p:cNvSpPr txBox="1"/>
          <p:nvPr/>
        </p:nvSpPr>
        <p:spPr>
          <a:xfrm>
            <a:off x="182880" y="749808"/>
            <a:ext cx="11704320" cy="384048"/>
          </a:xfrm>
          <a:prstGeom prst="rect">
            <a:avLst/>
          </a:prstGeom>
          <a:noFill/>
        </p:spPr>
        <p:txBody>
          <a:bodyPr wrap="square">
            <a:spAutoFit/>
          </a:bodyPr>
          <a:lstStyle/>
          <a:p>
            <a:pPr algn="l"/>
            <a:r>
              <a:rPr sz="1500" b="0">
                <a:solidFill>
                  <a:srgbClr val="00B4D8"/>
                </a:solidFill>
              </a:rPr>
              <a:t>Generalized model for new VMs → Curated model as history accumulates</a:t>
            </a:r>
          </a:p>
        </p:txBody>
      </p:sp>
      <p:sp>
        <p:nvSpPr>
          <p:cNvPr id="5" name="Rectangle 4"/>
          <p:cNvSpPr/>
          <p:nvPr/>
        </p:nvSpPr>
        <p:spPr>
          <a:xfrm>
            <a:off x="182880" y="1280160"/>
            <a:ext cx="5303520" cy="4114800"/>
          </a:xfrm>
          <a:prstGeom prst="rect">
            <a:avLst/>
          </a:prstGeom>
          <a:solidFill>
            <a:srgbClr val="1A2E44"/>
          </a:solidFill>
          <a:ln w="2286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 y="1298448"/>
            <a:ext cx="5212080" cy="457200"/>
          </a:xfrm>
          <a:prstGeom prst="rect">
            <a:avLst/>
          </a:prstGeom>
          <a:noFill/>
        </p:spPr>
        <p:txBody>
          <a:bodyPr wrap="square">
            <a:spAutoFit/>
          </a:bodyPr>
          <a:lstStyle/>
          <a:p>
            <a:pPr algn="ctr"/>
            <a:r>
              <a:rPr sz="1400" b="1">
                <a:solidFill>
                  <a:srgbClr val="4CAF50"/>
                </a:solidFill>
              </a:rPr>
              <a:t>GENERALIZED MODEL</a:t>
            </a:r>
          </a:p>
        </p:txBody>
      </p:sp>
      <p:sp>
        <p:nvSpPr>
          <p:cNvPr id="7" name="TextBox 6"/>
          <p:cNvSpPr txBox="1"/>
          <p:nvPr/>
        </p:nvSpPr>
        <p:spPr>
          <a:xfrm>
            <a:off x="320040" y="1810512"/>
            <a:ext cx="5029200" cy="3383280"/>
          </a:xfrm>
          <a:prstGeom prst="rect">
            <a:avLst/>
          </a:prstGeom>
          <a:noFill/>
        </p:spPr>
        <p:txBody>
          <a:bodyPr wrap="square">
            <a:spAutoFit/>
          </a:bodyPr>
          <a:lstStyle/>
          <a:p>
            <a:pPr>
              <a:spcBef>
                <a:spcPts val="600"/>
              </a:spcBef>
            </a:pPr>
            <a:r>
              <a:rPr sz="1150">
                <a:solidFill>
                  <a:srgbClr val="FFFFFF"/>
                </a:solidFill>
              </a:rPr>
              <a:t>▸  Input: VM size, type, CPU/RAM allocation</a:t>
            </a:r>
          </a:p>
          <a:p>
            <a:pPr>
              <a:spcBef>
                <a:spcPts val="600"/>
              </a:spcBef>
            </a:pPr>
            <a:r>
              <a:rPr sz="1150">
                <a:solidFill>
                  <a:srgbClr val="FFFFFF"/>
                </a:solidFill>
              </a:rPr>
              <a:t>▸  Input: Temporal patterns across similar VMs (Coach paper approach)</a:t>
            </a:r>
          </a:p>
          <a:p>
            <a:pPr>
              <a:spcBef>
                <a:spcPts val="600"/>
              </a:spcBef>
            </a:pPr>
            <a:r>
              <a:rPr sz="1150">
                <a:solidFill>
                  <a:srgbClr val="FFFFFF"/>
                </a:solidFill>
              </a:rPr>
              <a:t>▸  Input: Trend features (e.g., large VMs last longer, use more memory)</a:t>
            </a:r>
          </a:p>
          <a:p>
            <a:pPr>
              <a:spcBef>
                <a:spcPts val="600"/>
              </a:spcBef>
            </a:pPr>
            <a:r>
              <a:rPr sz="1150">
                <a:solidFill>
                  <a:srgbClr val="FFFFFF"/>
                </a:solidFill>
              </a:rPr>
              <a:t>▸  Used for: All newly admitted VMs</a:t>
            </a:r>
          </a:p>
          <a:p>
            <a:pPr>
              <a:spcBef>
                <a:spcPts val="600"/>
              </a:spcBef>
            </a:pPr>
            <a:r>
              <a:rPr sz="1150">
                <a:solidFill>
                  <a:srgbClr val="FFFFFF"/>
                </a:solidFill>
              </a:rPr>
              <a:t>▸  Provides: Predicted usage curve + peak time estimate</a:t>
            </a:r>
          </a:p>
          <a:p>
            <a:pPr>
              <a:spcBef>
                <a:spcPts val="600"/>
              </a:spcBef>
            </a:pPr>
            <a:r>
              <a:rPr sz="1150">
                <a:solidFill>
                  <a:srgbClr val="FFFFFF"/>
                </a:solidFill>
              </a:rPr>
              <a:t>▸  Limitation: Generic — less accurate than curated</a:t>
            </a:r>
          </a:p>
        </p:txBody>
      </p:sp>
      <p:sp>
        <p:nvSpPr>
          <p:cNvPr id="8" name="Rectangle 7"/>
          <p:cNvSpPr/>
          <p:nvPr/>
        </p:nvSpPr>
        <p:spPr>
          <a:xfrm>
            <a:off x="6675120" y="1280160"/>
            <a:ext cx="5303520" cy="4114800"/>
          </a:xfrm>
          <a:prstGeom prst="rect">
            <a:avLst/>
          </a:prstGeom>
          <a:solidFill>
            <a:srgbClr val="1A2E44"/>
          </a:solidFill>
          <a:ln w="22860">
            <a:solidFill>
              <a:srgbClr val="E08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20840" y="1298448"/>
            <a:ext cx="5212080" cy="457200"/>
          </a:xfrm>
          <a:prstGeom prst="rect">
            <a:avLst/>
          </a:prstGeom>
          <a:noFill/>
        </p:spPr>
        <p:txBody>
          <a:bodyPr wrap="square">
            <a:spAutoFit/>
          </a:bodyPr>
          <a:lstStyle/>
          <a:p>
            <a:pPr algn="ctr"/>
            <a:r>
              <a:rPr sz="1400" b="1">
                <a:solidFill>
                  <a:srgbClr val="E0876A"/>
                </a:solidFill>
              </a:rPr>
              <a:t>CURATED MODEL</a:t>
            </a:r>
          </a:p>
        </p:txBody>
      </p:sp>
      <p:sp>
        <p:nvSpPr>
          <p:cNvPr id="10" name="TextBox 9"/>
          <p:cNvSpPr txBox="1"/>
          <p:nvPr/>
        </p:nvSpPr>
        <p:spPr>
          <a:xfrm>
            <a:off x="6812280" y="1810512"/>
            <a:ext cx="5029200" cy="3383280"/>
          </a:xfrm>
          <a:prstGeom prst="rect">
            <a:avLst/>
          </a:prstGeom>
          <a:noFill/>
        </p:spPr>
        <p:txBody>
          <a:bodyPr wrap="square">
            <a:spAutoFit/>
          </a:bodyPr>
          <a:lstStyle/>
          <a:p>
            <a:pPr>
              <a:spcBef>
                <a:spcPts val="600"/>
              </a:spcBef>
            </a:pPr>
            <a:r>
              <a:rPr sz="1150">
                <a:solidFill>
                  <a:srgbClr val="FFFFFF"/>
                </a:solidFill>
              </a:rPr>
              <a:t>▸  Input: This VM's own usage history (Resource Central: VMs show consistency across lifetimes)</a:t>
            </a:r>
          </a:p>
          <a:p>
            <a:pPr>
              <a:spcBef>
                <a:spcPts val="600"/>
              </a:spcBef>
            </a:pPr>
            <a:r>
              <a:rPr sz="1150">
                <a:solidFill>
                  <a:srgbClr val="FFFFFF"/>
                </a:solidFill>
              </a:rPr>
              <a:t>▸  Input: Observed peak times, cycles, application patterns</a:t>
            </a:r>
          </a:p>
          <a:p>
            <a:pPr>
              <a:spcBef>
                <a:spcPts val="600"/>
              </a:spcBef>
            </a:pPr>
            <a:r>
              <a:rPr sz="1150">
                <a:solidFill>
                  <a:srgbClr val="FFFFFF"/>
                </a:solidFill>
              </a:rPr>
              <a:t>▸  Input: Seasonal and event-triggered variations</a:t>
            </a:r>
          </a:p>
          <a:p>
            <a:pPr>
              <a:spcBef>
                <a:spcPts val="600"/>
              </a:spcBef>
            </a:pPr>
            <a:r>
              <a:rPr sz="1150">
                <a:solidFill>
                  <a:srgbClr val="FFFFFF"/>
                </a:solidFill>
              </a:rPr>
              <a:t>▸  Used for: VMs with sufficient history (e.g., 7+ days)</a:t>
            </a:r>
          </a:p>
          <a:p>
            <a:pPr>
              <a:spcBef>
                <a:spcPts val="600"/>
              </a:spcBef>
            </a:pPr>
            <a:r>
              <a:rPr sz="1150">
                <a:solidFill>
                  <a:srgbClr val="FFFFFF"/>
                </a:solidFill>
              </a:rPr>
              <a:t>▸  Provides: High-accuracy per-VM spike forecast</a:t>
            </a:r>
          </a:p>
          <a:p>
            <a:pPr>
              <a:spcBef>
                <a:spcPts val="600"/>
              </a:spcBef>
            </a:pPr>
            <a:r>
              <a:rPr sz="1150">
                <a:solidFill>
                  <a:srgbClr val="FFFFFF"/>
                </a:solidFill>
              </a:rPr>
              <a:t>▸  Continuously retrained as new data arrives</a:t>
            </a:r>
          </a:p>
        </p:txBody>
      </p:sp>
      <p:sp>
        <p:nvSpPr>
          <p:cNvPr id="11" name="TextBox 10"/>
          <p:cNvSpPr txBox="1"/>
          <p:nvPr/>
        </p:nvSpPr>
        <p:spPr>
          <a:xfrm>
            <a:off x="5760720" y="3017520"/>
            <a:ext cx="640080" cy="457200"/>
          </a:xfrm>
          <a:prstGeom prst="rect">
            <a:avLst/>
          </a:prstGeom>
          <a:noFill/>
        </p:spPr>
        <p:txBody>
          <a:bodyPr wrap="square">
            <a:spAutoFit/>
          </a:bodyPr>
          <a:lstStyle/>
          <a:p>
            <a:pPr algn="ctr"/>
            <a:r>
              <a:rPr sz="2800" b="1">
                <a:solidFill>
                  <a:srgbClr val="00B4D8"/>
                </a:solidFill>
              </a:rPr>
              <a:t>➜</a:t>
            </a:r>
          </a:p>
        </p:txBody>
      </p:sp>
      <p:sp>
        <p:nvSpPr>
          <p:cNvPr id="12" name="TextBox 11"/>
          <p:cNvSpPr txBox="1"/>
          <p:nvPr/>
        </p:nvSpPr>
        <p:spPr>
          <a:xfrm>
            <a:off x="5486400" y="3456432"/>
            <a:ext cx="1188720" cy="502920"/>
          </a:xfrm>
          <a:prstGeom prst="rect">
            <a:avLst/>
          </a:prstGeom>
          <a:noFill/>
        </p:spPr>
        <p:txBody>
          <a:bodyPr wrap="square">
            <a:spAutoFit/>
          </a:bodyPr>
          <a:lstStyle/>
          <a:p>
            <a:pPr algn="ctr"/>
            <a:r>
              <a:rPr sz="1000" b="0">
                <a:solidFill>
                  <a:srgbClr val="00B4D8"/>
                </a:solidFill>
              </a:rPr>
              <a:t>Gradual
transition</a:t>
            </a:r>
          </a:p>
        </p:txBody>
      </p:sp>
      <p:sp>
        <p:nvSpPr>
          <p:cNvPr id="13" name="Rectangle 12"/>
          <p:cNvSpPr/>
          <p:nvPr/>
        </p:nvSpPr>
        <p:spPr>
          <a:xfrm>
            <a:off x="182880" y="5559552"/>
            <a:ext cx="11795760" cy="54864"/>
          </a:xfrm>
          <a:prstGeom prst="rect">
            <a:avLst/>
          </a:prstGeom>
          <a:solidFill>
            <a:srgbClr val="7890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8872" y="5413248"/>
            <a:ext cx="128016" cy="3200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5687568"/>
            <a:ext cx="914400" cy="502920"/>
          </a:xfrm>
          <a:prstGeom prst="rect">
            <a:avLst/>
          </a:prstGeom>
          <a:noFill/>
        </p:spPr>
        <p:txBody>
          <a:bodyPr wrap="square">
            <a:spAutoFit/>
          </a:bodyPr>
          <a:lstStyle/>
          <a:p>
            <a:pPr algn="ctr"/>
            <a:r>
              <a:rPr sz="900" b="0">
                <a:solidFill>
                  <a:srgbClr val="4CAF50"/>
                </a:solidFill>
              </a:rPr>
              <a:t>VM
Admitted</a:t>
            </a:r>
          </a:p>
        </p:txBody>
      </p:sp>
      <p:sp>
        <p:nvSpPr>
          <p:cNvPr id="16" name="Rectangle 15"/>
          <p:cNvSpPr/>
          <p:nvPr/>
        </p:nvSpPr>
        <p:spPr>
          <a:xfrm>
            <a:off x="4247388" y="5413248"/>
            <a:ext cx="128016" cy="3200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54196" y="5687568"/>
            <a:ext cx="914400" cy="502920"/>
          </a:xfrm>
          <a:prstGeom prst="rect">
            <a:avLst/>
          </a:prstGeom>
          <a:noFill/>
        </p:spPr>
        <p:txBody>
          <a:bodyPr wrap="square">
            <a:spAutoFit/>
          </a:bodyPr>
          <a:lstStyle/>
          <a:p>
            <a:pPr algn="ctr"/>
            <a:r>
              <a:rPr sz="900" b="0">
                <a:solidFill>
                  <a:srgbClr val="00B4D8"/>
                </a:solidFill>
              </a:rPr>
              <a:t>7+ days
history</a:t>
            </a:r>
          </a:p>
        </p:txBody>
      </p:sp>
      <p:sp>
        <p:nvSpPr>
          <p:cNvPr id="18" name="Rectangle 17"/>
          <p:cNvSpPr/>
          <p:nvPr/>
        </p:nvSpPr>
        <p:spPr>
          <a:xfrm>
            <a:off x="7786115" y="5413248"/>
            <a:ext cx="128016" cy="3200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92923" y="5687568"/>
            <a:ext cx="914400" cy="502920"/>
          </a:xfrm>
          <a:prstGeom prst="rect">
            <a:avLst/>
          </a:prstGeom>
          <a:noFill/>
        </p:spPr>
        <p:txBody>
          <a:bodyPr wrap="square">
            <a:spAutoFit/>
          </a:bodyPr>
          <a:lstStyle/>
          <a:p>
            <a:pPr algn="ctr"/>
            <a:r>
              <a:rPr sz="900" b="0">
                <a:solidFill>
                  <a:srgbClr val="FFEE58"/>
                </a:solidFill>
              </a:rPr>
              <a:t>Hybrid
Blend</a:t>
            </a:r>
          </a:p>
        </p:txBody>
      </p:sp>
      <p:sp>
        <p:nvSpPr>
          <p:cNvPr id="20" name="Rectangle 19"/>
          <p:cNvSpPr/>
          <p:nvPr/>
        </p:nvSpPr>
        <p:spPr>
          <a:xfrm>
            <a:off x="11914632" y="5413248"/>
            <a:ext cx="128016" cy="3200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521440" y="5687568"/>
            <a:ext cx="914400" cy="502920"/>
          </a:xfrm>
          <a:prstGeom prst="rect">
            <a:avLst/>
          </a:prstGeom>
          <a:noFill/>
        </p:spPr>
        <p:txBody>
          <a:bodyPr wrap="square">
            <a:spAutoFit/>
          </a:bodyPr>
          <a:lstStyle/>
          <a:p>
            <a:pPr algn="ctr"/>
            <a:r>
              <a:rPr sz="900" b="0">
                <a:solidFill>
                  <a:srgbClr val="E0876A"/>
                </a:solidFill>
              </a:rPr>
              <a:t>Full
Curated</a:t>
            </a:r>
          </a:p>
        </p:txBody>
      </p:sp>
      <p:sp>
        <p:nvSpPr>
          <p:cNvPr id="22" name="TextBox 21"/>
          <p:cNvSpPr txBox="1"/>
          <p:nvPr/>
        </p:nvSpPr>
        <p:spPr>
          <a:xfrm>
            <a:off x="11430000" y="5504688"/>
            <a:ext cx="731520" cy="256032"/>
          </a:xfrm>
          <a:prstGeom prst="rect">
            <a:avLst/>
          </a:prstGeom>
          <a:noFill/>
        </p:spPr>
        <p:txBody>
          <a:bodyPr wrap="square">
            <a:spAutoFit/>
          </a:bodyPr>
          <a:lstStyle/>
          <a:p>
            <a:pPr algn="l"/>
            <a:r>
              <a:rPr sz="1000" b="0">
                <a:solidFill>
                  <a:srgbClr val="78909C"/>
                </a:solidFill>
              </a:rPr>
              <a:t>Time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64592"/>
            <a:ext cx="11704320" cy="594360"/>
          </a:xfrm>
          <a:prstGeom prst="rect">
            <a:avLst/>
          </a:prstGeom>
          <a:noFill/>
        </p:spPr>
        <p:txBody>
          <a:bodyPr wrap="square">
            <a:spAutoFit/>
          </a:bodyPr>
          <a:lstStyle/>
          <a:p>
            <a:pPr algn="l"/>
            <a:r>
              <a:rPr sz="2800" b="1">
                <a:solidFill>
                  <a:srgbClr val="FFFFFF"/>
                </a:solidFill>
              </a:rPr>
              <a:t>Admission Control Flow</a:t>
            </a:r>
          </a:p>
        </p:txBody>
      </p:sp>
      <p:sp>
        <p:nvSpPr>
          <p:cNvPr id="4" name="TextBox 3"/>
          <p:cNvSpPr txBox="1"/>
          <p:nvPr/>
        </p:nvSpPr>
        <p:spPr>
          <a:xfrm>
            <a:off x="182880" y="749808"/>
            <a:ext cx="11704320" cy="384048"/>
          </a:xfrm>
          <a:prstGeom prst="rect">
            <a:avLst/>
          </a:prstGeom>
          <a:noFill/>
        </p:spPr>
        <p:txBody>
          <a:bodyPr wrap="square">
            <a:spAutoFit/>
          </a:bodyPr>
          <a:lstStyle/>
          <a:p>
            <a:pPr algn="l"/>
            <a:r>
              <a:rPr sz="1500" b="0">
                <a:solidFill>
                  <a:srgbClr val="00B4D8"/>
                </a:solidFill>
              </a:rPr>
              <a:t>Node decides YES or NO — cluster manager routes accordingly</a:t>
            </a:r>
          </a:p>
        </p:txBody>
      </p:sp>
      <p:sp>
        <p:nvSpPr>
          <p:cNvPr id="5" name="Rectangle 4"/>
          <p:cNvSpPr/>
          <p:nvPr/>
        </p:nvSpPr>
        <p:spPr>
          <a:xfrm>
            <a:off x="4297680" y="1261872"/>
            <a:ext cx="2743200" cy="502920"/>
          </a:xfrm>
          <a:prstGeom prst="rect">
            <a:avLst/>
          </a:prstGeom>
          <a:solidFill>
            <a:srgbClr val="00B4D8"/>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97680" y="1261872"/>
            <a:ext cx="2743200" cy="502920"/>
          </a:xfrm>
          <a:prstGeom prst="rect">
            <a:avLst/>
          </a:prstGeom>
          <a:noFill/>
        </p:spPr>
        <p:txBody>
          <a:bodyPr wrap="square" tIns="100584">
            <a:spAutoFit/>
          </a:bodyPr>
          <a:lstStyle/>
          <a:p>
            <a:pPr algn="ctr"/>
            <a:r>
              <a:rPr sz="1200" b="1">
                <a:solidFill>
                  <a:srgbClr val="0D1B2A"/>
                </a:solidFill>
              </a:rPr>
              <a:t>New VM Request
arrives at Cluster Manager</a:t>
            </a:r>
          </a:p>
        </p:txBody>
      </p:sp>
      <p:cxnSp>
        <p:nvCxnSpPr>
          <p:cNvPr id="7" name="Connector 6"/>
          <p:cNvCxnSpPr/>
          <p:nvPr/>
        </p:nvCxnSpPr>
        <p:spPr>
          <a:xfrm>
            <a:off x="5669280" y="1764792"/>
            <a:ext cx="0" cy="246888"/>
          </a:xfrm>
          <a:prstGeom prst="line">
            <a:avLst/>
          </a:prstGeom>
          <a:ln w="25400">
            <a:solidFill>
              <a:srgbClr val="00B4D8"/>
            </a:solidFill>
            <a:tailEnd type="none"/>
            <a:headEnd type="arrow"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4297680" y="2011680"/>
            <a:ext cx="2743200" cy="502920"/>
          </a:xfrm>
          <a:prstGeom prst="rect">
            <a:avLst/>
          </a:prstGeom>
          <a:solidFill>
            <a:srgbClr val="1A2E4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0" y="2011680"/>
            <a:ext cx="2743200" cy="502920"/>
          </a:xfrm>
          <a:prstGeom prst="rect">
            <a:avLst/>
          </a:prstGeom>
          <a:noFill/>
        </p:spPr>
        <p:txBody>
          <a:bodyPr wrap="square" tIns="100584">
            <a:spAutoFit/>
          </a:bodyPr>
          <a:lstStyle/>
          <a:p>
            <a:pPr algn="ctr"/>
            <a:r>
              <a:rPr sz="1200" b="0">
                <a:solidFill>
                  <a:srgbClr val="FFFFFF"/>
                </a:solidFill>
              </a:rPr>
              <a:t>Bin Packing selects
Candidate Node</a:t>
            </a:r>
          </a:p>
        </p:txBody>
      </p:sp>
      <p:cxnSp>
        <p:nvCxnSpPr>
          <p:cNvPr id="10" name="Connector 9"/>
          <p:cNvCxnSpPr/>
          <p:nvPr/>
        </p:nvCxnSpPr>
        <p:spPr>
          <a:xfrm>
            <a:off x="5669280" y="2514600"/>
            <a:ext cx="0" cy="228600"/>
          </a:xfrm>
          <a:prstGeom prst="line">
            <a:avLst/>
          </a:prstGeom>
          <a:ln w="25400">
            <a:solidFill>
              <a:srgbClr val="00B4D8"/>
            </a:solidFill>
            <a:tailEnd type="none"/>
            <a:headEnd type="arrow"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4297680" y="2743200"/>
            <a:ext cx="2743200" cy="502920"/>
          </a:xfrm>
          <a:prstGeom prst="rect">
            <a:avLst/>
          </a:prstGeom>
          <a:solidFill>
            <a:srgbClr val="1A2E44"/>
          </a:solidFill>
          <a:ln w="1905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0" y="2743200"/>
            <a:ext cx="2743200" cy="502920"/>
          </a:xfrm>
          <a:prstGeom prst="rect">
            <a:avLst/>
          </a:prstGeom>
          <a:noFill/>
        </p:spPr>
        <p:txBody>
          <a:bodyPr wrap="square" tIns="100584">
            <a:spAutoFit/>
          </a:bodyPr>
          <a:lstStyle/>
          <a:p>
            <a:pPr algn="ctr"/>
            <a:r>
              <a:rPr sz="1200" b="1">
                <a:solidFill>
                  <a:srgbClr val="FFD166"/>
                </a:solidFill>
              </a:rPr>
              <a:t>Query Node's
Admission Control Model</a:t>
            </a:r>
          </a:p>
        </p:txBody>
      </p:sp>
      <p:cxnSp>
        <p:nvCxnSpPr>
          <p:cNvPr id="13" name="Connector 12"/>
          <p:cNvCxnSpPr/>
          <p:nvPr/>
        </p:nvCxnSpPr>
        <p:spPr>
          <a:xfrm>
            <a:off x="5669280" y="3246120"/>
            <a:ext cx="0" cy="228600"/>
          </a:xfrm>
          <a:prstGeom prst="line">
            <a:avLst/>
          </a:prstGeom>
          <a:ln w="25400">
            <a:solidFill>
              <a:srgbClr val="00B4D8"/>
            </a:solidFill>
            <a:tailEnd type="none"/>
            <a:headEnd type="arrow"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114800" y="3474720"/>
            <a:ext cx="3108960" cy="1005840"/>
          </a:xfrm>
          <a:prstGeom prst="rect">
            <a:avLst/>
          </a:prstGeom>
          <a:solidFill>
            <a:srgbClr val="1A2E4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0" y="3474720"/>
            <a:ext cx="3108960" cy="1005840"/>
          </a:xfrm>
          <a:prstGeom prst="rect">
            <a:avLst/>
          </a:prstGeom>
          <a:noFill/>
        </p:spPr>
        <p:txBody>
          <a:bodyPr wrap="square" tIns="201168">
            <a:spAutoFit/>
          </a:bodyPr>
          <a:lstStyle/>
          <a:p>
            <a:pPr algn="ctr"/>
            <a:r>
              <a:rPr sz="1200" b="0">
                <a:solidFill>
                  <a:srgbClr val="FFFFFF"/>
                </a:solidFill>
              </a:rPr>
              <a:t>Node Analysis:
• Generalized model → predict new VM demand
• Curated models → forecast existing VM peaks
• Temporal conflict check vs physical RAM
• SLA budget check: can node absorb this VM?</a:t>
            </a:r>
          </a:p>
        </p:txBody>
      </p:sp>
      <p:cxnSp>
        <p:nvCxnSpPr>
          <p:cNvPr id="16" name="Connector 15"/>
          <p:cNvCxnSpPr/>
          <p:nvPr/>
        </p:nvCxnSpPr>
        <p:spPr>
          <a:xfrm>
            <a:off x="5669280" y="4480560"/>
            <a:ext cx="0" cy="182880"/>
          </a:xfrm>
          <a:prstGeom prst="line">
            <a:avLst/>
          </a:prstGeom>
          <a:ln w="25400">
            <a:solidFill>
              <a:srgbClr val="00B4D8"/>
            </a:solidFill>
            <a:tailEnd type="none"/>
            <a:headEnd type="arrow"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754880" y="4663440"/>
            <a:ext cx="1828800" cy="502920"/>
          </a:xfrm>
          <a:prstGeom prst="rect">
            <a:avLst/>
          </a:prstGeom>
          <a:solidFill>
            <a:srgbClr val="1A2E44"/>
          </a:solidFill>
          <a:ln w="19050">
            <a:solidFill>
              <a:srgbClr val="FFEE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4663440"/>
            <a:ext cx="1828800" cy="502920"/>
          </a:xfrm>
          <a:prstGeom prst="rect">
            <a:avLst/>
          </a:prstGeom>
          <a:noFill/>
        </p:spPr>
        <p:txBody>
          <a:bodyPr wrap="square" tIns="100584">
            <a:spAutoFit/>
          </a:bodyPr>
          <a:lstStyle/>
          <a:p>
            <a:pPr algn="ctr"/>
            <a:r>
              <a:rPr sz="1200" b="1">
                <a:solidFill>
                  <a:srgbClr val="FFEE58"/>
                </a:solidFill>
              </a:rPr>
              <a:t>Decision:
Accept?</a:t>
            </a:r>
          </a:p>
        </p:txBody>
      </p:sp>
      <p:cxnSp>
        <p:nvCxnSpPr>
          <p:cNvPr id="19" name="Connector 18"/>
          <p:cNvCxnSpPr/>
          <p:nvPr/>
        </p:nvCxnSpPr>
        <p:spPr>
          <a:xfrm>
            <a:off x="6583680" y="4919472"/>
            <a:ext cx="2743200" cy="0"/>
          </a:xfrm>
          <a:prstGeom prst="line">
            <a:avLst/>
          </a:prstGeom>
          <a:ln w="25400">
            <a:solidFill>
              <a:srgbClr val="4CAF50"/>
            </a:solidFill>
            <a:tailEnd type="none"/>
            <a:headEnd type="arrow"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680960" y="4709160"/>
            <a:ext cx="731520" cy="256032"/>
          </a:xfrm>
          <a:prstGeom prst="rect">
            <a:avLst/>
          </a:prstGeom>
          <a:noFill/>
        </p:spPr>
        <p:txBody>
          <a:bodyPr wrap="square">
            <a:spAutoFit/>
          </a:bodyPr>
          <a:lstStyle/>
          <a:p>
            <a:pPr algn="l"/>
            <a:r>
              <a:rPr sz="1100" b="1">
                <a:solidFill>
                  <a:srgbClr val="4CAF50"/>
                </a:solidFill>
              </a:rPr>
              <a:t>YES</a:t>
            </a:r>
          </a:p>
        </p:txBody>
      </p:sp>
      <p:sp>
        <p:nvSpPr>
          <p:cNvPr id="21" name="Rectangle 20"/>
          <p:cNvSpPr/>
          <p:nvPr/>
        </p:nvSpPr>
        <p:spPr>
          <a:xfrm>
            <a:off x="9326880" y="4572000"/>
            <a:ext cx="2651760" cy="685800"/>
          </a:xfrm>
          <a:prstGeom prst="rect">
            <a:avLst/>
          </a:prstGeom>
          <a:solidFill>
            <a:srgbClr val="1B4A22"/>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0" y="4572000"/>
            <a:ext cx="2651760" cy="685800"/>
          </a:xfrm>
          <a:prstGeom prst="rect">
            <a:avLst/>
          </a:prstGeom>
          <a:noFill/>
        </p:spPr>
        <p:txBody>
          <a:bodyPr wrap="square" tIns="137160">
            <a:spAutoFit/>
          </a:bodyPr>
          <a:lstStyle/>
          <a:p>
            <a:pPr algn="ctr"/>
            <a:r>
              <a:rPr sz="1200" b="0">
                <a:solidFill>
                  <a:srgbClr val="4CAF50"/>
                </a:solidFill>
              </a:rPr>
              <a:t>ACCEPT:
Admit VM to node
Start curated model learning</a:t>
            </a:r>
          </a:p>
        </p:txBody>
      </p:sp>
      <p:cxnSp>
        <p:nvCxnSpPr>
          <p:cNvPr id="23" name="Connector 22"/>
          <p:cNvCxnSpPr/>
          <p:nvPr/>
        </p:nvCxnSpPr>
        <p:spPr>
          <a:xfrm flipH="1">
            <a:off x="2468880" y="4919472"/>
            <a:ext cx="2286000" cy="0"/>
          </a:xfrm>
          <a:prstGeom prst="line">
            <a:avLst/>
          </a:prstGeom>
          <a:ln w="25400">
            <a:solidFill>
              <a:srgbClr val="EF5350"/>
            </a:solidFill>
            <a:tailEnd type="none"/>
            <a:headEnd type="arrow"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651760" y="4709160"/>
            <a:ext cx="548640" cy="256032"/>
          </a:xfrm>
          <a:prstGeom prst="rect">
            <a:avLst/>
          </a:prstGeom>
          <a:noFill/>
        </p:spPr>
        <p:txBody>
          <a:bodyPr wrap="square">
            <a:spAutoFit/>
          </a:bodyPr>
          <a:lstStyle/>
          <a:p>
            <a:pPr algn="l"/>
            <a:r>
              <a:rPr sz="1100" b="1">
                <a:solidFill>
                  <a:srgbClr val="EF5350"/>
                </a:solidFill>
              </a:rPr>
              <a:t>NO</a:t>
            </a:r>
          </a:p>
        </p:txBody>
      </p:sp>
      <p:sp>
        <p:nvSpPr>
          <p:cNvPr id="25" name="Rectangle 24"/>
          <p:cNvSpPr/>
          <p:nvPr/>
        </p:nvSpPr>
        <p:spPr>
          <a:xfrm>
            <a:off x="182880" y="4572000"/>
            <a:ext cx="2286000" cy="685800"/>
          </a:xfrm>
          <a:prstGeom prst="rect">
            <a:avLst/>
          </a:prstGeom>
          <a:solidFill>
            <a:srgbClr val="4A1B1B"/>
          </a:solidFill>
          <a:ln w="19050">
            <a:solidFill>
              <a:srgbClr val="EF5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82880" y="4572000"/>
            <a:ext cx="2286000" cy="685800"/>
          </a:xfrm>
          <a:prstGeom prst="rect">
            <a:avLst/>
          </a:prstGeom>
          <a:noFill/>
        </p:spPr>
        <p:txBody>
          <a:bodyPr wrap="square" tIns="137160">
            <a:spAutoFit/>
          </a:bodyPr>
          <a:lstStyle/>
          <a:p>
            <a:pPr algn="ctr"/>
            <a:r>
              <a:rPr sz="1200" b="0">
                <a:solidFill>
                  <a:srgbClr val="EF5350"/>
                </a:solidFill>
              </a:rPr>
              <a:t>REJECT:
Return to Cluster Manager</a:t>
            </a:r>
          </a:p>
        </p:txBody>
      </p:sp>
      <p:cxnSp>
        <p:nvCxnSpPr>
          <p:cNvPr id="27" name="Connector 26"/>
          <p:cNvCxnSpPr/>
          <p:nvPr/>
        </p:nvCxnSpPr>
        <p:spPr>
          <a:xfrm>
            <a:off x="1325880" y="5257800"/>
            <a:ext cx="0" cy="365760"/>
          </a:xfrm>
          <a:prstGeom prst="line">
            <a:avLst/>
          </a:prstGeom>
          <a:ln w="25400">
            <a:solidFill>
              <a:srgbClr val="EF5350"/>
            </a:solidFill>
            <a:tailEnd type="none"/>
            <a:headEnd type="arrow"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82880" y="5623560"/>
            <a:ext cx="2286000" cy="502920"/>
          </a:xfrm>
          <a:prstGeom prst="rect">
            <a:avLst/>
          </a:prstGeom>
          <a:solidFill>
            <a:srgbClr val="1A2E4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82880" y="5623560"/>
            <a:ext cx="2286000" cy="502920"/>
          </a:xfrm>
          <a:prstGeom prst="rect">
            <a:avLst/>
          </a:prstGeom>
          <a:noFill/>
        </p:spPr>
        <p:txBody>
          <a:bodyPr wrap="square" tIns="100584">
            <a:spAutoFit/>
          </a:bodyPr>
          <a:lstStyle/>
          <a:p>
            <a:pPr algn="ctr"/>
            <a:r>
              <a:rPr sz="1200" b="0">
                <a:solidFill>
                  <a:srgbClr val="FFFFFF"/>
                </a:solidFill>
              </a:rPr>
              <a:t>Try next node from
bin-pack candidates</a:t>
            </a:r>
          </a:p>
        </p:txBody>
      </p:sp>
      <p:sp>
        <p:nvSpPr>
          <p:cNvPr id="30" name="Rectangle 29"/>
          <p:cNvSpPr/>
          <p:nvPr/>
        </p:nvSpPr>
        <p:spPr>
          <a:xfrm>
            <a:off x="9326880" y="5394960"/>
            <a:ext cx="2651760" cy="868680"/>
          </a:xfrm>
          <a:prstGeom prst="rect">
            <a:avLst/>
          </a:prstGeom>
          <a:solidFill>
            <a:srgbClr val="1A2E44"/>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18320" y="5440680"/>
            <a:ext cx="2468880" cy="804672"/>
          </a:xfrm>
          <a:prstGeom prst="rect">
            <a:avLst/>
          </a:prstGeom>
          <a:noFill/>
        </p:spPr>
        <p:txBody>
          <a:bodyPr wrap="square">
            <a:spAutoFit/>
          </a:bodyPr>
          <a:lstStyle/>
          <a:p>
            <a:pPr>
              <a:spcBef>
                <a:spcPts val="600"/>
              </a:spcBef>
            </a:pPr>
            <a:r>
              <a:rPr sz="950">
                <a:solidFill>
                  <a:srgbClr val="FFFFFF"/>
                </a:solidFill>
              </a:rPr>
              <a:t>▸  Node monitors VM continuously</a:t>
            </a:r>
          </a:p>
          <a:p>
            <a:pPr>
              <a:spcBef>
                <a:spcPts val="600"/>
              </a:spcBef>
            </a:pPr>
            <a:r>
              <a:rPr sz="950">
                <a:solidFill>
                  <a:srgbClr val="FFFFFF"/>
                </a:solidFill>
              </a:rPr>
              <a:t>▸  Updates curated model over time</a:t>
            </a:r>
          </a:p>
          <a:p>
            <a:pPr>
              <a:spcBef>
                <a:spcPts val="600"/>
              </a:spcBef>
            </a:pPr>
            <a:r>
              <a:rPr sz="950">
                <a:solidFill>
                  <a:srgbClr val="FFFFFF"/>
                </a:solidFill>
              </a:rPr>
              <a:t>▸  Tracks SLA downtime budget D_i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64592"/>
            <a:ext cx="11704320" cy="594360"/>
          </a:xfrm>
          <a:prstGeom prst="rect">
            <a:avLst/>
          </a:prstGeom>
          <a:noFill/>
        </p:spPr>
        <p:txBody>
          <a:bodyPr wrap="square">
            <a:spAutoFit/>
          </a:bodyPr>
          <a:lstStyle/>
          <a:p>
            <a:pPr algn="l"/>
            <a:r>
              <a:rPr sz="2800" b="1">
                <a:solidFill>
                  <a:srgbClr val="FFFFFF"/>
                </a:solidFill>
              </a:rPr>
              <a:t>Continuous Monitoring, Memory Sharing &amp; Termination</a:t>
            </a:r>
          </a:p>
        </p:txBody>
      </p:sp>
      <p:sp>
        <p:nvSpPr>
          <p:cNvPr id="4" name="TextBox 3"/>
          <p:cNvSpPr txBox="1"/>
          <p:nvPr/>
        </p:nvSpPr>
        <p:spPr>
          <a:xfrm>
            <a:off x="182880" y="749808"/>
            <a:ext cx="11704320" cy="384048"/>
          </a:xfrm>
          <a:prstGeom prst="rect">
            <a:avLst/>
          </a:prstGeom>
          <a:noFill/>
        </p:spPr>
        <p:txBody>
          <a:bodyPr wrap="square">
            <a:spAutoFit/>
          </a:bodyPr>
          <a:lstStyle/>
          <a:p>
            <a:pPr algn="l"/>
            <a:r>
              <a:rPr sz="1500" b="0">
                <a:solidFill>
                  <a:srgbClr val="00B4D8"/>
                </a:solidFill>
              </a:rPr>
              <a:t>Predict spike → share memory early → terminate only as last resort, only if SLA budget allows</a:t>
            </a:r>
          </a:p>
        </p:txBody>
      </p:sp>
      <p:sp>
        <p:nvSpPr>
          <p:cNvPr id="5" name="Rectangle 4"/>
          <p:cNvSpPr/>
          <p:nvPr/>
        </p:nvSpPr>
        <p:spPr>
          <a:xfrm>
            <a:off x="182880" y="1261872"/>
            <a:ext cx="3749039" cy="56692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261872"/>
            <a:ext cx="3749039" cy="566928"/>
          </a:xfrm>
          <a:prstGeom prst="rect">
            <a:avLst/>
          </a:prstGeom>
          <a:noFill/>
        </p:spPr>
        <p:txBody>
          <a:bodyPr wrap="square">
            <a:spAutoFit/>
          </a:bodyPr>
          <a:lstStyle/>
          <a:p>
            <a:pPr algn="ctr"/>
            <a:r>
              <a:rPr sz="1250" b="1">
                <a:solidFill>
                  <a:srgbClr val="0D1B2A"/>
                </a:solidFill>
              </a:rPr>
              <a:t>1. PREDICT SPIKE</a:t>
            </a:r>
          </a:p>
        </p:txBody>
      </p:sp>
      <p:sp>
        <p:nvSpPr>
          <p:cNvPr id="7" name="Rectangle 6"/>
          <p:cNvSpPr/>
          <p:nvPr/>
        </p:nvSpPr>
        <p:spPr>
          <a:xfrm>
            <a:off x="182880" y="1828800"/>
            <a:ext cx="3749039" cy="3840480"/>
          </a:xfrm>
          <a:prstGeom prst="rect">
            <a:avLst/>
          </a:prstGeom>
          <a:solidFill>
            <a:srgbClr val="1A2E4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883664"/>
            <a:ext cx="3566160" cy="3749039"/>
          </a:xfrm>
          <a:prstGeom prst="rect">
            <a:avLst/>
          </a:prstGeom>
          <a:noFill/>
        </p:spPr>
        <p:txBody>
          <a:bodyPr wrap="square">
            <a:spAutoFit/>
          </a:bodyPr>
          <a:lstStyle/>
          <a:p>
            <a:pPr algn="l"/>
            <a:r>
              <a:rPr sz="1100" b="0">
                <a:solidFill>
                  <a:srgbClr val="FFFFFF"/>
                </a:solidFill>
              </a:rPr>
              <a:t>Both models continuously forecast
aggregate memory demand.
If predicted total approaches
physical RAM → trigger sharing.
Does NOT wait for overload to occur.</a:t>
            </a:r>
          </a:p>
        </p:txBody>
      </p:sp>
      <p:sp>
        <p:nvSpPr>
          <p:cNvPr id="9" name="Rectangle 8"/>
          <p:cNvSpPr/>
          <p:nvPr/>
        </p:nvSpPr>
        <p:spPr>
          <a:xfrm>
            <a:off x="4160520" y="1261872"/>
            <a:ext cx="3749039" cy="566928"/>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60520" y="1261872"/>
            <a:ext cx="3749039" cy="566928"/>
          </a:xfrm>
          <a:prstGeom prst="rect">
            <a:avLst/>
          </a:prstGeom>
          <a:noFill/>
        </p:spPr>
        <p:txBody>
          <a:bodyPr wrap="square">
            <a:spAutoFit/>
          </a:bodyPr>
          <a:lstStyle/>
          <a:p>
            <a:pPr algn="ctr"/>
            <a:r>
              <a:rPr sz="1250" b="1">
                <a:solidFill>
                  <a:srgbClr val="0D1B2A"/>
                </a:solidFill>
              </a:rPr>
              <a:t>2. MEMORY SHARING
(Abstracted)</a:t>
            </a:r>
          </a:p>
        </p:txBody>
      </p:sp>
      <p:sp>
        <p:nvSpPr>
          <p:cNvPr id="11" name="Rectangle 10"/>
          <p:cNvSpPr/>
          <p:nvPr/>
        </p:nvSpPr>
        <p:spPr>
          <a:xfrm>
            <a:off x="4160520" y="1828800"/>
            <a:ext cx="3749039" cy="3840480"/>
          </a:xfrm>
          <a:prstGeom prst="rect">
            <a:avLst/>
          </a:prstGeom>
          <a:solidFill>
            <a:srgbClr val="1A2E44"/>
          </a:solidFill>
          <a:ln w="1905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51959" y="1883664"/>
            <a:ext cx="3566160" cy="3749039"/>
          </a:xfrm>
          <a:prstGeom prst="rect">
            <a:avLst/>
          </a:prstGeom>
          <a:noFill/>
        </p:spPr>
        <p:txBody>
          <a:bodyPr wrap="square">
            <a:spAutoFit/>
          </a:bodyPr>
          <a:lstStyle/>
          <a:p>
            <a:pPr algn="l"/>
            <a:r>
              <a:rPr sz="1100" b="0">
                <a:solidFill>
                  <a:srgbClr val="FFFFFF"/>
                </a:solidFill>
              </a:rPr>
              <a:t>Pull available memory from VMs
not expected to peak soon.
Give it to VMs about to spike.
Underlying technique: ballooning
(Waldspurger, 2002) — treated as
a known, available mechanism.
We do not re-derive it.</a:t>
            </a:r>
          </a:p>
        </p:txBody>
      </p:sp>
      <p:sp>
        <p:nvSpPr>
          <p:cNvPr id="13" name="Rectangle 12"/>
          <p:cNvSpPr/>
          <p:nvPr/>
        </p:nvSpPr>
        <p:spPr>
          <a:xfrm>
            <a:off x="8138159" y="1261872"/>
            <a:ext cx="3749039" cy="566928"/>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59" y="1261872"/>
            <a:ext cx="3749039" cy="566928"/>
          </a:xfrm>
          <a:prstGeom prst="rect">
            <a:avLst/>
          </a:prstGeom>
          <a:noFill/>
        </p:spPr>
        <p:txBody>
          <a:bodyPr wrap="square">
            <a:spAutoFit/>
          </a:bodyPr>
          <a:lstStyle/>
          <a:p>
            <a:pPr algn="ctr"/>
            <a:r>
              <a:rPr sz="1250" b="1">
                <a:solidFill>
                  <a:srgbClr val="FFFFFF"/>
                </a:solidFill>
              </a:rPr>
              <a:t>3. TERMINATION
(Last Resort)</a:t>
            </a:r>
          </a:p>
        </p:txBody>
      </p:sp>
      <p:sp>
        <p:nvSpPr>
          <p:cNvPr id="15" name="Rectangle 14"/>
          <p:cNvSpPr/>
          <p:nvPr/>
        </p:nvSpPr>
        <p:spPr>
          <a:xfrm>
            <a:off x="8138159" y="1828800"/>
            <a:ext cx="3749039" cy="3840480"/>
          </a:xfrm>
          <a:prstGeom prst="rect">
            <a:avLst/>
          </a:prstGeom>
          <a:solidFill>
            <a:srgbClr val="1A2E44"/>
          </a:solidFill>
          <a:ln w="19050">
            <a:solidFill>
              <a:srgbClr val="EF5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9" y="1883664"/>
            <a:ext cx="3566160" cy="3749039"/>
          </a:xfrm>
          <a:prstGeom prst="rect">
            <a:avLst/>
          </a:prstGeom>
          <a:noFill/>
        </p:spPr>
        <p:txBody>
          <a:bodyPr wrap="square">
            <a:spAutoFit/>
          </a:bodyPr>
          <a:lstStyle/>
          <a:p>
            <a:pPr algn="l"/>
            <a:r>
              <a:rPr sz="1100" b="0">
                <a:solidFill>
                  <a:srgbClr val="FFFFFF"/>
                </a:solidFill>
              </a:rPr>
              <a:t>Only if sharing is insufficient:
1. Compute B_i for all VMs
   B_i = D_max − D_i
2. Filter: B_i &gt; τ only
   (relaunch threshold)
3. Terminate VM with max B_i
4. Notify cluster manager:
   relaunch on another node
   within threshold τ</a:t>
            </a:r>
          </a:p>
        </p:txBody>
      </p:sp>
      <p:cxnSp>
        <p:nvCxnSpPr>
          <p:cNvPr id="17" name="Connector 16"/>
          <p:cNvCxnSpPr/>
          <p:nvPr/>
        </p:nvCxnSpPr>
        <p:spPr>
          <a:xfrm>
            <a:off x="3931920" y="3703320"/>
            <a:ext cx="228600" cy="0"/>
          </a:xfrm>
          <a:prstGeom prst="line">
            <a:avLst/>
          </a:prstGeom>
          <a:ln w="31750">
            <a:solidFill>
              <a:srgbClr val="78909C"/>
            </a:solidFill>
            <a:tailEnd type="none"/>
            <a:headEnd type="arrow"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794759" y="3401568"/>
            <a:ext cx="594360" cy="457200"/>
          </a:xfrm>
          <a:prstGeom prst="rect">
            <a:avLst/>
          </a:prstGeom>
          <a:noFill/>
        </p:spPr>
        <p:txBody>
          <a:bodyPr wrap="square">
            <a:spAutoFit/>
          </a:bodyPr>
          <a:lstStyle/>
          <a:p>
            <a:pPr algn="ctr"/>
            <a:r>
              <a:rPr sz="900" b="0">
                <a:solidFill>
                  <a:srgbClr val="78909C"/>
                </a:solidFill>
              </a:rPr>
              <a:t>if
insufficient</a:t>
            </a:r>
          </a:p>
        </p:txBody>
      </p:sp>
      <p:cxnSp>
        <p:nvCxnSpPr>
          <p:cNvPr id="19" name="Connector 18"/>
          <p:cNvCxnSpPr/>
          <p:nvPr/>
        </p:nvCxnSpPr>
        <p:spPr>
          <a:xfrm>
            <a:off x="7909560" y="3703320"/>
            <a:ext cx="228600" cy="0"/>
          </a:xfrm>
          <a:prstGeom prst="line">
            <a:avLst/>
          </a:prstGeom>
          <a:ln w="31750">
            <a:solidFill>
              <a:srgbClr val="78909C"/>
            </a:solidFill>
            <a:tailEnd type="none"/>
            <a:headEnd type="arrow"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772400" y="3401568"/>
            <a:ext cx="594360" cy="457200"/>
          </a:xfrm>
          <a:prstGeom prst="rect">
            <a:avLst/>
          </a:prstGeom>
          <a:noFill/>
        </p:spPr>
        <p:txBody>
          <a:bodyPr wrap="square">
            <a:spAutoFit/>
          </a:bodyPr>
          <a:lstStyle/>
          <a:p>
            <a:pPr algn="ctr"/>
            <a:r>
              <a:rPr sz="900" b="0">
                <a:solidFill>
                  <a:srgbClr val="78909C"/>
                </a:solidFill>
              </a:rPr>
              <a:t>if
insufficient</a:t>
            </a:r>
          </a:p>
        </p:txBody>
      </p:sp>
      <p:sp>
        <p:nvSpPr>
          <p:cNvPr id="21" name="Rectangle 20"/>
          <p:cNvSpPr/>
          <p:nvPr/>
        </p:nvSpPr>
        <p:spPr>
          <a:xfrm>
            <a:off x="182880" y="5806440"/>
            <a:ext cx="11795760" cy="713232"/>
          </a:xfrm>
          <a:prstGeom prst="rect">
            <a:avLst/>
          </a:prstGeom>
          <a:solidFill>
            <a:srgbClr val="2A1500"/>
          </a:solidFill>
          <a:ln w="19050">
            <a:solidFill>
              <a:srgbClr val="E08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40" y="5824728"/>
            <a:ext cx="11521440" cy="676656"/>
          </a:xfrm>
          <a:prstGeom prst="rect">
            <a:avLst/>
          </a:prstGeom>
          <a:noFill/>
        </p:spPr>
        <p:txBody>
          <a:bodyPr wrap="square">
            <a:spAutoFit/>
          </a:bodyPr>
          <a:lstStyle/>
          <a:p>
            <a:pPr algn="l"/>
            <a:r>
              <a:rPr sz="1050" b="0">
                <a:solidFill>
                  <a:srgbClr val="E0876A"/>
                </a:solidFill>
              </a:rPr>
              <a:t>SLA Constraint:  D_max = (1−α) × T_month  |  VM eligible for termination only if B_i = D_max − D_i &gt; τ  |  Terminate highest-budget VM first  |  α = 99.99% → D_max ≈ 4.32 min → very limited termination headroom → model must predict well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64592"/>
            <a:ext cx="11704320" cy="594360"/>
          </a:xfrm>
          <a:prstGeom prst="rect">
            <a:avLst/>
          </a:prstGeom>
          <a:noFill/>
        </p:spPr>
        <p:txBody>
          <a:bodyPr wrap="square">
            <a:spAutoFit/>
          </a:bodyPr>
          <a:lstStyle/>
          <a:p>
            <a:pPr algn="l"/>
            <a:r>
              <a:rPr sz="2800" b="1">
                <a:solidFill>
                  <a:srgbClr val="FFFFFF"/>
                </a:solidFill>
              </a:rPr>
              <a:t>Simplifications &amp; Theoretical Scope</a:t>
            </a:r>
          </a:p>
        </p:txBody>
      </p:sp>
      <p:sp>
        <p:nvSpPr>
          <p:cNvPr id="4" name="TextBox 3"/>
          <p:cNvSpPr txBox="1"/>
          <p:nvPr/>
        </p:nvSpPr>
        <p:spPr>
          <a:xfrm>
            <a:off x="182880" y="749808"/>
            <a:ext cx="11704320" cy="384048"/>
          </a:xfrm>
          <a:prstGeom prst="rect">
            <a:avLst/>
          </a:prstGeom>
          <a:noFill/>
        </p:spPr>
        <p:txBody>
          <a:bodyPr wrap="square">
            <a:spAutoFit/>
          </a:bodyPr>
          <a:lstStyle/>
          <a:p>
            <a:pPr algn="l"/>
            <a:r>
              <a:rPr sz="1500" b="0">
                <a:solidFill>
                  <a:srgbClr val="00B4D8"/>
                </a:solidFill>
              </a:rPr>
              <a:t>What we model vs. what we abstract away — clean, justified boundaries</a:t>
            </a:r>
          </a:p>
        </p:txBody>
      </p:sp>
      <p:sp>
        <p:nvSpPr>
          <p:cNvPr id="5" name="Rectangle 4"/>
          <p:cNvSpPr/>
          <p:nvPr/>
        </p:nvSpPr>
        <p:spPr>
          <a:xfrm>
            <a:off x="182880" y="1261872"/>
            <a:ext cx="5760720" cy="4572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261872"/>
            <a:ext cx="5760720" cy="457200"/>
          </a:xfrm>
          <a:prstGeom prst="rect">
            <a:avLst/>
          </a:prstGeom>
          <a:noFill/>
        </p:spPr>
        <p:txBody>
          <a:bodyPr wrap="square">
            <a:spAutoFit/>
          </a:bodyPr>
          <a:lstStyle/>
          <a:p>
            <a:pPr algn="ctr"/>
            <a:r>
              <a:rPr sz="1400" b="1">
                <a:solidFill>
                  <a:srgbClr val="0D1B2A"/>
                </a:solidFill>
              </a:rPr>
              <a:t>IN SCOPE</a:t>
            </a:r>
          </a:p>
        </p:txBody>
      </p:sp>
      <p:sp>
        <p:nvSpPr>
          <p:cNvPr id="7" name="Rectangle 6"/>
          <p:cNvSpPr/>
          <p:nvPr/>
        </p:nvSpPr>
        <p:spPr>
          <a:xfrm>
            <a:off x="182880" y="1719072"/>
            <a:ext cx="5760720" cy="4297680"/>
          </a:xfrm>
          <a:prstGeom prst="rect">
            <a:avLst/>
          </a:prstGeom>
          <a:solidFill>
            <a:srgbClr val="1A2E44"/>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828800"/>
            <a:ext cx="5486400" cy="4114800"/>
          </a:xfrm>
          <a:prstGeom prst="rect">
            <a:avLst/>
          </a:prstGeom>
          <a:noFill/>
        </p:spPr>
        <p:txBody>
          <a:bodyPr wrap="square">
            <a:spAutoFit/>
          </a:bodyPr>
          <a:lstStyle/>
          <a:p>
            <a:pPr>
              <a:spcBef>
                <a:spcPts val="600"/>
              </a:spcBef>
            </a:pPr>
            <a:r>
              <a:rPr sz="1150">
                <a:solidFill>
                  <a:srgbClr val="FFFFFF"/>
                </a:solidFill>
              </a:rPr>
              <a:t>✓  Node-level predictive admission control model</a:t>
            </a:r>
          </a:p>
          <a:p>
            <a:pPr>
              <a:spcBef>
                <a:spcPts val="600"/>
              </a:spcBef>
            </a:pPr>
            <a:r>
              <a:rPr sz="1150">
                <a:solidFill>
                  <a:srgbClr val="FFFFFF"/>
                </a:solidFill>
              </a:rPr>
              <a:t>✓  Dual prediction models: generalized + curated</a:t>
            </a:r>
          </a:p>
          <a:p>
            <a:pPr>
              <a:spcBef>
                <a:spcPts val="600"/>
              </a:spcBef>
            </a:pPr>
            <a:r>
              <a:rPr sz="1150">
                <a:solidFill>
                  <a:srgbClr val="FFFFFF"/>
                </a:solidFill>
              </a:rPr>
              <a:t>✓  Single SLA parameter α with per-VM downtime budget tracking</a:t>
            </a:r>
          </a:p>
          <a:p>
            <a:pPr>
              <a:spcBef>
                <a:spcPts val="600"/>
              </a:spcBef>
            </a:pPr>
            <a:r>
              <a:rPr sz="1150">
                <a:solidFill>
                  <a:srgbClr val="FFFFFF"/>
                </a:solidFill>
              </a:rPr>
              <a:t>✓  Memory sharing abstraction (ballooning treated as black box)</a:t>
            </a:r>
          </a:p>
          <a:p>
            <a:pPr>
              <a:spcBef>
                <a:spcPts val="600"/>
              </a:spcBef>
            </a:pPr>
            <a:r>
              <a:rPr sz="1150">
                <a:solidFill>
                  <a:srgbClr val="FFFFFF"/>
                </a:solidFill>
              </a:rPr>
              <a:t>✓  SLA budget-aware termination (B_i &gt; τ constraint)</a:t>
            </a:r>
          </a:p>
          <a:p>
            <a:pPr>
              <a:spcBef>
                <a:spcPts val="600"/>
              </a:spcBef>
            </a:pPr>
            <a:r>
              <a:rPr sz="1150">
                <a:solidFill>
                  <a:srgbClr val="FFFFFF"/>
                </a:solidFill>
              </a:rPr>
              <a:t>✓  Cluster manager ↔ node communication protocol</a:t>
            </a:r>
          </a:p>
          <a:p>
            <a:pPr>
              <a:spcBef>
                <a:spcPts val="600"/>
              </a:spcBef>
            </a:pPr>
            <a:r>
              <a:rPr sz="1150">
                <a:solidFill>
                  <a:srgbClr val="FFFFFF"/>
                </a:solidFill>
              </a:rPr>
              <a:t>✓  Simulation: Azure trace data + synthetic workloads</a:t>
            </a:r>
          </a:p>
        </p:txBody>
      </p:sp>
      <p:sp>
        <p:nvSpPr>
          <p:cNvPr id="9" name="Rectangle 8"/>
          <p:cNvSpPr/>
          <p:nvPr/>
        </p:nvSpPr>
        <p:spPr>
          <a:xfrm>
            <a:off x="6217920" y="1261872"/>
            <a:ext cx="5760720" cy="457200"/>
          </a:xfrm>
          <a:prstGeom prst="rect">
            <a:avLst/>
          </a:prstGeom>
          <a:solidFill>
            <a:srgbClr val="EF5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261872"/>
            <a:ext cx="5760720" cy="457200"/>
          </a:xfrm>
          <a:prstGeom prst="rect">
            <a:avLst/>
          </a:prstGeom>
          <a:noFill/>
        </p:spPr>
        <p:txBody>
          <a:bodyPr wrap="square">
            <a:spAutoFit/>
          </a:bodyPr>
          <a:lstStyle/>
          <a:p>
            <a:pPr algn="ctr"/>
            <a:r>
              <a:rPr sz="1400" b="1">
                <a:solidFill>
                  <a:srgbClr val="FFFFFF"/>
                </a:solidFill>
              </a:rPr>
              <a:t>OUT OF SCOPE (Future Work)</a:t>
            </a:r>
          </a:p>
        </p:txBody>
      </p:sp>
      <p:sp>
        <p:nvSpPr>
          <p:cNvPr id="11" name="Rectangle 10"/>
          <p:cNvSpPr/>
          <p:nvPr/>
        </p:nvSpPr>
        <p:spPr>
          <a:xfrm>
            <a:off x="6217920" y="1719072"/>
            <a:ext cx="5760720" cy="4297680"/>
          </a:xfrm>
          <a:prstGeom prst="rect">
            <a:avLst/>
          </a:prstGeom>
          <a:solidFill>
            <a:srgbClr val="1A2E44"/>
          </a:solidFill>
          <a:ln w="19050">
            <a:solidFill>
              <a:srgbClr val="EF5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828800"/>
            <a:ext cx="5486400" cy="4114800"/>
          </a:xfrm>
          <a:prstGeom prst="rect">
            <a:avLst/>
          </a:prstGeom>
          <a:noFill/>
        </p:spPr>
        <p:txBody>
          <a:bodyPr wrap="square">
            <a:spAutoFit/>
          </a:bodyPr>
          <a:lstStyle/>
          <a:p>
            <a:pPr>
              <a:spcBef>
                <a:spcPts val="600"/>
              </a:spcBef>
            </a:pPr>
            <a:r>
              <a:rPr sz="1150">
                <a:solidFill>
                  <a:srgbClr val="78909C"/>
                </a:solidFill>
              </a:rPr>
              <a:t>✗  Bin-packing algorithm design (cluster manager's responsibility)</a:t>
            </a:r>
          </a:p>
          <a:p>
            <a:pPr>
              <a:spcBef>
                <a:spcPts val="600"/>
              </a:spcBef>
            </a:pPr>
            <a:r>
              <a:rPr sz="1150">
                <a:solidFill>
                  <a:srgbClr val="78909C"/>
                </a:solidFill>
              </a:rPr>
              <a:t>✗  Swap management — excluded (not used in modern CSPs)</a:t>
            </a:r>
          </a:p>
          <a:p>
            <a:pPr>
              <a:spcBef>
                <a:spcPts val="600"/>
              </a:spcBef>
            </a:pPr>
            <a:r>
              <a:rPr sz="1150">
                <a:solidFill>
                  <a:srgbClr val="78909C"/>
                </a:solidFill>
              </a:rPr>
              <a:t>✗  Process-level VM termination (VMs are black boxes)</a:t>
            </a:r>
          </a:p>
          <a:p>
            <a:pPr>
              <a:spcBef>
                <a:spcPts val="600"/>
              </a:spcBef>
            </a:pPr>
            <a:r>
              <a:rPr sz="1150">
                <a:solidFill>
                  <a:srgbClr val="78909C"/>
                </a:solidFill>
              </a:rPr>
              <a:t>✗  Multi-node coordination, live migration</a:t>
            </a:r>
          </a:p>
          <a:p>
            <a:pPr>
              <a:spcBef>
                <a:spcPts val="600"/>
              </a:spcBef>
            </a:pPr>
            <a:r>
              <a:rPr sz="1150">
                <a:solidFill>
                  <a:srgbClr val="78909C"/>
                </a:solidFill>
              </a:rPr>
              <a:t>✗  Per-VM heterogeneous SLA contracts (future work)</a:t>
            </a:r>
          </a:p>
          <a:p>
            <a:pPr>
              <a:spcBef>
                <a:spcPts val="600"/>
              </a:spcBef>
            </a:pPr>
            <a:r>
              <a:rPr sz="1150">
                <a:solidFill>
                  <a:srgbClr val="78909C"/>
                </a:solidFill>
              </a:rPr>
              <a:t>✗  Network and I/O resource management</a:t>
            </a:r>
          </a:p>
        </p:txBody>
      </p:sp>
      <p:sp>
        <p:nvSpPr>
          <p:cNvPr id="13" name="TextBox 12"/>
          <p:cNvSpPr txBox="1"/>
          <p:nvPr/>
        </p:nvSpPr>
        <p:spPr>
          <a:xfrm>
            <a:off x="182880" y="6236208"/>
            <a:ext cx="11795760" cy="347472"/>
          </a:xfrm>
          <a:prstGeom prst="rect">
            <a:avLst/>
          </a:prstGeom>
          <a:noFill/>
        </p:spPr>
        <p:txBody>
          <a:bodyPr wrap="square">
            <a:spAutoFit/>
          </a:bodyPr>
          <a:lstStyle/>
          <a:p>
            <a:pPr algn="ctr"/>
            <a:r>
              <a:rPr sz="1200" b="0">
                <a:solidFill>
                  <a:srgbClr val="00B4D8"/>
                </a:solidFill>
              </a:rPr>
              <a:t>Theoretical model → validated by simulation → findings generalizable to real deployments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64592"/>
            <a:ext cx="11704320" cy="594360"/>
          </a:xfrm>
          <a:prstGeom prst="rect">
            <a:avLst/>
          </a:prstGeom>
          <a:noFill/>
        </p:spPr>
        <p:txBody>
          <a:bodyPr wrap="square">
            <a:spAutoFit/>
          </a:bodyPr>
          <a:lstStyle/>
          <a:p>
            <a:pPr algn="l"/>
            <a:r>
              <a:rPr sz="2800" b="1">
                <a:solidFill>
                  <a:srgbClr val="FFFFFF"/>
                </a:solidFill>
              </a:rPr>
              <a:t>Simulation Methodology</a:t>
            </a:r>
          </a:p>
        </p:txBody>
      </p:sp>
      <p:sp>
        <p:nvSpPr>
          <p:cNvPr id="4" name="TextBox 3"/>
          <p:cNvSpPr txBox="1"/>
          <p:nvPr/>
        </p:nvSpPr>
        <p:spPr>
          <a:xfrm>
            <a:off x="182880" y="749808"/>
            <a:ext cx="11704320" cy="384048"/>
          </a:xfrm>
          <a:prstGeom prst="rect">
            <a:avLst/>
          </a:prstGeom>
          <a:noFill/>
        </p:spPr>
        <p:txBody>
          <a:bodyPr wrap="square">
            <a:spAutoFit/>
          </a:bodyPr>
          <a:lstStyle/>
          <a:p>
            <a:pPr algn="l"/>
            <a:r>
              <a:rPr sz="1500" b="0">
                <a:solidFill>
                  <a:srgbClr val="00B4D8"/>
                </a:solidFill>
              </a:rPr>
              <a:t>Discrete-event simulation on a single-node model — real + synthetic data</a:t>
            </a:r>
          </a:p>
        </p:txBody>
      </p:sp>
      <p:sp>
        <p:nvSpPr>
          <p:cNvPr id="5" name="Rectangle 4"/>
          <p:cNvSpPr/>
          <p:nvPr/>
        </p:nvSpPr>
        <p:spPr>
          <a:xfrm>
            <a:off x="182880" y="1261872"/>
            <a:ext cx="3749039" cy="50292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261872"/>
            <a:ext cx="3749039" cy="502920"/>
          </a:xfrm>
          <a:prstGeom prst="rect">
            <a:avLst/>
          </a:prstGeom>
          <a:noFill/>
        </p:spPr>
        <p:txBody>
          <a:bodyPr wrap="square">
            <a:spAutoFit/>
          </a:bodyPr>
          <a:lstStyle/>
          <a:p>
            <a:pPr algn="ctr"/>
            <a:r>
              <a:rPr sz="1400" b="1">
                <a:solidFill>
                  <a:srgbClr val="0D1B2A"/>
                </a:solidFill>
              </a:rPr>
              <a:t>Real Data</a:t>
            </a:r>
          </a:p>
        </p:txBody>
      </p:sp>
      <p:sp>
        <p:nvSpPr>
          <p:cNvPr id="7" name="Rectangle 6"/>
          <p:cNvSpPr/>
          <p:nvPr/>
        </p:nvSpPr>
        <p:spPr>
          <a:xfrm>
            <a:off x="182880" y="1764792"/>
            <a:ext cx="3749039" cy="4160520"/>
          </a:xfrm>
          <a:prstGeom prst="rect">
            <a:avLst/>
          </a:prstGeom>
          <a:solidFill>
            <a:srgbClr val="1A2E44"/>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828800"/>
            <a:ext cx="3566160" cy="4069080"/>
          </a:xfrm>
          <a:prstGeom prst="rect">
            <a:avLst/>
          </a:prstGeom>
          <a:noFill/>
        </p:spPr>
        <p:txBody>
          <a:bodyPr wrap="square">
            <a:spAutoFit/>
          </a:bodyPr>
          <a:lstStyle/>
          <a:p>
            <a:pPr algn="l"/>
            <a:r>
              <a:rPr sz="1150" b="0">
                <a:solidFill>
                  <a:srgbClr val="FFFFFF"/>
                </a:solidFill>
              </a:rPr>
              <a:t>Microsoft Azure Public VM Trace
(Resource Central, Cortez et al. 2017)
• VM lifecycle: creation, deletion, CPU/RAM utilization at regular intervals
• Behavioral consistency across VM lifetimes
• Empirical arrival distributions
• Basis for training generalized model trends
• Basis for training curated model on per-VM history</a:t>
            </a:r>
          </a:p>
        </p:txBody>
      </p:sp>
      <p:sp>
        <p:nvSpPr>
          <p:cNvPr id="9" name="Rectangle 8"/>
          <p:cNvSpPr/>
          <p:nvPr/>
        </p:nvSpPr>
        <p:spPr>
          <a:xfrm>
            <a:off x="4160520" y="1261872"/>
            <a:ext cx="3749039" cy="502920"/>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60520" y="1261872"/>
            <a:ext cx="3749039" cy="502920"/>
          </a:xfrm>
          <a:prstGeom prst="rect">
            <a:avLst/>
          </a:prstGeom>
          <a:noFill/>
        </p:spPr>
        <p:txBody>
          <a:bodyPr wrap="square">
            <a:spAutoFit/>
          </a:bodyPr>
          <a:lstStyle/>
          <a:p>
            <a:pPr algn="ctr"/>
            <a:r>
              <a:rPr sz="1400" b="1">
                <a:solidFill>
                  <a:srgbClr val="0D1B2A"/>
                </a:solidFill>
              </a:rPr>
              <a:t>Synthetic Data</a:t>
            </a:r>
          </a:p>
        </p:txBody>
      </p:sp>
      <p:sp>
        <p:nvSpPr>
          <p:cNvPr id="11" name="Rectangle 10"/>
          <p:cNvSpPr/>
          <p:nvPr/>
        </p:nvSpPr>
        <p:spPr>
          <a:xfrm>
            <a:off x="4160520" y="1764792"/>
            <a:ext cx="3749039" cy="4160520"/>
          </a:xfrm>
          <a:prstGeom prst="rect">
            <a:avLst/>
          </a:prstGeom>
          <a:solidFill>
            <a:srgbClr val="1A2E44"/>
          </a:solidFill>
          <a:ln w="1905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51959" y="1828800"/>
            <a:ext cx="3566160" cy="4069080"/>
          </a:xfrm>
          <a:prstGeom prst="rect">
            <a:avLst/>
          </a:prstGeom>
          <a:noFill/>
        </p:spPr>
        <p:txBody>
          <a:bodyPr wrap="square">
            <a:spAutoFit/>
          </a:bodyPr>
          <a:lstStyle/>
          <a:p>
            <a:pPr algn="l"/>
            <a:r>
              <a:rPr sz="1150" b="0">
                <a:solidFill>
                  <a:srgbClr val="FFFFFF"/>
                </a:solidFill>
              </a:rPr>
              <a:t>Generated to stress-test edge cases:
• Simultaneous peak events across all VMs
• Rapidly shifting usage patterns
• Adversarial admission sequences
• Near-SLA-limit termination scenarios
• Scenarios designed to break the model's assumptions</a:t>
            </a:r>
          </a:p>
        </p:txBody>
      </p:sp>
      <p:sp>
        <p:nvSpPr>
          <p:cNvPr id="13" name="Rectangle 12"/>
          <p:cNvSpPr/>
          <p:nvPr/>
        </p:nvSpPr>
        <p:spPr>
          <a:xfrm>
            <a:off x="8138159" y="1261872"/>
            <a:ext cx="3749039" cy="502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59" y="1261872"/>
            <a:ext cx="3749039" cy="502920"/>
          </a:xfrm>
          <a:prstGeom prst="rect">
            <a:avLst/>
          </a:prstGeom>
          <a:noFill/>
        </p:spPr>
        <p:txBody>
          <a:bodyPr wrap="square">
            <a:spAutoFit/>
          </a:bodyPr>
          <a:lstStyle/>
          <a:p>
            <a:pPr algn="ctr"/>
            <a:r>
              <a:rPr sz="1400" b="1">
                <a:solidFill>
                  <a:srgbClr val="0D1B2A"/>
                </a:solidFill>
              </a:rPr>
              <a:t>Metrics</a:t>
            </a:r>
          </a:p>
        </p:txBody>
      </p:sp>
      <p:sp>
        <p:nvSpPr>
          <p:cNvPr id="15" name="Rectangle 14"/>
          <p:cNvSpPr/>
          <p:nvPr/>
        </p:nvSpPr>
        <p:spPr>
          <a:xfrm>
            <a:off x="8138159" y="1764792"/>
            <a:ext cx="3749039" cy="4160520"/>
          </a:xfrm>
          <a:prstGeom prst="rect">
            <a:avLst/>
          </a:prstGeom>
          <a:solidFill>
            <a:srgbClr val="1A2E4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9" y="1828800"/>
            <a:ext cx="3566160" cy="4069080"/>
          </a:xfrm>
          <a:prstGeom prst="rect">
            <a:avLst/>
          </a:prstGeom>
          <a:noFill/>
        </p:spPr>
        <p:txBody>
          <a:bodyPr wrap="square">
            <a:spAutoFit/>
          </a:bodyPr>
          <a:lstStyle/>
          <a:p>
            <a:pPr algn="l"/>
            <a:r>
              <a:rPr sz="1150" b="0">
                <a:solidFill>
                  <a:srgbClr val="FFFFFF"/>
                </a:solidFill>
              </a:rPr>
              <a:t>Primary evaluation metrics:
• DRAM utilization achieved
  (target ~80% vs baseline ~45%)
• SLA violation rate
  (D_i &gt; D_max per VM per month)
• Number of terminations per month
• Prediction accuracy (MAE/RMSE)
• Admission acceptance rate</a:t>
            </a:r>
          </a:p>
        </p:txBody>
      </p:sp>
      <p:sp>
        <p:nvSpPr>
          <p:cNvPr id="17" name="TextBox 16"/>
          <p:cNvSpPr txBox="1"/>
          <p:nvPr/>
        </p:nvSpPr>
        <p:spPr>
          <a:xfrm>
            <a:off x="182880" y="6080760"/>
            <a:ext cx="11795760" cy="457200"/>
          </a:xfrm>
          <a:prstGeom prst="rect">
            <a:avLst/>
          </a:prstGeom>
          <a:noFill/>
        </p:spPr>
        <p:txBody>
          <a:bodyPr wrap="square">
            <a:spAutoFit/>
          </a:bodyPr>
          <a:lstStyle/>
          <a:p>
            <a:pPr algn="ctr"/>
            <a:r>
              <a:rPr sz="1200" b="0">
                <a:solidFill>
                  <a:srgbClr val="CAE9FF"/>
                </a:solidFill>
              </a:rPr>
              <a:t>Simulation components: Node model  |  Cluster manager stub  |  Ground truth evaluator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64592"/>
            <a:ext cx="11704320" cy="594360"/>
          </a:xfrm>
          <a:prstGeom prst="rect">
            <a:avLst/>
          </a:prstGeom>
          <a:noFill/>
        </p:spPr>
        <p:txBody>
          <a:bodyPr wrap="square">
            <a:spAutoFit/>
          </a:bodyPr>
          <a:lstStyle/>
          <a:p>
            <a:pPr algn="l"/>
            <a:r>
              <a:rPr sz="2800" b="1">
                <a:solidFill>
                  <a:srgbClr val="FFFFFF"/>
                </a:solidFill>
              </a:rPr>
              <a:t>Novelty &amp; Research Positioning</a:t>
            </a:r>
          </a:p>
        </p:txBody>
      </p:sp>
      <p:sp>
        <p:nvSpPr>
          <p:cNvPr id="4" name="TextBox 3"/>
          <p:cNvSpPr txBox="1"/>
          <p:nvPr/>
        </p:nvSpPr>
        <p:spPr>
          <a:xfrm>
            <a:off x="182880" y="749808"/>
            <a:ext cx="11704320" cy="384048"/>
          </a:xfrm>
          <a:prstGeom prst="rect">
            <a:avLst/>
          </a:prstGeom>
          <a:noFill/>
        </p:spPr>
        <p:txBody>
          <a:bodyPr wrap="square">
            <a:spAutoFit/>
          </a:bodyPr>
          <a:lstStyle/>
          <a:p>
            <a:pPr algn="l"/>
            <a:r>
              <a:rPr sz="1500" b="0">
                <a:solidFill>
                  <a:srgbClr val="00B4D8"/>
                </a:solidFill>
              </a:rPr>
              <a:t>Where our work stands relative to existing literature</a:t>
            </a:r>
          </a:p>
        </p:txBody>
      </p:sp>
      <p:sp>
        <p:nvSpPr>
          <p:cNvPr id="5" name="Rectangle 4"/>
          <p:cNvSpPr/>
          <p:nvPr/>
        </p:nvSpPr>
        <p:spPr>
          <a:xfrm>
            <a:off x="182880" y="1261872"/>
            <a:ext cx="320040" cy="65836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61872"/>
            <a:ext cx="11475720" cy="658368"/>
          </a:xfrm>
          <a:prstGeom prst="rect">
            <a:avLst/>
          </a:prstGeom>
          <a:solidFill>
            <a:srgbClr val="1A2E44"/>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280160"/>
            <a:ext cx="4754880" cy="320040"/>
          </a:xfrm>
          <a:prstGeom prst="rect">
            <a:avLst/>
          </a:prstGeom>
          <a:noFill/>
        </p:spPr>
        <p:txBody>
          <a:bodyPr wrap="square">
            <a:spAutoFit/>
          </a:bodyPr>
          <a:lstStyle/>
          <a:p>
            <a:pPr algn="l"/>
            <a:r>
              <a:rPr sz="1150" b="1">
                <a:solidFill>
                  <a:srgbClr val="4CAF50"/>
                </a:solidFill>
              </a:rPr>
              <a:t>Node as active decision-maker — novel architecture</a:t>
            </a:r>
          </a:p>
        </p:txBody>
      </p:sp>
      <p:sp>
        <p:nvSpPr>
          <p:cNvPr id="8" name="TextBox 7"/>
          <p:cNvSpPr txBox="1"/>
          <p:nvPr/>
        </p:nvSpPr>
        <p:spPr>
          <a:xfrm>
            <a:off x="594360" y="1563624"/>
            <a:ext cx="11247120" cy="347472"/>
          </a:xfrm>
          <a:prstGeom prst="rect">
            <a:avLst/>
          </a:prstGeom>
          <a:noFill/>
        </p:spPr>
        <p:txBody>
          <a:bodyPr wrap="square">
            <a:spAutoFit/>
          </a:bodyPr>
          <a:lstStyle/>
          <a:p>
            <a:pPr algn="l"/>
            <a:r>
              <a:rPr sz="1000" b="0">
                <a:solidFill>
                  <a:srgbClr val="CAE9FF"/>
                </a:solidFill>
              </a:rPr>
              <a:t>Standard practice: cluster manager makes all admission decisions; the node is passive. Our model reverses this: the node actively accepts or rejects based on its own predictive state. This decoupled advisory architecture is not the dominant pattern in the reviewed literature (Coach, VMMB, Blagodurov et al. all operate at the cluster level).</a:t>
            </a:r>
          </a:p>
        </p:txBody>
      </p:sp>
      <p:sp>
        <p:nvSpPr>
          <p:cNvPr id="9" name="Rectangle 8"/>
          <p:cNvSpPr/>
          <p:nvPr/>
        </p:nvSpPr>
        <p:spPr>
          <a:xfrm>
            <a:off x="182880" y="2176272"/>
            <a:ext cx="320040" cy="658368"/>
          </a:xfrm>
          <a:prstGeom prst="rect">
            <a:avLst/>
          </a:prstGeom>
          <a:solidFill>
            <a:srgbClr val="FFD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176272"/>
            <a:ext cx="11475720" cy="658368"/>
          </a:xfrm>
          <a:prstGeom prst="rect">
            <a:avLst/>
          </a:prstGeom>
          <a:solidFill>
            <a:srgbClr val="1A2E44"/>
          </a:solidFill>
          <a:ln w="1905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194560"/>
            <a:ext cx="4754880" cy="320040"/>
          </a:xfrm>
          <a:prstGeom prst="rect">
            <a:avLst/>
          </a:prstGeom>
          <a:noFill/>
        </p:spPr>
        <p:txBody>
          <a:bodyPr wrap="square">
            <a:spAutoFit/>
          </a:bodyPr>
          <a:lstStyle/>
          <a:p>
            <a:pPr algn="l"/>
            <a:r>
              <a:rPr sz="1150" b="1">
                <a:solidFill>
                  <a:srgbClr val="FFD166"/>
                </a:solidFill>
              </a:rPr>
              <a:t>Dual model (generalized → curated) at the node level — novel combination</a:t>
            </a:r>
          </a:p>
        </p:txBody>
      </p:sp>
      <p:sp>
        <p:nvSpPr>
          <p:cNvPr id="12" name="TextBox 11"/>
          <p:cNvSpPr txBox="1"/>
          <p:nvPr/>
        </p:nvSpPr>
        <p:spPr>
          <a:xfrm>
            <a:off x="594360" y="2478024"/>
            <a:ext cx="11247120" cy="347472"/>
          </a:xfrm>
          <a:prstGeom prst="rect">
            <a:avLst/>
          </a:prstGeom>
          <a:noFill/>
        </p:spPr>
        <p:txBody>
          <a:bodyPr wrap="square">
            <a:spAutoFit/>
          </a:bodyPr>
          <a:lstStyle/>
          <a:p>
            <a:pPr algn="l"/>
            <a:r>
              <a:rPr sz="1000" b="0">
                <a:solidFill>
                  <a:srgbClr val="CAE9FF"/>
                </a:solidFill>
              </a:rPr>
              <a:t>Coach exploits temporal patterns cluster-wide. Resource Central demonstrates per-VM behavioral consistency. Combining both into a single node-resident model that transitions from generalized to curated is a novel framing not present in the reviewed papers.</a:t>
            </a:r>
          </a:p>
        </p:txBody>
      </p:sp>
      <p:sp>
        <p:nvSpPr>
          <p:cNvPr id="13" name="Rectangle 12"/>
          <p:cNvSpPr/>
          <p:nvPr/>
        </p:nvSpPr>
        <p:spPr>
          <a:xfrm>
            <a:off x="182880" y="3090672"/>
            <a:ext cx="320040" cy="65836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3090672"/>
            <a:ext cx="11475720" cy="658368"/>
          </a:xfrm>
          <a:prstGeom prst="rect">
            <a:avLst/>
          </a:prstGeom>
          <a:solidFill>
            <a:srgbClr val="1A2E4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108960"/>
            <a:ext cx="4754880" cy="320040"/>
          </a:xfrm>
          <a:prstGeom prst="rect">
            <a:avLst/>
          </a:prstGeom>
          <a:noFill/>
        </p:spPr>
        <p:txBody>
          <a:bodyPr wrap="square">
            <a:spAutoFit/>
          </a:bodyPr>
          <a:lstStyle/>
          <a:p>
            <a:pPr algn="l"/>
            <a:r>
              <a:rPr sz="1150" b="1">
                <a:solidFill>
                  <a:srgbClr val="00B4D8"/>
                </a:solidFill>
              </a:rPr>
              <a:t>SLA downtime budget as a termination constraint — clean and grounded</a:t>
            </a:r>
          </a:p>
        </p:txBody>
      </p:sp>
      <p:sp>
        <p:nvSpPr>
          <p:cNvPr id="16" name="TextBox 15"/>
          <p:cNvSpPr txBox="1"/>
          <p:nvPr/>
        </p:nvSpPr>
        <p:spPr>
          <a:xfrm>
            <a:off x="594360" y="3392424"/>
            <a:ext cx="11247120" cy="347472"/>
          </a:xfrm>
          <a:prstGeom prst="rect">
            <a:avLst/>
          </a:prstGeom>
          <a:noFill/>
        </p:spPr>
        <p:txBody>
          <a:bodyPr wrap="square">
            <a:spAutoFit/>
          </a:bodyPr>
          <a:lstStyle/>
          <a:p>
            <a:pPr algn="l"/>
            <a:r>
              <a:rPr sz="1000" b="0">
                <a:solidFill>
                  <a:srgbClr val="CAE9FF"/>
                </a:solidFill>
              </a:rPr>
              <a:t>The B_i &gt; τ eligibility constraint directly reflects real cloud SLA contracts (Akamai 99.99%). A single α parameter unifying all VMs mirrors production practice. This is defensible against reviewers because it is empirically grounded, not an arbitrary design choice.</a:t>
            </a:r>
          </a:p>
        </p:txBody>
      </p:sp>
      <p:sp>
        <p:nvSpPr>
          <p:cNvPr id="17" name="Rectangle 16"/>
          <p:cNvSpPr/>
          <p:nvPr/>
        </p:nvSpPr>
        <p:spPr>
          <a:xfrm>
            <a:off x="182880" y="4005072"/>
            <a:ext cx="320040" cy="658368"/>
          </a:xfrm>
          <a:prstGeom prst="rect">
            <a:avLst/>
          </a:prstGeom>
          <a:solidFill>
            <a:srgbClr val="E087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4005072"/>
            <a:ext cx="11475720" cy="658368"/>
          </a:xfrm>
          <a:prstGeom prst="rect">
            <a:avLst/>
          </a:prstGeom>
          <a:solidFill>
            <a:srgbClr val="1A2E44"/>
          </a:solidFill>
          <a:ln w="19050">
            <a:solidFill>
              <a:srgbClr val="E08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023359"/>
            <a:ext cx="4754880" cy="320040"/>
          </a:xfrm>
          <a:prstGeom prst="rect">
            <a:avLst/>
          </a:prstGeom>
          <a:noFill/>
        </p:spPr>
        <p:txBody>
          <a:bodyPr wrap="square">
            <a:spAutoFit/>
          </a:bodyPr>
          <a:lstStyle/>
          <a:p>
            <a:pPr algn="l"/>
            <a:r>
              <a:rPr sz="1150" b="1">
                <a:solidFill>
                  <a:srgbClr val="E0876A"/>
                </a:solidFill>
              </a:rPr>
              <a:t>Excluding swap is accurate, not a gap</a:t>
            </a:r>
          </a:p>
        </p:txBody>
      </p:sp>
      <p:sp>
        <p:nvSpPr>
          <p:cNvPr id="20" name="TextBox 19"/>
          <p:cNvSpPr txBox="1"/>
          <p:nvPr/>
        </p:nvSpPr>
        <p:spPr>
          <a:xfrm>
            <a:off x="594360" y="4306824"/>
            <a:ext cx="11247120" cy="347472"/>
          </a:xfrm>
          <a:prstGeom prst="rect">
            <a:avLst/>
          </a:prstGeom>
          <a:noFill/>
        </p:spPr>
        <p:txBody>
          <a:bodyPr wrap="square">
            <a:spAutoFit/>
          </a:bodyPr>
          <a:lstStyle/>
          <a:p>
            <a:pPr algn="l"/>
            <a:r>
              <a:rPr sz="1000" b="0">
                <a:solidFill>
                  <a:srgbClr val="CAE9FF"/>
                </a:solidFill>
              </a:rPr>
              <a:t>AWS EC2, Azure VMs, GCP Compute, and Akamai all operate without production swap. The Coach paper's reclamation chain also avoids swap. This exclusion is the correct modeling choice.</a:t>
            </a:r>
          </a:p>
        </p:txBody>
      </p:sp>
      <p:sp>
        <p:nvSpPr>
          <p:cNvPr id="21" name="Rectangle 20"/>
          <p:cNvSpPr/>
          <p:nvPr/>
        </p:nvSpPr>
        <p:spPr>
          <a:xfrm>
            <a:off x="182880" y="4919472"/>
            <a:ext cx="320040" cy="658368"/>
          </a:xfrm>
          <a:prstGeom prst="rect">
            <a:avLst/>
          </a:prstGeom>
          <a:solidFill>
            <a:srgbClr val="A8DA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4919472"/>
            <a:ext cx="11475720" cy="658368"/>
          </a:xfrm>
          <a:prstGeom prst="rect">
            <a:avLst/>
          </a:prstGeom>
          <a:solidFill>
            <a:srgbClr val="1A2E44"/>
          </a:solidFill>
          <a:ln w="19050">
            <a:solidFill>
              <a:srgbClr val="A8D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937759"/>
            <a:ext cx="4754880" cy="320040"/>
          </a:xfrm>
          <a:prstGeom prst="rect">
            <a:avLst/>
          </a:prstGeom>
          <a:noFill/>
        </p:spPr>
        <p:txBody>
          <a:bodyPr wrap="square">
            <a:spAutoFit/>
          </a:bodyPr>
          <a:lstStyle/>
          <a:p>
            <a:pPr algn="l"/>
            <a:r>
              <a:rPr sz="1150" b="1">
                <a:solidFill>
                  <a:srgbClr val="A8DADC"/>
                </a:solidFill>
              </a:rPr>
              <a:t>Theoretical + simulation is a complete capstone deliverable</a:t>
            </a:r>
          </a:p>
        </p:txBody>
      </p:sp>
      <p:sp>
        <p:nvSpPr>
          <p:cNvPr id="24" name="TextBox 23"/>
          <p:cNvSpPr txBox="1"/>
          <p:nvPr/>
        </p:nvSpPr>
        <p:spPr>
          <a:xfrm>
            <a:off x="594360" y="5221224"/>
            <a:ext cx="11247120" cy="347472"/>
          </a:xfrm>
          <a:prstGeom prst="rect">
            <a:avLst/>
          </a:prstGeom>
          <a:noFill/>
        </p:spPr>
        <p:txBody>
          <a:bodyPr wrap="square">
            <a:spAutoFit/>
          </a:bodyPr>
          <a:lstStyle/>
          <a:p>
            <a:pPr algn="l"/>
            <a:r>
              <a:rPr sz="1000" b="0">
                <a:solidFill>
                  <a:srgbClr val="CAE9FF"/>
                </a:solidFill>
              </a:rPr>
              <a:t>Validated by Azure trace + synthetic stress tests. Matches the scope of published research papers (see Blagodurov et al., Coach). The framework is generalizable; implementation is future work.</a:t>
            </a:r>
          </a:p>
        </p:txBody>
      </p:sp>
      <p:sp>
        <p:nvSpPr>
          <p:cNvPr id="25" name="TextBox 24"/>
          <p:cNvSpPr txBox="1"/>
          <p:nvPr/>
        </p:nvSpPr>
        <p:spPr>
          <a:xfrm>
            <a:off x="182880" y="5961888"/>
            <a:ext cx="11795760" cy="347472"/>
          </a:xfrm>
          <a:prstGeom prst="rect">
            <a:avLst/>
          </a:prstGeom>
          <a:noFill/>
        </p:spPr>
        <p:txBody>
          <a:bodyPr wrap="square">
            <a:spAutoFit/>
          </a:bodyPr>
          <a:lstStyle/>
          <a:p>
            <a:pPr algn="ctr"/>
            <a:r>
              <a:rPr sz="1200" b="1">
                <a:solidFill>
                  <a:srgbClr val="FFD166"/>
                </a:solidFill>
              </a:rPr>
              <a:t>Bottom line: well-scoped, novel, empirically grounded. The simplifications strengthen, not weaken, the contribution.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64592"/>
            <a:ext cx="11704320" cy="594360"/>
          </a:xfrm>
          <a:prstGeom prst="rect">
            <a:avLst/>
          </a:prstGeom>
          <a:noFill/>
        </p:spPr>
        <p:txBody>
          <a:bodyPr wrap="square">
            <a:spAutoFit/>
          </a:bodyPr>
          <a:lstStyle/>
          <a:p>
            <a:pPr algn="l"/>
            <a:r>
              <a:rPr sz="2800" b="1">
                <a:solidFill>
                  <a:srgbClr val="FFFFFF"/>
                </a:solidFill>
              </a:rPr>
              <a:t>Defending Our Approach</a:t>
            </a:r>
          </a:p>
        </p:txBody>
      </p:sp>
      <p:sp>
        <p:nvSpPr>
          <p:cNvPr id="4" name="TextBox 3"/>
          <p:cNvSpPr txBox="1"/>
          <p:nvPr/>
        </p:nvSpPr>
        <p:spPr>
          <a:xfrm>
            <a:off x="182880" y="749808"/>
            <a:ext cx="11704320" cy="384048"/>
          </a:xfrm>
          <a:prstGeom prst="rect">
            <a:avLst/>
          </a:prstGeom>
          <a:noFill/>
        </p:spPr>
        <p:txBody>
          <a:bodyPr wrap="square">
            <a:spAutoFit/>
          </a:bodyPr>
          <a:lstStyle/>
          <a:p>
            <a:pPr algn="l"/>
            <a:r>
              <a:rPr sz="1500" b="0">
                <a:solidFill>
                  <a:srgbClr val="00B4D8"/>
                </a:solidFill>
              </a:rPr>
              <a:t>Anticipated critiques and our responses</a:t>
            </a:r>
          </a:p>
        </p:txBody>
      </p:sp>
      <p:sp>
        <p:nvSpPr>
          <p:cNvPr id="5" name="Rectangle 4"/>
          <p:cNvSpPr/>
          <p:nvPr/>
        </p:nvSpPr>
        <p:spPr>
          <a:xfrm>
            <a:off x="182880" y="1261872"/>
            <a:ext cx="11795760" cy="914400"/>
          </a:xfrm>
          <a:prstGeom prst="rect">
            <a:avLst/>
          </a:prstGeom>
          <a:solidFill>
            <a:srgbClr val="1A2E4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289304"/>
            <a:ext cx="11521440" cy="347472"/>
          </a:xfrm>
          <a:prstGeom prst="rect">
            <a:avLst/>
          </a:prstGeom>
          <a:noFill/>
        </p:spPr>
        <p:txBody>
          <a:bodyPr wrap="square">
            <a:spAutoFit/>
          </a:bodyPr>
          <a:lstStyle/>
          <a:p>
            <a:pPr algn="l"/>
            <a:r>
              <a:rPr sz="1150" b="1">
                <a:solidFill>
                  <a:srgbClr val="FFD166"/>
                </a:solidFill>
              </a:rPr>
              <a:t>'Why not just improve the cluster manager's bin-packing?'</a:t>
            </a:r>
          </a:p>
        </p:txBody>
      </p:sp>
      <p:sp>
        <p:nvSpPr>
          <p:cNvPr id="7" name="TextBox 6"/>
          <p:cNvSpPr txBox="1"/>
          <p:nvPr/>
        </p:nvSpPr>
        <p:spPr>
          <a:xfrm>
            <a:off x="320040" y="1627631"/>
            <a:ext cx="11521440" cy="502920"/>
          </a:xfrm>
          <a:prstGeom prst="rect">
            <a:avLst/>
          </a:prstGeom>
          <a:noFill/>
        </p:spPr>
        <p:txBody>
          <a:bodyPr wrap="square">
            <a:spAutoFit/>
          </a:bodyPr>
          <a:lstStyle/>
          <a:p>
            <a:pPr algn="l"/>
            <a:r>
              <a:rPr sz="1050" b="0">
                <a:solidFill>
                  <a:srgbClr val="CAE9FF"/>
                </a:solidFill>
              </a:rPr>
              <a:t>Bin-packing is a placement problem — it decides WHERE, not WHETHER. Adding temporal intelligence to the node level is orthogonal and additive. Our model works with any bin-packing algorithm without requiring changes to it. This is an architectural advantage, not a limitation.</a:t>
            </a:r>
          </a:p>
        </p:txBody>
      </p:sp>
      <p:sp>
        <p:nvSpPr>
          <p:cNvPr id="8" name="Rectangle 7"/>
          <p:cNvSpPr/>
          <p:nvPr/>
        </p:nvSpPr>
        <p:spPr>
          <a:xfrm>
            <a:off x="182880" y="2267712"/>
            <a:ext cx="11795760" cy="914400"/>
          </a:xfrm>
          <a:prstGeom prst="rect">
            <a:avLst/>
          </a:prstGeom>
          <a:solidFill>
            <a:srgbClr val="1A2E4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2295144"/>
            <a:ext cx="11521440" cy="347472"/>
          </a:xfrm>
          <a:prstGeom prst="rect">
            <a:avLst/>
          </a:prstGeom>
          <a:noFill/>
        </p:spPr>
        <p:txBody>
          <a:bodyPr wrap="square">
            <a:spAutoFit/>
          </a:bodyPr>
          <a:lstStyle/>
          <a:p>
            <a:pPr algn="l"/>
            <a:r>
              <a:rPr sz="1150" b="1">
                <a:solidFill>
                  <a:srgbClr val="FFD166"/>
                </a:solidFill>
              </a:rPr>
              <a:t>'One SLA % for all VMs is too simplistic.'</a:t>
            </a:r>
          </a:p>
        </p:txBody>
      </p:sp>
      <p:sp>
        <p:nvSpPr>
          <p:cNvPr id="10" name="TextBox 9"/>
          <p:cNvSpPr txBox="1"/>
          <p:nvPr/>
        </p:nvSpPr>
        <p:spPr>
          <a:xfrm>
            <a:off x="320040" y="2633472"/>
            <a:ext cx="11521440" cy="502920"/>
          </a:xfrm>
          <a:prstGeom prst="rect">
            <a:avLst/>
          </a:prstGeom>
          <a:noFill/>
        </p:spPr>
        <p:txBody>
          <a:bodyPr wrap="square">
            <a:spAutoFit/>
          </a:bodyPr>
          <a:lstStyle/>
          <a:p>
            <a:pPr algn="l"/>
            <a:r>
              <a:rPr sz="1050" b="0">
                <a:solidFill>
                  <a:srgbClr val="CAE9FF"/>
                </a:solidFill>
              </a:rPr>
              <a:t>It is intentionally simple — and it matches how Akamai, one of the major CSPs, actually structures its compute SLA (99.99% across all VM types). Simplicity here is a feature: one well-defined, contractually grounded parameter is easier to reason about and defend than ad-hoc tier definitions.</a:t>
            </a:r>
          </a:p>
        </p:txBody>
      </p:sp>
      <p:sp>
        <p:nvSpPr>
          <p:cNvPr id="11" name="Rectangle 10"/>
          <p:cNvSpPr/>
          <p:nvPr/>
        </p:nvSpPr>
        <p:spPr>
          <a:xfrm>
            <a:off x="182880" y="3273552"/>
            <a:ext cx="11795760" cy="914400"/>
          </a:xfrm>
          <a:prstGeom prst="rect">
            <a:avLst/>
          </a:prstGeom>
          <a:solidFill>
            <a:srgbClr val="1A2E4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3300984"/>
            <a:ext cx="11521440" cy="347472"/>
          </a:xfrm>
          <a:prstGeom prst="rect">
            <a:avLst/>
          </a:prstGeom>
          <a:noFill/>
        </p:spPr>
        <p:txBody>
          <a:bodyPr wrap="square">
            <a:spAutoFit/>
          </a:bodyPr>
          <a:lstStyle/>
          <a:p>
            <a:pPr algn="l"/>
            <a:r>
              <a:rPr sz="1150" b="1">
                <a:solidFill>
                  <a:srgbClr val="FFD166"/>
                </a:solidFill>
              </a:rPr>
              <a:t>'Is simulation sufficient? You need real deployment.'</a:t>
            </a:r>
          </a:p>
        </p:txBody>
      </p:sp>
      <p:sp>
        <p:nvSpPr>
          <p:cNvPr id="13" name="TextBox 12"/>
          <p:cNvSpPr txBox="1"/>
          <p:nvPr/>
        </p:nvSpPr>
        <p:spPr>
          <a:xfrm>
            <a:off x="320040" y="3639312"/>
            <a:ext cx="11521440" cy="502920"/>
          </a:xfrm>
          <a:prstGeom prst="rect">
            <a:avLst/>
          </a:prstGeom>
          <a:noFill/>
        </p:spPr>
        <p:txBody>
          <a:bodyPr wrap="square">
            <a:spAutoFit/>
          </a:bodyPr>
          <a:lstStyle/>
          <a:p>
            <a:pPr algn="l"/>
            <a:r>
              <a:rPr sz="1050" b="0">
                <a:solidFill>
                  <a:srgbClr val="CAE9FF"/>
                </a:solidFill>
              </a:rPr>
              <a:t>No published theoretical framework paper requires production deployment as a deliverable. The Coach paper (Microsoft) uses simulation with real traces. Blagodurov et al. (HP Labs/SFU) use simulation. Our simulation methodology matches the standard in the field.</a:t>
            </a:r>
          </a:p>
        </p:txBody>
      </p:sp>
      <p:sp>
        <p:nvSpPr>
          <p:cNvPr id="14" name="Rectangle 13"/>
          <p:cNvSpPr/>
          <p:nvPr/>
        </p:nvSpPr>
        <p:spPr>
          <a:xfrm>
            <a:off x="182880" y="4279392"/>
            <a:ext cx="11795760" cy="914400"/>
          </a:xfrm>
          <a:prstGeom prst="rect">
            <a:avLst/>
          </a:prstGeom>
          <a:solidFill>
            <a:srgbClr val="1A2E4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4306824"/>
            <a:ext cx="11521440" cy="347472"/>
          </a:xfrm>
          <a:prstGeom prst="rect">
            <a:avLst/>
          </a:prstGeom>
          <a:noFill/>
        </p:spPr>
        <p:txBody>
          <a:bodyPr wrap="square">
            <a:spAutoFit/>
          </a:bodyPr>
          <a:lstStyle/>
          <a:p>
            <a:pPr algn="l"/>
            <a:r>
              <a:rPr sz="1150" b="1">
                <a:solidFill>
                  <a:srgbClr val="FFD166"/>
                </a:solidFill>
              </a:rPr>
              <a:t>'Your prediction models might not be accurate enough.'</a:t>
            </a:r>
          </a:p>
        </p:txBody>
      </p:sp>
      <p:sp>
        <p:nvSpPr>
          <p:cNvPr id="16" name="TextBox 15"/>
          <p:cNvSpPr txBox="1"/>
          <p:nvPr/>
        </p:nvSpPr>
        <p:spPr>
          <a:xfrm>
            <a:off x="320040" y="4645152"/>
            <a:ext cx="11521440" cy="502920"/>
          </a:xfrm>
          <a:prstGeom prst="rect">
            <a:avLst/>
          </a:prstGeom>
          <a:noFill/>
        </p:spPr>
        <p:txBody>
          <a:bodyPr wrap="square">
            <a:spAutoFit/>
          </a:bodyPr>
          <a:lstStyle/>
          <a:p>
            <a:pPr algn="l"/>
            <a:r>
              <a:rPr sz="1050" b="0">
                <a:solidFill>
                  <a:srgbClr val="CAE9FF"/>
                </a:solidFill>
              </a:rPr>
              <a:t>That is precisely what the simulation will measure. The dual-model design (generalized for new VMs, curated for known VMs) is a hedge against this. Moreover, the SLA budget constraint (B_i &gt; τ) means the model errs on the side of caution: if prediction confidence is low, it rejects admission.</a:t>
            </a:r>
          </a:p>
        </p:txBody>
      </p:sp>
      <p:sp>
        <p:nvSpPr>
          <p:cNvPr id="17" name="Rectangle 16"/>
          <p:cNvSpPr/>
          <p:nvPr/>
        </p:nvSpPr>
        <p:spPr>
          <a:xfrm>
            <a:off x="182880" y="5285231"/>
            <a:ext cx="11795760" cy="914400"/>
          </a:xfrm>
          <a:prstGeom prst="rect">
            <a:avLst/>
          </a:prstGeom>
          <a:solidFill>
            <a:srgbClr val="1A2E4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5312664"/>
            <a:ext cx="11521440" cy="347472"/>
          </a:xfrm>
          <a:prstGeom prst="rect">
            <a:avLst/>
          </a:prstGeom>
          <a:noFill/>
        </p:spPr>
        <p:txBody>
          <a:bodyPr wrap="square">
            <a:spAutoFit/>
          </a:bodyPr>
          <a:lstStyle/>
          <a:p>
            <a:pPr algn="l"/>
            <a:r>
              <a:rPr sz="1150" b="1">
                <a:solidFill>
                  <a:srgbClr val="FFD166"/>
                </a:solidFill>
              </a:rPr>
              <a:t>'What if multiple VMs are all near their SLA budget?'</a:t>
            </a:r>
          </a:p>
        </p:txBody>
      </p:sp>
      <p:sp>
        <p:nvSpPr>
          <p:cNvPr id="19" name="TextBox 18"/>
          <p:cNvSpPr txBox="1"/>
          <p:nvPr/>
        </p:nvSpPr>
        <p:spPr>
          <a:xfrm>
            <a:off x="320040" y="5650992"/>
            <a:ext cx="11521440" cy="502920"/>
          </a:xfrm>
          <a:prstGeom prst="rect">
            <a:avLst/>
          </a:prstGeom>
          <a:noFill/>
        </p:spPr>
        <p:txBody>
          <a:bodyPr wrap="square">
            <a:spAutoFit/>
          </a:bodyPr>
          <a:lstStyle/>
          <a:p>
            <a:pPr algn="l"/>
            <a:r>
              <a:rPr sz="1050" b="0">
                <a:solidFill>
                  <a:srgbClr val="CAE9FF"/>
                </a:solidFill>
              </a:rPr>
              <a:t>This is the key edge case the model handles explicitly: if B_i ≤ τ for all VMs, no termination is possible and the node rejects new admissions. This prevents cascading SLA violations. The synthetic data in our simulation will stress-test this exact scenario.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64592"/>
            <a:ext cx="11704320" cy="594360"/>
          </a:xfrm>
          <a:prstGeom prst="rect">
            <a:avLst/>
          </a:prstGeom>
          <a:noFill/>
        </p:spPr>
        <p:txBody>
          <a:bodyPr wrap="square">
            <a:spAutoFit/>
          </a:bodyPr>
          <a:lstStyle/>
          <a:p>
            <a:pPr algn="l"/>
            <a:r>
              <a:rPr sz="2800" b="1">
                <a:solidFill>
                  <a:srgbClr val="FFFFFF"/>
                </a:solidFill>
              </a:rPr>
              <a:t>Wave-Based Memory Demand Modeling</a:t>
            </a:r>
          </a:p>
        </p:txBody>
      </p:sp>
      <p:sp>
        <p:nvSpPr>
          <p:cNvPr id="4" name="TextBox 3"/>
          <p:cNvSpPr txBox="1"/>
          <p:nvPr/>
        </p:nvSpPr>
        <p:spPr>
          <a:xfrm>
            <a:off x="182880" y="749808"/>
            <a:ext cx="11704320" cy="384048"/>
          </a:xfrm>
          <a:prstGeom prst="rect">
            <a:avLst/>
          </a:prstGeom>
          <a:noFill/>
        </p:spPr>
        <p:txBody>
          <a:bodyPr wrap="square">
            <a:spAutoFit/>
          </a:bodyPr>
          <a:lstStyle/>
          <a:p>
            <a:pPr algn="l"/>
            <a:r>
              <a:rPr sz="1500" b="0">
                <a:solidFill>
                  <a:srgbClr val="00B4D8"/>
                </a:solidFill>
              </a:rPr>
              <a:t>Each VM is a wave — sum all waves to get aggregate node demand</a:t>
            </a:r>
          </a:p>
        </p:txBody>
      </p:sp>
      <p:sp>
        <p:nvSpPr>
          <p:cNvPr id="5" name="Rectangle 4"/>
          <p:cNvSpPr/>
          <p:nvPr/>
        </p:nvSpPr>
        <p:spPr>
          <a:xfrm>
            <a:off x="182880" y="1261872"/>
            <a:ext cx="5212080" cy="4983480"/>
          </a:xfrm>
          <a:prstGeom prst="rect">
            <a:avLst/>
          </a:prstGeom>
          <a:solidFill>
            <a:srgbClr val="1A2E44"/>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 y="1280160"/>
            <a:ext cx="5120640" cy="384048"/>
          </a:xfrm>
          <a:prstGeom prst="rect">
            <a:avLst/>
          </a:prstGeom>
          <a:noFill/>
        </p:spPr>
        <p:txBody>
          <a:bodyPr wrap="square">
            <a:spAutoFit/>
          </a:bodyPr>
          <a:lstStyle/>
          <a:p>
            <a:pPr algn="l"/>
            <a:r>
              <a:rPr sz="1300" b="1">
                <a:solidFill>
                  <a:srgbClr val="00B4D8"/>
                </a:solidFill>
              </a:rPr>
              <a:t>The Core Idea</a:t>
            </a:r>
          </a:p>
        </p:txBody>
      </p:sp>
      <p:sp>
        <p:nvSpPr>
          <p:cNvPr id="7" name="TextBox 6"/>
          <p:cNvSpPr txBox="1"/>
          <p:nvPr/>
        </p:nvSpPr>
        <p:spPr>
          <a:xfrm>
            <a:off x="292608" y="1719072"/>
            <a:ext cx="5029200" cy="4389120"/>
          </a:xfrm>
          <a:prstGeom prst="rect">
            <a:avLst/>
          </a:prstGeom>
          <a:noFill/>
        </p:spPr>
        <p:txBody>
          <a:bodyPr wrap="square">
            <a:spAutoFit/>
          </a:bodyPr>
          <a:lstStyle/>
          <a:p>
            <a:pPr>
              <a:spcBef>
                <a:spcPts val="200"/>
              </a:spcBef>
            </a:pPr>
            <a:r>
              <a:rPr sz="1100">
                <a:solidFill>
                  <a:srgbClr val="CAE9FF"/>
                </a:solidFill>
              </a:rPr>
              <a:t>Each VM's memory usage = a periodic wave:</a:t>
            </a:r>
          </a:p>
          <a:p>
            <a:pPr>
              <a:spcBef>
                <a:spcPts val="200"/>
              </a:spcBef>
            </a:pPr>
            <a:r>
              <a:rPr sz="1100">
                <a:solidFill>
                  <a:srgbClr val="FFFFFF"/>
                </a:solidFill>
              </a:rPr>
              <a:t/>
            </a:r>
          </a:p>
          <a:p>
            <a:pPr>
              <a:spcBef>
                <a:spcPts val="200"/>
              </a:spcBef>
            </a:pPr>
            <a:r>
              <a:rPr sz="1100">
                <a:solidFill>
                  <a:srgbClr val="FFEE58"/>
                </a:solidFill>
              </a:rPr>
              <a:t>  m_i(t) = A_i0 + Σ_k[ A_ik · sin(2πf_k·t + φ_ik) ]</a:t>
            </a:r>
          </a:p>
          <a:p>
            <a:pPr>
              <a:spcBef>
                <a:spcPts val="200"/>
              </a:spcBef>
            </a:pPr>
            <a:r>
              <a:rPr sz="1100">
                <a:solidFill>
                  <a:srgbClr val="FFFFFF"/>
                </a:solidFill>
              </a:rPr>
              <a:t/>
            </a:r>
          </a:p>
          <a:p>
            <a:pPr>
              <a:spcBef>
                <a:spcPts val="200"/>
              </a:spcBef>
            </a:pPr>
            <a:r>
              <a:rPr sz="1100">
                <a:solidFill>
                  <a:srgbClr val="FFFFFF"/>
                </a:solidFill>
              </a:rPr>
              <a:t>  A_i0  = baseline (flatline VMs: large A_i0, small A_ik)</a:t>
            </a:r>
          </a:p>
          <a:p>
            <a:pPr>
              <a:spcBef>
                <a:spcPts val="200"/>
              </a:spcBef>
            </a:pPr>
            <a:r>
              <a:rPr sz="1100">
                <a:solidFill>
                  <a:srgbClr val="FFFFFF"/>
                </a:solidFill>
              </a:rPr>
              <a:t>  A_ik  = spike amplitude (spiky VMs: small A_i0, large A_ik)</a:t>
            </a:r>
          </a:p>
          <a:p>
            <a:pPr>
              <a:spcBef>
                <a:spcPts val="200"/>
              </a:spcBef>
            </a:pPr>
            <a:r>
              <a:rPr sz="1100">
                <a:solidFill>
                  <a:srgbClr val="FFFFFF"/>
                </a:solidFill>
              </a:rPr>
              <a:t>  f_k   = frequency (daily, hourly cycles)</a:t>
            </a:r>
          </a:p>
          <a:p>
            <a:pPr>
              <a:spcBef>
                <a:spcPts val="200"/>
              </a:spcBef>
            </a:pPr>
            <a:r>
              <a:rPr sz="1100">
                <a:solidFill>
                  <a:srgbClr val="FFFFFF"/>
                </a:solidFill>
              </a:rPr>
              <a:t>  φ_ik  = phase — WHEN the VM peaks</a:t>
            </a:r>
          </a:p>
          <a:p>
            <a:pPr>
              <a:spcBef>
                <a:spcPts val="200"/>
              </a:spcBef>
            </a:pPr>
            <a:r>
              <a:rPr sz="1100">
                <a:solidFill>
                  <a:srgbClr val="FFFFFF"/>
                </a:solidFill>
              </a:rPr>
              <a:t/>
            </a:r>
          </a:p>
          <a:p>
            <a:pPr>
              <a:spcBef>
                <a:spcPts val="200"/>
              </a:spcBef>
            </a:pPr>
            <a:r>
              <a:rPr sz="1100">
                <a:solidFill>
                  <a:srgbClr val="CAE9FF"/>
                </a:solidFill>
              </a:rPr>
              <a:t>Aggregate node demand (superposition):</a:t>
            </a:r>
          </a:p>
          <a:p>
            <a:pPr>
              <a:spcBef>
                <a:spcPts val="200"/>
              </a:spcBef>
            </a:pPr>
            <a:r>
              <a:rPr sz="1100">
                <a:solidFill>
                  <a:srgbClr val="FFFFFF"/>
                </a:solidFill>
              </a:rPr>
              <a:t/>
            </a:r>
          </a:p>
          <a:p>
            <a:pPr>
              <a:spcBef>
                <a:spcPts val="200"/>
              </a:spcBef>
            </a:pPr>
            <a:r>
              <a:rPr sz="1100">
                <a:solidFill>
                  <a:srgbClr val="FFEE58"/>
                </a:solidFill>
              </a:rPr>
              <a:t>  M(t) = Σ_i m_i(t)  ← additive, closed-form</a:t>
            </a:r>
          </a:p>
          <a:p>
            <a:pPr>
              <a:spcBef>
                <a:spcPts val="200"/>
              </a:spcBef>
            </a:pPr>
            <a:r>
              <a:rPr sz="1100">
                <a:solidFill>
                  <a:srgbClr val="FFFFFF"/>
                </a:solidFill>
              </a:rPr>
              <a:t/>
            </a:r>
          </a:p>
          <a:p>
            <a:pPr>
              <a:spcBef>
                <a:spcPts val="200"/>
              </a:spcBef>
            </a:pPr>
            <a:r>
              <a:rPr sz="1100">
                <a:solidFill>
                  <a:srgbClr val="CAE9FF"/>
                </a:solidFill>
              </a:rPr>
              <a:t>Overload detection:</a:t>
            </a:r>
          </a:p>
          <a:p>
            <a:pPr>
              <a:spcBef>
                <a:spcPts val="200"/>
              </a:spcBef>
            </a:pPr>
            <a:r>
              <a:rPr sz="1100">
                <a:solidFill>
                  <a:srgbClr val="EF5350"/>
                </a:solidFill>
              </a:rPr>
              <a:t>  Find t* where M(t*) &gt; RAM_physical</a:t>
            </a:r>
          </a:p>
          <a:p>
            <a:pPr>
              <a:spcBef>
                <a:spcPts val="200"/>
              </a:spcBef>
            </a:pPr>
            <a:r>
              <a:rPr sz="1100">
                <a:solidFill>
                  <a:srgbClr val="FFFFFF"/>
                </a:solidFill>
              </a:rPr>
              <a:t/>
            </a:r>
          </a:p>
          <a:p>
            <a:pPr>
              <a:spcBef>
                <a:spcPts val="200"/>
              </a:spcBef>
            </a:pPr>
            <a:r>
              <a:rPr sz="1100">
                <a:solidFill>
                  <a:srgbClr val="4CAF50"/>
                </a:solidFill>
              </a:rPr>
              <a:t>Act at:  t_act = t* − τ_lead</a:t>
            </a:r>
          </a:p>
        </p:txBody>
      </p:sp>
      <p:sp>
        <p:nvSpPr>
          <p:cNvPr id="8" name="Rectangle 7"/>
          <p:cNvSpPr/>
          <p:nvPr/>
        </p:nvSpPr>
        <p:spPr>
          <a:xfrm>
            <a:off x="5669280" y="1261872"/>
            <a:ext cx="6309360" cy="4983480"/>
          </a:xfrm>
          <a:prstGeom prst="rect">
            <a:avLst/>
          </a:prstGeom>
          <a:solidFill>
            <a:srgbClr val="0A1A28"/>
          </a:solidFill>
          <a:ln w="1905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15000" y="1280160"/>
            <a:ext cx="6217920" cy="384048"/>
          </a:xfrm>
          <a:prstGeom prst="rect">
            <a:avLst/>
          </a:prstGeom>
          <a:noFill/>
        </p:spPr>
        <p:txBody>
          <a:bodyPr wrap="square">
            <a:spAutoFit/>
          </a:bodyPr>
          <a:lstStyle/>
          <a:p>
            <a:pPr algn="ctr"/>
            <a:r>
              <a:rPr sz="1300" b="1">
                <a:solidFill>
                  <a:srgbClr val="FFD166"/>
                </a:solidFill>
              </a:rPr>
              <a:t>Waveform Illustration</a:t>
            </a:r>
          </a:p>
        </p:txBody>
      </p:sp>
      <p:sp>
        <p:nvSpPr>
          <p:cNvPr id="10" name="TextBox 9"/>
          <p:cNvSpPr txBox="1"/>
          <p:nvPr/>
        </p:nvSpPr>
        <p:spPr>
          <a:xfrm>
            <a:off x="5760720" y="1737360"/>
            <a:ext cx="6126480" cy="292608"/>
          </a:xfrm>
          <a:prstGeom prst="rect">
            <a:avLst/>
          </a:prstGeom>
          <a:noFill/>
        </p:spPr>
        <p:txBody>
          <a:bodyPr wrap="square">
            <a:spAutoFit/>
          </a:bodyPr>
          <a:lstStyle/>
          <a:p>
            <a:pPr algn="l"/>
            <a:r>
              <a:rPr sz="1050" b="0">
                <a:solidFill>
                  <a:srgbClr val="00B4D8"/>
                </a:solidFill>
              </a:rPr>
              <a:t>VM 1  (spiky — high amplitude)</a:t>
            </a:r>
          </a:p>
        </p:txBody>
      </p:sp>
      <p:sp>
        <p:nvSpPr>
          <p:cNvPr id="11" name="TextBox 10"/>
          <p:cNvSpPr txBox="1"/>
          <p:nvPr/>
        </p:nvSpPr>
        <p:spPr>
          <a:xfrm>
            <a:off x="5760720" y="2084831"/>
            <a:ext cx="6126480" cy="292608"/>
          </a:xfrm>
          <a:prstGeom prst="rect">
            <a:avLst/>
          </a:prstGeom>
          <a:noFill/>
        </p:spPr>
        <p:txBody>
          <a:bodyPr wrap="square">
            <a:spAutoFit/>
          </a:bodyPr>
          <a:lstStyle/>
          <a:p>
            <a:pPr algn="l"/>
            <a:r>
              <a:rPr sz="1050" b="0">
                <a:solidFill>
                  <a:srgbClr val="4CAF50"/>
                </a:solidFill>
              </a:rPr>
              <a:t>VM 2  (stable — flatline)</a:t>
            </a:r>
          </a:p>
        </p:txBody>
      </p:sp>
      <p:sp>
        <p:nvSpPr>
          <p:cNvPr id="12" name="TextBox 11"/>
          <p:cNvSpPr txBox="1"/>
          <p:nvPr/>
        </p:nvSpPr>
        <p:spPr>
          <a:xfrm>
            <a:off x="5760720" y="2432303"/>
            <a:ext cx="6126480" cy="292608"/>
          </a:xfrm>
          <a:prstGeom prst="rect">
            <a:avLst/>
          </a:prstGeom>
          <a:noFill/>
        </p:spPr>
        <p:txBody>
          <a:bodyPr wrap="square">
            <a:spAutoFit/>
          </a:bodyPr>
          <a:lstStyle/>
          <a:p>
            <a:pPr algn="l"/>
            <a:r>
              <a:rPr sz="1050" b="0">
                <a:solidFill>
                  <a:srgbClr val="E0876A"/>
                </a:solidFill>
              </a:rPr>
              <a:t>VM 3  (moderate cycle)</a:t>
            </a:r>
          </a:p>
        </p:txBody>
      </p:sp>
      <p:sp>
        <p:nvSpPr>
          <p:cNvPr id="13" name="TextBox 12"/>
          <p:cNvSpPr txBox="1"/>
          <p:nvPr/>
        </p:nvSpPr>
        <p:spPr>
          <a:xfrm>
            <a:off x="5760720" y="2779775"/>
            <a:ext cx="6126480" cy="292608"/>
          </a:xfrm>
          <a:prstGeom prst="rect">
            <a:avLst/>
          </a:prstGeom>
          <a:noFill/>
        </p:spPr>
        <p:txBody>
          <a:bodyPr wrap="square">
            <a:spAutoFit/>
          </a:bodyPr>
          <a:lstStyle/>
          <a:p>
            <a:pPr algn="l"/>
            <a:r>
              <a:rPr sz="1050" b="0">
                <a:solidFill>
                  <a:srgbClr val="78909C"/>
                </a:solidFill>
              </a:rPr>
              <a:t>─────────────────────────────────────</a:t>
            </a:r>
          </a:p>
        </p:txBody>
      </p:sp>
      <p:sp>
        <p:nvSpPr>
          <p:cNvPr id="14" name="TextBox 13"/>
          <p:cNvSpPr txBox="1"/>
          <p:nvPr/>
        </p:nvSpPr>
        <p:spPr>
          <a:xfrm>
            <a:off x="5760720" y="3127247"/>
            <a:ext cx="6126480" cy="292608"/>
          </a:xfrm>
          <a:prstGeom prst="rect">
            <a:avLst/>
          </a:prstGeom>
          <a:noFill/>
        </p:spPr>
        <p:txBody>
          <a:bodyPr wrap="square">
            <a:spAutoFit/>
          </a:bodyPr>
          <a:lstStyle/>
          <a:p>
            <a:pPr algn="l"/>
            <a:r>
              <a:rPr sz="1050" b="0">
                <a:solidFill>
                  <a:srgbClr val="FFEE58"/>
                </a:solidFill>
              </a:rPr>
              <a:t>M(t) = combined waveform</a:t>
            </a:r>
          </a:p>
        </p:txBody>
      </p:sp>
      <p:sp>
        <p:nvSpPr>
          <p:cNvPr id="15" name="TextBox 14"/>
          <p:cNvSpPr txBox="1"/>
          <p:nvPr/>
        </p:nvSpPr>
        <p:spPr>
          <a:xfrm>
            <a:off x="5760720" y="3474719"/>
            <a:ext cx="6126480" cy="292608"/>
          </a:xfrm>
          <a:prstGeom prst="rect">
            <a:avLst/>
          </a:prstGeom>
          <a:noFill/>
        </p:spPr>
        <p:txBody>
          <a:bodyPr wrap="square">
            <a:spAutoFit/>
          </a:bodyPr>
          <a:lstStyle/>
          <a:p>
            <a:pPr algn="l"/>
            <a:r>
              <a:rPr sz="1050" b="0">
                <a:solidFill>
                  <a:srgbClr val="EF5350"/>
                </a:solidFill>
              </a:rPr>
              <a:t>RAM limit  ─ ─ ─ ─ ─ ─ ─ ─ ─ ─ ─ ─</a:t>
            </a:r>
          </a:p>
        </p:txBody>
      </p:sp>
      <p:sp>
        <p:nvSpPr>
          <p:cNvPr id="16" name="TextBox 15"/>
          <p:cNvSpPr txBox="1"/>
          <p:nvPr/>
        </p:nvSpPr>
        <p:spPr>
          <a:xfrm>
            <a:off x="5760720" y="3822191"/>
            <a:ext cx="6126480" cy="292608"/>
          </a:xfrm>
          <a:prstGeom prst="rect">
            <a:avLst/>
          </a:prstGeom>
          <a:noFill/>
        </p:spPr>
        <p:txBody>
          <a:bodyPr wrap="square">
            <a:spAutoFit/>
          </a:bodyPr>
          <a:lstStyle/>
          <a:p>
            <a:pPr algn="l"/>
            <a:r>
              <a:rPr sz="1050" b="0">
                <a:solidFill>
                  <a:srgbClr val="EF5350"/>
                </a:solidFill>
              </a:rPr>
              <a:t>t* = predicted spike crossing</a:t>
            </a:r>
          </a:p>
        </p:txBody>
      </p:sp>
      <p:sp>
        <p:nvSpPr>
          <p:cNvPr id="17" name="TextBox 16"/>
          <p:cNvSpPr txBox="1"/>
          <p:nvPr/>
        </p:nvSpPr>
        <p:spPr>
          <a:xfrm>
            <a:off x="5760720" y="4169663"/>
            <a:ext cx="6126480" cy="292608"/>
          </a:xfrm>
          <a:prstGeom prst="rect">
            <a:avLst/>
          </a:prstGeom>
          <a:noFill/>
        </p:spPr>
        <p:txBody>
          <a:bodyPr wrap="square">
            <a:spAutoFit/>
          </a:bodyPr>
          <a:lstStyle/>
          <a:p>
            <a:pPr algn="l"/>
            <a:r>
              <a:rPr sz="1050" b="0">
                <a:solidFill>
                  <a:srgbClr val="4CAF50"/>
                </a:solidFill>
              </a:rPr>
              <a:t>τ_lead before t* → act now</a:t>
            </a:r>
          </a:p>
        </p:txBody>
      </p:sp>
      <p:sp>
        <p:nvSpPr>
          <p:cNvPr id="18" name="Rectangle 17"/>
          <p:cNvSpPr/>
          <p:nvPr/>
        </p:nvSpPr>
        <p:spPr>
          <a:xfrm>
            <a:off x="182880" y="6355080"/>
            <a:ext cx="11795760" cy="347472"/>
          </a:xfrm>
          <a:prstGeom prst="rect">
            <a:avLst/>
          </a:prstGeom>
          <a:solidFill>
            <a:srgbClr val="003A52"/>
          </a:solidFill>
          <a:ln w="1905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8" y="6373368"/>
            <a:ext cx="11612880" cy="310896"/>
          </a:xfrm>
          <a:prstGeom prst="rect">
            <a:avLst/>
          </a:prstGeom>
          <a:noFill/>
        </p:spPr>
        <p:txBody>
          <a:bodyPr wrap="square">
            <a:spAutoFit/>
          </a:bodyPr>
          <a:lstStyle/>
          <a:p>
            <a:pPr algn="ctr"/>
            <a:r>
              <a:rPr sz="1100" b="0">
                <a:solidFill>
                  <a:srgbClr val="FFD166"/>
                </a:solidFill>
              </a:rPr>
              <a:t>Key insight: VMs with OUT-OF-PHASE peaks can be safely co-located even if individual peaks exceed headroom. The wave model quantifies phase diversity precisely — this is the mathematical basis for safe overcommitment.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64592"/>
            <a:ext cx="11704320" cy="594360"/>
          </a:xfrm>
          <a:prstGeom prst="rect">
            <a:avLst/>
          </a:prstGeom>
          <a:noFill/>
        </p:spPr>
        <p:txBody>
          <a:bodyPr wrap="square">
            <a:spAutoFit/>
          </a:bodyPr>
          <a:lstStyle/>
          <a:p>
            <a:pPr algn="l"/>
            <a:r>
              <a:rPr sz="2800" b="1">
                <a:solidFill>
                  <a:srgbClr val="FFFFFF"/>
                </a:solidFill>
              </a:rPr>
              <a:t>Lead Time Variable τ_lead</a:t>
            </a:r>
          </a:p>
        </p:txBody>
      </p:sp>
      <p:sp>
        <p:nvSpPr>
          <p:cNvPr id="4" name="TextBox 3"/>
          <p:cNvSpPr txBox="1"/>
          <p:nvPr/>
        </p:nvSpPr>
        <p:spPr>
          <a:xfrm>
            <a:off x="182880" y="749808"/>
            <a:ext cx="11704320" cy="384048"/>
          </a:xfrm>
          <a:prstGeom prst="rect">
            <a:avLst/>
          </a:prstGeom>
          <a:noFill/>
        </p:spPr>
        <p:txBody>
          <a:bodyPr wrap="square">
            <a:spAutoFit/>
          </a:bodyPr>
          <a:lstStyle/>
          <a:p>
            <a:pPr algn="l"/>
            <a:r>
              <a:rPr sz="1500" b="0">
                <a:solidFill>
                  <a:srgbClr val="00B4D8"/>
                </a:solidFill>
              </a:rPr>
              <a:t>How far before a predicted spike should the model act?</a:t>
            </a:r>
          </a:p>
        </p:txBody>
      </p:sp>
      <p:sp>
        <p:nvSpPr>
          <p:cNvPr id="5" name="Rectangle 4"/>
          <p:cNvSpPr/>
          <p:nvPr/>
        </p:nvSpPr>
        <p:spPr>
          <a:xfrm>
            <a:off x="182880" y="1261872"/>
            <a:ext cx="11795760" cy="4572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261872"/>
            <a:ext cx="2011680" cy="457200"/>
          </a:xfrm>
          <a:prstGeom prst="rect">
            <a:avLst/>
          </a:prstGeom>
          <a:noFill/>
        </p:spPr>
        <p:txBody>
          <a:bodyPr wrap="square">
            <a:spAutoFit/>
          </a:bodyPr>
          <a:lstStyle/>
          <a:p>
            <a:pPr algn="ctr"/>
            <a:r>
              <a:rPr sz="1200" b="1">
                <a:solidFill>
                  <a:srgbClr val="0D1B2A"/>
                </a:solidFill>
              </a:rPr>
              <a:t>τ_lead Value</a:t>
            </a:r>
          </a:p>
        </p:txBody>
      </p:sp>
      <p:sp>
        <p:nvSpPr>
          <p:cNvPr id="7" name="TextBox 6"/>
          <p:cNvSpPr txBox="1"/>
          <p:nvPr/>
        </p:nvSpPr>
        <p:spPr>
          <a:xfrm>
            <a:off x="2286000" y="1261872"/>
            <a:ext cx="2743200" cy="457200"/>
          </a:xfrm>
          <a:prstGeom prst="rect">
            <a:avLst/>
          </a:prstGeom>
          <a:noFill/>
        </p:spPr>
        <p:txBody>
          <a:bodyPr wrap="square">
            <a:spAutoFit/>
          </a:bodyPr>
          <a:lstStyle/>
          <a:p>
            <a:pPr algn="ctr"/>
            <a:r>
              <a:rPr sz="1200" b="1">
                <a:solidFill>
                  <a:srgbClr val="0D1B2A"/>
                </a:solidFill>
              </a:rPr>
              <a:t>Prediction Certainty</a:t>
            </a:r>
          </a:p>
        </p:txBody>
      </p:sp>
      <p:sp>
        <p:nvSpPr>
          <p:cNvPr id="8" name="TextBox 7"/>
          <p:cNvSpPr txBox="1"/>
          <p:nvPr/>
        </p:nvSpPr>
        <p:spPr>
          <a:xfrm>
            <a:off x="5029200" y="1261872"/>
            <a:ext cx="2926080" cy="457200"/>
          </a:xfrm>
          <a:prstGeom prst="rect">
            <a:avLst/>
          </a:prstGeom>
          <a:noFill/>
        </p:spPr>
        <p:txBody>
          <a:bodyPr wrap="square">
            <a:spAutoFit/>
          </a:bodyPr>
          <a:lstStyle/>
          <a:p>
            <a:pPr algn="ctr"/>
            <a:r>
              <a:rPr sz="1200" b="1">
                <a:solidFill>
                  <a:srgbClr val="0D1B2A"/>
                </a:solidFill>
              </a:rPr>
              <a:t>Time for Memory Sharing</a:t>
            </a:r>
          </a:p>
        </p:txBody>
      </p:sp>
      <p:sp>
        <p:nvSpPr>
          <p:cNvPr id="9" name="TextBox 8"/>
          <p:cNvSpPr txBox="1"/>
          <p:nvPr/>
        </p:nvSpPr>
        <p:spPr>
          <a:xfrm>
            <a:off x="7955279" y="1261872"/>
            <a:ext cx="3840480" cy="457200"/>
          </a:xfrm>
          <a:prstGeom prst="rect">
            <a:avLst/>
          </a:prstGeom>
          <a:noFill/>
        </p:spPr>
        <p:txBody>
          <a:bodyPr wrap="square">
            <a:spAutoFit/>
          </a:bodyPr>
          <a:lstStyle/>
          <a:p>
            <a:pPr algn="ctr"/>
            <a:r>
              <a:rPr sz="1200" b="1">
                <a:solidFill>
                  <a:srgbClr val="0D1B2A"/>
                </a:solidFill>
              </a:rPr>
              <a:t>Risk / Trade-off</a:t>
            </a:r>
          </a:p>
        </p:txBody>
      </p:sp>
      <p:sp>
        <p:nvSpPr>
          <p:cNvPr id="10" name="Rectangle 9"/>
          <p:cNvSpPr/>
          <p:nvPr/>
        </p:nvSpPr>
        <p:spPr>
          <a:xfrm>
            <a:off x="182880" y="1719072"/>
            <a:ext cx="11795760" cy="685800"/>
          </a:xfrm>
          <a:prstGeom prst="rect">
            <a:avLst/>
          </a:prstGeom>
          <a:solidFill>
            <a:srgbClr val="1A2E44"/>
          </a:solidFill>
          <a:ln w="12700">
            <a:solidFill>
              <a:srgbClr val="E08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1764792"/>
            <a:ext cx="2011680" cy="594360"/>
          </a:xfrm>
          <a:prstGeom prst="rect">
            <a:avLst/>
          </a:prstGeom>
          <a:noFill/>
        </p:spPr>
        <p:txBody>
          <a:bodyPr wrap="square">
            <a:spAutoFit/>
          </a:bodyPr>
          <a:lstStyle/>
          <a:p>
            <a:pPr algn="l"/>
            <a:r>
              <a:rPr sz="1100" b="0">
                <a:solidFill>
                  <a:srgbClr val="E0876A"/>
                </a:solidFill>
              </a:rPr>
              <a:t>60+ min</a:t>
            </a:r>
          </a:p>
        </p:txBody>
      </p:sp>
      <p:sp>
        <p:nvSpPr>
          <p:cNvPr id="12" name="TextBox 11"/>
          <p:cNvSpPr txBox="1"/>
          <p:nvPr/>
        </p:nvSpPr>
        <p:spPr>
          <a:xfrm>
            <a:off x="2286000" y="1764792"/>
            <a:ext cx="2743200" cy="594360"/>
          </a:xfrm>
          <a:prstGeom prst="rect">
            <a:avLst/>
          </a:prstGeom>
          <a:noFill/>
        </p:spPr>
        <p:txBody>
          <a:bodyPr wrap="square">
            <a:spAutoFit/>
          </a:bodyPr>
          <a:lstStyle/>
          <a:p>
            <a:pPr algn="l"/>
            <a:r>
              <a:rPr sz="1100" b="0">
                <a:solidFill>
                  <a:srgbClr val="FFFFFF"/>
                </a:solidFill>
              </a:rPr>
              <a:t>Low — long horizon,
more uncertainty</a:t>
            </a:r>
          </a:p>
        </p:txBody>
      </p:sp>
      <p:sp>
        <p:nvSpPr>
          <p:cNvPr id="13" name="TextBox 12"/>
          <p:cNvSpPr txBox="1"/>
          <p:nvPr/>
        </p:nvSpPr>
        <p:spPr>
          <a:xfrm>
            <a:off x="5029200" y="1764792"/>
            <a:ext cx="2926080" cy="594360"/>
          </a:xfrm>
          <a:prstGeom prst="rect">
            <a:avLst/>
          </a:prstGeom>
          <a:noFill/>
        </p:spPr>
        <p:txBody>
          <a:bodyPr wrap="square">
            <a:spAutoFit/>
          </a:bodyPr>
          <a:lstStyle/>
          <a:p>
            <a:pPr algn="l"/>
            <a:r>
              <a:rPr sz="1100" b="0">
                <a:solidFill>
                  <a:srgbClr val="FFFFFF"/>
                </a:solidFill>
              </a:rPr>
              <a:t>Ample — gradual ballooning</a:t>
            </a:r>
          </a:p>
        </p:txBody>
      </p:sp>
      <p:sp>
        <p:nvSpPr>
          <p:cNvPr id="14" name="TextBox 13"/>
          <p:cNvSpPr txBox="1"/>
          <p:nvPr/>
        </p:nvSpPr>
        <p:spPr>
          <a:xfrm>
            <a:off x="7955279" y="1764792"/>
            <a:ext cx="3840480" cy="594360"/>
          </a:xfrm>
          <a:prstGeom prst="rect">
            <a:avLst/>
          </a:prstGeom>
          <a:noFill/>
        </p:spPr>
        <p:txBody>
          <a:bodyPr wrap="square">
            <a:spAutoFit/>
          </a:bodyPr>
          <a:lstStyle/>
          <a:p>
            <a:pPr algn="l"/>
            <a:r>
              <a:rPr sz="1100" b="0">
                <a:solidFill>
                  <a:srgbClr val="FFFFFF"/>
                </a:solidFill>
              </a:rPr>
              <a:t>May act unnecessarily
if prediction is wrong</a:t>
            </a:r>
          </a:p>
        </p:txBody>
      </p:sp>
      <p:sp>
        <p:nvSpPr>
          <p:cNvPr id="15" name="Rectangle 14"/>
          <p:cNvSpPr/>
          <p:nvPr/>
        </p:nvSpPr>
        <p:spPr>
          <a:xfrm>
            <a:off x="182880" y="2468879"/>
            <a:ext cx="11795760" cy="685800"/>
          </a:xfrm>
          <a:prstGeom prst="rect">
            <a:avLst/>
          </a:prstGeom>
          <a:solidFill>
            <a:srgbClr val="1A2E44"/>
          </a:solidFill>
          <a:ln w="1270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2514599"/>
            <a:ext cx="2011680" cy="594360"/>
          </a:xfrm>
          <a:prstGeom prst="rect">
            <a:avLst/>
          </a:prstGeom>
          <a:noFill/>
        </p:spPr>
        <p:txBody>
          <a:bodyPr wrap="square">
            <a:spAutoFit/>
          </a:bodyPr>
          <a:lstStyle/>
          <a:p>
            <a:pPr algn="l"/>
            <a:r>
              <a:rPr sz="1100" b="0">
                <a:solidFill>
                  <a:srgbClr val="FFD166"/>
                </a:solidFill>
              </a:rPr>
              <a:t>30 min</a:t>
            </a:r>
          </a:p>
        </p:txBody>
      </p:sp>
      <p:sp>
        <p:nvSpPr>
          <p:cNvPr id="17" name="TextBox 16"/>
          <p:cNvSpPr txBox="1"/>
          <p:nvPr/>
        </p:nvSpPr>
        <p:spPr>
          <a:xfrm>
            <a:off x="2286000" y="2514599"/>
            <a:ext cx="2743200" cy="594360"/>
          </a:xfrm>
          <a:prstGeom prst="rect">
            <a:avLst/>
          </a:prstGeom>
          <a:noFill/>
        </p:spPr>
        <p:txBody>
          <a:bodyPr wrap="square">
            <a:spAutoFit/>
          </a:bodyPr>
          <a:lstStyle/>
          <a:p>
            <a:pPr algn="l"/>
            <a:r>
              <a:rPr sz="1100" b="0">
                <a:solidFill>
                  <a:srgbClr val="FFFFFF"/>
                </a:solidFill>
              </a:rPr>
              <a:t>Moderate</a:t>
            </a:r>
          </a:p>
        </p:txBody>
      </p:sp>
      <p:sp>
        <p:nvSpPr>
          <p:cNvPr id="18" name="TextBox 17"/>
          <p:cNvSpPr txBox="1"/>
          <p:nvPr/>
        </p:nvSpPr>
        <p:spPr>
          <a:xfrm>
            <a:off x="5029200" y="2514599"/>
            <a:ext cx="2926080" cy="594360"/>
          </a:xfrm>
          <a:prstGeom prst="rect">
            <a:avLst/>
          </a:prstGeom>
          <a:noFill/>
        </p:spPr>
        <p:txBody>
          <a:bodyPr wrap="square">
            <a:spAutoFit/>
          </a:bodyPr>
          <a:lstStyle/>
          <a:p>
            <a:pPr algn="l"/>
            <a:r>
              <a:rPr sz="1100" b="0">
                <a:solidFill>
                  <a:srgbClr val="FFFFFF"/>
                </a:solidFill>
              </a:rPr>
              <a:t>Good — enough for
memory sharing</a:t>
            </a:r>
          </a:p>
        </p:txBody>
      </p:sp>
      <p:sp>
        <p:nvSpPr>
          <p:cNvPr id="19" name="TextBox 18"/>
          <p:cNvSpPr txBox="1"/>
          <p:nvPr/>
        </p:nvSpPr>
        <p:spPr>
          <a:xfrm>
            <a:off x="7955279" y="2514599"/>
            <a:ext cx="3840480" cy="594360"/>
          </a:xfrm>
          <a:prstGeom prst="rect">
            <a:avLst/>
          </a:prstGeom>
          <a:noFill/>
        </p:spPr>
        <p:txBody>
          <a:bodyPr wrap="square">
            <a:spAutoFit/>
          </a:bodyPr>
          <a:lstStyle/>
          <a:p>
            <a:pPr algn="l"/>
            <a:r>
              <a:rPr sz="1100" b="0">
                <a:solidFill>
                  <a:srgbClr val="FFFFFF"/>
                </a:solidFill>
              </a:rPr>
              <a:t>Balanced — recommended
starting value</a:t>
            </a:r>
          </a:p>
        </p:txBody>
      </p:sp>
      <p:sp>
        <p:nvSpPr>
          <p:cNvPr id="20" name="Rectangle 19"/>
          <p:cNvSpPr/>
          <p:nvPr/>
        </p:nvSpPr>
        <p:spPr>
          <a:xfrm>
            <a:off x="182880" y="3218687"/>
            <a:ext cx="11795760" cy="685800"/>
          </a:xfrm>
          <a:prstGeom prst="rect">
            <a:avLst/>
          </a:prstGeom>
          <a:solidFill>
            <a:srgbClr val="1A2E44"/>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3264407"/>
            <a:ext cx="2011680" cy="594360"/>
          </a:xfrm>
          <a:prstGeom prst="rect">
            <a:avLst/>
          </a:prstGeom>
          <a:noFill/>
        </p:spPr>
        <p:txBody>
          <a:bodyPr wrap="square">
            <a:spAutoFit/>
          </a:bodyPr>
          <a:lstStyle/>
          <a:p>
            <a:pPr algn="l"/>
            <a:r>
              <a:rPr sz="1100" b="0">
                <a:solidFill>
                  <a:srgbClr val="00B4D8"/>
                </a:solidFill>
              </a:rPr>
              <a:t>5–10 min</a:t>
            </a:r>
          </a:p>
        </p:txBody>
      </p:sp>
      <p:sp>
        <p:nvSpPr>
          <p:cNvPr id="22" name="TextBox 21"/>
          <p:cNvSpPr txBox="1"/>
          <p:nvPr/>
        </p:nvSpPr>
        <p:spPr>
          <a:xfrm>
            <a:off x="2286000" y="3264407"/>
            <a:ext cx="2743200" cy="594360"/>
          </a:xfrm>
          <a:prstGeom prst="rect">
            <a:avLst/>
          </a:prstGeom>
          <a:noFill/>
        </p:spPr>
        <p:txBody>
          <a:bodyPr wrap="square">
            <a:spAutoFit/>
          </a:bodyPr>
          <a:lstStyle/>
          <a:p>
            <a:pPr algn="l"/>
            <a:r>
              <a:rPr sz="1100" b="0">
                <a:solidFill>
                  <a:srgbClr val="FFFFFF"/>
                </a:solidFill>
              </a:rPr>
              <a:t>High — near-term
spike is clear</a:t>
            </a:r>
          </a:p>
        </p:txBody>
      </p:sp>
      <p:sp>
        <p:nvSpPr>
          <p:cNvPr id="23" name="TextBox 22"/>
          <p:cNvSpPr txBox="1"/>
          <p:nvPr/>
        </p:nvSpPr>
        <p:spPr>
          <a:xfrm>
            <a:off x="5029200" y="3264407"/>
            <a:ext cx="2926080" cy="594360"/>
          </a:xfrm>
          <a:prstGeom prst="rect">
            <a:avLst/>
          </a:prstGeom>
          <a:noFill/>
        </p:spPr>
        <p:txBody>
          <a:bodyPr wrap="square">
            <a:spAutoFit/>
          </a:bodyPr>
          <a:lstStyle/>
          <a:p>
            <a:pPr algn="l"/>
            <a:r>
              <a:rPr sz="1100" b="0">
                <a:solidFill>
                  <a:srgbClr val="FFFFFF"/>
                </a:solidFill>
              </a:rPr>
              <a:t>Limited — must act fast</a:t>
            </a:r>
          </a:p>
        </p:txBody>
      </p:sp>
      <p:sp>
        <p:nvSpPr>
          <p:cNvPr id="24" name="TextBox 23"/>
          <p:cNvSpPr txBox="1"/>
          <p:nvPr/>
        </p:nvSpPr>
        <p:spPr>
          <a:xfrm>
            <a:off x="7955279" y="3264407"/>
            <a:ext cx="3840480" cy="594360"/>
          </a:xfrm>
          <a:prstGeom prst="rect">
            <a:avLst/>
          </a:prstGeom>
          <a:noFill/>
        </p:spPr>
        <p:txBody>
          <a:bodyPr wrap="square">
            <a:spAutoFit/>
          </a:bodyPr>
          <a:lstStyle/>
          <a:p>
            <a:pPr algn="l"/>
            <a:r>
              <a:rPr sz="1100" b="0">
                <a:solidFill>
                  <a:srgbClr val="FFFFFF"/>
                </a:solidFill>
              </a:rPr>
              <a:t>Little margin for error;
may need immediate termination</a:t>
            </a:r>
          </a:p>
        </p:txBody>
      </p:sp>
      <p:sp>
        <p:nvSpPr>
          <p:cNvPr id="25" name="Rectangle 24"/>
          <p:cNvSpPr/>
          <p:nvPr/>
        </p:nvSpPr>
        <p:spPr>
          <a:xfrm>
            <a:off x="182880" y="3968496"/>
            <a:ext cx="11795760" cy="685800"/>
          </a:xfrm>
          <a:prstGeom prst="rect">
            <a:avLst/>
          </a:prstGeom>
          <a:solidFill>
            <a:srgbClr val="1A2E44"/>
          </a:solidFill>
          <a:ln w="12700">
            <a:solidFill>
              <a:srgbClr val="EF5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4320" y="4014215"/>
            <a:ext cx="2011680" cy="594360"/>
          </a:xfrm>
          <a:prstGeom prst="rect">
            <a:avLst/>
          </a:prstGeom>
          <a:noFill/>
        </p:spPr>
        <p:txBody>
          <a:bodyPr wrap="square">
            <a:spAutoFit/>
          </a:bodyPr>
          <a:lstStyle/>
          <a:p>
            <a:pPr algn="l"/>
            <a:r>
              <a:rPr sz="1100" b="0">
                <a:solidFill>
                  <a:srgbClr val="EF5350"/>
                </a:solidFill>
              </a:rPr>
              <a:t>&lt; τ</a:t>
            </a:r>
          </a:p>
        </p:txBody>
      </p:sp>
      <p:sp>
        <p:nvSpPr>
          <p:cNvPr id="27" name="TextBox 26"/>
          <p:cNvSpPr txBox="1"/>
          <p:nvPr/>
        </p:nvSpPr>
        <p:spPr>
          <a:xfrm>
            <a:off x="2286000" y="4014215"/>
            <a:ext cx="2743200" cy="594360"/>
          </a:xfrm>
          <a:prstGeom prst="rect">
            <a:avLst/>
          </a:prstGeom>
          <a:noFill/>
        </p:spPr>
        <p:txBody>
          <a:bodyPr wrap="square">
            <a:spAutoFit/>
          </a:bodyPr>
          <a:lstStyle/>
          <a:p>
            <a:pPr algn="l"/>
            <a:r>
              <a:rPr sz="1100" b="0">
                <a:solidFill>
                  <a:srgbClr val="FFFFFF"/>
                </a:solidFill>
              </a:rPr>
              <a:t>N/A</a:t>
            </a:r>
          </a:p>
        </p:txBody>
      </p:sp>
      <p:sp>
        <p:nvSpPr>
          <p:cNvPr id="28" name="TextBox 27"/>
          <p:cNvSpPr txBox="1"/>
          <p:nvPr/>
        </p:nvSpPr>
        <p:spPr>
          <a:xfrm>
            <a:off x="5029200" y="4014215"/>
            <a:ext cx="2926080" cy="594360"/>
          </a:xfrm>
          <a:prstGeom prst="rect">
            <a:avLst/>
          </a:prstGeom>
          <a:noFill/>
        </p:spPr>
        <p:txBody>
          <a:bodyPr wrap="square">
            <a:spAutoFit/>
          </a:bodyPr>
          <a:lstStyle/>
          <a:p>
            <a:pPr algn="l"/>
            <a:r>
              <a:rPr sz="1100" b="0">
                <a:solidFill>
                  <a:srgbClr val="FFFFFF"/>
                </a:solidFill>
              </a:rPr>
              <a:t>Impossible</a:t>
            </a:r>
          </a:p>
        </p:txBody>
      </p:sp>
      <p:sp>
        <p:nvSpPr>
          <p:cNvPr id="29" name="TextBox 28"/>
          <p:cNvSpPr txBox="1"/>
          <p:nvPr/>
        </p:nvSpPr>
        <p:spPr>
          <a:xfrm>
            <a:off x="7955279" y="4014215"/>
            <a:ext cx="3840480" cy="594360"/>
          </a:xfrm>
          <a:prstGeom prst="rect">
            <a:avLst/>
          </a:prstGeom>
          <a:noFill/>
        </p:spPr>
        <p:txBody>
          <a:bodyPr wrap="square">
            <a:spAutoFit/>
          </a:bodyPr>
          <a:lstStyle/>
          <a:p>
            <a:pPr algn="l"/>
            <a:r>
              <a:rPr sz="1100" b="0">
                <a:solidFill>
                  <a:srgbClr val="FFFFFF"/>
                </a:solidFill>
              </a:rPr>
              <a:t>Never allowed — τ_lead must
always exceed relaunch time τ</a:t>
            </a:r>
          </a:p>
        </p:txBody>
      </p:sp>
      <p:sp>
        <p:nvSpPr>
          <p:cNvPr id="30" name="Rectangle 29"/>
          <p:cNvSpPr/>
          <p:nvPr/>
        </p:nvSpPr>
        <p:spPr>
          <a:xfrm>
            <a:off x="182880" y="4983480"/>
            <a:ext cx="11795760" cy="1207008"/>
          </a:xfrm>
          <a:prstGeom prst="rect">
            <a:avLst/>
          </a:prstGeom>
          <a:solidFill>
            <a:srgbClr val="002A1A"/>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4320" y="5001768"/>
            <a:ext cx="5486400" cy="384048"/>
          </a:xfrm>
          <a:prstGeom prst="rect">
            <a:avLst/>
          </a:prstGeom>
          <a:noFill/>
        </p:spPr>
        <p:txBody>
          <a:bodyPr wrap="square">
            <a:spAutoFit/>
          </a:bodyPr>
          <a:lstStyle/>
          <a:p>
            <a:pPr algn="l"/>
            <a:r>
              <a:rPr sz="1300" b="1">
                <a:solidFill>
                  <a:srgbClr val="4CAF50"/>
                </a:solidFill>
              </a:rPr>
              <a:t>VM Lifetime Interaction</a:t>
            </a:r>
          </a:p>
        </p:txBody>
      </p:sp>
      <p:sp>
        <p:nvSpPr>
          <p:cNvPr id="32" name="TextBox 31"/>
          <p:cNvSpPr txBox="1"/>
          <p:nvPr/>
        </p:nvSpPr>
        <p:spPr>
          <a:xfrm>
            <a:off x="292608" y="5422392"/>
            <a:ext cx="11521440" cy="731520"/>
          </a:xfrm>
          <a:prstGeom prst="rect">
            <a:avLst/>
          </a:prstGeom>
          <a:noFill/>
        </p:spPr>
        <p:txBody>
          <a:bodyPr wrap="square">
            <a:spAutoFit/>
          </a:bodyPr>
          <a:lstStyle/>
          <a:p>
            <a:pPr algn="l"/>
            <a:r>
              <a:rPr sz="1150" b="0">
                <a:solidFill>
                  <a:srgbClr val="FFFFFF"/>
                </a:solidFill>
              </a:rPr>
              <a:t>If a VM's predicted end-of-life  t_j_end  occurs BEFORE the predicted spike  t*:
  → The spike will not materialize → no action needed → do not count this as an overload.
This prevents the model from rejecting short-lived VMs or over-triggering memory sharing.
VM lifetime estimates come from the generalized model (e.g., large VMs last longer — Coach/Resource Central finding).</a:t>
            </a:r>
          </a:p>
        </p:txBody>
      </p:sp>
      <p:sp>
        <p:nvSpPr>
          <p:cNvPr id="33" name="Rectangle 32"/>
          <p:cNvSpPr/>
          <p:nvPr/>
        </p:nvSpPr>
        <p:spPr>
          <a:xfrm>
            <a:off x="182880" y="6291072"/>
            <a:ext cx="11795760" cy="411480"/>
          </a:xfrm>
          <a:prstGeom prst="rect">
            <a:avLst/>
          </a:prstGeom>
          <a:solidFill>
            <a:srgbClr val="003A52"/>
          </a:solidFill>
          <a:ln w="1905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2608" y="6309360"/>
            <a:ext cx="11612880" cy="365760"/>
          </a:xfrm>
          <a:prstGeom prst="rect">
            <a:avLst/>
          </a:prstGeom>
          <a:noFill/>
        </p:spPr>
        <p:txBody>
          <a:bodyPr wrap="square">
            <a:spAutoFit/>
          </a:bodyPr>
          <a:lstStyle/>
          <a:p>
            <a:pPr algn="ctr"/>
            <a:r>
              <a:rPr sz="1200" b="0">
                <a:solidFill>
                  <a:srgbClr val="FFD166"/>
                </a:solidFill>
              </a:rPr>
              <a:t>In simulation: τ_lead is an experimental variable. We test multiple values to find optimal prediction-response balance.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