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Smart Scheduling for Multi-Tenant Kubernetes Clusters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00B4D8"/>
                </a:solidFill>
              </a:rPr>
              <a:t>Predictive Admission  ·  Fair Resource Allocation  ·  SLA Compliance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2788920"/>
            <a:ext cx="11795760" cy="274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971800"/>
            <a:ext cx="5577840" cy="411480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297180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383280"/>
            <a:ext cx="5577840" cy="1737360"/>
          </a:xfrm>
          <a:prstGeom prst="rect">
            <a:avLst/>
          </a:prstGeom>
          <a:solidFill>
            <a:srgbClr val="1A2E44"/>
          </a:solidFill>
          <a:ln w="19050">
            <a:solidFill>
              <a:srgbClr val="EF5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3438144"/>
            <a:ext cx="5376672" cy="1627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AE9FF"/>
                </a:solidFill>
              </a:rPr>
              <a:t>Cloud clusters waste 40–60% of memory because schedulers trust declared resource requests, not actual usage. SLA violations happen after the fact. Fairness across tenants is accidental.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2971800"/>
            <a:ext cx="5577840" cy="41148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297180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2A"/>
                </a:solidFill>
              </a:rPr>
              <a:t>OUR APPROACH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3383280"/>
            <a:ext cx="5577840" cy="1737360"/>
          </a:xfrm>
          <a:prstGeom prst="rect">
            <a:avLst/>
          </a:prstGeom>
          <a:solidFill>
            <a:srgbClr val="1A2E44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3438144"/>
            <a:ext cx="5376672" cy="1627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AE9FF"/>
                </a:solidFill>
              </a:rPr>
              <a:t>A Kubernetes scheduler plugin that predicts real memory demand, places jobs fairly using Dominant Resource Fairness, and enforces SLAs at runtime via dynamic cgroup controls.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5303520"/>
            <a:ext cx="11430000" cy="502920"/>
          </a:xfrm>
          <a:prstGeom prst="rect">
            <a:avLst/>
          </a:prstGeom>
          <a:solidFill>
            <a:srgbClr val="002A3A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532180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D166"/>
                </a:solidFill>
              </a:rPr>
              <a:t>DAMO 699 Capstone  |  Group 3  |  Supervisor: Hany Osman  |  University of Niagara Falls  |  Spring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8909C"/>
                </a:solidFill>
              </a:rPr>
              <a:t>Team: Tha Pyay Hmu  ·  Lhagii Tsogtbayar  ·  Nadia Ríos  ·  Jorge Mendoza  ·  Alrick Grandison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64592"/>
            <a:ext cx="11704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749808"/>
            <a:ext cx="11704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B4D8"/>
                </a:solidFill>
              </a:rPr>
              <a:t>Three gaps the default Kubernetes scheduler cannot close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234440"/>
            <a:ext cx="11795760" cy="658368"/>
          </a:xfrm>
          <a:prstGeom prst="rect">
            <a:avLst/>
          </a:prstGeom>
          <a:solidFill>
            <a:srgbClr val="002A3A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6187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D166"/>
                </a:solidFill>
              </a:rPr>
              <a:t>40–60%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8191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AE9FF"/>
                </a:solidFill>
              </a:rPr>
              <a:t>avg cluster memory
utilization (wasted)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26187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D166"/>
                </a:solidFill>
              </a:rPr>
              <a:t>&lt; 80%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158191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AE9FF"/>
                </a:solidFill>
              </a:rPr>
              <a:t>SLA compliance under
high tenant 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26187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D166"/>
                </a:solidFill>
              </a:rPr>
              <a:t>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8191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AE9FF"/>
                </a:solidFill>
              </a:rPr>
              <a:t>native fairness in
default K8s scheduler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0" y="126187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D166"/>
                </a:solidFill>
              </a:rPr>
              <a:t>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0" y="158191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AE9FF"/>
                </a:solidFill>
              </a:rPr>
              <a:t>AI training perf lost to
poor node placement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" y="2057400"/>
            <a:ext cx="3749039" cy="457200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" y="205740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1B2A"/>
                </a:solidFill>
              </a:rPr>
              <a:t>No Prediction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2514600"/>
            <a:ext cx="3749039" cy="3566160"/>
          </a:xfrm>
          <a:prstGeom prst="rect">
            <a:avLst/>
          </a:prstGeom>
          <a:solidFill>
            <a:srgbClr val="1A2E44"/>
          </a:solidFill>
          <a:ln w="19050">
            <a:solidFill>
              <a:srgbClr val="EF5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578608"/>
            <a:ext cx="3547872" cy="3456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The scheduler looks at declared resource requests — not actual usage.
Tenants over-declare by 30–50% as a safety buffer. The scheduler treats those inflated numbers as real, keeping nodes 'full' when they are actually half-empty.
Result: hardware sits idle while jobs queue. Memory OOM kills occur when peaks aren't anticipated.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2057400"/>
            <a:ext cx="3749039" cy="45720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60520" y="205740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1B2A"/>
                </a:solidFill>
              </a:rPr>
              <a:t>No Fairness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60520" y="2514600"/>
            <a:ext cx="3749039" cy="3566160"/>
          </a:xfrm>
          <a:prstGeom prst="rect">
            <a:avLst/>
          </a:prstGeom>
          <a:solidFill>
            <a:srgbClr val="1A2E44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70248" y="2578608"/>
            <a:ext cx="3547872" cy="3456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Kubernetes processes job submissions in arrival order — first come, first served.
A tenant who submits 100 batch jobs before another tenant submits one critical job forces that critical job to wait.
Result: some tenants monopolize resources; others starve. No mechanism prevents this.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8159" y="2057400"/>
            <a:ext cx="3749039" cy="4572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59" y="205740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1B2A"/>
                </a:solidFill>
              </a:rPr>
              <a:t>No SLA Enforcement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8159" y="2514600"/>
            <a:ext cx="3749039" cy="3566160"/>
          </a:xfrm>
          <a:prstGeom prst="rect">
            <a:avLst/>
          </a:prstGeom>
          <a:solidFill>
            <a:srgbClr val="1A2E44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7887" y="2578608"/>
            <a:ext cx="3547872" cy="3456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SLA violations are discovered after they occur — an OOM kill, a latency spike, a job that missed its deadline.
There is no admission gate that asks: 'Will admitting this job cause a co-tenant's SLA to be violated in 30 minutes?'
Result: reactive damage control instead of proactive prevention.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2880" y="6236208"/>
            <a:ext cx="11795760" cy="411480"/>
          </a:xfrm>
          <a:prstGeom prst="rect">
            <a:avLst/>
          </a:prstGeom>
          <a:solidFill>
            <a:srgbClr val="003A52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6254496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4CAF50"/>
                </a:solidFill>
              </a:rPr>
              <a:t>Our project directly addresses all three gaps with a single integrated Kubernetes scheduler plugin.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64592"/>
            <a:ext cx="11704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Our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749808"/>
            <a:ext cx="11704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B4D8"/>
                </a:solidFill>
              </a:rPr>
              <a:t>Three integrated components — one Kubernetes scheduler plugin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188720"/>
            <a:ext cx="1179576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7890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207008"/>
            <a:ext cx="11521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8909C"/>
                </a:solidFill>
              </a:rPr>
              <a:t>We are not building a cloud platform like AWS. We are building the scheduling decision model that runs inside a Kubernetes cluster, and evaluating it via simulation on the Google Cluster Trace v3.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1691640"/>
            <a:ext cx="3749039" cy="658368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1691640"/>
            <a:ext cx="37490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2A"/>
                </a:solidFill>
              </a:rPr>
              <a:t>1. Predictive Admission
Control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2350008"/>
            <a:ext cx="3749039" cy="3931920"/>
          </a:xfrm>
          <a:prstGeom prst="rect">
            <a:avLst/>
          </a:prstGeom>
          <a:solidFill>
            <a:srgbClr val="1A2E44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2404872"/>
            <a:ext cx="3547872" cy="3822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What it does:
Before scheduling a job, predict what the node's total memory will look like if we admit it — not based on declared requests, but on actual historical usage per tenant.
How:
Random Forest model trained on Google Cluster Trace. Features include tenant's historical request-to-actual ratio, job type, time of day. Predicts P95 memory peak.
Result:
Only admit if predicted combined memory stays below threshold. Enables safe overcommitment.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60520" y="1691640"/>
            <a:ext cx="3749039" cy="658368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0520" y="1691640"/>
            <a:ext cx="37490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2A"/>
                </a:solidFill>
              </a:rPr>
              <a:t>2. Fairness-Aware
Placement (DRF)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2350008"/>
            <a:ext cx="3749039" cy="3931920"/>
          </a:xfrm>
          <a:prstGeom prst="rect">
            <a:avLst/>
          </a:prstGeom>
          <a:solidFill>
            <a:srgbClr val="1A2E44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0248" y="2404872"/>
            <a:ext cx="3547872" cy="3822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What it does:
Among all nodes that pass the admission check, rank them by which placement is fairest to all tenants currently running in the cluster.
How:
Dominant Resource Fairness (DRF): find which resource (CPU or memory) each tenant consumes the most of. Give priority to the tenant whose dominant resource share is smallest — the most underserved tenant goes next.
Result:
No tenant monopolizes. Fairness is mathematical and provable, not accidental.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59" y="1691640"/>
            <a:ext cx="3749039" cy="65836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59" y="1691640"/>
            <a:ext cx="37490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2A"/>
                </a:solidFill>
              </a:rPr>
              <a:t>3. Runtime SLA
Enforcement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59" y="2350008"/>
            <a:ext cx="3749039" cy="3931920"/>
          </a:xfrm>
          <a:prstGeom prst="rect">
            <a:avLst/>
          </a:prstGeom>
          <a:solidFill>
            <a:srgbClr val="1A2E44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7887" y="2404872"/>
            <a:ext cx="3547872" cy="3822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What it does:
Once a job is running, continuously monitor its memory and CPU usage via Prometheus. Enforce that critical (SLA-bound) jobs always get their resources, even if batch jobs need to be throttled.
How:
Kubernetes QoS classes + dynamic cgroup weight adjustments. Critical jobs = Guaranteed QoS (never throttled). Batch jobs = Burstable (yield under pressure).
Result:
SLA violations prevented at runtime, not just at admission time.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" y="6446520"/>
            <a:ext cx="11795760" cy="274320"/>
          </a:xfrm>
          <a:prstGeom prst="rect">
            <a:avLst/>
          </a:prstGeom>
          <a:solidFill>
            <a:srgbClr val="003A52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6464808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D166"/>
                </a:solidFill>
              </a:rPr>
              <a:t>Novel combination: no existing paper combines all three. Chaudhari (2025) calls for this exact system — we build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64592"/>
            <a:ext cx="11704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749808"/>
            <a:ext cx="11704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B4D8"/>
                </a:solidFill>
              </a:rPr>
              <a:t>Job submission → Admission → Scheduling → Runtime enforcement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2331720" cy="457200"/>
          </a:xfrm>
          <a:prstGeom prst="rect">
            <a:avLst/>
          </a:prstGeom>
          <a:solidFill>
            <a:srgbClr val="7890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3716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B2A"/>
                </a:solidFill>
              </a:rPr>
              <a:t>Job
Submission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828800"/>
            <a:ext cx="2331720" cy="731520"/>
          </a:xfrm>
          <a:prstGeom prst="rect">
            <a:avLst/>
          </a:prstGeom>
          <a:solidFill>
            <a:srgbClr val="1A2E44"/>
          </a:solidFill>
          <a:ln w="19050">
            <a:solidFill>
              <a:srgbClr val="7890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874519"/>
            <a:ext cx="2148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Tenant submits pod via kubectl. Declares CPU + memory requests.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15183" y="1965960"/>
            <a:ext cx="210312" cy="0"/>
          </a:xfrm>
          <a:prstGeom prst="line">
            <a:avLst/>
          </a:prstGeom>
          <a:ln w="25400">
            <a:solidFill>
              <a:srgbClr val="78909C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807208" y="1371600"/>
            <a:ext cx="2331720" cy="45720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07208" y="13716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B2A"/>
                </a:solidFill>
              </a:rPr>
              <a:t>Admission
Webhook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07208" y="1828800"/>
            <a:ext cx="2331720" cy="731520"/>
          </a:xfrm>
          <a:prstGeom prst="rect">
            <a:avLst/>
          </a:prstGeom>
          <a:solidFill>
            <a:srgbClr val="1A2E44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98648" y="1874519"/>
            <a:ext cx="2148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ML model predicts actual peak memory. Accept or queue.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148071" y="1965960"/>
            <a:ext cx="210312" cy="0"/>
          </a:xfrm>
          <a:prstGeom prst="line">
            <a:avLst/>
          </a:prstGeom>
          <a:ln w="25400">
            <a:solidFill>
              <a:srgbClr val="4CAF50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5340096" y="1371600"/>
            <a:ext cx="2331720" cy="45720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0096" y="13716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B2A"/>
                </a:solidFill>
              </a:rPr>
              <a:t>Scheduler
Plugin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40096" y="1828800"/>
            <a:ext cx="2331720" cy="731520"/>
          </a:xfrm>
          <a:prstGeom prst="rect">
            <a:avLst/>
          </a:prstGeom>
          <a:solidFill>
            <a:srgbClr val="1A2E44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31536" y="1874519"/>
            <a:ext cx="2148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Filter → DRF Score → Temporal co-location score → Bind to node.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80960" y="1965960"/>
            <a:ext cx="210312" cy="0"/>
          </a:xfrm>
          <a:prstGeom prst="line">
            <a:avLst/>
          </a:prstGeom>
          <a:ln w="25400">
            <a:solidFill>
              <a:srgbClr val="FFD166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872984" y="1371600"/>
            <a:ext cx="2331720" cy="4572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72984" y="13716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B2A"/>
                </a:solidFill>
              </a:rPr>
              <a:t>Runtime
Controller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72984" y="1828800"/>
            <a:ext cx="2331720" cy="731520"/>
          </a:xfrm>
          <a:prstGeom prst="rect">
            <a:avLst/>
          </a:prstGeom>
          <a:solidFill>
            <a:srgbClr val="1A2E44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4424" y="1874519"/>
            <a:ext cx="2148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Prometheus monitors live usage. Adjusts cgroup weights every 5s.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213848" y="1965960"/>
            <a:ext cx="210312" cy="0"/>
          </a:xfrm>
          <a:prstGeom prst="line">
            <a:avLst/>
          </a:prstGeom>
          <a:ln w="25400">
            <a:solidFill>
              <a:srgbClr val="00B4D8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10405872" y="1371600"/>
            <a:ext cx="2331720" cy="45720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05872" y="13716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B2A"/>
                </a:solidFill>
              </a:rPr>
              <a:t>Outcome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405872" y="1828800"/>
            <a:ext cx="2331720" cy="731520"/>
          </a:xfrm>
          <a:prstGeom prst="rect">
            <a:avLst/>
          </a:prstGeom>
          <a:solidFill>
            <a:srgbClr val="1A2E44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97312" y="1874519"/>
            <a:ext cx="2148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Job runs safely. SLA maintained. Tenant share is fair.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82880" y="2834640"/>
            <a:ext cx="11795760" cy="365760"/>
          </a:xfrm>
          <a:prstGeom prst="rect">
            <a:avLst/>
          </a:prstGeom>
          <a:solidFill>
            <a:srgbClr val="003A52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2852928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Kubernetes Scheduling Framework Hook Points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2880" y="3291840"/>
            <a:ext cx="2834640" cy="41148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82880" y="32918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1B2A"/>
                </a:solidFill>
              </a:rPr>
              <a:t>Admission Webhook
(before scheduler)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82880" y="3703320"/>
            <a:ext cx="2834640" cy="2011680"/>
          </a:xfrm>
          <a:prstGeom prst="rect">
            <a:avLst/>
          </a:prstGeom>
          <a:solidFill>
            <a:srgbClr val="1A2E44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" y="3749039"/>
            <a:ext cx="26517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▸ Fetch tenant history
▸ Run Random Forest → predict P95 memory
▸ Compare vs. threshold
▸ ADMIT or QUEUE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82112" y="3291840"/>
            <a:ext cx="2834640" cy="411480"/>
          </a:xfrm>
          <a:prstGeom prst="rect">
            <a:avLst/>
          </a:prstGeom>
          <a:solidFill>
            <a:srgbClr val="7890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82112" y="32918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1B2A"/>
                </a:solidFill>
              </a:rPr>
              <a:t>PreFilter + Filter
(scheduler phase 1)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82112" y="3703320"/>
            <a:ext cx="2834640" cy="2011680"/>
          </a:xfrm>
          <a:prstGeom prst="rect">
            <a:avLst/>
          </a:prstGeom>
          <a:solidFill>
            <a:srgbClr val="1A2E44"/>
          </a:solidFill>
          <a:ln w="19050">
            <a:solidFill>
              <a:srgbClr val="7890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73552" y="3749039"/>
            <a:ext cx="26517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▸ Enforce namespace ResourceQuotas
▸ Eliminate nodes with insufficient physical memory
▸ Check SloPolicy CRD constraints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81344" y="3291840"/>
            <a:ext cx="2834640" cy="41148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81344" y="32918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1B2A"/>
                </a:solidFill>
              </a:rPr>
              <a:t>Score
(scheduler phase 2)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81344" y="3703320"/>
            <a:ext cx="2834640" cy="2011680"/>
          </a:xfrm>
          <a:prstGeom prst="rect">
            <a:avLst/>
          </a:prstGeom>
          <a:solidFill>
            <a:srgbClr val="1A2E44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72783" y="3749039"/>
            <a:ext cx="26517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▸ DRF fairness score per node
▸ Temporal co-location score
▸ (lower dominant share tenant = higher priority)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80576" y="3291840"/>
            <a:ext cx="2834640" cy="4114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0576" y="32918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1B2A"/>
                </a:solidFill>
              </a:rPr>
              <a:t>Bind + Runtime
(post-placement)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80576" y="3703320"/>
            <a:ext cx="2834640" cy="2011680"/>
          </a:xfrm>
          <a:prstGeom prst="rect">
            <a:avLst/>
          </a:prstGeom>
          <a:solidFill>
            <a:srgbClr val="1A2E44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72015" y="3749039"/>
            <a:ext cx="26517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▸ Assign pod to highest-scoring node
▸ Set Guaranteed/Burstable QoS class
▸ Start Prometheus monitoring + cgroup controller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2880" y="58521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AE9FF"/>
                </a:solidFill>
              </a:rPr>
              <a:t>Memory safety model: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2880" y="6144768"/>
            <a:ext cx="11795760" cy="475488"/>
          </a:xfrm>
          <a:prstGeom prst="rect">
            <a:avLst/>
          </a:prstGeom>
          <a:solidFill>
            <a:srgbClr val="122638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82880" y="6144768"/>
            <a:ext cx="5029200" cy="47548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6144768"/>
            <a:ext cx="4846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0D1B2A"/>
                </a:solidFill>
              </a:rPr>
              <a:t>Current committed ~45%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212080" y="6144768"/>
            <a:ext cx="4754880" cy="475488"/>
          </a:xfrm>
          <a:prstGeom prst="rect">
            <a:avLst/>
          </a:prstGeom>
          <a:solidFill>
            <a:srgbClr val="CC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303520" y="6144768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0D1B2A"/>
                </a:solidFill>
              </a:rPr>
              <a:t>Predictive headroom (safe overcommit ~40%)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966960" y="6144768"/>
            <a:ext cx="2011680" cy="475488"/>
          </a:xfrm>
          <a:prstGeom prst="rect">
            <a:avLst/>
          </a:prstGeom>
          <a:solidFill>
            <a:srgbClr val="1A2E44"/>
          </a:solidFill>
          <a:ln w="19050">
            <a:solidFill>
              <a:srgbClr val="7890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012680" y="6144768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78909C"/>
                </a:solidFill>
              </a:rPr>
              <a:t>Safety buffer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64592"/>
            <a:ext cx="11704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Suggested Optimization Model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749808"/>
            <a:ext cx="11704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B4D8"/>
                </a:solidFill>
              </a:rPr>
              <a:t>Kovalenko (2024) base structure → extended with prediction, DRF fairness, and SLA constraints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234440"/>
            <a:ext cx="3657600" cy="3657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234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D1B2A"/>
                </a:solidFill>
              </a:rPr>
              <a:t>Kovalenko Base  →  Our Extensions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1600200"/>
            <a:ext cx="3657600" cy="4983480"/>
          </a:xfrm>
          <a:prstGeom prst="rect">
            <a:avLst/>
          </a:prstGeom>
          <a:solidFill>
            <a:srgbClr val="1A2E44"/>
          </a:solidFill>
          <a:ln w="1905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" y="16642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4CAF50"/>
                </a:solidFill>
              </a:rPr>
              <a:t>KEEP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1920240"/>
            <a:ext cx="3456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AE9FF"/>
                </a:solidFill>
              </a:rPr>
              <a:t>  Binary pod→node assignment  x_{n,j} ∈ {0,1}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2157984"/>
            <a:ext cx="3456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AE9FF"/>
                </a:solidFill>
              </a:rPr>
              <a:t>  Per-node CPU + memory capacity constraints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2395728"/>
            <a:ext cx="3456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AE9FF"/>
                </a:solidFill>
              </a:rPr>
              <a:t>  Multi-objective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" y="2633472"/>
            <a:ext cx="3456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AE9FF"/>
                </a:solidFill>
              </a:rPr>
              <a:t>  Discrete time horizon 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" y="294436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F5350"/>
                </a:solidFill>
              </a:rPr>
              <a:t>REMOVE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" y="3200400"/>
            <a:ext cx="3456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AE9FF"/>
                </a:solidFill>
              </a:rPr>
              <a:t>  Server power on/off objective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" y="3438144"/>
            <a:ext cx="3456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AE9FF"/>
                </a:solidFill>
              </a:rPr>
              <a:t>    (K8s nodes are pre-provisioned VMs 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675887"/>
            <a:ext cx="3456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AE9FF"/>
                </a:solidFill>
              </a:rPr>
              <a:t>     power mgmt is cloud provider's job)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" y="3986783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D166"/>
                </a:solidFill>
              </a:rPr>
              <a:t>ADD / REPLACE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4242816"/>
            <a:ext cx="3456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AE9FF"/>
                </a:solidFill>
              </a:rPr>
              <a:t>  Declared requests  →  RF-predicted m̂_j(t), ĉ_j(t)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" y="4480559"/>
            <a:ext cx="3456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AE9FF"/>
                </a:solidFill>
              </a:rPr>
              <a:t>  DRF dominant share constraint  d_k ≤ 1/|K| + 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4718303"/>
            <a:ext cx="3456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AE9FF"/>
                </a:solidFill>
              </a:rPr>
              <a:t>  SLA deadline  T_start + dur_j ≤ D_j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" y="4956047"/>
            <a:ext cx="3456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AE9FF"/>
                </a:solidFill>
              </a:rPr>
              <a:t>  Peak-time safety check at predicted t*_j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1234440"/>
            <a:ext cx="4160520" cy="36576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23360" y="1234440"/>
            <a:ext cx="4160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D1B2A"/>
                </a:solidFill>
              </a:rPr>
              <a:t>Objective Function + Key Variables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23360" y="1600200"/>
            <a:ext cx="4160520" cy="4983480"/>
          </a:xfrm>
          <a:prstGeom prst="rect">
            <a:avLst/>
          </a:prstGeom>
          <a:solidFill>
            <a:srgbClr val="1A2E44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33087" y="1664208"/>
            <a:ext cx="3931920" cy="4828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50"/>
              </a:spcBef>
            </a:pPr>
            <a:r>
              <a:rPr sz="1000">
                <a:solidFill>
                  <a:srgbClr val="FFD166"/>
                </a:solidFill>
              </a:rPr>
              <a:t>maximize: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FFEE58"/>
                </a:solidFill>
              </a:rPr>
              <a:t>  w₁ · avg memory utilization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FFEE58"/>
                </a:solidFill>
              </a:rPr>
              <a:t>  − w₂ · SLA violation penalty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FFEE58"/>
                </a:solidFill>
              </a:rPr>
              <a:t>  − w₃ · dominant share spread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CAE9FF"/>
                </a:solidFill>
              </a:rPr>
              <a:t>Suggested weights: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FFFFFF"/>
                </a:solidFill>
              </a:rPr>
              <a:t>  w₁ = 0.50  (utilization)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FFFFFF"/>
                </a:solidFill>
              </a:rPr>
              <a:t>  w₂ = 0.35  (SLA protection)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FFFFFF"/>
                </a:solidFill>
              </a:rPr>
              <a:t>  w₃ = 0.15  (fairness)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FFD166"/>
                </a:solidFill>
              </a:rPr>
              <a:t>Key Variables: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CAE9FF"/>
                </a:solidFill>
              </a:rPr>
              <a:t>  x_{n,j} ∈ {0,1}   pod j → node n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CAE9FF"/>
                </a:solidFill>
              </a:rPr>
              <a:t>  q_j ∈ {0,1}       job queued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CAE9FF"/>
                </a:solidFill>
              </a:rPr>
              <a:t>  d_k ∈ [0,1]       tenant dominant share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4CAF50"/>
                </a:solidFill>
              </a:rPr>
              <a:t>  m̂_j(t)            RF-predicted memory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4CAF50"/>
                </a:solidFill>
              </a:rPr>
              <a:t>  ĉ_j(t)            RF-predicted CPU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4CAF50"/>
                </a:solidFill>
              </a:rPr>
              <a:t>  dur_j             RF-predicted duration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FFD166"/>
                </a:solidFill>
              </a:rPr>
              <a:t>Implementation note: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CAE9FF"/>
                </a:solidFill>
              </a:rPr>
              <a:t>  Full model is NP-hard. Use greedy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CAE9FF"/>
                </a:solidFill>
              </a:rPr>
              <a:t>  sequential admission in simulation: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CAE9FF"/>
                </a:solidFill>
              </a:rPr>
              <a:t>  C1→C2→C4/C5→C6 → admit or queue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66760" y="1234440"/>
            <a:ext cx="3657600" cy="3657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60" y="1234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D1B2A"/>
                </a:solidFill>
              </a:rPr>
              <a:t>Constraints  (C1 – C8)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66760" y="1600200"/>
            <a:ext cx="3657600" cy="4983480"/>
          </a:xfrm>
          <a:prstGeom prst="rect">
            <a:avLst/>
          </a:prstGeom>
          <a:solidFill>
            <a:srgbClr val="1A2E44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58200" y="1664208"/>
            <a:ext cx="3474720" cy="4828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000" b="1">
                <a:solidFill>
                  <a:srgbClr val="EF5350"/>
                </a:solidFill>
              </a:rPr>
              <a:t>C1  </a:t>
            </a:r>
            <a:r>
              <a:rPr sz="1000">
                <a:solidFill>
                  <a:srgbClr val="CAE9FF"/>
                </a:solidFill>
              </a:rPr>
              <a:t>Memory at predicted peak: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FFEE58"/>
                </a:solidFill>
              </a:rPr>
              <a:t>      Σ_j x_{n,j}·m̂_j(t*) ≤ α·RAM_n  ∀n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E0876A"/>
                </a:solidFill>
              </a:rPr>
              <a:t>C2  </a:t>
            </a:r>
            <a:r>
              <a:rPr sz="1000">
                <a:solidFill>
                  <a:srgbClr val="CAE9FF"/>
                </a:solidFill>
              </a:rPr>
              <a:t>CPU per time period: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FFEE58"/>
                </a:solidFill>
              </a:rPr>
              <a:t>      Σ_j x_{n,j}·ĉ_j(t) ≤ α·CPU_n  ∀n,t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00B4D8"/>
                </a:solidFill>
              </a:rPr>
              <a:t>C3  </a:t>
            </a:r>
            <a:r>
              <a:rPr sz="1000">
                <a:solidFill>
                  <a:srgbClr val="CAE9FF"/>
                </a:solidFill>
              </a:rPr>
              <a:t>Single assignment: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FFEE58"/>
                </a:solidFill>
              </a:rPr>
              <a:t>      Σ_n x_{n,j} + q_j = 1  ∀j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FFD166"/>
                </a:solidFill>
              </a:rPr>
              <a:t>C4  </a:t>
            </a:r>
            <a:r>
              <a:rPr sz="1000">
                <a:solidFill>
                  <a:srgbClr val="CAE9FF"/>
                </a:solidFill>
              </a:rPr>
              <a:t>DRF dominant share: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FFEE58"/>
                </a:solidFill>
              </a:rPr>
              <a:t>      d_k = max(mem_share_k, cpu_share_k)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FFD166"/>
                </a:solidFill>
              </a:rPr>
              <a:t>C5  </a:t>
            </a:r>
            <a:r>
              <a:rPr sz="1000">
                <a:solidFill>
                  <a:srgbClr val="CAE9FF"/>
                </a:solidFill>
              </a:rPr>
              <a:t>Fairness bound: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FFEE58"/>
                </a:solidFill>
              </a:rPr>
              <a:t>      d_k ≤ (1/|K|) + ε  ∀k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4CAF50"/>
                </a:solidFill>
              </a:rPr>
              <a:t>C6  </a:t>
            </a:r>
            <a:r>
              <a:rPr sz="1000">
                <a:solidFill>
                  <a:srgbClr val="CAE9FF"/>
                </a:solidFill>
              </a:rPr>
              <a:t>SLA deadline: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FFEE58"/>
                </a:solidFill>
              </a:rPr>
              <a:t>      T_start + dur_j ≤ D_j  (if placed)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A8DADC"/>
                </a:solidFill>
              </a:rPr>
              <a:t>C7  </a:t>
            </a:r>
            <a:r>
              <a:rPr sz="1000">
                <a:solidFill>
                  <a:srgbClr val="CAE9FF"/>
                </a:solidFill>
              </a:rPr>
              <a:t>Temporal co-location: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FFEE58"/>
                </a:solidFill>
              </a:rPr>
              <a:t>      Σ_j x_{n,j}·m̂_j(t) ≤ α·RAM_n  ∀n,t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78909C"/>
                </a:solidFill>
              </a:rPr>
              <a:t>C8  </a:t>
            </a:r>
            <a:r>
              <a:rPr sz="1000">
                <a:solidFill>
                  <a:srgbClr val="CAE9FF"/>
                </a:solidFill>
              </a:rPr>
              <a:t>Binary + non-negativity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2880" y="6629400"/>
            <a:ext cx="11795760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82880" y="6446520"/>
            <a:ext cx="11795760" cy="182880"/>
          </a:xfrm>
          <a:prstGeom prst="rect">
            <a:avLst/>
          </a:prstGeom>
          <a:solidFill>
            <a:srgbClr val="00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6455664"/>
            <a:ext cx="1152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D166"/>
                </a:solidFill>
              </a:rPr>
              <a:t>Novel: no existing K8s paper combines predicted utilization in constraints (C1,C7) + DRF fairness (C4,C5) + SLA deadlines (C6) in one model.  α = safety ratio (e.g., 0.90).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82880" y="5833872"/>
            <a:ext cx="11795760" cy="438912"/>
          </a:xfrm>
          <a:prstGeom prst="rect">
            <a:avLst/>
          </a:prstGeom>
          <a:solidFill>
            <a:srgbClr val="0D2A1A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2608" y="58521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4CAF50"/>
                </a:solidFill>
              </a:rPr>
              <a:t>Prediction inputs (feeds constraints above):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2608" y="6035040"/>
            <a:ext cx="11521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AE9FF"/>
                </a:solidFill>
              </a:rPr>
              <a:t>Random Forest → m̂_j(t), ĉ_j(t), dur_j  |  Features: tenant hist. ratio · declared request · job class · hour-of-day  |  Pulse shape: 10% ramp-up → 80% plateau → 10% ramp-down  |  Preprocessing: Savitzky-Golay + min-max (Kofi 2025)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64592"/>
            <a:ext cx="11704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Research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749808"/>
            <a:ext cx="11704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B4D8"/>
                </a:solidFill>
              </a:rPr>
              <a:t>18 papers reviewed — each maps to a specific system component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261872"/>
            <a:ext cx="2834640" cy="41148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26187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0D1B2A"/>
                </a:solidFill>
              </a:rPr>
              <a:t>Prediction Layer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1673352"/>
            <a:ext cx="2834640" cy="3977639"/>
          </a:xfrm>
          <a:prstGeom prst="rect">
            <a:avLst/>
          </a:prstGeom>
          <a:solidFill>
            <a:srgbClr val="1A2E44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" y="1737360"/>
            <a:ext cx="26974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050">
                <a:solidFill>
                  <a:srgbClr val="CAE9FF"/>
                </a:solidFill>
              </a:rPr>
              <a:t>▸  Resource Central (Cortez 2017) — RF model, tenant history features</a:t>
            </a:r>
          </a:p>
          <a:p>
            <a:pPr>
              <a:spcBef>
                <a:spcPts val="600"/>
              </a:spcBef>
            </a:pPr>
            <a:r>
              <a:rPr sz="1050">
                <a:solidFill>
                  <a:srgbClr val="CAE9FF"/>
                </a:solidFill>
              </a:rPr>
              <a:t>▸  Doukha (2025) — RF beats LSTM; MAPE 2.65% justifies our model choice</a:t>
            </a:r>
          </a:p>
          <a:p>
            <a:pPr>
              <a:spcBef>
                <a:spcPts val="600"/>
              </a:spcBef>
            </a:pPr>
            <a:r>
              <a:rPr sz="1050">
                <a:solidFill>
                  <a:srgbClr val="CAE9FF"/>
                </a:solidFill>
              </a:rPr>
              <a:t>▸  Kofi (2025) — Google Cluster Trace preprocessing; R²=0.99 benchmark</a:t>
            </a:r>
          </a:p>
          <a:p>
            <a:pPr>
              <a:spcBef>
                <a:spcPts val="600"/>
              </a:spcBef>
            </a:pPr>
            <a:r>
              <a:rPr sz="1050">
                <a:solidFill>
                  <a:srgbClr val="CAE9FF"/>
                </a:solidFill>
              </a:rPr>
              <a:t>▸  Wang &amp; Yang (2025) — K8s LSTM+DQN baseline to compare against</a:t>
            </a:r>
          </a:p>
        </p:txBody>
      </p:sp>
      <p:sp>
        <p:nvSpPr>
          <p:cNvPr id="9" name="Rectangle 8"/>
          <p:cNvSpPr/>
          <p:nvPr/>
        </p:nvSpPr>
        <p:spPr>
          <a:xfrm>
            <a:off x="3182112" y="1261872"/>
            <a:ext cx="2834640" cy="41148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82112" y="126187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0D1B2A"/>
                </a:solidFill>
              </a:rPr>
              <a:t>Fairness &amp; Placement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82112" y="1673352"/>
            <a:ext cx="2834640" cy="3977639"/>
          </a:xfrm>
          <a:prstGeom prst="rect">
            <a:avLst/>
          </a:prstGeom>
          <a:solidFill>
            <a:srgbClr val="1A2E44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55264" y="1737360"/>
            <a:ext cx="26974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050">
                <a:solidFill>
                  <a:srgbClr val="CAE9FF"/>
                </a:solidFill>
              </a:rPr>
              <a:t>▸  DRF (Ghodsi 2011) — formal fairness algorithm, proven properties</a:t>
            </a:r>
          </a:p>
          <a:p>
            <a:pPr>
              <a:spcBef>
                <a:spcPts val="600"/>
              </a:spcBef>
            </a:pPr>
            <a:r>
              <a:rPr sz="1050">
                <a:solidFill>
                  <a:srgbClr val="CAE9FF"/>
                </a:solidFill>
              </a:rPr>
              <a:t>▸  Coach / Reidys (2025) — temporal co-location: non-overlapping peaks</a:t>
            </a:r>
          </a:p>
          <a:p>
            <a:pPr>
              <a:spcBef>
                <a:spcPts val="600"/>
              </a:spcBef>
            </a:pPr>
            <a:r>
              <a:rPr sz="1050">
                <a:solidFill>
                  <a:srgbClr val="CAE9FF"/>
                </a:solidFill>
              </a:rPr>
              <a:t>▸  Alatawi (2025) — Gini coefficient as second fairness metric</a:t>
            </a:r>
          </a:p>
          <a:p>
            <a:pPr>
              <a:spcBef>
                <a:spcPts val="600"/>
              </a:spcBef>
            </a:pPr>
            <a:r>
              <a:rPr sz="1050">
                <a:solidFill>
                  <a:srgbClr val="CAE9FF"/>
                </a:solidFill>
              </a:rPr>
              <a:t>▸  Kovalenko &amp; Zhdanova (2024) — math optimization formalization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1344" y="1261872"/>
            <a:ext cx="2834640" cy="4114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1344" y="126187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0D1B2A"/>
                </a:solidFill>
              </a:rPr>
              <a:t>SLA &amp; Enforcement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1344" y="1673352"/>
            <a:ext cx="2834640" cy="3977639"/>
          </a:xfrm>
          <a:prstGeom prst="rect">
            <a:avLst/>
          </a:prstGeom>
          <a:solidFill>
            <a:srgbClr val="1A2E44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54496" y="1737360"/>
            <a:ext cx="26974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050">
                <a:solidFill>
                  <a:srgbClr val="CAE9FF"/>
                </a:solidFill>
              </a:rPr>
              <a:t>▸  Priya (2025) — SloPolicy CRD + Kubernetes plugin architecture</a:t>
            </a:r>
          </a:p>
          <a:p>
            <a:pPr>
              <a:spcBef>
                <a:spcPts val="600"/>
              </a:spcBef>
            </a:pPr>
            <a:r>
              <a:rPr sz="1050">
                <a:solidFill>
                  <a:srgbClr val="CAE9FF"/>
                </a:solidFill>
              </a:rPr>
              <a:t>▸  Blagodurov — cgroups dynamic weights; critical vs batch co-location</a:t>
            </a:r>
          </a:p>
          <a:p>
            <a:pPr>
              <a:spcBef>
                <a:spcPts val="600"/>
              </a:spcBef>
            </a:pPr>
            <a:r>
              <a:rPr sz="1050">
                <a:solidFill>
                  <a:srgbClr val="CAE9FF"/>
                </a:solidFill>
              </a:rPr>
              <a:t>▸  Liu &amp; Guitart (2025) — in-node DRC for group-aware cgroup tuning</a:t>
            </a:r>
          </a:p>
          <a:p>
            <a:pPr>
              <a:spcBef>
                <a:spcPts val="600"/>
              </a:spcBef>
            </a:pPr>
            <a:r>
              <a:rPr sz="1050">
                <a:solidFill>
                  <a:srgbClr val="CAE9FF"/>
                </a:solidFill>
              </a:rPr>
              <a:t>▸  Zhao et al. (2021) — formal admission control with SLA constraints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80576" y="1261872"/>
            <a:ext cx="2834640" cy="411480"/>
          </a:xfrm>
          <a:prstGeom prst="rect">
            <a:avLst/>
          </a:prstGeom>
          <a:solidFill>
            <a:srgbClr val="E087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0576" y="126187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0D1B2A"/>
                </a:solidFill>
              </a:rPr>
              <a:t>Evaluation &amp; Context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80576" y="1673352"/>
            <a:ext cx="2834640" cy="3977639"/>
          </a:xfrm>
          <a:prstGeom prst="rect">
            <a:avLst/>
          </a:prstGeom>
          <a:solidFill>
            <a:srgbClr val="1A2E44"/>
          </a:solidFill>
          <a:ln w="19050">
            <a:solidFill>
              <a:srgbClr val="E087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53728" y="1737360"/>
            <a:ext cx="26974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050">
                <a:solidFill>
                  <a:srgbClr val="CAE9FF"/>
                </a:solidFill>
              </a:rPr>
              <a:t>▸  Chaudhari (2025) — gap anchor; the unbuilt framework we construct</a:t>
            </a:r>
          </a:p>
          <a:p>
            <a:pPr>
              <a:spcBef>
                <a:spcPts val="600"/>
              </a:spcBef>
            </a:pPr>
            <a:r>
              <a:rPr sz="1050">
                <a:solidFill>
                  <a:srgbClr val="CAE9FF"/>
                </a:solidFill>
              </a:rPr>
              <a:t>▸  Jiang Zhi (2025) — Clovers simulator + real trace datasets</a:t>
            </a:r>
          </a:p>
          <a:p>
            <a:pPr>
              <a:spcBef>
                <a:spcPts val="600"/>
              </a:spcBef>
            </a:pPr>
            <a:r>
              <a:rPr sz="1050">
                <a:solidFill>
                  <a:srgbClr val="CAE9FF"/>
                </a:solidFill>
              </a:rPr>
              <a:t>▸  Perera (2025) — RL risks; model drift; justifies our RF approach</a:t>
            </a:r>
          </a:p>
          <a:p>
            <a:pPr>
              <a:spcBef>
                <a:spcPts val="600"/>
              </a:spcBef>
            </a:pPr>
            <a:r>
              <a:rPr sz="1050">
                <a:solidFill>
                  <a:srgbClr val="CAE9FF"/>
                </a:solidFill>
              </a:rPr>
              <a:t>▸  Atropos / Hu (2025) — overload fallback: target culprit, not victim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" y="5779008"/>
            <a:ext cx="11795760" cy="475488"/>
          </a:xfrm>
          <a:prstGeom prst="rect">
            <a:avLst/>
          </a:prstGeom>
          <a:solidFill>
            <a:srgbClr val="002A3A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5797296"/>
            <a:ext cx="11521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>
                <a:solidFill>
                  <a:srgbClr val="FFD166"/>
                </a:solidFill>
              </a:rPr>
              <a:t>The gap: no existing paper combines all four layers into a single evaluated Kubernetes system. Chaudhari (2025) calls for exactly this combination but never builds it. We 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64592"/>
            <a:ext cx="11704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Literature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749808"/>
            <a:ext cx="11704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B4D8"/>
                </a:solidFill>
              </a:rPr>
              <a:t>18 papers — what each contributes and what we take from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164592" y="1188720"/>
            <a:ext cx="11823192" cy="3840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1197864"/>
            <a:ext cx="20939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1B2A"/>
                </a:solidFill>
              </a:rPr>
              <a:t>Paper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1197864"/>
            <a:ext cx="17739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1B2A"/>
                </a:solidFill>
              </a:rPr>
              <a:t>Core Contribution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33672" y="1197864"/>
            <a:ext cx="17739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1B2A"/>
                </a:solidFill>
              </a:rPr>
              <a:t>Gap Addressed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9904" y="1197864"/>
            <a:ext cx="17739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1B2A"/>
                </a:solidFill>
              </a:rPr>
              <a:t>What We Include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46136" y="1197864"/>
            <a:ext cx="296265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1B2A"/>
                </a:solidFill>
              </a:rPr>
              <a:t>Model Type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4592" y="1572768"/>
            <a:ext cx="11823192" cy="283464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" y="1600200"/>
            <a:ext cx="20939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B4D8"/>
                </a:solidFill>
              </a:rPr>
              <a:t>Chaudhari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600200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K8s fails for AI; proposes 4-component framework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33672" y="1600200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Gap anchor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9904" y="1600200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D166"/>
                </a:solidFill>
              </a:rPr>
              <a:t>Architecture blueprint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46136" y="1600200"/>
            <a:ext cx="296265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None — conceptual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592" y="1856231"/>
            <a:ext cx="11823192" cy="283464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" y="1883663"/>
            <a:ext cx="20939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B4D8"/>
                </a:solidFill>
              </a:rPr>
              <a:t>Jiang Zhi 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1883663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Overcommitment study; Clovers simulator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33672" y="1883663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Eval environment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9904" y="1883663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D166"/>
                </a:solidFill>
              </a:rPr>
              <a:t>Simulator + traces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46136" y="1883663"/>
            <a:ext cx="296265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None — rule-based sim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4592" y="2139696"/>
            <a:ext cx="11823192" cy="283464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1168" y="2167127"/>
            <a:ext cx="20939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B4D8"/>
                </a:solidFill>
              </a:rPr>
              <a:t>Coach 2025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7440" y="2167127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Co-locate jobs with non-overlapping memory peaks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33672" y="2167127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Overcommit strategy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9904" y="2167127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D166"/>
                </a:solidFill>
              </a:rPr>
              <a:t>Temporal co-location scoring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46136" y="2167127"/>
            <a:ext cx="296265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Prediction: temporal patterns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64592" y="2423160"/>
            <a:ext cx="11823192" cy="283464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1168" y="2450591"/>
            <a:ext cx="20939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B4D8"/>
                </a:solidFill>
              </a:rPr>
              <a:t>DRF 2011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7440" y="2450591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Dominant Resource Fairness — proven fair allocation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33672" y="2450591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Fairness backbone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9904" y="2450591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D166"/>
                </a:solidFill>
              </a:rPr>
              <a:t>DRF as Score phase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46136" y="2450591"/>
            <a:ext cx="296265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Fairness algo: LP-proven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2" y="2706624"/>
            <a:ext cx="11823192" cy="283464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1168" y="2734056"/>
            <a:ext cx="20939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B4D8"/>
                </a:solidFill>
              </a:rPr>
              <a:t>Res. Central 2017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734056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RF predicts P95 usage from tenant history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33672" y="2734056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Prediction model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89904" y="2734056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D166"/>
                </a:solidFill>
              </a:rPr>
              <a:t>RF + tenant features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46136" y="2734056"/>
            <a:ext cx="296265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Prediction: Random Forest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4592" y="2990088"/>
            <a:ext cx="11823192" cy="283464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1168" y="3017520"/>
            <a:ext cx="20939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B4D8"/>
                </a:solidFill>
              </a:rPr>
              <a:t>Blagodurov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40" y="3017520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cgroups weights: critical vs batch co-location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33672" y="3017520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SLA enforcement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89904" y="3017520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D166"/>
                </a:solidFill>
              </a:rPr>
              <a:t>Dynamic cgroup controller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46136" y="3017520"/>
            <a:ext cx="296265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Sched. optimizer: cgroups Eqs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64592" y="3273552"/>
            <a:ext cx="11823192" cy="283464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01168" y="3300984"/>
            <a:ext cx="20939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B4D8"/>
                </a:solidFill>
              </a:rPr>
              <a:t>Wang &amp; Yang 2025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77440" y="3300984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LSTM+DQN on K8s; 32.5% util gain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33672" y="3300984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K8s deploy blueprint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9904" y="3300984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D166"/>
                </a:solidFill>
              </a:rPr>
              <a:t>Plugin architecture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46136" y="3300984"/>
            <a:ext cx="296265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Prediction (LSTM) + RL (DQN)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64592" y="3557016"/>
            <a:ext cx="11823192" cy="283464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01168" y="3584448"/>
            <a:ext cx="20939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B4D8"/>
                </a:solidFill>
              </a:rPr>
              <a:t>Doukha 2025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77440" y="3584448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RF beats LSTM (MAPE 2.65% vs 17.43%)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33672" y="3584448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Model selection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89904" y="3584448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D166"/>
                </a:solidFill>
              </a:rPr>
              <a:t>RF justified; MAPE metric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46136" y="3584448"/>
            <a:ext cx="296265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Prediction comparison: RF vs LSTM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64592" y="3840480"/>
            <a:ext cx="11823192" cy="283464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01168" y="3867912"/>
            <a:ext cx="20939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B4D8"/>
                </a:solidFill>
              </a:rPr>
              <a:t>Priya 2025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867912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SloPolicy CRD + plugin + Prometheus loop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33672" y="3867912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K8s architecture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89904" y="3867912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D166"/>
                </a:solidFill>
              </a:rPr>
              <a:t>CRD design; eval metrics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946136" y="3867912"/>
            <a:ext cx="296265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Sched. optimizer: QoS score fn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4592" y="4123944"/>
            <a:ext cx="11823192" cy="283464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01168" y="4151376"/>
            <a:ext cx="20939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B4D8"/>
                </a:solidFill>
              </a:rPr>
              <a:t>Kofi 2025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377440" y="4151376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LSTM on Google Trace; R²=0.99 w/ preprocessing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33672" y="4151376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Dataset validation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089904" y="4151376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D166"/>
                </a:solidFill>
              </a:rPr>
              <a:t>Trace + preprocessing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946136" y="4151376"/>
            <a:ext cx="296265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Prediction: LSTM (R²=0.99)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4592" y="4407407"/>
            <a:ext cx="11823192" cy="283464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01168" y="4434840"/>
            <a:ext cx="20939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B4D8"/>
                </a:solidFill>
              </a:rPr>
              <a:t>Alatawi 2025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377440" y="4434840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RL MDP serverless; Gini fairness; 98% SLA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233672" y="4434840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Fairness metric + RL compare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89904" y="4434840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D166"/>
                </a:solidFill>
              </a:rPr>
              <a:t>Gini coefficient metric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46136" y="4434840"/>
            <a:ext cx="296265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RL policy: MDP allocation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4592" y="4690871"/>
            <a:ext cx="11823192" cy="283464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01168" y="4718303"/>
            <a:ext cx="20939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B4D8"/>
                </a:solidFill>
              </a:rPr>
              <a:t>Zhao et al. 2021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77440" y="4718303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Formal admission control + profit optimization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233672" y="4718303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Admission formalization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089904" y="4718303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D166"/>
                </a:solidFill>
              </a:rPr>
              <a:t>Admission algorithm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946136" y="4718303"/>
            <a:ext cx="296265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Sched. optimizer: admission LP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64592" y="4974335"/>
            <a:ext cx="11823192" cy="283464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01168" y="5001767"/>
            <a:ext cx="20939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B4D8"/>
                </a:solidFill>
              </a:rPr>
              <a:t>Liu &amp; Guitart 2025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377440" y="5001767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In-node DRC; group-aware cgroup; 319% throughput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233672" y="5001767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In-node enforcement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089904" y="5001767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D166"/>
                </a:solidFill>
              </a:rPr>
              <a:t>DRC post-placement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946136" y="5001767"/>
            <a:ext cx="296265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Sched. optimizer: in-node cgroup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64592" y="5257799"/>
            <a:ext cx="11823192" cy="283464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01168" y="5285231"/>
            <a:ext cx="20939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B4D8"/>
                </a:solidFill>
              </a:rPr>
              <a:t>Kovalenko 2024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377440" y="5285231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Formal discrete K8s optimization model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233672" y="5285231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Math formalization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089904" y="5285231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D166"/>
                </a:solidFill>
              </a:rPr>
              <a:t>Constraint structure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946136" y="5285231"/>
            <a:ext cx="296265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Sched. optimizer: discrete LP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64592" y="5541263"/>
            <a:ext cx="11823192" cy="283464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01168" y="5568695"/>
            <a:ext cx="20939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B4D8"/>
                </a:solidFill>
              </a:rPr>
              <a:t>Atropos 2025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377440" y="5568695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Throttle culprit, not victim, during overload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33672" y="5568695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Overload fallback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089904" y="5568695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D166"/>
                </a:solidFill>
              </a:rPr>
              <a:t>Targeted throttling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946136" y="5568695"/>
            <a:ext cx="296265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None — monitoring-based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64592" y="5824727"/>
            <a:ext cx="11823192" cy="283464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201168" y="5852159"/>
            <a:ext cx="20939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B4D8"/>
                </a:solidFill>
              </a:rPr>
              <a:t>Perera 2025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377440" y="5852159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RL model drift + interpretability risks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233672" y="5852159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Model justification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089904" y="5852159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D166"/>
                </a:solidFill>
              </a:rPr>
              <a:t>RF interpretability arg.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946136" y="5852159"/>
            <a:ext cx="296265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None — review paper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64592" y="6108191"/>
            <a:ext cx="11823192" cy="283464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01168" y="6135623"/>
            <a:ext cx="20939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B4D8"/>
                </a:solidFill>
              </a:rPr>
              <a:t>Pinnapareddy 2025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377440" y="6135623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Bin packing + cost tools in K8s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233672" y="6135623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Motivation + tooling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089904" y="6135623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D166"/>
                </a:solidFill>
              </a:rPr>
              <a:t>Kubecost for eval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46136" y="6135623"/>
            <a:ext cx="296265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None — practitioner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64592" y="6391655"/>
            <a:ext cx="11823192" cy="283464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01168" y="6419087"/>
            <a:ext cx="20939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B4D8"/>
                </a:solidFill>
              </a:rPr>
              <a:t>Patchamatla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377440" y="6419087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K8s on OpenStack; VM-container deploy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233672" y="6419087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Deployment context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089904" y="6419087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D166"/>
                </a:solidFill>
              </a:rPr>
              <a:t>Architecture reference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46136" y="6419087"/>
            <a:ext cx="296265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None — experimental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64592"/>
            <a:ext cx="11704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749808"/>
            <a:ext cx="11704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B4D8"/>
                </a:solidFill>
              </a:rPr>
              <a:t>Simulation-based evaluation on real Google production cluster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261872"/>
            <a:ext cx="3749039" cy="438912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261872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1B2A"/>
                </a:solidFill>
              </a:rPr>
              <a:t>Dataset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1700784"/>
            <a:ext cx="3749039" cy="4343400"/>
          </a:xfrm>
          <a:prstGeom prst="rect">
            <a:avLst/>
          </a:prstGeom>
          <a:solidFill>
            <a:srgbClr val="1A2E44"/>
          </a:solidFill>
          <a:ln w="1905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" y="1764792"/>
            <a:ext cx="3566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Google Cluster Trace v3 (2019 release, public)
▸ Real job submissions from Google's production cluster
▸ Contains: job arrival time, declared CPU/memory requests, actual measured usage, job duration, tenant ID, priority class
▸ The gap between declared and actual usage is our primary training signal
▸ Validated by multiple papers (Kofi 2025, Jiang Zhi 2025)
Secondary: Azure Public Dataset (Resource Central) for cross-validation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160520" y="1261872"/>
            <a:ext cx="3749039" cy="438912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60520" y="1261872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1B2A"/>
                </a:solidFill>
              </a:rPr>
              <a:t>Simulation Method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60520" y="1700784"/>
            <a:ext cx="3749039" cy="4343400"/>
          </a:xfrm>
          <a:prstGeom prst="rect">
            <a:avLst/>
          </a:prstGeom>
          <a:solidFill>
            <a:srgbClr val="1A2E44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70248" y="1764792"/>
            <a:ext cx="3566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Discrete-event simulation (no live cluster required)
▸ Replay Google Cluster Trace jobs through our simulated cluster
▸ Simulator components: job arrival queue, node resource tracker, our scheduler decision engine, SLA violation detector
▸ Preprocessing: Savitzky-Golay filtering + min-max normalization (Kofi's pipeline)
▸ Compare: default K8s scheduler vs. static DRF baseline vs. our full system
Options: adapt Clovers (Jiang Zhi) or write custom ~300-line Python simulator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59" y="1261872"/>
            <a:ext cx="3749039" cy="43891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59" y="1261872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1B2A"/>
                </a:solidFill>
              </a:rPr>
              <a:t>Evaluation Metrics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59" y="1700784"/>
            <a:ext cx="3749039" cy="4343400"/>
          </a:xfrm>
          <a:prstGeom prst="rect">
            <a:avLst/>
          </a:prstGeom>
          <a:solidFill>
            <a:srgbClr val="1A2E44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7" y="1764792"/>
            <a:ext cx="3566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Primary metrics:
▸ Memory utilization: target ≥ 85% (vs ~45–60% baseline)
▸ SLA violation rate: target &lt; 5% (Priya 2025 benchmark)
▸ Inter-tenant fairness (Gini coefficient): target ~0.10 (vs ~0.25)
▸ Prediction accuracy (MAPE): target &lt; 5% (Doukha RF: 2.65%)
Secondary metrics:
▸ P99 latency reduction vs. default K8s
▸ Job queue wait time reduction
▸ Admission acceptance rate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6172200"/>
            <a:ext cx="11795760" cy="502920"/>
          </a:xfrm>
          <a:prstGeom prst="rect">
            <a:avLst/>
          </a:prstGeom>
          <a:solidFill>
            <a:srgbClr val="003A52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190488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>
                <a:solidFill>
                  <a:srgbClr val="FFD166"/>
                </a:solidFill>
              </a:rPr>
              <a:t>No live cloud account needed. Google Cluster Trace v3 is publicly downloadable. Simulation gives reproducible, measurable results at scale — consistent with published papers in this field (Blagodurov, Coach).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64592"/>
            <a:ext cx="11704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Expected Outcomes &amp; Contribution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749808"/>
            <a:ext cx="11704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B4D8"/>
                </a:solidFill>
              </a:rPr>
              <a:t>What we deliver and why it matters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234440"/>
            <a:ext cx="5943600" cy="4114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23444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2A"/>
                </a:solidFill>
              </a:rPr>
              <a:t>Performance Targets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1645920"/>
            <a:ext cx="5943600" cy="31089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" y="168249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AE9FF"/>
                </a:solidFill>
              </a:rPr>
              <a:t>Memory utilization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42032" y="168249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4CAF50"/>
                </a:solidFill>
              </a:rPr>
              <a:t>≥ 85%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13632" y="1682496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78909C"/>
                </a:solidFill>
              </a:rPr>
              <a:t>~45–60%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956816"/>
            <a:ext cx="5943600" cy="310896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" y="199339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AE9FF"/>
                </a:solidFill>
              </a:rPr>
              <a:t>SLA violation 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2032" y="1993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4CAF50"/>
                </a:solidFill>
              </a:rPr>
              <a:t>&lt; 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3632" y="1993392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78909C"/>
                </a:solidFill>
              </a:rPr>
              <a:t>&lt; 80% compliance under load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" y="2267712"/>
            <a:ext cx="5943600" cy="31089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6032" y="23042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AE9FF"/>
                </a:solidFill>
              </a:rPr>
              <a:t>Fairness (Gini)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2032" y="23042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4CAF50"/>
                </a:solidFill>
              </a:rPr>
              <a:t>~0.10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13632" y="2304288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78909C"/>
                </a:solidFill>
              </a:rPr>
              <a:t>~0.25 (unmanaged)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" y="2578608"/>
            <a:ext cx="5943600" cy="310896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6032" y="261518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AE9FF"/>
                </a:solidFill>
              </a:rPr>
              <a:t>Prediction MAPE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42032" y="261518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4CAF50"/>
                </a:solidFill>
              </a:rPr>
              <a:t>&lt; 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13632" y="2615184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78909C"/>
                </a:solidFill>
              </a:rPr>
              <a:t>N/A (no prediction)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889503"/>
            <a:ext cx="5943600" cy="31089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6032" y="2926079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AE9FF"/>
                </a:solidFill>
              </a:rPr>
              <a:t>P99 latency reduction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42032" y="292607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D166"/>
                </a:solidFill>
              </a:rPr>
              <a:t>≥ 40%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3632" y="2926079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78909C"/>
                </a:solidFill>
              </a:rPr>
              <a:t>Baseline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2880" y="3200399"/>
            <a:ext cx="5943600" cy="310896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6032" y="3236975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AE9FF"/>
                </a:solidFill>
              </a:rPr>
              <a:t>Job queue wait time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42032" y="323697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D166"/>
                </a:solidFill>
              </a:rPr>
              <a:t>Reduced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13632" y="3236975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78909C"/>
                </a:solidFill>
              </a:rPr>
              <a:t>Unbounded (FCFS)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1234440"/>
            <a:ext cx="5577840" cy="41148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123444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2A"/>
                </a:solidFill>
              </a:rPr>
              <a:t>What Makes This Novel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1645920"/>
            <a:ext cx="5577840" cy="2084831"/>
          </a:xfrm>
          <a:prstGeom prst="rect">
            <a:avLst/>
          </a:prstGeom>
          <a:solidFill>
            <a:srgbClr val="1A2E44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10528" y="1719072"/>
            <a:ext cx="5376672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CAE9FF"/>
                </a:solidFill>
              </a:rPr>
              <a:t>▸  Predictive admission via RF on tenant history + memory peaks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CAE9FF"/>
                </a:solidFill>
              </a:rPr>
              <a:t>▸  DRF fairness extended with temporal usage prediction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CAE9FF"/>
                </a:solidFill>
              </a:rPr>
              <a:t>▸  cgroups-enforced SLA guarantee + Atropos-style fallback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CAE9FF"/>
                </a:solidFill>
              </a:rPr>
              <a:t>▸  Formal math backbone (Kovalenko) + Gini fairness metric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CAE9FF"/>
                </a:solidFill>
              </a:rPr>
              <a:t>▸  No existing paper combines all four in one evaluated system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3858768"/>
            <a:ext cx="5577840" cy="4114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3858768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2A"/>
                </a:solidFill>
              </a:rPr>
              <a:t>Project Deliverables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4270248"/>
            <a:ext cx="5577840" cy="1600200"/>
          </a:xfrm>
          <a:prstGeom prst="rect">
            <a:avLst/>
          </a:prstGeom>
          <a:solidFill>
            <a:srgbClr val="1A2E44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10528" y="4343400"/>
            <a:ext cx="537667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CAE9FF"/>
                </a:solidFill>
              </a:rPr>
              <a:t>▸  Trained Random Forest prediction model (on Google Cluster Trace)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CAE9FF"/>
                </a:solidFill>
              </a:rPr>
              <a:t>▸  Custom Kubernetes scheduler plugin (Python / Go prototype)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CAE9FF"/>
                </a:solidFill>
              </a:rPr>
              <a:t>▸  Discrete-event simulation comparing 3 scheduler strategies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CAE9FF"/>
                </a:solidFill>
              </a:rPr>
              <a:t>▸  Evaluation report: utilization, SLA, fairness metrics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2880" y="6035040"/>
            <a:ext cx="11795760" cy="658368"/>
          </a:xfrm>
          <a:prstGeom prst="rect">
            <a:avLst/>
          </a:prstGeom>
          <a:solidFill>
            <a:srgbClr val="002A3A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0040" y="605332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CAF50"/>
                </a:solidFill>
              </a:rPr>
              <a:t>Impact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" y="6336792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AE9FF"/>
                </a:solidFill>
              </a:rPr>
              <a:t>Cloud providers reduce hardware costs by getting more work from existing servers. Tenants get fair, predictable resource access and fewer SLA violations. The scheduling model is platform-agnostic — applicable to any Kubernetes cluster (AWS EKS, GCP GKE, Azure AKS, private clouds).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