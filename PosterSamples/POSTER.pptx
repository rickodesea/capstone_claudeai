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2" r:id="rId1"/>
  </p:sldMasterIdLst>
  <p:notesMasterIdLst>
    <p:notesMasterId r:id="rId3"/>
  </p:notesMasterIdLst>
  <p:sldIdLst>
    <p:sldId id="265" r:id="rId2"/>
  </p:sldIdLst>
  <p:sldSz cx="43891200" cy="32918400"/>
  <p:notesSz cx="6858000" cy="9144000"/>
  <p:embeddedFontLst>
    <p:embeddedFont>
      <p:font typeface="DM Sans" panose="020F0502020204030204" pitchFamily="2" charset="0"/>
      <p:regular r:id="rId4"/>
      <p:bold r:id="rId5"/>
      <p:italic r:id="rId6"/>
      <p:boldItalic r:id="rId7"/>
    </p:embeddedFont>
    <p:embeddedFont>
      <p:font typeface="Open Sans" panose="020B0606030504020204" pitchFamily="34" charset="0"/>
      <p:regular r:id="rId8"/>
      <p:bold r:id="rId9"/>
      <p:italic r:id="rId10"/>
      <p:boldItalic r:id="rId11"/>
    </p:embeddedFont>
    <p:embeddedFont>
      <p:font typeface="Source Sans Pro" panose="020B0503030403020204" pitchFamily="34" charset="0"/>
      <p:regular r:id="rId12"/>
      <p:bold r:id="rId13"/>
      <p:italic r:id="rId14"/>
      <p:boldItalic r:id="rId15"/>
    </p:embeddedFont>
  </p:embeddedFontLst>
  <p:custDataLst>
    <p:tags r:id="rId16"/>
  </p:custDataLst>
  <p:defaultTextStyle>
    <a:defPPr>
      <a:defRPr lang="en-US"/>
    </a:defPPr>
    <a:lvl1pPr marL="0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1pPr>
    <a:lvl2pPr marL="2194039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2pPr>
    <a:lvl3pPr marL="4388077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3pPr>
    <a:lvl4pPr marL="6582120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4pPr>
    <a:lvl5pPr marL="8776160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5pPr>
    <a:lvl6pPr marL="10970199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6pPr>
    <a:lvl7pPr marL="13164238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7pPr>
    <a:lvl8pPr marL="15358277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8pPr>
    <a:lvl9pPr marL="17552318" algn="l" defTabSz="4388077" rtl="0" eaLnBrk="1" latinLnBrk="0" hangingPunct="1">
      <a:defRPr sz="869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912" userDrawn="1">
          <p15:clr>
            <a:srgbClr val="A4A3A4"/>
          </p15:clr>
        </p15:guide>
        <p15:guide id="2" pos="10368" userDrawn="1">
          <p15:clr>
            <a:srgbClr val="A4A3A4"/>
          </p15:clr>
        </p15:guide>
        <p15:guide id="3" orient="horz" pos="10368" userDrawn="1">
          <p15:clr>
            <a:srgbClr val="A4A3A4"/>
          </p15:clr>
        </p15:guide>
        <p15:guide id="4" pos="1382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3F4F0"/>
    <a:srgbClr val="0C4480"/>
    <a:srgbClr val="75CAEB"/>
    <a:srgbClr val="0084B1"/>
    <a:srgbClr val="BDF1FF"/>
    <a:srgbClr val="00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577A20-4910-4741-B89D-471E39D90940}" v="704" dt="2026-06-08T00:30:19.091"/>
    <p1510:client id="{E951D40D-7D86-42DA-B519-58A573DDA736}" v="837" dt="2026-06-08T00:25:01.61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0A1B5D5-9B99-4C35-A422-299274C87663}" styleName="Medium Style 1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6">
              <a:tint val="20000"/>
            </a:schemeClr>
          </a:solidFill>
        </a:fill>
      </a:tcStyle>
    </a:band1H>
    <a:band1V>
      <a:tcStyle>
        <a:tcBdr/>
        <a:fill>
          <a:solidFill>
            <a:schemeClr val="accent6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FABFCF23-3B69-468F-B69F-88F6DE6A72F2}" styleName="Medium Style 1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5">
              <a:tint val="20000"/>
            </a:schemeClr>
          </a:solidFill>
        </a:fill>
      </a:tcStyle>
    </a:band1H>
    <a:band1V>
      <a:tcStyle>
        <a:tcBdr/>
        <a:fill>
          <a:solidFill>
            <a:schemeClr val="accent5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22" d="100"/>
          <a:sy n="22" d="100"/>
        </p:scale>
        <p:origin x="1770" y="18"/>
      </p:cViewPr>
      <p:guideLst>
        <p:guide orient="horz" pos="6912"/>
        <p:guide pos="10368"/>
        <p:guide orient="horz" pos="10368"/>
        <p:guide pos="13824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schemas.openxmlformats.org/officeDocument/2006/relationships/font" Target="fonts/font10.fntdata"/><Relationship Id="rId18" Type="http://schemas.openxmlformats.org/officeDocument/2006/relationships/viewProps" Target="viewProps.xml"/><Relationship Id="rId3" Type="http://schemas.openxmlformats.org/officeDocument/2006/relationships/notesMaster" Target="notesMasters/notesMaster1.xml"/><Relationship Id="rId21" Type="http://schemas.microsoft.com/office/2015/10/relationships/revisionInfo" Target="revisionInfo.xml"/><Relationship Id="rId7" Type="http://schemas.openxmlformats.org/officeDocument/2006/relationships/font" Target="fonts/font4.fntdata"/><Relationship Id="rId12" Type="http://schemas.openxmlformats.org/officeDocument/2006/relationships/font" Target="fonts/font9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font" Target="fonts/font12.fntdata"/><Relationship Id="rId10" Type="http://schemas.openxmlformats.org/officeDocument/2006/relationships/font" Target="fonts/font7.fntdata"/><Relationship Id="rId19" Type="http://schemas.openxmlformats.org/officeDocument/2006/relationships/theme" Target="theme/theme1.xml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font" Target="fonts/font11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">
  <dgm:title val=""/>
  <dgm:desc val=""/>
  <dgm:catLst>
    <dgm:cat type="colorful" pri="103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6C650FC-FBC6-491C-9DF3-881AC676F3B0}" type="doc">
      <dgm:prSet loTypeId="urn:microsoft.com/office/officeart/2005/8/layout/hChevron3" loCatId="process" qsTypeId="urn:microsoft.com/office/officeart/2005/8/quickstyle/simple1" qsCatId="simple" csTypeId="urn:microsoft.com/office/officeart/2005/8/colors/colorful3" csCatId="colorful" phldr="1"/>
      <dgm:spPr/>
    </dgm:pt>
    <dgm:pt modelId="{01937450-FA1B-48EE-9E13-566E5B3CD57B}">
      <dgm:prSet phldrT="[Text]" custT="1"/>
      <dgm:spPr/>
      <dgm:t>
        <a:bodyPr/>
        <a:lstStyle/>
        <a:p>
          <a:r>
            <a:rPr lang="en-CA" sz="3200"/>
            <a:t>LSTM forecasting</a:t>
          </a:r>
        </a:p>
      </dgm:t>
    </dgm:pt>
    <dgm:pt modelId="{C8696CBE-A4AB-4D91-B887-0EEA1DFC94AE}" type="parTrans" cxnId="{4E422087-A73E-4668-A0BB-1424E3D57BCE}">
      <dgm:prSet/>
      <dgm:spPr/>
      <dgm:t>
        <a:bodyPr/>
        <a:lstStyle/>
        <a:p>
          <a:endParaRPr lang="en-CA" sz="3200"/>
        </a:p>
      </dgm:t>
    </dgm:pt>
    <dgm:pt modelId="{DA98AA04-B207-40EC-89E9-9ACF38118BFC}" type="sibTrans" cxnId="{4E422087-A73E-4668-A0BB-1424E3D57BCE}">
      <dgm:prSet/>
      <dgm:spPr/>
      <dgm:t>
        <a:bodyPr/>
        <a:lstStyle/>
        <a:p>
          <a:endParaRPr lang="en-CA" sz="3200"/>
        </a:p>
      </dgm:t>
    </dgm:pt>
    <dgm:pt modelId="{4ED3959C-A633-4AF3-888C-5E240184344A}">
      <dgm:prSet phldrT="[Text]" custT="1"/>
      <dgm:spPr/>
      <dgm:t>
        <a:bodyPr/>
        <a:lstStyle/>
        <a:p>
          <a:r>
            <a:rPr lang="en-CA" sz="3200"/>
            <a:t>Plan Ahead MISOCP</a:t>
          </a:r>
        </a:p>
      </dgm:t>
    </dgm:pt>
    <dgm:pt modelId="{E7AA4AD0-FB1F-4345-94EE-35747A1E36BC}" type="parTrans" cxnId="{4F34C870-1684-42D7-9007-462C18A84380}">
      <dgm:prSet/>
      <dgm:spPr/>
      <dgm:t>
        <a:bodyPr/>
        <a:lstStyle/>
        <a:p>
          <a:endParaRPr lang="en-CA" sz="3200"/>
        </a:p>
      </dgm:t>
    </dgm:pt>
    <dgm:pt modelId="{324F7EFC-3D77-4A89-9F45-28CE6A9C0301}" type="sibTrans" cxnId="{4F34C870-1684-42D7-9007-462C18A84380}">
      <dgm:prSet/>
      <dgm:spPr/>
      <dgm:t>
        <a:bodyPr/>
        <a:lstStyle/>
        <a:p>
          <a:endParaRPr lang="en-CA" sz="3200"/>
        </a:p>
      </dgm:t>
    </dgm:pt>
    <dgm:pt modelId="{50D606A6-9A10-4165-8AA7-3A133F977586}">
      <dgm:prSet phldrT="[Text]" custT="1"/>
      <dgm:spPr/>
      <dgm:t>
        <a:bodyPr/>
        <a:lstStyle/>
        <a:p>
          <a:r>
            <a:rPr lang="en-CA" sz="3200"/>
            <a:t>Real Time MILP</a:t>
          </a:r>
        </a:p>
      </dgm:t>
    </dgm:pt>
    <dgm:pt modelId="{D1AEC690-5007-43F5-86DB-8084C1172DBF}" type="parTrans" cxnId="{FF6A58B5-5005-4EBD-9030-5F6CA209A549}">
      <dgm:prSet/>
      <dgm:spPr/>
      <dgm:t>
        <a:bodyPr/>
        <a:lstStyle/>
        <a:p>
          <a:endParaRPr lang="en-CA" sz="3200"/>
        </a:p>
      </dgm:t>
    </dgm:pt>
    <dgm:pt modelId="{38267BF6-BDD0-45C3-B98D-357D6154D829}" type="sibTrans" cxnId="{FF6A58B5-5005-4EBD-9030-5F6CA209A549}">
      <dgm:prSet/>
      <dgm:spPr/>
      <dgm:t>
        <a:bodyPr/>
        <a:lstStyle/>
        <a:p>
          <a:endParaRPr lang="en-CA" sz="3200"/>
        </a:p>
      </dgm:t>
    </dgm:pt>
    <dgm:pt modelId="{7E875AE8-E1C0-404E-A6C4-13ED3118094D}" type="pres">
      <dgm:prSet presAssocID="{36C650FC-FBC6-491C-9DF3-881AC676F3B0}" presName="Name0" presStyleCnt="0">
        <dgm:presLayoutVars>
          <dgm:dir/>
          <dgm:resizeHandles val="exact"/>
        </dgm:presLayoutVars>
      </dgm:prSet>
      <dgm:spPr/>
    </dgm:pt>
    <dgm:pt modelId="{9BEBFFA1-6E64-4BE8-98D1-D565FCD800ED}" type="pres">
      <dgm:prSet presAssocID="{01937450-FA1B-48EE-9E13-566E5B3CD57B}" presName="parTxOnly" presStyleLbl="node1" presStyleIdx="0" presStyleCnt="3">
        <dgm:presLayoutVars>
          <dgm:bulletEnabled val="1"/>
        </dgm:presLayoutVars>
      </dgm:prSet>
      <dgm:spPr/>
    </dgm:pt>
    <dgm:pt modelId="{307B54F2-1F57-47CE-BF80-459C5A0212C3}" type="pres">
      <dgm:prSet presAssocID="{DA98AA04-B207-40EC-89E9-9ACF38118BFC}" presName="parSpace" presStyleCnt="0"/>
      <dgm:spPr/>
    </dgm:pt>
    <dgm:pt modelId="{4042D562-0641-42D0-BCBB-C614F7E727A2}" type="pres">
      <dgm:prSet presAssocID="{4ED3959C-A633-4AF3-888C-5E240184344A}" presName="parTxOnly" presStyleLbl="node1" presStyleIdx="1" presStyleCnt="3">
        <dgm:presLayoutVars>
          <dgm:bulletEnabled val="1"/>
        </dgm:presLayoutVars>
      </dgm:prSet>
      <dgm:spPr/>
    </dgm:pt>
    <dgm:pt modelId="{D7D5D52A-DB10-453E-9F0F-FAD91CDB303B}" type="pres">
      <dgm:prSet presAssocID="{324F7EFC-3D77-4A89-9F45-28CE6A9C0301}" presName="parSpace" presStyleCnt="0"/>
      <dgm:spPr/>
    </dgm:pt>
    <dgm:pt modelId="{5A567498-663D-4D07-AA1D-B1D389782D0F}" type="pres">
      <dgm:prSet presAssocID="{50D606A6-9A10-4165-8AA7-3A133F977586}" presName="parTxOnly" presStyleLbl="node1" presStyleIdx="2" presStyleCnt="3">
        <dgm:presLayoutVars>
          <dgm:bulletEnabled val="1"/>
        </dgm:presLayoutVars>
      </dgm:prSet>
      <dgm:spPr/>
    </dgm:pt>
  </dgm:ptLst>
  <dgm:cxnLst>
    <dgm:cxn modelId="{4C044707-359C-4A08-BF95-875DD94F06A0}" type="presOf" srcId="{36C650FC-FBC6-491C-9DF3-881AC676F3B0}" destId="{7E875AE8-E1C0-404E-A6C4-13ED3118094D}" srcOrd="0" destOrd="0" presId="urn:microsoft.com/office/officeart/2005/8/layout/hChevron3"/>
    <dgm:cxn modelId="{A9150B41-7B27-4C85-B51B-1487484168AF}" type="presOf" srcId="{01937450-FA1B-48EE-9E13-566E5B3CD57B}" destId="{9BEBFFA1-6E64-4BE8-98D1-D565FCD800ED}" srcOrd="0" destOrd="0" presId="urn:microsoft.com/office/officeart/2005/8/layout/hChevron3"/>
    <dgm:cxn modelId="{4F34C870-1684-42D7-9007-462C18A84380}" srcId="{36C650FC-FBC6-491C-9DF3-881AC676F3B0}" destId="{4ED3959C-A633-4AF3-888C-5E240184344A}" srcOrd="1" destOrd="0" parTransId="{E7AA4AD0-FB1F-4345-94EE-35747A1E36BC}" sibTransId="{324F7EFC-3D77-4A89-9F45-28CE6A9C0301}"/>
    <dgm:cxn modelId="{91D81459-535E-4DE4-B709-21C19656CD63}" type="presOf" srcId="{4ED3959C-A633-4AF3-888C-5E240184344A}" destId="{4042D562-0641-42D0-BCBB-C614F7E727A2}" srcOrd="0" destOrd="0" presId="urn:microsoft.com/office/officeart/2005/8/layout/hChevron3"/>
    <dgm:cxn modelId="{4E422087-A73E-4668-A0BB-1424E3D57BCE}" srcId="{36C650FC-FBC6-491C-9DF3-881AC676F3B0}" destId="{01937450-FA1B-48EE-9E13-566E5B3CD57B}" srcOrd="0" destOrd="0" parTransId="{C8696CBE-A4AB-4D91-B887-0EEA1DFC94AE}" sibTransId="{DA98AA04-B207-40EC-89E9-9ACF38118BFC}"/>
    <dgm:cxn modelId="{A525E4B4-C8A6-4F27-AE73-1B057B4C1B6A}" type="presOf" srcId="{50D606A6-9A10-4165-8AA7-3A133F977586}" destId="{5A567498-663D-4D07-AA1D-B1D389782D0F}" srcOrd="0" destOrd="0" presId="urn:microsoft.com/office/officeart/2005/8/layout/hChevron3"/>
    <dgm:cxn modelId="{FF6A58B5-5005-4EBD-9030-5F6CA209A549}" srcId="{36C650FC-FBC6-491C-9DF3-881AC676F3B0}" destId="{50D606A6-9A10-4165-8AA7-3A133F977586}" srcOrd="2" destOrd="0" parTransId="{D1AEC690-5007-43F5-86DB-8084C1172DBF}" sibTransId="{38267BF6-BDD0-45C3-B98D-357D6154D829}"/>
    <dgm:cxn modelId="{727880F7-ACD3-4BDF-8794-C9DE78B564F7}" type="presParOf" srcId="{7E875AE8-E1C0-404E-A6C4-13ED3118094D}" destId="{9BEBFFA1-6E64-4BE8-98D1-D565FCD800ED}" srcOrd="0" destOrd="0" presId="urn:microsoft.com/office/officeart/2005/8/layout/hChevron3"/>
    <dgm:cxn modelId="{A06E2563-3DD3-48C4-899F-5A8202E57A63}" type="presParOf" srcId="{7E875AE8-E1C0-404E-A6C4-13ED3118094D}" destId="{307B54F2-1F57-47CE-BF80-459C5A0212C3}" srcOrd="1" destOrd="0" presId="urn:microsoft.com/office/officeart/2005/8/layout/hChevron3"/>
    <dgm:cxn modelId="{0AA47DD1-DF9A-4A17-9440-232EFBD0B647}" type="presParOf" srcId="{7E875AE8-E1C0-404E-A6C4-13ED3118094D}" destId="{4042D562-0641-42D0-BCBB-C614F7E727A2}" srcOrd="2" destOrd="0" presId="urn:microsoft.com/office/officeart/2005/8/layout/hChevron3"/>
    <dgm:cxn modelId="{52287CB9-E04F-4974-95A0-5917574C66E3}" type="presParOf" srcId="{7E875AE8-E1C0-404E-A6C4-13ED3118094D}" destId="{D7D5D52A-DB10-453E-9F0F-FAD91CDB303B}" srcOrd="3" destOrd="0" presId="urn:microsoft.com/office/officeart/2005/8/layout/hChevron3"/>
    <dgm:cxn modelId="{FF9A2D11-3FE8-480E-9AF0-E6B3380D9680}" type="presParOf" srcId="{7E875AE8-E1C0-404E-A6C4-13ED3118094D}" destId="{5A567498-663D-4D07-AA1D-B1D389782D0F}" srcOrd="4" destOrd="0" presId="urn:microsoft.com/office/officeart/2005/8/layout/hChevron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EBFFA1-6E64-4BE8-98D1-D565FCD800ED}">
      <dsp:nvSpPr>
        <dsp:cNvPr id="0" name=""/>
        <dsp:cNvSpPr/>
      </dsp:nvSpPr>
      <dsp:spPr>
        <a:xfrm>
          <a:off x="4097" y="237399"/>
          <a:ext cx="3583001" cy="1433200"/>
        </a:xfrm>
        <a:prstGeom prst="homePlat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85344" rIns="42672" bIns="8534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200" kern="1200"/>
            <a:t>LSTM forecasting</a:t>
          </a:r>
        </a:p>
      </dsp:txBody>
      <dsp:txXfrm>
        <a:off x="4097" y="237399"/>
        <a:ext cx="3224701" cy="1433200"/>
      </dsp:txXfrm>
    </dsp:sp>
    <dsp:sp modelId="{4042D562-0641-42D0-BCBB-C614F7E727A2}">
      <dsp:nvSpPr>
        <dsp:cNvPr id="0" name=""/>
        <dsp:cNvSpPr/>
      </dsp:nvSpPr>
      <dsp:spPr>
        <a:xfrm>
          <a:off x="2870499" y="237399"/>
          <a:ext cx="3583001" cy="1433200"/>
        </a:xfrm>
        <a:prstGeom prst="chevron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85344" rIns="42672" bIns="8534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200" kern="1200"/>
            <a:t>Plan Ahead MISOCP</a:t>
          </a:r>
        </a:p>
      </dsp:txBody>
      <dsp:txXfrm>
        <a:off x="3587099" y="237399"/>
        <a:ext cx="2149801" cy="1433200"/>
      </dsp:txXfrm>
    </dsp:sp>
    <dsp:sp modelId="{5A567498-663D-4D07-AA1D-B1D389782D0F}">
      <dsp:nvSpPr>
        <dsp:cNvPr id="0" name=""/>
        <dsp:cNvSpPr/>
      </dsp:nvSpPr>
      <dsp:spPr>
        <a:xfrm>
          <a:off x="5736900" y="237399"/>
          <a:ext cx="3583001" cy="1433200"/>
        </a:xfrm>
        <a:prstGeom prst="chevron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8016" tIns="85344" rIns="42672" bIns="85344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CA" sz="3200" kern="1200"/>
            <a:t>Real Time MILP</a:t>
          </a:r>
        </a:p>
      </dsp:txBody>
      <dsp:txXfrm>
        <a:off x="6453500" y="237399"/>
        <a:ext cx="2149801" cy="14332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Chevron3">
  <dgm:title val=""/>
  <dgm:desc val=""/>
  <dgm:catLst>
    <dgm:cat type="process" pri="10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func="maxDepth" op="gte" val="2">
        <dgm:constrLst>
          <dgm:constr type="w" for="ch" forName="parAndChTx" refType="w"/>
          <dgm:constr type="primFontSz" for="ch" ptType="node" op="equ"/>
          <dgm:constr type="w" for="ch" forName="parAndChSpace" refType="w" refFor="ch" refForName="parAndChTx" fact="-0.2"/>
          <dgm:constr type="w" for="ch" ptType="sibTrans" op="equ"/>
        </dgm:constrLst>
        <dgm:ruleLst/>
        <dgm:forEach name="Name6" axis="ch" ptType="node">
          <dgm:layoutNode name="parAndChTx">
            <dgm:varLst>
              <dgm:bulletEnabled val="1"/>
            </dgm:varLst>
            <dgm:alg type="tx"/>
            <dgm:choose name="Name7">
              <dgm:if name="Name8" func="var" arg="dir" op="equ" val="norm">
                <dgm:choose name="Name9">
                  <dgm:if name="Name10" axis="self" ptType="node" func="pos" op="equ" val="1">
                    <dgm:shape xmlns:r="http://schemas.openxmlformats.org/officeDocument/2006/relationships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4"/>
                    </dgm:constrLst>
                  </dgm:if>
                  <dgm:else name="Name11">
                    <dgm:shape xmlns:r="http://schemas.openxmlformats.org/officeDocument/2006/relationships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if>
              <dgm:else name="Name12">
                <dgm:choose name="Name13">
                  <dgm:if name="Name14" axis="self" ptType="node" func="pos" op="equ" val="1">
                    <dgm:shape xmlns:r="http://schemas.openxmlformats.org/officeDocument/2006/relationships" rot="180" type="homePlate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4"/>
                      <dgm:constr type="rMarg" refType="w" fact="0.1"/>
                    </dgm:constrLst>
                  </dgm:if>
                  <dgm:else name="Name15">
                    <dgm:shape xmlns:r="http://schemas.openxmlformats.org/officeDocument/2006/relationships" rot="180" type="chevron" r:blip="">
                      <dgm:adjLst>
                        <dgm:adj idx="1" val="0.25"/>
                      </dgm:adjLst>
                    </dgm:shape>
                    <dgm:presOf axis="desOrSelf" ptType="node"/>
                    <dgm:constrLst>
                      <dgm:constr type="h" refType="w" op="equ" fact="0.8"/>
                      <dgm:constr type="primFontSz" val="65"/>
                      <dgm:constr type="tMarg" refType="primFontSz" fact="0.2"/>
                      <dgm:constr type="bMarg" refType="primFontSz" fact="0.2"/>
                      <dgm:constr type="lMarg" refType="w" fact="0.1"/>
                      <dgm:constr type="rMarg" refType="w" fact="0.1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16" axis="followSib" ptType="sibTrans" cnt="1">
            <dgm:layoutNode name="parAndCh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17">
        <dgm:constrLst>
          <dgm:constr type="w" for="ch" forName="parTxOnly" refType="w"/>
          <dgm:constr type="primFontSz" for="ch" ptType="node" op="equ"/>
          <dgm:constr type="w" for="ch" forName="parSpace" refType="w" refFor="ch" refForName="parTxOnly" fact="-0.2"/>
          <dgm:constr type="w" for="ch" ptType="sibTrans" op="equ"/>
        </dgm:constrLst>
        <dgm:ruleLst/>
        <dgm:forEach name="Name18" axis="ch" ptType="node">
          <dgm:layoutNode name="parTxOnly">
            <dgm:varLst>
              <dgm:bulletEnabled val="1"/>
            </dgm:varLst>
            <dgm:alg type="tx"/>
            <dgm:presOf axis="desOrSelf" ptType="node"/>
            <dgm:choose name="Name19">
              <dgm:if name="Name20" func="var" arg="dir" op="equ" val="norm">
                <dgm:choose name="Name21">
                  <dgm:if name="Name22" axis="self" ptType="node" func="pos" op="equ" val="1">
                    <dgm:shape xmlns:r="http://schemas.openxmlformats.org/officeDocument/2006/relationships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42"/>
                      <dgm:constr type="rMarg" refType="primFontSz" fact="0.105"/>
                    </dgm:constrLst>
                  </dgm:if>
                  <dgm:else name="Name23">
                    <dgm:shape xmlns:r="http://schemas.openxmlformats.org/officeDocument/2006/relationships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315"/>
                      <dgm:constr type="rMarg" refType="primFontSz" fact="0.105"/>
                    </dgm:constrLst>
                  </dgm:else>
                </dgm:choose>
              </dgm:if>
              <dgm:else name="Name24">
                <dgm:choose name="Name25">
                  <dgm:if name="Name26" axis="self" ptType="node" func="pos" op="equ" val="1">
                    <dgm:shape xmlns:r="http://schemas.openxmlformats.org/officeDocument/2006/relationships" rot="180" type="homePlate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42"/>
                    </dgm:constrLst>
                  </dgm:if>
                  <dgm:else name="Name27">
                    <dgm:shape xmlns:r="http://schemas.openxmlformats.org/officeDocument/2006/relationships" rot="180" type="chevron" r:blip="">
                      <dgm:adjLst/>
                    </dgm:shape>
                    <dgm:constrLst>
                      <dgm:constr type="h" refType="w" op="equ" fact="0.4"/>
                      <dgm:constr type="primFontSz" val="65"/>
                      <dgm:constr type="tMarg" refType="primFontSz" fact="0.21"/>
                      <dgm:constr type="bMarg" refType="primFontSz" fact="0.21"/>
                      <dgm:constr type="lMarg" refType="primFontSz" fact="0.105"/>
                      <dgm:constr type="rMarg" refType="primFontSz" fact="0.315"/>
                    </dgm:constrLst>
                  </dgm:else>
                </dgm:choose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kern="1200"/>
            </a:defPPr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kern="1200"/>
            </a:defPPr>
            <a:lvl1pPr algn="r">
              <a:defRPr sz="1200"/>
            </a:lvl1pPr>
          </a:lstStyle>
          <a:p>
            <a:fld id="{7B0E8FA9-8B5F-4493-A208-FBBD06A1EBF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defPPr>
              <a:defRPr kern="1200"/>
            </a:def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kern="1200"/>
            </a:defPPr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kern="1200"/>
            </a:defPPr>
            <a:lvl1pPr algn="r">
              <a:defRPr sz="1200"/>
            </a:lvl1pPr>
          </a:lstStyle>
          <a:p>
            <a:fld id="{CD15AFD9-35F1-4A8D-8AD3-EDB94817619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53156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1pPr>
    <a:lvl2pPr marL="2194039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2pPr>
    <a:lvl3pPr marL="4388077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3pPr>
    <a:lvl4pPr marL="6582120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4pPr>
    <a:lvl5pPr marL="8776160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5pPr>
    <a:lvl6pPr marL="10970199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6pPr>
    <a:lvl7pPr marL="13164238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7pPr>
    <a:lvl8pPr marL="15358277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8pPr>
    <a:lvl9pPr marL="17552318" algn="l" defTabSz="4388077" rtl="0" eaLnBrk="1" latinLnBrk="0" hangingPunct="1">
      <a:defRPr sz="5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06967672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594629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38673143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w picture"/>
          <p:cNvPicPr/>
          <p:nvPr/>
        </p:nvPicPr>
        <p:blipFill>
          <a:blip r:embed="rId5"/>
          <a:stretch>
            <a:fillRect/>
          </a:stretch>
        </p:blipFill>
        <p:spPr>
          <a:xfrm rot="16200000">
            <a:off x="-11074400" y="16459200"/>
            <a:ext cx="14274800" cy="3937000"/>
          </a:xfrm>
          <a:prstGeom prst="rect">
            <a:avLst/>
          </a:prstGeom>
        </p:spPr>
      </p:pic>
      <p:pic>
        <p:nvPicPr>
          <p:cNvPr id="3" name="New picture"/>
          <p:cNvPicPr/>
          <p:nvPr/>
        </p:nvPicPr>
        <p:blipFill>
          <a:blip r:embed="rId5"/>
          <a:stretch>
            <a:fillRect/>
          </a:stretch>
        </p:blipFill>
        <p:spPr>
          <a:xfrm rot="5400000">
            <a:off x="40690800" y="16459200"/>
            <a:ext cx="14274800" cy="3937000"/>
          </a:xfrm>
          <a:prstGeom prst="rect">
            <a:avLst/>
          </a:prstGeom>
        </p:spPr>
      </p:pic>
      <p:pic>
        <p:nvPicPr>
          <p:cNvPr id="4" name="New picture"/>
          <p:cNvPicPr/>
          <p:nvPr/>
        </p:nvPicPr>
        <p:blipFill>
          <a:blip r:embed="rId6"/>
          <a:stretch>
            <a:fillRect/>
          </a:stretch>
        </p:blipFill>
        <p:spPr>
          <a:xfrm>
            <a:off x="6946900" y="33426400"/>
            <a:ext cx="29997400" cy="1447800"/>
          </a:xfrm>
          <a:prstGeom prst="rect">
            <a:avLst/>
          </a:prstGeom>
        </p:spPr>
      </p:pic>
      <p:sp>
        <p:nvSpPr>
          <p:cNvPr id="5" name="New shape"/>
          <p:cNvSpPr/>
          <p:nvPr/>
        </p:nvSpPr>
        <p:spPr>
          <a:xfrm>
            <a:off x="6946900" y="33997900"/>
            <a:ext cx="21945600" cy="1270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sz="4560">
                <a:solidFill>
                  <a:srgbClr val="808080"/>
                </a:solidFill>
              </a:rPr>
              <a:t>Template ID: assessingslate  Size: 48x36</a:t>
            </a:r>
          </a:p>
        </p:txBody>
      </p:sp>
    </p:spTree>
    <p:extLst>
      <p:ext uri="{BB962C8B-B14F-4D97-AF65-F5344CB8AC3E}">
        <p14:creationId xmlns:p14="http://schemas.microsoft.com/office/powerpoint/2010/main" val="20543429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</p:sldLayoutIdLst>
  <p:transition/>
  <p:txStyles>
    <p:titleStyle>
      <a:defPPr>
        <a:defRPr kern="1200"/>
      </a:defPPr>
      <a:lvl1pPr algn="ctr" defTabSz="4389028" rtl="0" eaLnBrk="1" latinLnBrk="0" hangingPunct="1">
        <a:spcBef>
          <a:spcPct val="0"/>
        </a:spcBef>
        <a:buNone/>
        <a:defRPr sz="13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defPPr>
        <a:defRPr kern="1200"/>
      </a:defPPr>
      <a:lvl1pPr marL="0" indent="0" algn="l" defTabSz="4389028" rtl="0" eaLnBrk="1" latinLnBrk="0" hangingPunct="1">
        <a:spcBef>
          <a:spcPct val="20000"/>
        </a:spcBef>
        <a:buFont typeface="Arial" pitchFamily="34" charset="0"/>
        <a:buNone/>
        <a:defRPr sz="13400" kern="1200">
          <a:solidFill>
            <a:schemeClr val="tx1"/>
          </a:solidFill>
          <a:latin typeface="+mn-lt"/>
          <a:ea typeface="+mn-ea"/>
          <a:cs typeface="+mn-cs"/>
        </a:defRPr>
      </a:lvl1pPr>
      <a:lvl2pPr marL="3566086" indent="-1371572" algn="l" defTabSz="4389028" rtl="0" eaLnBrk="1" latinLnBrk="0" hangingPunct="1">
        <a:spcBef>
          <a:spcPct val="20000"/>
        </a:spcBef>
        <a:buFont typeface="Arial" pitchFamily="34" charset="0"/>
        <a:buChar char="–"/>
        <a:defRPr sz="134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286" indent="-1097257" algn="l" defTabSz="4389028" rtl="0" eaLnBrk="1" latinLnBrk="0" hangingPunct="1">
        <a:spcBef>
          <a:spcPct val="20000"/>
        </a:spcBef>
        <a:buFont typeface="Arial" pitchFamily="34" charset="0"/>
        <a:buChar char="•"/>
        <a:defRPr sz="11500" kern="1200">
          <a:solidFill>
            <a:schemeClr val="tx1"/>
          </a:solidFill>
          <a:latin typeface="+mn-lt"/>
          <a:ea typeface="+mn-ea"/>
          <a:cs typeface="+mn-cs"/>
        </a:defRPr>
      </a:lvl3pPr>
      <a:lvl4pPr marL="7680800" indent="-1097257" algn="l" defTabSz="4389028" rtl="0" eaLnBrk="1" latinLnBrk="0" hangingPunct="1">
        <a:spcBef>
          <a:spcPct val="20000"/>
        </a:spcBef>
        <a:buFont typeface="Arial" pitchFamily="34" charset="0"/>
        <a:buChar char="–"/>
        <a:defRPr sz="9700" kern="1200">
          <a:solidFill>
            <a:schemeClr val="tx1"/>
          </a:solidFill>
          <a:latin typeface="+mn-lt"/>
          <a:ea typeface="+mn-ea"/>
          <a:cs typeface="+mn-cs"/>
        </a:defRPr>
      </a:lvl4pPr>
      <a:lvl5pPr marL="9875314" indent="-1097257" algn="l" defTabSz="4389028" rtl="0" eaLnBrk="1" latinLnBrk="0" hangingPunct="1">
        <a:spcBef>
          <a:spcPct val="20000"/>
        </a:spcBef>
        <a:buFont typeface="Arial" pitchFamily="34" charset="0"/>
        <a:buChar char="»"/>
        <a:defRPr sz="9700" kern="1200">
          <a:solidFill>
            <a:schemeClr val="tx1"/>
          </a:solidFill>
          <a:latin typeface="+mn-lt"/>
          <a:ea typeface="+mn-ea"/>
          <a:cs typeface="+mn-cs"/>
        </a:defRPr>
      </a:lvl5pPr>
      <a:lvl6pPr marL="12069828" indent="-1097257" algn="l" defTabSz="4389028" rtl="0" eaLnBrk="1" latinLnBrk="0" hangingPunct="1">
        <a:spcBef>
          <a:spcPct val="20000"/>
        </a:spcBef>
        <a:buFont typeface="Arial" pitchFamily="34" charset="0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6pPr>
      <a:lvl7pPr marL="14264342" indent="-1097257" algn="l" defTabSz="4389028" rtl="0" eaLnBrk="1" latinLnBrk="0" hangingPunct="1">
        <a:spcBef>
          <a:spcPct val="20000"/>
        </a:spcBef>
        <a:buFont typeface="Arial" pitchFamily="34" charset="0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7pPr>
      <a:lvl8pPr marL="16458857" indent="-1097257" algn="l" defTabSz="4389028" rtl="0" eaLnBrk="1" latinLnBrk="0" hangingPunct="1">
        <a:spcBef>
          <a:spcPct val="20000"/>
        </a:spcBef>
        <a:buFont typeface="Arial" pitchFamily="34" charset="0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8pPr>
      <a:lvl9pPr marL="18653371" indent="-1097257" algn="l" defTabSz="4389028" rtl="0" eaLnBrk="1" latinLnBrk="0" hangingPunct="1">
        <a:spcBef>
          <a:spcPct val="20000"/>
        </a:spcBef>
        <a:buFont typeface="Arial" pitchFamily="34" charset="0"/>
        <a:buChar char="•"/>
        <a:defRPr sz="9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1pPr>
      <a:lvl2pPr marL="2194514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2pPr>
      <a:lvl3pPr marL="4389028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3pPr>
      <a:lvl4pPr marL="6583543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4pPr>
      <a:lvl5pPr marL="8778057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571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6pPr>
      <a:lvl7pPr marL="13167085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7pPr>
      <a:lvl8pPr marL="15361599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8pPr>
      <a:lvl9pPr marL="17556114" algn="l" defTabSz="4389028" rtl="0" eaLnBrk="1" latinLnBrk="0" hangingPunct="1">
        <a:defRPr sz="8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FEC9E8-5175-D726-6AAF-914E1BC38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0F9A1B88-438A-C38D-C3AC-66C998B46FC9}"/>
              </a:ext>
            </a:extLst>
          </p:cNvPr>
          <p:cNvSpPr/>
          <p:nvPr/>
        </p:nvSpPr>
        <p:spPr>
          <a:xfrm>
            <a:off x="1" y="0"/>
            <a:ext cx="43891199" cy="4704527"/>
          </a:xfrm>
          <a:prstGeom prst="rect">
            <a:avLst/>
          </a:prstGeom>
          <a:solidFill>
            <a:srgbClr val="0C4480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11500"/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054E051C-3DFF-450E-D7A0-D4FD8D8592D8}"/>
              </a:ext>
            </a:extLst>
          </p:cNvPr>
          <p:cNvSpPr txBox="1"/>
          <p:nvPr/>
        </p:nvSpPr>
        <p:spPr>
          <a:xfrm>
            <a:off x="10230853" y="400331"/>
            <a:ext cx="31302158" cy="4411703"/>
          </a:xfrm>
          <a:prstGeom prst="rect">
            <a:avLst/>
          </a:prstGeom>
        </p:spPr>
        <p:txBody>
          <a:bodyPr lIns="0" tIns="0" rIns="0" bIns="0">
            <a:noAutofit/>
          </a:bodyPr>
          <a:lstStyle>
            <a:defPPr>
              <a:defRPr kern="1200"/>
            </a:defPPr>
            <a:lvl1pPr marL="0" marR="0" indent="0" algn="l" defTabSz="3783013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ct val="0"/>
              </a:spcAft>
              <a:buClrTx/>
              <a:buSzTx/>
              <a:buFontTx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3761086">
              <a:lnSpc>
                <a:spcPts val="9200"/>
              </a:lnSpc>
              <a:spcBef>
                <a:spcPct val="20000"/>
              </a:spcBef>
              <a:defRPr/>
            </a:pPr>
            <a:r>
              <a:rPr lang="en-CA" sz="9600" b="1">
                <a:solidFill>
                  <a:srgbClr val="F3F4F0"/>
                </a:solidFill>
                <a:latin typeface="Source Sans Pro" panose="020F0502020204030204" pitchFamily="34" charset="0"/>
                <a:ea typeface="+mj-ea"/>
                <a:cs typeface="+mj-cs"/>
              </a:rPr>
              <a:t>Predict, Plan Ahead, Dispatch:</a:t>
            </a:r>
          </a:p>
          <a:p>
            <a:pPr algn="ctr" defTabSz="3761086">
              <a:lnSpc>
                <a:spcPts val="9200"/>
              </a:lnSpc>
              <a:spcBef>
                <a:spcPct val="20000"/>
              </a:spcBef>
              <a:defRPr/>
            </a:pPr>
            <a:r>
              <a:rPr lang="en-CA" sz="8500" b="1">
                <a:solidFill>
                  <a:srgbClr val="F3F4F0"/>
                </a:solidFill>
                <a:latin typeface="Source Sans Pro" panose="020F0502020204030204" pitchFamily="34" charset="0"/>
                <a:ea typeface="+mj-ea"/>
                <a:cs typeface="+mj-cs"/>
              </a:rPr>
              <a:t> </a:t>
            </a:r>
            <a:r>
              <a:rPr lang="en-CA" sz="8000" b="1">
                <a:solidFill>
                  <a:srgbClr val="F3F4F0"/>
                </a:solidFill>
                <a:latin typeface="Source Sans Pro" panose="020F0502020204030204" pitchFamily="34" charset="0"/>
                <a:ea typeface="+mj-ea"/>
                <a:cs typeface="+mj-cs"/>
              </a:rPr>
              <a:t>A Unified Framework for Multi-Tenant Cluster Management with Overcommit and Guaranteed Service Level Agreement</a:t>
            </a:r>
            <a:endParaRPr lang="en-CA" sz="8500" b="1">
              <a:solidFill>
                <a:srgbClr val="F3F4F0"/>
              </a:solidFill>
              <a:latin typeface="Source Sans Pro" panose="020F0502020204030204" pitchFamily="34" charset="0"/>
              <a:ea typeface="+mj-ea"/>
              <a:cs typeface="+mj-cs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CAE68C-D27F-623B-0552-F5D2CEB1019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biLevel thresh="25000"/>
          </a:blip>
          <a:srcRect t="7395" b="12657"/>
          <a:stretch/>
        </p:blipFill>
        <p:spPr>
          <a:xfrm>
            <a:off x="642713" y="400331"/>
            <a:ext cx="8474272" cy="2676095"/>
          </a:xfrm>
          <a:prstGeom prst="rect">
            <a:avLst/>
          </a:prstGeom>
        </p:spPr>
      </p:pic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895D5AD2-7659-AA7C-08D1-8EE89D4BE8B3}"/>
              </a:ext>
            </a:extLst>
          </p:cNvPr>
          <p:cNvSpPr txBox="1"/>
          <p:nvPr/>
        </p:nvSpPr>
        <p:spPr>
          <a:xfrm>
            <a:off x="1069849" y="3468220"/>
            <a:ext cx="7620000" cy="73866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1200"/>
            </a:defPPr>
            <a:lvl1pPr marL="0" marR="0" indent="0" algn="l" defTabSz="37610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4800" b="1">
                <a:solidFill>
                  <a:schemeClr val="bg1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Arial" pitchFamily="34" charset="0"/>
              </a:rPr>
              <a:t>Master of Data Analytics</a:t>
            </a:r>
          </a:p>
        </p:txBody>
      </p:sp>
      <p:sp>
        <p:nvSpPr>
          <p:cNvPr id="9" name="Rounded Rectangle 74">
            <a:extLst>
              <a:ext uri="{FF2B5EF4-FFF2-40B4-BE49-F238E27FC236}">
                <a16:creationId xmlns:a16="http://schemas.microsoft.com/office/drawing/2014/main" id="{9556C9C6-2FAF-A2E4-6985-C45E6373FA1B}"/>
              </a:ext>
            </a:extLst>
          </p:cNvPr>
          <p:cNvSpPr/>
          <p:nvPr/>
        </p:nvSpPr>
        <p:spPr>
          <a:xfrm>
            <a:off x="1" y="4680296"/>
            <a:ext cx="43891199" cy="1940139"/>
          </a:xfrm>
          <a:prstGeom prst="rect">
            <a:avLst/>
          </a:prstGeom>
          <a:solidFill>
            <a:srgbClr val="F3F4F0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1150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D082B16E-D31D-81A1-DA6C-A96CD8B62351}"/>
              </a:ext>
            </a:extLst>
          </p:cNvPr>
          <p:cNvSpPr txBox="1"/>
          <p:nvPr/>
        </p:nvSpPr>
        <p:spPr>
          <a:xfrm>
            <a:off x="0" y="4812192"/>
            <a:ext cx="43891199" cy="16250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defPPr>
              <a:defRPr kern="1200"/>
            </a:defPPr>
            <a:lvl1pPr marL="0" marR="0" indent="0" algn="l" defTabSz="3761086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defRPr sz="6000" kern="1200" baseline="0">
                <a:solidFill>
                  <a:schemeClr val="tx2"/>
                </a:solidFill>
                <a:latin typeface="Franklin Gothic Heavy" pitchFamily="34" charset="0"/>
                <a:ea typeface="+mn-ea"/>
                <a:cs typeface="+mn-cs"/>
              </a:defRPr>
            </a:lvl1pPr>
            <a:lvl2pPr marL="1880543" indent="0" algn="l" defTabSz="3761086" rtl="0" eaLnBrk="1" latinLnBrk="0" hangingPunct="1">
              <a:spcBef>
                <a:spcPct val="20000"/>
              </a:spcBef>
              <a:buFontTx/>
              <a:buNone/>
              <a:defRPr sz="1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3761086" indent="0" algn="l" defTabSz="3761086" rtl="0" eaLnBrk="1" latinLnBrk="0" hangingPunct="1">
              <a:spcBef>
                <a:spcPct val="20000"/>
              </a:spcBef>
              <a:buFontTx/>
              <a:buNone/>
              <a:defRPr sz="99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5641629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7522172" indent="0" algn="l" defTabSz="3761086" rtl="0" eaLnBrk="1" latinLnBrk="0" hangingPunct="1">
              <a:spcBef>
                <a:spcPct val="20000"/>
              </a:spcBef>
              <a:buFontTx/>
              <a:buNone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0342988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2223531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4104074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5984617" indent="-940272" algn="l" defTabSz="3761086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8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/>
            </a:pPr>
            <a:r>
              <a:rPr lang="en-US" sz="4800" b="1">
                <a:solidFill>
                  <a:srgbClr val="0C448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abon Next LT" panose="02000500000000000000" pitchFamily="2" charset="0"/>
              </a:rPr>
              <a:t>Authors:  THA PYAY HMU  •  LHAGII TSOGTBAYAR  •  NADIA RIOS  •  JORGE MENDOZA  •  ALRICK GRANDISON </a:t>
            </a:r>
          </a:p>
          <a:p>
            <a:pPr algn="ctr">
              <a:defRPr/>
            </a:pPr>
            <a:r>
              <a:rPr lang="en-US" sz="4800" b="1">
                <a:solidFill>
                  <a:srgbClr val="0C4480"/>
                </a:solidFill>
                <a:latin typeface="Source Sans Pro" panose="020B0503030403020204" pitchFamily="34" charset="0"/>
                <a:ea typeface="Source Sans Pro" panose="020B0503030403020204" pitchFamily="34" charset="0"/>
                <a:cs typeface="Sabon Next LT" panose="02000500000000000000" pitchFamily="2" charset="0"/>
              </a:rPr>
              <a:t>Supervisor:  PhD. HANY OSMAN</a:t>
            </a:r>
          </a:p>
        </p:txBody>
      </p:sp>
      <p:sp>
        <p:nvSpPr>
          <p:cNvPr id="11" name="Rounded Rectangle 74">
            <a:extLst>
              <a:ext uri="{FF2B5EF4-FFF2-40B4-BE49-F238E27FC236}">
                <a16:creationId xmlns:a16="http://schemas.microsoft.com/office/drawing/2014/main" id="{58310CEE-CE6A-D765-C2D5-E7FB27838A9D}"/>
              </a:ext>
            </a:extLst>
          </p:cNvPr>
          <p:cNvSpPr/>
          <p:nvPr/>
        </p:nvSpPr>
        <p:spPr>
          <a:xfrm>
            <a:off x="1" y="6614597"/>
            <a:ext cx="43891199" cy="153773"/>
          </a:xfrm>
          <a:prstGeom prst="rect">
            <a:avLst/>
          </a:prstGeom>
          <a:solidFill>
            <a:srgbClr val="0C4480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11500"/>
          </a:p>
        </p:txBody>
      </p:sp>
      <p:sp>
        <p:nvSpPr>
          <p:cNvPr id="12" name="Rounded Rectangle 74">
            <a:extLst>
              <a:ext uri="{FF2B5EF4-FFF2-40B4-BE49-F238E27FC236}">
                <a16:creationId xmlns:a16="http://schemas.microsoft.com/office/drawing/2014/main" id="{738D5D7C-0DB3-2EE1-B38A-97551C2E2388}"/>
              </a:ext>
            </a:extLst>
          </p:cNvPr>
          <p:cNvSpPr/>
          <p:nvPr/>
        </p:nvSpPr>
        <p:spPr>
          <a:xfrm>
            <a:off x="1" y="6784871"/>
            <a:ext cx="43891199" cy="26133529"/>
          </a:xfrm>
          <a:prstGeom prst="rect">
            <a:avLst/>
          </a:prstGeom>
          <a:solidFill>
            <a:srgbClr val="F3F4F0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11500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9CE572C-762A-D07B-509F-C87EB01057B3}"/>
              </a:ext>
            </a:extLst>
          </p:cNvPr>
          <p:cNvSpPr/>
          <p:nvPr/>
        </p:nvSpPr>
        <p:spPr>
          <a:xfrm>
            <a:off x="807640" y="7430226"/>
            <a:ext cx="9648000" cy="3942597"/>
          </a:xfrm>
          <a:prstGeom prst="roundRect">
            <a:avLst>
              <a:gd name="adj" fmla="val 1711"/>
            </a:avLst>
          </a:prstGeom>
          <a:solidFill>
            <a:srgbClr val="F3F4F0"/>
          </a:solidFill>
          <a:ln>
            <a:solidFill>
              <a:srgbClr val="0C44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endParaRPr lang="en-CA" sz="280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CA" sz="2800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CA" sz="28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Modern cloud providers operate shared clusters where multiple tenants compete for CPU and memory. Static allocation wastes capacity; reactive scheduling causes SLA violations. No unified framework simultaneously predicts demand, plans forward allocation, and dispatches jobs in real time.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DA311127-D479-2D1F-F2A7-0D438A9ABC94}"/>
              </a:ext>
            </a:extLst>
          </p:cNvPr>
          <p:cNvSpPr/>
          <p:nvPr/>
        </p:nvSpPr>
        <p:spPr>
          <a:xfrm>
            <a:off x="11119996" y="7449028"/>
            <a:ext cx="21651207" cy="9882193"/>
          </a:xfrm>
          <a:prstGeom prst="roundRect">
            <a:avLst>
              <a:gd name="adj" fmla="val 1711"/>
            </a:avLst>
          </a:prstGeom>
          <a:solidFill>
            <a:srgbClr val="0C44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9B148B36-AE5B-5E55-3D15-C44B9818DBA3}"/>
              </a:ext>
            </a:extLst>
          </p:cNvPr>
          <p:cNvSpPr/>
          <p:nvPr/>
        </p:nvSpPr>
        <p:spPr>
          <a:xfrm>
            <a:off x="807640" y="7430225"/>
            <a:ext cx="9648000" cy="726573"/>
          </a:xfrm>
          <a:prstGeom prst="roundRect">
            <a:avLst>
              <a:gd name="adj" fmla="val 1711"/>
            </a:avLst>
          </a:prstGeom>
          <a:solidFill>
            <a:srgbClr val="0C44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r>
              <a:rPr lang="en-US" sz="3600">
                <a:latin typeface="Source Sans Pro" panose="020B0503030403020204" pitchFamily="34" charset="0"/>
                <a:ea typeface="Source Sans Pro" panose="020B0503030403020204" pitchFamily="34" charset="0"/>
              </a:rPr>
              <a:t>Research Problem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59803636-0BA6-1EA5-6AF5-6FAEA92C49BD}"/>
              </a:ext>
            </a:extLst>
          </p:cNvPr>
          <p:cNvSpPr/>
          <p:nvPr/>
        </p:nvSpPr>
        <p:spPr>
          <a:xfrm>
            <a:off x="807640" y="11725003"/>
            <a:ext cx="9648000" cy="4734197"/>
          </a:xfrm>
          <a:prstGeom prst="roundRect">
            <a:avLst>
              <a:gd name="adj" fmla="val 1711"/>
            </a:avLst>
          </a:prstGeom>
          <a:solidFill>
            <a:srgbClr val="F3F4F0"/>
          </a:solidFill>
          <a:ln>
            <a:solidFill>
              <a:srgbClr val="0C44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marL="342900" indent="-342900">
              <a:buFont typeface="Arial" panose="020B0604020202020204" pitchFamily="34" charset="0"/>
              <a:buChar char="•"/>
            </a:pPr>
            <a:endParaRPr lang="en-CA" sz="2800" b="1">
              <a:solidFill>
                <a:srgbClr val="0C448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r>
              <a:rPr lang="en-CA" sz="2800">
                <a:solidFill>
                  <a:schemeClr val="tx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Build a three-layer pipeline that guarantees a 90% probabilistic SLA against overcommit while maximising cluster utilisation. </a:t>
            </a:r>
            <a:endParaRPr lang="en-CA" sz="2800" b="1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CA" sz="2800" b="1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CA" sz="2800" b="1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CA" sz="2800" b="1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endParaRPr lang="en-CA" sz="2800" b="1">
              <a:solidFill>
                <a:schemeClr val="tx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1DB405AA-189B-2105-EEB6-9DC528907F7C}"/>
              </a:ext>
            </a:extLst>
          </p:cNvPr>
          <p:cNvSpPr/>
          <p:nvPr/>
        </p:nvSpPr>
        <p:spPr>
          <a:xfrm>
            <a:off x="807640" y="11725005"/>
            <a:ext cx="9648000" cy="726573"/>
          </a:xfrm>
          <a:prstGeom prst="roundRect">
            <a:avLst>
              <a:gd name="adj" fmla="val 1711"/>
            </a:avLst>
          </a:prstGeom>
          <a:solidFill>
            <a:srgbClr val="0C44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r>
              <a:rPr lang="en-US" sz="3600">
                <a:latin typeface="Source Sans Pro" panose="020B0503030403020204" pitchFamily="34" charset="0"/>
                <a:ea typeface="Source Sans Pro" panose="020B0503030403020204" pitchFamily="34" charset="0"/>
              </a:rPr>
              <a:t>Our Approach</a:t>
            </a: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3ABA0C69-82CE-5D79-AF8C-F8C52AAB802C}"/>
              </a:ext>
            </a:extLst>
          </p:cNvPr>
          <p:cNvSpPr/>
          <p:nvPr/>
        </p:nvSpPr>
        <p:spPr>
          <a:xfrm>
            <a:off x="769125" y="16847116"/>
            <a:ext cx="9648000" cy="15407585"/>
          </a:xfrm>
          <a:prstGeom prst="roundRect">
            <a:avLst>
              <a:gd name="adj" fmla="val 1711"/>
            </a:avLst>
          </a:prstGeom>
          <a:solidFill>
            <a:srgbClr val="F3F4F0"/>
          </a:solidFill>
          <a:ln>
            <a:solidFill>
              <a:srgbClr val="0C44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l"/>
            <a:r>
              <a:rPr lang="en-CA" sz="2000" b="1" i="0" cap="all">
                <a:solidFill>
                  <a:srgbClr val="1A3A6B"/>
                </a:solidFill>
                <a:effectLst/>
                <a:latin typeface="DM Sans"/>
              </a:rPr>
              <a:t>Google Cluster Trace v3</a:t>
            </a:r>
          </a:p>
          <a:p>
            <a:br>
              <a:rPr lang="en-CA" sz="2000"/>
            </a:br>
            <a:endParaRPr lang="en-US" sz="9600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A13703AA-7D46-145F-43A8-F7A915E673BA}"/>
              </a:ext>
            </a:extLst>
          </p:cNvPr>
          <p:cNvSpPr/>
          <p:nvPr/>
        </p:nvSpPr>
        <p:spPr>
          <a:xfrm>
            <a:off x="802892" y="16847116"/>
            <a:ext cx="9648000" cy="719173"/>
          </a:xfrm>
          <a:prstGeom prst="roundRect">
            <a:avLst>
              <a:gd name="adj" fmla="val 1711"/>
            </a:avLst>
          </a:prstGeom>
          <a:solidFill>
            <a:srgbClr val="0C44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r>
              <a:rPr lang="en-US" sz="3600">
                <a:latin typeface="Source Sans Pro" panose="020B0503030403020204" pitchFamily="34" charset="0"/>
                <a:ea typeface="Source Sans Pro" panose="020B0503030403020204" pitchFamily="34" charset="0"/>
              </a:rPr>
              <a:t>Data Description &amp; Preprocessing</a:t>
            </a: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B089D9EB-C01B-1469-97E6-1CA5997E278D}"/>
              </a:ext>
            </a:extLst>
          </p:cNvPr>
          <p:cNvSpPr/>
          <p:nvPr/>
        </p:nvSpPr>
        <p:spPr>
          <a:xfrm>
            <a:off x="33435560" y="7449027"/>
            <a:ext cx="9648000" cy="10866021"/>
          </a:xfrm>
          <a:prstGeom prst="roundRect">
            <a:avLst>
              <a:gd name="adj" fmla="val 1711"/>
            </a:avLst>
          </a:prstGeom>
          <a:solidFill>
            <a:srgbClr val="F3F4F0"/>
          </a:solidFill>
          <a:ln>
            <a:solidFill>
              <a:srgbClr val="0C44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/>
          </a:p>
        </p:txBody>
      </p:sp>
      <p:sp>
        <p:nvSpPr>
          <p:cNvPr id="54" name="Rectangle: Rounded Corners 53">
            <a:extLst>
              <a:ext uri="{FF2B5EF4-FFF2-40B4-BE49-F238E27FC236}">
                <a16:creationId xmlns:a16="http://schemas.microsoft.com/office/drawing/2014/main" id="{2321517F-B052-A5EE-92AD-7392C315F105}"/>
              </a:ext>
            </a:extLst>
          </p:cNvPr>
          <p:cNvSpPr/>
          <p:nvPr/>
        </p:nvSpPr>
        <p:spPr>
          <a:xfrm>
            <a:off x="33435560" y="7445895"/>
            <a:ext cx="9648000" cy="726573"/>
          </a:xfrm>
          <a:prstGeom prst="roundRect">
            <a:avLst>
              <a:gd name="adj" fmla="val 1711"/>
            </a:avLst>
          </a:prstGeom>
          <a:solidFill>
            <a:srgbClr val="0C44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r>
              <a:rPr lang="en-US" sz="3600">
                <a:latin typeface="Source Sans Pro" panose="020B0503030403020204" pitchFamily="34" charset="0"/>
                <a:ea typeface="Source Sans Pro" panose="020B0503030403020204" pitchFamily="34" charset="0"/>
              </a:rPr>
              <a:t>Results</a:t>
            </a:r>
          </a:p>
        </p:txBody>
      </p:sp>
      <p:sp>
        <p:nvSpPr>
          <p:cNvPr id="55" name="Rectangle: Rounded Corners 54">
            <a:extLst>
              <a:ext uri="{FF2B5EF4-FFF2-40B4-BE49-F238E27FC236}">
                <a16:creationId xmlns:a16="http://schemas.microsoft.com/office/drawing/2014/main" id="{671E3D79-5E1A-4746-4902-337BFC606FB6}"/>
              </a:ext>
            </a:extLst>
          </p:cNvPr>
          <p:cNvSpPr/>
          <p:nvPr/>
        </p:nvSpPr>
        <p:spPr>
          <a:xfrm>
            <a:off x="33483321" y="18948992"/>
            <a:ext cx="9648000" cy="6720868"/>
          </a:xfrm>
          <a:prstGeom prst="roundRect">
            <a:avLst>
              <a:gd name="adj" fmla="val 1711"/>
            </a:avLst>
          </a:prstGeom>
          <a:solidFill>
            <a:srgbClr val="F3F4F0"/>
          </a:solidFill>
          <a:ln>
            <a:solidFill>
              <a:srgbClr val="0C44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72B0F898-59F5-377E-24C9-67A6D808F9F3}"/>
              </a:ext>
            </a:extLst>
          </p:cNvPr>
          <p:cNvSpPr/>
          <p:nvPr/>
        </p:nvSpPr>
        <p:spPr>
          <a:xfrm>
            <a:off x="33483321" y="18948992"/>
            <a:ext cx="9648000" cy="726573"/>
          </a:xfrm>
          <a:prstGeom prst="roundRect">
            <a:avLst>
              <a:gd name="adj" fmla="val 1711"/>
            </a:avLst>
          </a:prstGeom>
          <a:solidFill>
            <a:srgbClr val="0C44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r>
              <a:rPr lang="en-US" sz="3600">
                <a:latin typeface="Source Sans Pro" panose="020B0503030403020204" pitchFamily="34" charset="0"/>
                <a:ea typeface="Source Sans Pro" panose="020B0503030403020204" pitchFamily="34" charset="0"/>
              </a:rPr>
              <a:t>Key Findings</a:t>
            </a:r>
          </a:p>
        </p:txBody>
      </p:sp>
      <p:sp>
        <p:nvSpPr>
          <p:cNvPr id="57" name="Rectangle: Rounded Corners 56">
            <a:extLst>
              <a:ext uri="{FF2B5EF4-FFF2-40B4-BE49-F238E27FC236}">
                <a16:creationId xmlns:a16="http://schemas.microsoft.com/office/drawing/2014/main" id="{A07ED848-F2D8-45D0-95C9-8938BF525D6D}"/>
              </a:ext>
            </a:extLst>
          </p:cNvPr>
          <p:cNvSpPr/>
          <p:nvPr/>
        </p:nvSpPr>
        <p:spPr>
          <a:xfrm>
            <a:off x="33483321" y="26303803"/>
            <a:ext cx="9648000" cy="5950898"/>
          </a:xfrm>
          <a:prstGeom prst="roundRect">
            <a:avLst>
              <a:gd name="adj" fmla="val 1711"/>
            </a:avLst>
          </a:prstGeom>
          <a:solidFill>
            <a:srgbClr val="F3F4F0"/>
          </a:solidFill>
          <a:ln>
            <a:solidFill>
              <a:srgbClr val="0C44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/>
          </a:p>
        </p:txBody>
      </p:sp>
      <p:sp>
        <p:nvSpPr>
          <p:cNvPr id="58" name="Rectangle: Rounded Corners 57">
            <a:extLst>
              <a:ext uri="{FF2B5EF4-FFF2-40B4-BE49-F238E27FC236}">
                <a16:creationId xmlns:a16="http://schemas.microsoft.com/office/drawing/2014/main" id="{46019E62-AAA8-A2ED-A4AC-C450BB392C4E}"/>
              </a:ext>
            </a:extLst>
          </p:cNvPr>
          <p:cNvSpPr/>
          <p:nvPr/>
        </p:nvSpPr>
        <p:spPr>
          <a:xfrm>
            <a:off x="33483321" y="26303803"/>
            <a:ext cx="9648000" cy="727200"/>
          </a:xfrm>
          <a:prstGeom prst="roundRect">
            <a:avLst>
              <a:gd name="adj" fmla="val 1711"/>
            </a:avLst>
          </a:prstGeom>
          <a:solidFill>
            <a:srgbClr val="0C44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r>
              <a:rPr lang="en-US" sz="3600">
                <a:latin typeface="Source Sans Pro" panose="020B0503030403020204" pitchFamily="34" charset="0"/>
                <a:ea typeface="Source Sans Pro" panose="020B0503030403020204" pitchFamily="34" charset="0"/>
              </a:rPr>
              <a:t>Limitations &amp; Future Research</a:t>
            </a:r>
          </a:p>
        </p:txBody>
      </p:sp>
      <p:sp>
        <p:nvSpPr>
          <p:cNvPr id="59" name="Rectangle: Rounded Corners 58">
            <a:extLst>
              <a:ext uri="{FF2B5EF4-FFF2-40B4-BE49-F238E27FC236}">
                <a16:creationId xmlns:a16="http://schemas.microsoft.com/office/drawing/2014/main" id="{EC052D20-9C57-EDF1-D5FD-02252C4B47A9}"/>
              </a:ext>
            </a:extLst>
          </p:cNvPr>
          <p:cNvSpPr/>
          <p:nvPr/>
        </p:nvSpPr>
        <p:spPr>
          <a:xfrm>
            <a:off x="11119996" y="7429598"/>
            <a:ext cx="21644204" cy="727200"/>
          </a:xfrm>
          <a:prstGeom prst="roundRect">
            <a:avLst>
              <a:gd name="adj" fmla="val 1711"/>
            </a:avLst>
          </a:prstGeom>
          <a:solidFill>
            <a:srgbClr val="F3F4F0"/>
          </a:solidFill>
          <a:ln>
            <a:solidFill>
              <a:srgbClr val="0C44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r>
              <a:rPr lang="en-US" sz="36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System Architecture Diagram</a:t>
            </a:r>
          </a:p>
        </p:txBody>
      </p:sp>
      <p:sp>
        <p:nvSpPr>
          <p:cNvPr id="62" name="Rectangle: Rounded Corners 61">
            <a:extLst>
              <a:ext uri="{FF2B5EF4-FFF2-40B4-BE49-F238E27FC236}">
                <a16:creationId xmlns:a16="http://schemas.microsoft.com/office/drawing/2014/main" id="{38A887E4-7205-6C7E-71B0-FE84F13132D7}"/>
              </a:ext>
            </a:extLst>
          </p:cNvPr>
          <p:cNvSpPr/>
          <p:nvPr/>
        </p:nvSpPr>
        <p:spPr>
          <a:xfrm>
            <a:off x="11034451" y="17995379"/>
            <a:ext cx="10111588" cy="14289078"/>
          </a:xfrm>
          <a:prstGeom prst="roundRect">
            <a:avLst>
              <a:gd name="adj" fmla="val 1711"/>
            </a:avLst>
          </a:prstGeom>
          <a:solidFill>
            <a:srgbClr val="0C44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/>
          </a:p>
        </p:txBody>
      </p:sp>
      <p:sp>
        <p:nvSpPr>
          <p:cNvPr id="63" name="Rectangle: Rounded Corners 62">
            <a:extLst>
              <a:ext uri="{FF2B5EF4-FFF2-40B4-BE49-F238E27FC236}">
                <a16:creationId xmlns:a16="http://schemas.microsoft.com/office/drawing/2014/main" id="{2A14214E-00AA-B6CF-3F44-3533CA44C1EF}"/>
              </a:ext>
            </a:extLst>
          </p:cNvPr>
          <p:cNvSpPr/>
          <p:nvPr/>
        </p:nvSpPr>
        <p:spPr>
          <a:xfrm>
            <a:off x="21772611" y="17965623"/>
            <a:ext cx="10950830" cy="14289078"/>
          </a:xfrm>
          <a:prstGeom prst="roundRect">
            <a:avLst>
              <a:gd name="adj" fmla="val 1711"/>
            </a:avLst>
          </a:prstGeom>
          <a:solidFill>
            <a:srgbClr val="0C44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endParaRPr lang="en-US" sz="9600"/>
          </a:p>
        </p:txBody>
      </p: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D7D694A1-D4C8-75A0-DF8F-84C0A6FDE965}"/>
              </a:ext>
            </a:extLst>
          </p:cNvPr>
          <p:cNvSpPr/>
          <p:nvPr/>
        </p:nvSpPr>
        <p:spPr>
          <a:xfrm>
            <a:off x="11034451" y="17995378"/>
            <a:ext cx="10080000" cy="727200"/>
          </a:xfrm>
          <a:prstGeom prst="roundRect">
            <a:avLst>
              <a:gd name="adj" fmla="val 1711"/>
            </a:avLst>
          </a:prstGeom>
          <a:solidFill>
            <a:srgbClr val="F3F4F0"/>
          </a:solidFill>
          <a:ln>
            <a:solidFill>
              <a:srgbClr val="0C44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r>
              <a:rPr lang="en-US" sz="36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Predictive Layer - LSTM</a:t>
            </a:r>
          </a:p>
        </p:txBody>
      </p:sp>
      <p:sp>
        <p:nvSpPr>
          <p:cNvPr id="61" name="Rectangle: Rounded Corners 60">
            <a:extLst>
              <a:ext uri="{FF2B5EF4-FFF2-40B4-BE49-F238E27FC236}">
                <a16:creationId xmlns:a16="http://schemas.microsoft.com/office/drawing/2014/main" id="{504DAB9C-892C-69F3-0F4F-2EA0F3841AAF}"/>
              </a:ext>
            </a:extLst>
          </p:cNvPr>
          <p:cNvSpPr/>
          <p:nvPr/>
        </p:nvSpPr>
        <p:spPr>
          <a:xfrm>
            <a:off x="21724850" y="17951449"/>
            <a:ext cx="10950830" cy="727200"/>
          </a:xfrm>
          <a:prstGeom prst="roundRect">
            <a:avLst>
              <a:gd name="adj" fmla="val 1711"/>
            </a:avLst>
          </a:prstGeom>
          <a:solidFill>
            <a:srgbClr val="F3F4F0"/>
          </a:solidFill>
          <a:ln>
            <a:solidFill>
              <a:srgbClr val="0C448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kern="1200"/>
            </a:defPPr>
          </a:lstStyle>
          <a:p>
            <a:pPr algn="ctr"/>
            <a:r>
              <a:rPr lang="en-US" sz="3600">
                <a:solidFill>
                  <a:schemeClr val="tx1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Optimization Models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79C5EF21-659F-1BA2-6720-C6168306F02E}"/>
              </a:ext>
            </a:extLst>
          </p:cNvPr>
          <p:cNvSpPr txBox="1"/>
          <p:nvPr/>
        </p:nvSpPr>
        <p:spPr>
          <a:xfrm>
            <a:off x="11263279" y="18902432"/>
            <a:ext cx="2720694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>
                <a:latin typeface="Source Sans Pro" panose="020B0503030403020204" pitchFamily="34" charset="0"/>
                <a:ea typeface="Source Sans Pro" panose="020B0503030403020204" pitchFamily="34" charset="0"/>
              </a:rPr>
              <a:t>Architecture</a:t>
            </a:r>
            <a:endParaRPr lang="en-CA" sz="36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6552A9A1-BD2C-59C9-8FA9-A50CA4C88AF3}"/>
              </a:ext>
            </a:extLst>
          </p:cNvPr>
          <p:cNvSpPr txBox="1"/>
          <p:nvPr/>
        </p:nvSpPr>
        <p:spPr>
          <a:xfrm>
            <a:off x="11263279" y="19634001"/>
            <a:ext cx="9102903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CA" sz="2800">
                <a:solidFill>
                  <a:srgbClr val="F3F4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12-hour lookback (144 steps @ 5 min), 30-min horizon (6 steps)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CA" sz="2800">
                <a:solidFill>
                  <a:srgbClr val="F3F4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Separate CPU and Memory models — reduces cross-target interference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CA" sz="2800">
                <a:solidFill>
                  <a:srgbClr val="F3F4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Cyclical features: </a:t>
            </a:r>
            <a:r>
              <a:rPr lang="en-CA" sz="2800" err="1">
                <a:solidFill>
                  <a:srgbClr val="F3F4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sin_time</a:t>
            </a:r>
            <a:r>
              <a:rPr lang="en-CA" sz="2800">
                <a:solidFill>
                  <a:srgbClr val="F3F4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</a:t>
            </a:r>
            <a:r>
              <a:rPr lang="en-CA" sz="2800" err="1">
                <a:solidFill>
                  <a:srgbClr val="F3F4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cos_time</a:t>
            </a:r>
            <a:r>
              <a:rPr lang="en-CA" sz="2800">
                <a:solidFill>
                  <a:srgbClr val="F3F4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capture daily/weekly seasonality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CA" sz="2800">
                <a:solidFill>
                  <a:srgbClr val="F3F4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Shuffle=False — preserves temporal order during training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CA" sz="2800">
                <a:solidFill>
                  <a:srgbClr val="F3F4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Outputs: collection-level pred_cpu_p95 and </a:t>
            </a:r>
            <a:r>
              <a:rPr lang="en-CA" sz="2800" err="1">
                <a:solidFill>
                  <a:srgbClr val="F3F4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pred_mem_mb</a:t>
            </a:r>
            <a:r>
              <a:rPr lang="en-CA" sz="2800">
                <a:solidFill>
                  <a:srgbClr val="F3F4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+ σ²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A7BBD8CE-C071-2570-0A3A-CFD0667D91DF}"/>
              </a:ext>
            </a:extLst>
          </p:cNvPr>
          <p:cNvSpPr txBox="1"/>
          <p:nvPr/>
        </p:nvSpPr>
        <p:spPr>
          <a:xfrm>
            <a:off x="11263279" y="24300298"/>
            <a:ext cx="5528430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>
                <a:latin typeface="Source Sans Pro" panose="020B0503030403020204" pitchFamily="34" charset="0"/>
                <a:ea typeface="Source Sans Pro" panose="020B0503030403020204" pitchFamily="34" charset="0"/>
              </a:rPr>
              <a:t>Rolling-Window Evaluation</a:t>
            </a:r>
            <a:endParaRPr lang="en-CA" sz="36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aphicFrame>
        <p:nvGraphicFramePr>
          <p:cNvPr id="67" name="Table 66">
            <a:extLst>
              <a:ext uri="{FF2B5EF4-FFF2-40B4-BE49-F238E27FC236}">
                <a16:creationId xmlns:a16="http://schemas.microsoft.com/office/drawing/2014/main" id="{F8261A78-1684-C20B-8FFC-9285D7889B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4088867"/>
              </p:ext>
            </p:extLst>
          </p:nvPr>
        </p:nvGraphicFramePr>
        <p:xfrm>
          <a:off x="11866941" y="25144734"/>
          <a:ext cx="7895578" cy="2514600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1952089">
                  <a:extLst>
                    <a:ext uri="{9D8B030D-6E8A-4147-A177-3AD203B41FA5}">
                      <a16:colId xmlns:a16="http://schemas.microsoft.com/office/drawing/2014/main" val="1416814499"/>
                    </a:ext>
                  </a:extLst>
                </a:gridCol>
                <a:gridCol w="1981163">
                  <a:extLst>
                    <a:ext uri="{9D8B030D-6E8A-4147-A177-3AD203B41FA5}">
                      <a16:colId xmlns:a16="http://schemas.microsoft.com/office/drawing/2014/main" val="1265224256"/>
                    </a:ext>
                  </a:extLst>
                </a:gridCol>
                <a:gridCol w="1981163">
                  <a:extLst>
                    <a:ext uri="{9D8B030D-6E8A-4147-A177-3AD203B41FA5}">
                      <a16:colId xmlns:a16="http://schemas.microsoft.com/office/drawing/2014/main" val="2079995045"/>
                    </a:ext>
                  </a:extLst>
                </a:gridCol>
                <a:gridCol w="1981163">
                  <a:extLst>
                    <a:ext uri="{9D8B030D-6E8A-4147-A177-3AD203B41FA5}">
                      <a16:colId xmlns:a16="http://schemas.microsoft.com/office/drawing/2014/main" val="4237505161"/>
                    </a:ext>
                  </a:extLst>
                </a:gridCol>
              </a:tblGrid>
              <a:tr h="426639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2800" b="0">
                          <a:solidFill>
                            <a:srgbClr val="FFFFFF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Model</a:t>
                      </a:r>
                    </a:p>
                  </a:txBody>
                  <a:tcPr marL="57150" marR="57150" marT="38100" marB="38100"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CA" sz="2800" b="0">
                          <a:solidFill>
                            <a:srgbClr val="FFFFFF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Window</a:t>
                      </a:r>
                    </a:p>
                  </a:txBody>
                  <a:tcPr marL="57150" marR="57150" marT="38100" marB="38100"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 b="0">
                          <a:solidFill>
                            <a:srgbClr val="FFFFFF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R²</a:t>
                      </a:r>
                    </a:p>
                  </a:txBody>
                  <a:tcPr marL="57150" marR="57150" marT="38100" marB="38100" anchor="ctr">
                    <a:lnB w="12700" cmpd="sng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 b="0">
                          <a:solidFill>
                            <a:srgbClr val="FFFFFF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MAE</a:t>
                      </a:r>
                    </a:p>
                  </a:txBody>
                  <a:tcPr marL="57150" marR="57150" marT="38100" marB="38100" anchor="ctr">
                    <a:lnB w="12700" cmpd="sng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98366377"/>
                  </a:ext>
                </a:extLst>
              </a:tr>
              <a:tr h="4266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800" b="0">
                          <a:solidFill>
                            <a:srgbClr val="0D1F3C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Memory</a:t>
                      </a:r>
                    </a:p>
                  </a:txBody>
                  <a:tcPr marL="57150" marR="57150" marT="38100" marB="3810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800">
                          <a:solidFill>
                            <a:srgbClr val="3A4F7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W1→W2</a:t>
                      </a:r>
                    </a:p>
                  </a:txBody>
                  <a:tcPr marL="57150" marR="57150" marT="38100" marB="381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 b="0">
                          <a:solidFill>
                            <a:srgbClr val="0A7A4A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93.2%</a:t>
                      </a:r>
                    </a:p>
                  </a:txBody>
                  <a:tcPr marL="57150" marR="57150" marT="38100" marB="381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>
                          <a:solidFill>
                            <a:srgbClr val="0F808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0.0063</a:t>
                      </a:r>
                    </a:p>
                  </a:txBody>
                  <a:tcPr marL="57150" marR="57150" marT="38100" marB="3810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9372383"/>
                  </a:ext>
                </a:extLst>
              </a:tr>
              <a:tr h="4266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800" b="0">
                          <a:solidFill>
                            <a:srgbClr val="0D1F3C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Memory</a:t>
                      </a:r>
                    </a:p>
                  </a:txBody>
                  <a:tcPr marL="57150" marR="57150" marT="38100" marB="3810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800">
                          <a:solidFill>
                            <a:srgbClr val="3A4F7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W1–3→W4</a:t>
                      </a:r>
                    </a:p>
                  </a:txBody>
                  <a:tcPr marL="57150" marR="57150" marT="38100" marB="381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 b="0">
                          <a:solidFill>
                            <a:srgbClr val="0A7A4A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89.4%</a:t>
                      </a:r>
                    </a:p>
                  </a:txBody>
                  <a:tcPr marL="57150" marR="57150" marT="38100" marB="381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>
                          <a:solidFill>
                            <a:srgbClr val="0F808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0.0059</a:t>
                      </a:r>
                    </a:p>
                  </a:txBody>
                  <a:tcPr marL="57150" marR="57150" marT="38100" marB="3810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121862"/>
                  </a:ext>
                </a:extLst>
              </a:tr>
              <a:tr h="4266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800" b="0">
                          <a:solidFill>
                            <a:srgbClr val="0D1F3C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CPU</a:t>
                      </a:r>
                    </a:p>
                  </a:txBody>
                  <a:tcPr marL="57150" marR="57150" marT="38100" marB="3810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800">
                          <a:solidFill>
                            <a:srgbClr val="3A4F7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W1→W2</a:t>
                      </a:r>
                    </a:p>
                  </a:txBody>
                  <a:tcPr marL="57150" marR="57150" marT="38100" marB="381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 b="0">
                          <a:solidFill>
                            <a:srgbClr val="C84B2F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30.1%</a:t>
                      </a:r>
                    </a:p>
                  </a:txBody>
                  <a:tcPr marL="57150" marR="57150" marT="38100" marB="381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>
                          <a:solidFill>
                            <a:srgbClr val="0F808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0.0113</a:t>
                      </a:r>
                    </a:p>
                  </a:txBody>
                  <a:tcPr marL="57150" marR="57150" marT="38100" marB="3810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0975668"/>
                  </a:ext>
                </a:extLst>
              </a:tr>
              <a:tr h="4266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800" b="0">
                          <a:solidFill>
                            <a:srgbClr val="0D1F3C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CPU</a:t>
                      </a:r>
                    </a:p>
                  </a:txBody>
                  <a:tcPr marL="57150" marR="57150" marT="38100" marB="38100" anchor="ctr">
                    <a:lnL w="12700" cmpd="sng"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CA" sz="2800">
                          <a:solidFill>
                            <a:srgbClr val="3A4F7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W1–3→W4</a:t>
                      </a:r>
                    </a:p>
                  </a:txBody>
                  <a:tcPr marL="57150" marR="57150" marT="38100" marB="381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 b="0">
                          <a:solidFill>
                            <a:srgbClr val="C84B2F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33.4%</a:t>
                      </a:r>
                    </a:p>
                  </a:txBody>
                  <a:tcPr marL="57150" marR="57150" marT="38100" marB="38100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CA" sz="2800">
                          <a:solidFill>
                            <a:srgbClr val="0F8080"/>
                          </a:solidFill>
                          <a:effectLst/>
                          <a:latin typeface="Open Sans" panose="020B0606030504020204" pitchFamily="34" charset="0"/>
                          <a:ea typeface="Open Sans" panose="020B0606030504020204" pitchFamily="34" charset="0"/>
                          <a:cs typeface="Open Sans" panose="020B0606030504020204" pitchFamily="34" charset="0"/>
                        </a:rPr>
                        <a:t>0.0086</a:t>
                      </a:r>
                    </a:p>
                  </a:txBody>
                  <a:tcPr marL="57150" marR="57150" marT="38100" marB="38100" anchor="ctr">
                    <a:lnL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3F4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7920502"/>
                  </a:ext>
                </a:extLst>
              </a:tr>
            </a:tbl>
          </a:graphicData>
        </a:graphic>
      </p:graphicFrame>
      <p:sp>
        <p:nvSpPr>
          <p:cNvPr id="69" name="TextBox 68">
            <a:extLst>
              <a:ext uri="{FF2B5EF4-FFF2-40B4-BE49-F238E27FC236}">
                <a16:creationId xmlns:a16="http://schemas.microsoft.com/office/drawing/2014/main" id="{AF8C0C4C-19D4-DCC6-2E3A-829F424B36BE}"/>
              </a:ext>
            </a:extLst>
          </p:cNvPr>
          <p:cNvSpPr txBox="1"/>
          <p:nvPr/>
        </p:nvSpPr>
        <p:spPr>
          <a:xfrm>
            <a:off x="11263279" y="27991413"/>
            <a:ext cx="91029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F3F4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Memory forecasting is stable (R² 89–93%). 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sz="2800">
                <a:solidFill>
                  <a:srgbClr val="F3F4F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CPU is harder due to sparsity and burst events; absolute error remains operationally usable.</a:t>
            </a:r>
            <a:endParaRPr lang="en-CA" sz="2800">
              <a:solidFill>
                <a:srgbClr val="F3F4F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06890F4A-7017-B9FF-3C00-9A055DC614C7}"/>
              </a:ext>
            </a:extLst>
          </p:cNvPr>
          <p:cNvSpPr txBox="1"/>
          <p:nvPr/>
        </p:nvSpPr>
        <p:spPr>
          <a:xfrm>
            <a:off x="22006378" y="18902431"/>
            <a:ext cx="3292022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>
                <a:latin typeface="Source Sans Pro" panose="020B0503030403020204" pitchFamily="34" charset="0"/>
                <a:ea typeface="Source Sans Pro" panose="020B0503030403020204" pitchFamily="34" charset="0"/>
              </a:rPr>
              <a:t>Real Time MILP</a:t>
            </a:r>
            <a:endParaRPr lang="en-CA" sz="36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9D3F6AA3-9CE2-3FBB-1374-F4BA7CA5A288}"/>
              </a:ext>
            </a:extLst>
          </p:cNvPr>
          <p:cNvSpPr txBox="1"/>
          <p:nvPr/>
        </p:nvSpPr>
        <p:spPr>
          <a:xfrm>
            <a:off x="22006378" y="24230962"/>
            <a:ext cx="4244522" cy="646331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sz="3600">
                <a:latin typeface="Source Sans Pro" panose="020B0503030403020204" pitchFamily="34" charset="0"/>
                <a:ea typeface="Source Sans Pro" panose="020B0503030403020204" pitchFamily="34" charset="0"/>
              </a:rPr>
              <a:t>Plan Ahead MISOCP </a:t>
            </a:r>
            <a:endParaRPr lang="en-CA" sz="3600">
              <a:latin typeface="Source Sans Pro" panose="020B0503030403020204" pitchFamily="34" charset="0"/>
              <a:ea typeface="Source Sans Pro" panose="020B0503030403020204" pitchFamily="34" charset="0"/>
            </a:endParaRPr>
          </a:p>
        </p:txBody>
      </p:sp>
      <p:graphicFrame>
        <p:nvGraphicFramePr>
          <p:cNvPr id="81" name="Diagram 80">
            <a:extLst>
              <a:ext uri="{FF2B5EF4-FFF2-40B4-BE49-F238E27FC236}">
                <a16:creationId xmlns:a16="http://schemas.microsoft.com/office/drawing/2014/main" id="{4F2C04CF-70EC-4C88-A44D-946FFDDA2B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8274440"/>
              </p:ext>
            </p:extLst>
          </p:nvPr>
        </p:nvGraphicFramePr>
        <p:xfrm>
          <a:off x="997123" y="14084399"/>
          <a:ext cx="9324000" cy="190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832787818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NET" val="4.0.30319.42000"/>
  <p:tag name="AS_OS" val="Microsoft Windows NT 6.2.9200.0"/>
  <p:tag name="AS_RELEASE_DATE" val="2022.04.14"/>
  <p:tag name="AS_TITLE" val="Aspose.Slides for .NET 4.0 Client Profile"/>
  <p:tag name="AS_VERSION" val="22.4"/>
  <p:tag name="POSTERNERDTEMPLATE" val="assessingslate|08-2022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sential">
      <a:majorFont>
        <a:latin typeface="Arial Black"/>
        <a:ea typeface="Arial"/>
        <a:cs typeface="Arial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277</Words>
  <Application>Microsoft Office PowerPoint</Application>
  <PresentationFormat>Custom</PresentationFormat>
  <Paragraphs>57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Arial</vt:lpstr>
      <vt:lpstr>Source Sans Pro</vt:lpstr>
      <vt:lpstr>Calibri</vt:lpstr>
      <vt:lpstr>Open Sans</vt:lpstr>
      <vt:lpstr>DM Sans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Scientific poster example</dc:title>
  <dc:subject>Template For Scientific Poster Presentation</dc:subject>
  <dc:creator>Graphicsland/MakeSigns.com</dc:creator>
  <cp:keywords>scientific, research, template, custom, poster, presentation, symposium, printing, powerpoint, create, design, example, sample, download</cp:keywords>
  <dc:description>We offer free powerpoint poster templates to help you design your very own scientific poster presentation.</dc:description>
  <cp:lastModifiedBy>Alrick Grandison</cp:lastModifiedBy>
  <cp:revision>5</cp:revision>
  <dcterms:modified xsi:type="dcterms:W3CDTF">2026-06-08T00:36:43Z</dcterms:modified>
  <cp:category>science research poster</cp:category>
</cp:coreProperties>
</file>