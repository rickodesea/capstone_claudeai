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201168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1371600"/>
          </a:xfrm>
          <a:prstGeom prst="rect">
            <a:avLst/>
          </a:prstGeom>
          <a:noFill/>
        </p:spPr>
        <p:txBody>
          <a:bodyPr wrap="square">
            <a:spAutoFit/>
          </a:bodyPr>
          <a:lstStyle/>
          <a:p>
            <a:pPr algn="ctr"/>
            <a:r>
              <a:rPr sz="4000" b="1">
                <a:solidFill>
                  <a:srgbClr val="FFFFFF"/>
                </a:solidFill>
              </a:rPr>
              <a:t>Multi-Tenant Cluster Scheduling</a:t>
            </a:r>
          </a:p>
        </p:txBody>
      </p:sp>
      <p:sp>
        <p:nvSpPr>
          <p:cNvPr id="5" name="TextBox 4"/>
          <p:cNvSpPr txBox="1"/>
          <p:nvPr/>
        </p:nvSpPr>
        <p:spPr>
          <a:xfrm>
            <a:off x="731520" y="2103120"/>
            <a:ext cx="10698480" cy="548640"/>
          </a:xfrm>
          <a:prstGeom prst="rect">
            <a:avLst/>
          </a:prstGeom>
          <a:noFill/>
        </p:spPr>
        <p:txBody>
          <a:bodyPr wrap="square">
            <a:spAutoFit/>
          </a:bodyPr>
          <a:lstStyle/>
          <a:p>
            <a:pPr algn="ctr"/>
            <a:r>
              <a:rPr sz="2400" b="0">
                <a:solidFill>
                  <a:srgbClr val="D6E8F5"/>
                </a:solidFill>
              </a:rPr>
              <a:t>A Two-Layer Optimization Pipeline</a:t>
            </a:r>
          </a:p>
        </p:txBody>
      </p:sp>
      <p:sp>
        <p:nvSpPr>
          <p:cNvPr id="6" name="TextBox 5"/>
          <p:cNvSpPr txBox="1"/>
          <p:nvPr/>
        </p:nvSpPr>
        <p:spPr>
          <a:xfrm>
            <a:off x="731520" y="2834640"/>
            <a:ext cx="10698480" cy="457200"/>
          </a:xfrm>
          <a:prstGeom prst="rect">
            <a:avLst/>
          </a:prstGeom>
          <a:noFill/>
        </p:spPr>
        <p:txBody>
          <a:bodyPr wrap="square">
            <a:spAutoFit/>
          </a:bodyPr>
          <a:lstStyle/>
          <a:p>
            <a:pPr algn="ctr"/>
            <a:r>
              <a:rPr sz="2000" b="1">
                <a:solidFill>
                  <a:srgbClr val="FFFFFF"/>
                </a:solidFill>
              </a:rPr>
              <a:t>Plan-Ahead MISOCP  +  Real-Time MILP</a:t>
            </a:r>
          </a:p>
        </p:txBody>
      </p:sp>
      <p:sp>
        <p:nvSpPr>
          <p:cNvPr id="7" name="TextBox 6"/>
          <p:cNvSpPr txBox="1"/>
          <p:nvPr/>
        </p:nvSpPr>
        <p:spPr>
          <a:xfrm>
            <a:off x="731520" y="3429000"/>
            <a:ext cx="10698480" cy="365760"/>
          </a:xfrm>
          <a:prstGeom prst="rect">
            <a:avLst/>
          </a:prstGeom>
          <a:noFill/>
        </p:spPr>
        <p:txBody>
          <a:bodyPr wrap="square">
            <a:spAutoFit/>
          </a:bodyPr>
          <a:lstStyle/>
          <a:p>
            <a:pPr algn="ctr"/>
            <a:r>
              <a:rPr sz="1600" b="0">
                <a:solidFill>
                  <a:srgbClr val="D6E8F5"/>
                </a:solidFill>
              </a:rPr>
              <a:t>Capstone Project — Spring 2026</a:t>
            </a:r>
          </a:p>
        </p:txBody>
      </p:sp>
      <p:sp>
        <p:nvSpPr>
          <p:cNvPr id="8" name="TextBox 7"/>
          <p:cNvSpPr txBox="1"/>
          <p:nvPr/>
        </p:nvSpPr>
        <p:spPr>
          <a:xfrm>
            <a:off x="731520" y="5029200"/>
            <a:ext cx="10698480" cy="365760"/>
          </a:xfrm>
          <a:prstGeom prst="rect">
            <a:avLst/>
          </a:prstGeom>
          <a:noFill/>
        </p:spPr>
        <p:txBody>
          <a:bodyPr wrap="square">
            <a:spAutoFit/>
          </a:bodyPr>
          <a:lstStyle/>
          <a:p>
            <a:pPr algn="ctr"/>
            <a:r>
              <a:rPr sz="1800" b="1">
                <a:solidFill>
                  <a:srgbClr val="FFFFFF"/>
                </a:solidFill>
              </a:rPr>
              <a:t>Alrick Grandison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Pipeline Architecture</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Three decoupled layers — prediction -&gt; planning -&gt; scheduling</a:t>
            </a:r>
          </a:p>
        </p:txBody>
      </p:sp>
      <p:sp>
        <p:nvSpPr>
          <p:cNvPr id="5" name="Rectangle 4"/>
          <p:cNvSpPr/>
          <p:nvPr/>
        </p:nvSpPr>
        <p:spPr>
          <a:xfrm>
            <a:off x="365760" y="1280160"/>
            <a:ext cx="3291840" cy="137160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298448"/>
            <a:ext cx="3200400" cy="320040"/>
          </a:xfrm>
          <a:prstGeom prst="rect">
            <a:avLst/>
          </a:prstGeom>
          <a:noFill/>
        </p:spPr>
        <p:txBody>
          <a:bodyPr wrap="square">
            <a:spAutoFit/>
          </a:bodyPr>
          <a:lstStyle/>
          <a:p>
            <a:pPr algn="l"/>
            <a:r>
              <a:rPr sz="1300" b="1">
                <a:solidFill>
                  <a:srgbClr val="1A375E"/>
                </a:solidFill>
              </a:rPr>
              <a:t>LAYER 1 — Prediction</a:t>
            </a:r>
          </a:p>
        </p:txBody>
      </p:sp>
      <p:sp>
        <p:nvSpPr>
          <p:cNvPr id="7" name="TextBox 6"/>
          <p:cNvSpPr txBox="1"/>
          <p:nvPr/>
        </p:nvSpPr>
        <p:spPr>
          <a:xfrm>
            <a:off x="411480" y="1600200"/>
            <a:ext cx="3200400" cy="1005840"/>
          </a:xfrm>
          <a:prstGeom prst="rect">
            <a:avLst/>
          </a:prstGeom>
          <a:noFill/>
        </p:spPr>
        <p:txBody>
          <a:bodyPr wrap="square">
            <a:spAutoFit/>
          </a:bodyPr>
          <a:lstStyle/>
          <a:p>
            <a:pPr>
              <a:spcBef>
                <a:spcPts val="300"/>
              </a:spcBef>
            </a:pPr>
            <a:r>
              <a:rPr sz="1300">
                <a:solidFill>
                  <a:srgbClr val="333333"/>
                </a:solidFill>
              </a:rPr>
              <a:t>  •  Google cluster traces v3</a:t>
            </a:r>
          </a:p>
          <a:p>
            <a:pPr>
              <a:spcBef>
                <a:spcPts val="300"/>
              </a:spcBef>
            </a:pPr>
            <a:r>
              <a:rPr sz="1300">
                <a:solidFill>
                  <a:srgbClr val="333333"/>
                </a:solidFill>
              </a:rPr>
              <a:t>  •  Demand d_ijr, mean mu_ijr</a:t>
            </a:r>
          </a:p>
          <a:p>
            <a:pPr>
              <a:spcBef>
                <a:spcPts val="300"/>
              </a:spcBef>
            </a:pPr>
            <a:r>
              <a:rPr sz="1300">
                <a:solidFill>
                  <a:srgbClr val="333333"/>
                </a:solidFill>
              </a:rPr>
              <a:t>  •  Covariance Sigma_r (PSD)</a:t>
            </a:r>
          </a:p>
        </p:txBody>
      </p:sp>
      <p:sp>
        <p:nvSpPr>
          <p:cNvPr id="8" name="TextBox 7"/>
          <p:cNvSpPr txBox="1"/>
          <p:nvPr/>
        </p:nvSpPr>
        <p:spPr>
          <a:xfrm>
            <a:off x="3749039" y="1737360"/>
            <a:ext cx="457200" cy="365760"/>
          </a:xfrm>
          <a:prstGeom prst="rect">
            <a:avLst/>
          </a:prstGeom>
          <a:noFill/>
        </p:spPr>
        <p:txBody>
          <a:bodyPr wrap="square">
            <a:spAutoFit/>
          </a:bodyPr>
          <a:lstStyle/>
          <a:p>
            <a:pPr algn="ctr"/>
            <a:r>
              <a:rPr sz="2000" b="0">
                <a:solidFill>
                  <a:srgbClr val="2E6DA4"/>
                </a:solidFill>
              </a:rPr>
              <a:t>-&gt;</a:t>
            </a:r>
          </a:p>
        </p:txBody>
      </p:sp>
      <p:sp>
        <p:nvSpPr>
          <p:cNvPr id="9" name="Rectangle 8"/>
          <p:cNvSpPr/>
          <p:nvPr/>
        </p:nvSpPr>
        <p:spPr>
          <a:xfrm>
            <a:off x="4297680" y="1280160"/>
            <a:ext cx="3291840" cy="137160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298448"/>
            <a:ext cx="3200400" cy="320040"/>
          </a:xfrm>
          <a:prstGeom prst="rect">
            <a:avLst/>
          </a:prstGeom>
          <a:noFill/>
        </p:spPr>
        <p:txBody>
          <a:bodyPr wrap="square">
            <a:spAutoFit/>
          </a:bodyPr>
          <a:lstStyle/>
          <a:p>
            <a:pPr algn="l"/>
            <a:r>
              <a:rPr sz="1300" b="1">
                <a:solidFill>
                  <a:srgbClr val="1A375E"/>
                </a:solidFill>
              </a:rPr>
              <a:t>LAYER 2 — Plan-Ahead MISOCP</a:t>
            </a:r>
          </a:p>
        </p:txBody>
      </p:sp>
      <p:sp>
        <p:nvSpPr>
          <p:cNvPr id="11" name="TextBox 10"/>
          <p:cNvSpPr txBox="1"/>
          <p:nvPr/>
        </p:nvSpPr>
        <p:spPr>
          <a:xfrm>
            <a:off x="4343400" y="1600200"/>
            <a:ext cx="3200400" cy="1005840"/>
          </a:xfrm>
          <a:prstGeom prst="rect">
            <a:avLst/>
          </a:prstGeom>
          <a:noFill/>
        </p:spPr>
        <p:txBody>
          <a:bodyPr wrap="square">
            <a:spAutoFit/>
          </a:bodyPr>
          <a:lstStyle/>
          <a:p>
            <a:pPr>
              <a:spcBef>
                <a:spcPts val="300"/>
              </a:spcBef>
            </a:pPr>
            <a:r>
              <a:rPr sz="1300">
                <a:solidFill>
                  <a:srgbClr val="333333"/>
                </a:solidFill>
              </a:rPr>
              <a:t>  •  Tenant admission (a_i in {0,1})</a:t>
            </a:r>
          </a:p>
          <a:p>
            <a:pPr>
              <a:spcBef>
                <a:spcPts val="300"/>
              </a:spcBef>
            </a:pPr>
            <a:r>
              <a:rPr sz="1300">
                <a:solidFill>
                  <a:srgbClr val="333333"/>
                </a:solidFill>
              </a:rPr>
              <a:t>  •  Node assignment per time slot</a:t>
            </a:r>
          </a:p>
          <a:p>
            <a:pPr>
              <a:spcBef>
                <a:spcPts val="300"/>
              </a:spcBef>
            </a:pPr>
            <a:r>
              <a:rPr sz="1300">
                <a:solidFill>
                  <a:srgbClr val="333333"/>
                </a:solidFill>
              </a:rPr>
              <a:t>  •  Gurobi solver (MISOCP)</a:t>
            </a:r>
          </a:p>
        </p:txBody>
      </p:sp>
      <p:sp>
        <p:nvSpPr>
          <p:cNvPr id="12" name="TextBox 11"/>
          <p:cNvSpPr txBox="1"/>
          <p:nvPr/>
        </p:nvSpPr>
        <p:spPr>
          <a:xfrm>
            <a:off x="7680960" y="1737360"/>
            <a:ext cx="457200" cy="365760"/>
          </a:xfrm>
          <a:prstGeom prst="rect">
            <a:avLst/>
          </a:prstGeom>
          <a:noFill/>
        </p:spPr>
        <p:txBody>
          <a:bodyPr wrap="square">
            <a:spAutoFit/>
          </a:bodyPr>
          <a:lstStyle/>
          <a:p>
            <a:pPr algn="ctr"/>
            <a:r>
              <a:rPr sz="2000" b="0">
                <a:solidFill>
                  <a:srgbClr val="2E6DA4"/>
                </a:solidFill>
              </a:rPr>
              <a:t>-&gt;</a:t>
            </a:r>
          </a:p>
        </p:txBody>
      </p:sp>
      <p:sp>
        <p:nvSpPr>
          <p:cNvPr id="13" name="Rectangle 12"/>
          <p:cNvSpPr/>
          <p:nvPr/>
        </p:nvSpPr>
        <p:spPr>
          <a:xfrm>
            <a:off x="8229600" y="1280160"/>
            <a:ext cx="3291840" cy="137160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298448"/>
            <a:ext cx="3200400" cy="320040"/>
          </a:xfrm>
          <a:prstGeom prst="rect">
            <a:avLst/>
          </a:prstGeom>
          <a:noFill/>
        </p:spPr>
        <p:txBody>
          <a:bodyPr wrap="square">
            <a:spAutoFit/>
          </a:bodyPr>
          <a:lstStyle/>
          <a:p>
            <a:pPr algn="l"/>
            <a:r>
              <a:rPr sz="1300" b="1">
                <a:solidFill>
                  <a:srgbClr val="1A375E"/>
                </a:solidFill>
              </a:rPr>
              <a:t>LAYER 3 — Real-Time MILP</a:t>
            </a:r>
          </a:p>
        </p:txBody>
      </p:sp>
      <p:sp>
        <p:nvSpPr>
          <p:cNvPr id="15" name="TextBox 14"/>
          <p:cNvSpPr txBox="1"/>
          <p:nvPr/>
        </p:nvSpPr>
        <p:spPr>
          <a:xfrm>
            <a:off x="8275320" y="1600200"/>
            <a:ext cx="3200400" cy="1005840"/>
          </a:xfrm>
          <a:prstGeom prst="rect">
            <a:avLst/>
          </a:prstGeom>
          <a:noFill/>
        </p:spPr>
        <p:txBody>
          <a:bodyPr wrap="square">
            <a:spAutoFit/>
          </a:bodyPr>
          <a:lstStyle/>
          <a:p>
            <a:pPr>
              <a:spcBef>
                <a:spcPts val="300"/>
              </a:spcBef>
            </a:pPr>
            <a:r>
              <a:rPr sz="1300">
                <a:solidFill>
                  <a:srgbClr val="333333"/>
                </a:solidFill>
              </a:rPr>
              <a:t>  •  Place jobs on allowed nodes</a:t>
            </a:r>
          </a:p>
          <a:p>
            <a:pPr>
              <a:spcBef>
                <a:spcPts val="300"/>
              </a:spcBef>
            </a:pPr>
            <a:r>
              <a:rPr sz="1300">
                <a:solidFill>
                  <a:srgbClr val="333333"/>
                </a:solidFill>
              </a:rPr>
              <a:t>  •  Constraint C5: access control</a:t>
            </a:r>
          </a:p>
          <a:p>
            <a:pPr>
              <a:spcBef>
                <a:spcPts val="300"/>
              </a:spcBef>
            </a:pPr>
            <a:r>
              <a:rPr sz="1300">
                <a:solidFill>
                  <a:srgbClr val="333333"/>
                </a:solidFill>
              </a:rPr>
              <a:t>  •  OR-Tools CBC / GLOP</a:t>
            </a:r>
          </a:p>
        </p:txBody>
      </p:sp>
      <p:sp>
        <p:nvSpPr>
          <p:cNvPr id="16" name="Rectangle 15"/>
          <p:cNvSpPr/>
          <p:nvPr/>
        </p:nvSpPr>
        <p:spPr>
          <a:xfrm>
            <a:off x="2926080" y="2926080"/>
            <a:ext cx="630936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2944368"/>
            <a:ext cx="6217920" cy="274320"/>
          </a:xfrm>
          <a:prstGeom prst="rect">
            <a:avLst/>
          </a:prstGeom>
          <a:noFill/>
        </p:spPr>
        <p:txBody>
          <a:bodyPr wrap="square">
            <a:spAutoFit/>
          </a:bodyPr>
          <a:lstStyle/>
          <a:p>
            <a:pPr algn="l"/>
            <a:r>
              <a:rPr sz="1200" b="0">
                <a:solidFill>
                  <a:srgbClr val="FFFFFF"/>
                </a:solidFill>
              </a:rPr>
              <a:t>TenantAccessSchedule: {(tenant, slot) -&gt; [node_ids]}  |  filter_active_access(t)</a:t>
            </a:r>
          </a:p>
        </p:txBody>
      </p:sp>
      <p:sp>
        <p:nvSpPr>
          <p:cNvPr id="18" name="Rectangle 17"/>
          <p:cNvSpPr/>
          <p:nvPr/>
        </p:nvSpPr>
        <p:spPr>
          <a:xfrm>
            <a:off x="365760" y="3474720"/>
            <a:ext cx="41148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3483863"/>
            <a:ext cx="4023360" cy="274320"/>
          </a:xfrm>
          <a:prstGeom prst="rect">
            <a:avLst/>
          </a:prstGeom>
          <a:noFill/>
        </p:spPr>
        <p:txBody>
          <a:bodyPr wrap="square">
            <a:spAutoFit/>
          </a:bodyPr>
          <a:lstStyle/>
          <a:p>
            <a:pPr algn="l"/>
            <a:r>
              <a:rPr sz="1300" b="1">
                <a:solidFill>
                  <a:srgbClr val="FFFFFF"/>
                </a:solidFill>
              </a:rPr>
              <a:t>What the pipeline produces</a:t>
            </a:r>
          </a:p>
        </p:txBody>
      </p:sp>
      <p:sp>
        <p:nvSpPr>
          <p:cNvPr id="20" name="TextBox 19"/>
          <p:cNvSpPr txBox="1"/>
          <p:nvPr/>
        </p:nvSpPr>
        <p:spPr>
          <a:xfrm>
            <a:off x="365760" y="3840480"/>
            <a:ext cx="11430000" cy="2560320"/>
          </a:xfrm>
          <a:prstGeom prst="rect">
            <a:avLst/>
          </a:prstGeom>
          <a:noFill/>
        </p:spPr>
        <p:txBody>
          <a:bodyPr wrap="square">
            <a:spAutoFit/>
          </a:bodyPr>
          <a:lstStyle/>
          <a:p>
            <a:pPr>
              <a:spcBef>
                <a:spcPts val="300"/>
              </a:spcBef>
            </a:pPr>
            <a:r>
              <a:rPr sz="1500">
                <a:solidFill>
                  <a:srgbClr val="333333"/>
                </a:solidFill>
              </a:rPr>
              <a:t>  •  Plan-ahead: which tenants are admitted and their authorised node sets for each time slot</a:t>
            </a:r>
          </a:p>
          <a:p>
            <a:pPr>
              <a:spcBef>
                <a:spcPts val="300"/>
              </a:spcBef>
            </a:pPr>
            <a:r>
              <a:rPr sz="1500">
                <a:solidFill>
                  <a:srgbClr val="333333"/>
                </a:solidFill>
              </a:rPr>
              <a:t>  •  TenantLease tuples: (tenant, node_set, start_slot, end_slot) — the reservation contract</a:t>
            </a:r>
          </a:p>
          <a:p>
            <a:pPr>
              <a:spcBef>
                <a:spcPts val="300"/>
              </a:spcBef>
            </a:pPr>
            <a:r>
              <a:rPr sz="1500">
                <a:solidFill>
                  <a:srgbClr val="333333"/>
                </a:solidFill>
              </a:rPr>
              <a:t>  •  Real-time: per-job placement decisions that respect both capacity and access constraints</a:t>
            </a:r>
          </a:p>
          <a:p>
            <a:pPr>
              <a:spcBef>
                <a:spcPts val="300"/>
              </a:spcBef>
            </a:pPr>
            <a:r>
              <a:rPr sz="1500">
                <a:solidFill>
                  <a:srgbClr val="333333"/>
                </a:solidFill>
              </a:rPr>
              <a:t>  •  Full traceability: every placed job links back to a plan-ahead 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Plan-Ahead Model — Improvements Overview</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What was changed, why it mattered, and what was added</a:t>
            </a:r>
          </a:p>
        </p:txBody>
      </p:sp>
      <p:sp>
        <p:nvSpPr>
          <p:cNvPr id="5" name="Rectangle 4"/>
          <p:cNvSpPr/>
          <p:nvPr/>
        </p:nvSpPr>
        <p:spPr>
          <a:xfrm>
            <a:off x="365760" y="1143000"/>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1152144"/>
            <a:ext cx="3566160" cy="274320"/>
          </a:xfrm>
          <a:prstGeom prst="rect">
            <a:avLst/>
          </a:prstGeom>
          <a:noFill/>
        </p:spPr>
        <p:txBody>
          <a:bodyPr wrap="square">
            <a:spAutoFit/>
          </a:bodyPr>
          <a:lstStyle/>
          <a:p>
            <a:pPr algn="l"/>
            <a:r>
              <a:rPr sz="1300" b="1">
                <a:solidFill>
                  <a:srgbClr val="FFFFFF"/>
                </a:solidFill>
              </a:rPr>
              <a:t>Three Critical Bug Fixes</a:t>
            </a:r>
          </a:p>
        </p:txBody>
      </p:sp>
      <p:sp>
        <p:nvSpPr>
          <p:cNvPr id="7" name="TextBox 6"/>
          <p:cNvSpPr txBox="1"/>
          <p:nvPr/>
        </p:nvSpPr>
        <p:spPr>
          <a:xfrm>
            <a:off x="365760" y="1508760"/>
            <a:ext cx="5394960" cy="2011680"/>
          </a:xfrm>
          <a:prstGeom prst="rect">
            <a:avLst/>
          </a:prstGeom>
          <a:noFill/>
        </p:spPr>
        <p:txBody>
          <a:bodyPr wrap="square">
            <a:spAutoFit/>
          </a:bodyPr>
          <a:lstStyle/>
          <a:p>
            <a:pPr>
              <a:spcBef>
                <a:spcPts val="300"/>
              </a:spcBef>
            </a:pPr>
            <a:r>
              <a:rPr sz="1400">
                <a:solidFill>
                  <a:srgbClr val="992222"/>
                </a:solidFill>
              </a:rPr>
              <a:t>  •  C1 constraint: changed &lt;= a[i] to == a[i]  -&gt;  forces placement when admitted</a:t>
            </a:r>
          </a:p>
          <a:p>
            <a:pPr>
              <a:spcBef>
                <a:spcPts val="300"/>
              </a:spcBef>
            </a:pPr>
            <a:r>
              <a:rPr sz="1400">
                <a:solidFill>
                  <a:srgbClr val="992222"/>
                </a:solidFill>
              </a:rPr>
              <a:t>  •  Q_quota fix: corrected quota formula  -&gt;  DRF fairness now computed accurately</a:t>
            </a:r>
          </a:p>
          <a:p>
            <a:pPr>
              <a:spcBef>
                <a:spcPts val="300"/>
              </a:spcBef>
            </a:pPr>
            <a:r>
              <a:rPr sz="1400">
                <a:solidFill>
                  <a:srgbClr val="992222"/>
                </a:solidFill>
              </a:rPr>
              <a:t>  •  Revenue scaling: pi_bar scales with |H|  -&gt;  solver stops preferring rejection</a:t>
            </a:r>
          </a:p>
        </p:txBody>
      </p:sp>
      <p:sp>
        <p:nvSpPr>
          <p:cNvPr id="8" name="Rectangle 7"/>
          <p:cNvSpPr/>
          <p:nvPr/>
        </p:nvSpPr>
        <p:spPr>
          <a:xfrm>
            <a:off x="6126480" y="1143000"/>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90488" y="1152144"/>
            <a:ext cx="3566160" cy="274320"/>
          </a:xfrm>
          <a:prstGeom prst="rect">
            <a:avLst/>
          </a:prstGeom>
          <a:noFill/>
        </p:spPr>
        <p:txBody>
          <a:bodyPr wrap="square">
            <a:spAutoFit/>
          </a:bodyPr>
          <a:lstStyle/>
          <a:p>
            <a:pPr algn="l"/>
            <a:r>
              <a:rPr sz="1300" b="1">
                <a:solidFill>
                  <a:srgbClr val="FFFFFF"/>
                </a:solidFill>
              </a:rPr>
              <a:t>Design Improvements</a:t>
            </a:r>
          </a:p>
        </p:txBody>
      </p:sp>
      <p:sp>
        <p:nvSpPr>
          <p:cNvPr id="10" name="TextBox 9"/>
          <p:cNvSpPr txBox="1"/>
          <p:nvPr/>
        </p:nvSpPr>
        <p:spPr>
          <a:xfrm>
            <a:off x="6126480" y="1508760"/>
            <a:ext cx="5669280" cy="2011680"/>
          </a:xfrm>
          <a:prstGeom prst="rect">
            <a:avLst/>
          </a:prstGeom>
          <a:noFill/>
        </p:spPr>
        <p:txBody>
          <a:bodyPr wrap="square">
            <a:spAutoFit/>
          </a:bodyPr>
          <a:lstStyle/>
          <a:p>
            <a:pPr>
              <a:spcBef>
                <a:spcPts val="300"/>
              </a:spcBef>
            </a:pPr>
            <a:r>
              <a:rPr sz="1400">
                <a:solidFill>
                  <a:srgbClr val="333333"/>
                </a:solidFill>
              </a:rPr>
              <a:t>  •  Gurobi credentials moved to .env file  -&gt;  no hardcoded secrets in code</a:t>
            </a:r>
          </a:p>
          <a:p>
            <a:pPr>
              <a:spcBef>
                <a:spcPts val="300"/>
              </a:spcBef>
            </a:pPr>
            <a:r>
              <a:rPr sz="1400">
                <a:solidFill>
                  <a:srgbClr val="333333"/>
                </a:solidFill>
              </a:rPr>
              <a:t>  •  kap_global  -&gt;  kap_node[n]: per-node safety margin  -&gt;  less conservative SOCP</a:t>
            </a:r>
          </a:p>
          <a:p>
            <a:pPr>
              <a:spcBef>
                <a:spcPts val="300"/>
              </a:spcBef>
            </a:pPr>
            <a:r>
              <a:rPr sz="1400">
                <a:solidFill>
                  <a:srgbClr val="333333"/>
                </a:solidFill>
              </a:rPr>
              <a:t>  •  Gurobi env passed explicitly  -&gt;  no hidden module-level state</a:t>
            </a:r>
          </a:p>
          <a:p>
            <a:pPr>
              <a:spcBef>
                <a:spcPts val="300"/>
              </a:spcBef>
            </a:pPr>
            <a:r>
              <a:rPr sz="1400">
                <a:solidFill>
                  <a:srgbClr val="333333"/>
                </a:solidFill>
              </a:rPr>
              <a:t>  •  lam[0] added for infra weight  -&gt;  fixed duplicate lam[1] index in objective</a:t>
            </a:r>
          </a:p>
        </p:txBody>
      </p:sp>
      <p:sp>
        <p:nvSpPr>
          <p:cNvPr id="11" name="Rectangle 10"/>
          <p:cNvSpPr/>
          <p:nvPr/>
        </p:nvSpPr>
        <p:spPr>
          <a:xfrm>
            <a:off x="365760" y="3749039"/>
            <a:ext cx="50292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3758183"/>
            <a:ext cx="4937760" cy="274320"/>
          </a:xfrm>
          <a:prstGeom prst="rect">
            <a:avLst/>
          </a:prstGeom>
          <a:noFill/>
        </p:spPr>
        <p:txBody>
          <a:bodyPr wrap="square">
            <a:spAutoFit/>
          </a:bodyPr>
          <a:lstStyle/>
          <a:p>
            <a:pPr algn="l"/>
            <a:r>
              <a:rPr sz="1300" b="1">
                <a:solidFill>
                  <a:srgbClr val="FFFFFF"/>
                </a:solidFill>
              </a:rPr>
              <a:t>Code Restructure (monolith -&gt; 4 modules)</a:t>
            </a:r>
          </a:p>
        </p:txBody>
      </p:sp>
      <p:sp>
        <p:nvSpPr>
          <p:cNvPr id="13" name="TextBox 12"/>
          <p:cNvSpPr txBox="1"/>
          <p:nvPr/>
        </p:nvSpPr>
        <p:spPr>
          <a:xfrm>
            <a:off x="365760" y="4114800"/>
            <a:ext cx="11430000" cy="1097280"/>
          </a:xfrm>
          <a:prstGeom prst="rect">
            <a:avLst/>
          </a:prstGeom>
          <a:noFill/>
        </p:spPr>
        <p:txBody>
          <a:bodyPr wrap="square">
            <a:spAutoFit/>
          </a:bodyPr>
          <a:lstStyle/>
          <a:p>
            <a:pPr>
              <a:spcBef>
                <a:spcPts val="300"/>
              </a:spcBef>
            </a:pPr>
            <a:r>
              <a:rPr sz="1400">
                <a:solidFill>
                  <a:srgbClr val="333333"/>
                </a:solidFill>
              </a:rPr>
              <a:t>  •  Before: everything in multi_tenant_cluster.py with no separation of concerns</a:t>
            </a:r>
          </a:p>
          <a:p>
            <a:pPr>
              <a:spcBef>
                <a:spcPts val="300"/>
              </a:spcBef>
            </a:pPr>
            <a:r>
              <a:rPr sz="1400">
                <a:solidFill>
                  <a:srgbClr val="333333"/>
                </a:solidFill>
              </a:rPr>
              <a:t>  •  After: plan_ahead_data.py | plan_ahead_optimizer.py | plan_ahead_sensitivity.py | test_plan_ahead.py</a:t>
            </a:r>
          </a:p>
        </p:txBody>
      </p:sp>
      <p:sp>
        <p:nvSpPr>
          <p:cNvPr id="14" name="Rectangle 13"/>
          <p:cNvSpPr/>
          <p:nvPr/>
        </p:nvSpPr>
        <p:spPr>
          <a:xfrm>
            <a:off x="365760" y="5349240"/>
            <a:ext cx="1371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5358383"/>
            <a:ext cx="1280160" cy="274320"/>
          </a:xfrm>
          <a:prstGeom prst="rect">
            <a:avLst/>
          </a:prstGeom>
          <a:noFill/>
        </p:spPr>
        <p:txBody>
          <a:bodyPr wrap="square">
            <a:spAutoFit/>
          </a:bodyPr>
          <a:lstStyle/>
          <a:p>
            <a:pPr algn="l"/>
            <a:r>
              <a:rPr sz="1300" b="1">
                <a:solidFill>
                  <a:srgbClr val="FFFFFF"/>
                </a:solidFill>
              </a:rPr>
              <a:t>Tests</a:t>
            </a:r>
          </a:p>
        </p:txBody>
      </p:sp>
      <p:sp>
        <p:nvSpPr>
          <p:cNvPr id="16" name="TextBox 15"/>
          <p:cNvSpPr txBox="1"/>
          <p:nvPr/>
        </p:nvSpPr>
        <p:spPr>
          <a:xfrm>
            <a:off x="1920240" y="5349240"/>
            <a:ext cx="9875520" cy="365760"/>
          </a:xfrm>
          <a:prstGeom prst="rect">
            <a:avLst/>
          </a:prstGeom>
          <a:noFill/>
        </p:spPr>
        <p:txBody>
          <a:bodyPr wrap="square">
            <a:spAutoFit/>
          </a:bodyPr>
          <a:lstStyle/>
          <a:p>
            <a:pPr algn="l"/>
            <a:r>
              <a:rPr sz="1400" b="1">
                <a:solidFill>
                  <a:srgbClr val="1A7A3C"/>
                </a:solidFill>
              </a:rPr>
              <a:t>17 behavioral tests — all passing — covering C1-C7 constraints, admission, compliance, migration, isolation, output format</a:t>
            </a:r>
          </a:p>
        </p:txBody>
      </p:sp>
      <p:sp>
        <p:nvSpPr>
          <p:cNvPr id="17" name="TextBox 16"/>
          <p:cNvSpPr txBox="1"/>
          <p:nvPr/>
        </p:nvSpPr>
        <p:spPr>
          <a:xfrm>
            <a:off x="365760" y="5852160"/>
            <a:ext cx="11430000" cy="548640"/>
          </a:xfrm>
          <a:prstGeom prst="rect">
            <a:avLst/>
          </a:prstGeom>
          <a:noFill/>
        </p:spPr>
        <p:txBody>
          <a:bodyPr wrap="square">
            <a:spAutoFit/>
          </a:bodyPr>
          <a:lstStyle/>
          <a:p>
            <a:pPr algn="l"/>
            <a:r>
              <a:rPr sz="1400" b="0">
                <a:solidFill>
                  <a:srgbClr val="2E6DA4"/>
                </a:solidFill>
              </a:rPr>
              <a:t>The following slides explain each bug fix in plain language — WHY it broke, WHAT the solver did wrong, HOW it was fixed.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What Is a 'Workload'? — The Core Concept</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Not a running job — a statistical demand forecast unit</a:t>
            </a:r>
          </a:p>
        </p:txBody>
      </p:sp>
      <p:sp>
        <p:nvSpPr>
          <p:cNvPr id="5" name="TextBox 4"/>
          <p:cNvSpPr txBox="1"/>
          <p:nvPr/>
        </p:nvSpPr>
        <p:spPr>
          <a:xfrm>
            <a:off x="365760" y="1143000"/>
            <a:ext cx="11430000" cy="502920"/>
          </a:xfrm>
          <a:prstGeom prst="rect">
            <a:avLst/>
          </a:prstGeom>
          <a:noFill/>
        </p:spPr>
        <p:txBody>
          <a:bodyPr wrap="square">
            <a:spAutoFit/>
          </a:bodyPr>
          <a:lstStyle/>
          <a:p>
            <a:pPr algn="l"/>
            <a:r>
              <a:rPr sz="1500" b="0">
                <a:solidFill>
                  <a:srgbClr val="333333"/>
                </a:solidFill>
              </a:rPr>
              <a:t>You might expect 'workload' to mean a currently-running job. In the plan-ahead model, it means something different:</a:t>
            </a:r>
          </a:p>
        </p:txBody>
      </p:sp>
      <p:sp>
        <p:nvSpPr>
          <p:cNvPr id="6" name="Rectangle 5"/>
          <p:cNvSpPr/>
          <p:nvPr/>
        </p:nvSpPr>
        <p:spPr>
          <a:xfrm>
            <a:off x="365760" y="1691640"/>
            <a:ext cx="11430000" cy="347472"/>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09928"/>
            <a:ext cx="11247120" cy="310896"/>
          </a:xfrm>
          <a:prstGeom prst="rect">
            <a:avLst/>
          </a:prstGeom>
          <a:noFill/>
        </p:spPr>
        <p:txBody>
          <a:bodyPr wrap="square">
            <a:spAutoFit/>
          </a:bodyPr>
          <a:lstStyle/>
          <a:p>
            <a:pPr algn="l"/>
            <a:r>
              <a:rPr sz="1400" b="1">
                <a:solidFill>
                  <a:srgbClr val="FFFFFF"/>
                </a:solidFill>
              </a:rPr>
              <a:t>Workload (i, j) = a statistical summary of ALL jobs that tenant i expects to run under service profile j during the planning horizon</a:t>
            </a:r>
          </a:p>
        </p:txBody>
      </p:sp>
      <p:sp>
        <p:nvSpPr>
          <p:cNvPr id="8" name="Rectangle 7"/>
          <p:cNvSpPr/>
          <p:nvPr/>
        </p:nvSpPr>
        <p:spPr>
          <a:xfrm>
            <a:off x="365760" y="2194560"/>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2203703"/>
            <a:ext cx="3566160" cy="274320"/>
          </a:xfrm>
          <a:prstGeom prst="rect">
            <a:avLst/>
          </a:prstGeom>
          <a:noFill/>
        </p:spPr>
        <p:txBody>
          <a:bodyPr wrap="square">
            <a:spAutoFit/>
          </a:bodyPr>
          <a:lstStyle/>
          <a:p>
            <a:pPr algn="l"/>
            <a:r>
              <a:rPr sz="1300" b="1">
                <a:solidFill>
                  <a:srgbClr val="FFFFFF"/>
                </a:solidFill>
              </a:rPr>
              <a:t>What a workload carries</a:t>
            </a:r>
          </a:p>
        </p:txBody>
      </p:sp>
      <p:sp>
        <p:nvSpPr>
          <p:cNvPr id="10" name="TextBox 9"/>
          <p:cNvSpPr txBox="1"/>
          <p:nvPr/>
        </p:nvSpPr>
        <p:spPr>
          <a:xfrm>
            <a:off x="365760" y="2578608"/>
            <a:ext cx="5303520" cy="1645920"/>
          </a:xfrm>
          <a:prstGeom prst="rect">
            <a:avLst/>
          </a:prstGeom>
          <a:noFill/>
        </p:spPr>
        <p:txBody>
          <a:bodyPr wrap="square">
            <a:spAutoFit/>
          </a:bodyPr>
          <a:lstStyle/>
          <a:p>
            <a:pPr>
              <a:spcBef>
                <a:spcPts val="300"/>
              </a:spcBef>
            </a:pPr>
            <a:r>
              <a:rPr sz="1300">
                <a:solidFill>
                  <a:srgbClr val="333333"/>
                </a:solidFill>
              </a:rPr>
              <a:t>  •  d_ijr  — declared resource REQUEST  (what the tenant says they need; e.g. 2 CPU, 4 GB RAM)</a:t>
            </a:r>
          </a:p>
          <a:p>
            <a:pPr>
              <a:spcBef>
                <a:spcPts val="300"/>
              </a:spcBef>
            </a:pPr>
            <a:r>
              <a:rPr sz="1300">
                <a:solidFill>
                  <a:srgbClr val="333333"/>
                </a:solidFill>
              </a:rPr>
              <a:t>  •  mu_ijr — mean predicted USAGE  (what historical data says they actually consume)</a:t>
            </a:r>
          </a:p>
          <a:p>
            <a:pPr>
              <a:spcBef>
                <a:spcPts val="300"/>
              </a:spcBef>
            </a:pPr>
            <a:r>
              <a:rPr sz="1300">
                <a:solidFill>
                  <a:srgbClr val="333333"/>
                </a:solidFill>
              </a:rPr>
              <a:t>  •  Sigma_r — covariance across workloads  (how correlated usage is; affects safety margin)</a:t>
            </a:r>
          </a:p>
        </p:txBody>
      </p:sp>
      <p:sp>
        <p:nvSpPr>
          <p:cNvPr id="11" name="Rectangle 10"/>
          <p:cNvSpPr/>
          <p:nvPr/>
        </p:nvSpPr>
        <p:spPr>
          <a:xfrm>
            <a:off x="6126480" y="2194560"/>
            <a:ext cx="41148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203703"/>
            <a:ext cx="4023360" cy="274320"/>
          </a:xfrm>
          <a:prstGeom prst="rect">
            <a:avLst/>
          </a:prstGeom>
          <a:noFill/>
        </p:spPr>
        <p:txBody>
          <a:bodyPr wrap="square">
            <a:spAutoFit/>
          </a:bodyPr>
          <a:lstStyle/>
          <a:p>
            <a:pPr algn="l"/>
            <a:r>
              <a:rPr sz="1300" b="1">
                <a:solidFill>
                  <a:srgbClr val="FFFFFF"/>
                </a:solidFill>
              </a:rPr>
              <a:t>Long-running vs short-running jobs</a:t>
            </a:r>
          </a:p>
        </p:txBody>
      </p:sp>
      <p:sp>
        <p:nvSpPr>
          <p:cNvPr id="13" name="TextBox 12"/>
          <p:cNvSpPr txBox="1"/>
          <p:nvPr/>
        </p:nvSpPr>
        <p:spPr>
          <a:xfrm>
            <a:off x="6126480" y="2578608"/>
            <a:ext cx="5577840" cy="1645920"/>
          </a:xfrm>
          <a:prstGeom prst="rect">
            <a:avLst/>
          </a:prstGeom>
          <a:noFill/>
        </p:spPr>
        <p:txBody>
          <a:bodyPr wrap="square">
            <a:spAutoFit/>
          </a:bodyPr>
          <a:lstStyle/>
          <a:p>
            <a:pPr>
              <a:spcBef>
                <a:spcPts val="300"/>
              </a:spcBef>
            </a:pPr>
            <a:r>
              <a:rPr sz="1300">
                <a:solidFill>
                  <a:srgbClr val="333333"/>
                </a:solidFill>
              </a:rPr>
              <a:t>  •  Long-running: a web server or database that runs 24/7 in every slot</a:t>
            </a:r>
          </a:p>
          <a:p>
            <a:pPr>
              <a:spcBef>
                <a:spcPts val="300"/>
              </a:spcBef>
            </a:pPr>
            <a:r>
              <a:rPr sz="1300">
                <a:solidFill>
                  <a:srgbClr val="333333"/>
                </a:solidFill>
              </a:rPr>
              <a:t>  •  Short-running: batch jobs that come and go every few minutes</a:t>
            </a:r>
          </a:p>
          <a:p>
            <a:pPr>
              <a:spcBef>
                <a:spcPts val="300"/>
              </a:spcBef>
            </a:pPr>
            <a:r>
              <a:rPr sz="1300">
                <a:solidFill>
                  <a:srgbClr val="333333"/>
                </a:solidFill>
              </a:rPr>
              <a:t>  •  Both are captured as a single demand profile for the plan-ahead — the model does not schedule individual jobs; it reserves capacity for them</a:t>
            </a:r>
          </a:p>
        </p:txBody>
      </p:sp>
      <p:sp>
        <p:nvSpPr>
          <p:cNvPr id="14" name="Rectangle 13"/>
          <p:cNvSpPr/>
          <p:nvPr/>
        </p:nvSpPr>
        <p:spPr>
          <a:xfrm>
            <a:off x="365760" y="4343400"/>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4352544"/>
            <a:ext cx="3566160" cy="274320"/>
          </a:xfrm>
          <a:prstGeom prst="rect">
            <a:avLst/>
          </a:prstGeom>
          <a:noFill/>
        </p:spPr>
        <p:txBody>
          <a:bodyPr wrap="square">
            <a:spAutoFit/>
          </a:bodyPr>
          <a:lstStyle/>
          <a:p>
            <a:pPr algn="l"/>
            <a:r>
              <a:rPr sz="1300" b="1">
                <a:solidFill>
                  <a:srgbClr val="FFFFFF"/>
                </a:solidFill>
              </a:rPr>
              <a:t>Why model at this level?</a:t>
            </a:r>
          </a:p>
        </p:txBody>
      </p:sp>
      <p:sp>
        <p:nvSpPr>
          <p:cNvPr id="16" name="TextBox 15"/>
          <p:cNvSpPr txBox="1"/>
          <p:nvPr/>
        </p:nvSpPr>
        <p:spPr>
          <a:xfrm>
            <a:off x="365760" y="4709160"/>
            <a:ext cx="11430000" cy="1463040"/>
          </a:xfrm>
          <a:prstGeom prst="rect">
            <a:avLst/>
          </a:prstGeom>
          <a:noFill/>
        </p:spPr>
        <p:txBody>
          <a:bodyPr wrap="square">
            <a:spAutoFit/>
          </a:bodyPr>
          <a:lstStyle/>
          <a:p>
            <a:pPr>
              <a:spcBef>
                <a:spcPts val="300"/>
              </a:spcBef>
            </a:pPr>
            <a:r>
              <a:rPr sz="1400">
                <a:solidFill>
                  <a:srgbClr val="333333"/>
                </a:solidFill>
              </a:rPr>
              <a:t>  •  The plan-ahead runs ONCE per planning horizon (e.g. daily) and must decide node reservations for hours ahead</a:t>
            </a:r>
          </a:p>
          <a:p>
            <a:pPr>
              <a:spcBef>
                <a:spcPts val="300"/>
              </a:spcBef>
            </a:pPr>
            <a:r>
              <a:rPr sz="1400">
                <a:solidFill>
                  <a:srgbClr val="333333"/>
                </a:solidFill>
              </a:rPr>
              <a:t>  •  At that timescale, individual jobs are unknowable — only statistical forecasts are available</a:t>
            </a:r>
          </a:p>
          <a:p>
            <a:pPr>
              <a:spcBef>
                <a:spcPts val="300"/>
              </a:spcBef>
            </a:pPr>
            <a:r>
              <a:rPr sz="1400">
                <a:solidFill>
                  <a:srgbClr val="333333"/>
                </a:solidFill>
              </a:rPr>
              <a:t>  •  The real-time model (Layer 3) handles actual job placement once per scheduling round (~60 seconds)</a:t>
            </a:r>
          </a:p>
        </p:txBody>
      </p:sp>
      <p:sp>
        <p:nvSpPr>
          <p:cNvPr id="17" name="Rectangle 16"/>
          <p:cNvSpPr/>
          <p:nvPr/>
        </p:nvSpPr>
        <p:spPr>
          <a:xfrm>
            <a:off x="365760" y="6309360"/>
            <a:ext cx="11430000" cy="36576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327648"/>
            <a:ext cx="11247120" cy="329184"/>
          </a:xfrm>
          <a:prstGeom prst="rect">
            <a:avLst/>
          </a:prstGeom>
          <a:noFill/>
        </p:spPr>
        <p:txBody>
          <a:bodyPr wrap="square">
            <a:spAutoFit/>
          </a:bodyPr>
          <a:lstStyle/>
          <a:p>
            <a:pPr algn="l"/>
            <a:r>
              <a:rPr sz="1300" b="0">
                <a:solidFill>
                  <a:srgbClr val="1A375E"/>
                </a:solidFill>
              </a:rPr>
              <a:t>Analogy: a workload is like a hotel room block reservation — you book X rooms for a conference without knowing which specific guests will fill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Bug Fix 1 — The C1 Constraint: = vs &lt;=</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The most critical bug: solver was earning revenue without doing any work</a:t>
            </a:r>
          </a:p>
        </p:txBody>
      </p:sp>
      <p:sp>
        <p:nvSpPr>
          <p:cNvPr id="5" name="Rectangle 4"/>
          <p:cNvSpPr/>
          <p:nvPr/>
        </p:nvSpPr>
        <p:spPr>
          <a:xfrm>
            <a:off x="365760" y="1097280"/>
            <a:ext cx="5394960" cy="320040"/>
          </a:xfrm>
          <a:prstGeom prst="rect">
            <a:avLst/>
          </a:prstGeom>
          <a:solidFill>
            <a:srgbClr val="99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15568"/>
            <a:ext cx="5303520" cy="283464"/>
          </a:xfrm>
          <a:prstGeom prst="rect">
            <a:avLst/>
          </a:prstGeom>
          <a:noFill/>
        </p:spPr>
        <p:txBody>
          <a:bodyPr wrap="square">
            <a:spAutoFit/>
          </a:bodyPr>
          <a:lstStyle/>
          <a:p>
            <a:pPr algn="l"/>
            <a:r>
              <a:rPr sz="1400" b="1">
                <a:solidFill>
                  <a:srgbClr val="FFFFFF"/>
                </a:solidFill>
              </a:rPr>
              <a:t>BEFORE (broken code):</a:t>
            </a:r>
          </a:p>
        </p:txBody>
      </p:sp>
      <p:sp>
        <p:nvSpPr>
          <p:cNvPr id="7" name="Rectangle 6"/>
          <p:cNvSpPr/>
          <p:nvPr/>
        </p:nvSpPr>
        <p:spPr>
          <a:xfrm>
            <a:off x="365760" y="1417320"/>
            <a:ext cx="5394960" cy="45720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35608"/>
            <a:ext cx="5303520" cy="420624"/>
          </a:xfrm>
          <a:prstGeom prst="rect">
            <a:avLst/>
          </a:prstGeom>
          <a:noFill/>
        </p:spPr>
        <p:txBody>
          <a:bodyPr wrap="square">
            <a:spAutoFit/>
          </a:bodyPr>
          <a:lstStyle/>
          <a:p>
            <a:pPr algn="l"/>
            <a:r>
              <a:rPr sz="1400" b="1">
                <a:solidFill>
                  <a:srgbClr val="992222"/>
                </a:solidFill>
              </a:rPr>
              <a:t>SUM over all nodes n: x[i,j,n,t]  &lt;=  a[i]</a:t>
            </a:r>
          </a:p>
        </p:txBody>
      </p:sp>
      <p:sp>
        <p:nvSpPr>
          <p:cNvPr id="9" name="TextBox 8"/>
          <p:cNvSpPr txBox="1"/>
          <p:nvPr/>
        </p:nvSpPr>
        <p:spPr>
          <a:xfrm>
            <a:off x="365760" y="1965960"/>
            <a:ext cx="5394960" cy="1371600"/>
          </a:xfrm>
          <a:prstGeom prst="rect">
            <a:avLst/>
          </a:prstGeom>
          <a:noFill/>
        </p:spPr>
        <p:txBody>
          <a:bodyPr wrap="square">
            <a:spAutoFit/>
          </a:bodyPr>
          <a:lstStyle/>
          <a:p>
            <a:pPr algn="l"/>
            <a:r>
              <a:rPr sz="1300" b="0">
                <a:solidFill>
                  <a:srgbClr val="333333"/>
                </a:solidFill>
              </a:rPr>
              <a:t>Reading: 'place workload (i,j) on at most one node, IF tenant i is admitted.'
Problem: the &lt;= allows placing on ZERO nodes even when admitted. The constraint only prevents placing on MORE than one node. It does NOT require any node to be used.</a:t>
            </a:r>
          </a:p>
        </p:txBody>
      </p:sp>
      <p:sp>
        <p:nvSpPr>
          <p:cNvPr id="10" name="Rectangle 9"/>
          <p:cNvSpPr/>
          <p:nvPr/>
        </p:nvSpPr>
        <p:spPr>
          <a:xfrm>
            <a:off x="6309360" y="1097280"/>
            <a:ext cx="539496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15568"/>
            <a:ext cx="5303520" cy="283464"/>
          </a:xfrm>
          <a:prstGeom prst="rect">
            <a:avLst/>
          </a:prstGeom>
          <a:noFill/>
        </p:spPr>
        <p:txBody>
          <a:bodyPr wrap="square">
            <a:spAutoFit/>
          </a:bodyPr>
          <a:lstStyle/>
          <a:p>
            <a:pPr algn="l"/>
            <a:r>
              <a:rPr sz="1400" b="1">
                <a:solidFill>
                  <a:srgbClr val="FFFFFF"/>
                </a:solidFill>
              </a:rPr>
              <a:t>AFTER (fixed code):</a:t>
            </a:r>
          </a:p>
        </p:txBody>
      </p:sp>
      <p:sp>
        <p:nvSpPr>
          <p:cNvPr id="12" name="Rectangle 11"/>
          <p:cNvSpPr/>
          <p:nvPr/>
        </p:nvSpPr>
        <p:spPr>
          <a:xfrm>
            <a:off x="6309360" y="1417320"/>
            <a:ext cx="5394960" cy="4572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35608"/>
            <a:ext cx="5303520" cy="420624"/>
          </a:xfrm>
          <a:prstGeom prst="rect">
            <a:avLst/>
          </a:prstGeom>
          <a:noFill/>
        </p:spPr>
        <p:txBody>
          <a:bodyPr wrap="square">
            <a:spAutoFit/>
          </a:bodyPr>
          <a:lstStyle/>
          <a:p>
            <a:pPr algn="l"/>
            <a:r>
              <a:rPr sz="1400" b="1">
                <a:solidFill>
                  <a:srgbClr val="1A7A3C"/>
                </a:solidFill>
              </a:rPr>
              <a:t>SUM over all nodes n: x[i,j,n,t]  ==  a[i]</a:t>
            </a:r>
          </a:p>
        </p:txBody>
      </p:sp>
      <p:sp>
        <p:nvSpPr>
          <p:cNvPr id="14" name="TextBox 13"/>
          <p:cNvSpPr txBox="1"/>
          <p:nvPr/>
        </p:nvSpPr>
        <p:spPr>
          <a:xfrm>
            <a:off x="6309360" y="1965960"/>
            <a:ext cx="5394960" cy="1371600"/>
          </a:xfrm>
          <a:prstGeom prst="rect">
            <a:avLst/>
          </a:prstGeom>
          <a:noFill/>
        </p:spPr>
        <p:txBody>
          <a:bodyPr wrap="square">
            <a:spAutoFit/>
          </a:bodyPr>
          <a:lstStyle/>
          <a:p>
            <a:pPr algn="l"/>
            <a:r>
              <a:rPr sz="1300" b="0">
                <a:solidFill>
                  <a:srgbClr val="333333"/>
                </a:solidFill>
              </a:rPr>
              <a:t>Reading: 'place workload (i,j) on EXACTLY one node, if and only if tenant i is admitted. If NOT admitted (a[i]=0), sum must be 0. If admitted (a[i]=1), sum must be 1.'
Now placement is forced. You cannot earn revenue without using a node.</a:t>
            </a:r>
          </a:p>
        </p:txBody>
      </p:sp>
      <p:sp>
        <p:nvSpPr>
          <p:cNvPr id="15" name="Rectangle 14"/>
          <p:cNvSpPr/>
          <p:nvPr/>
        </p:nvSpPr>
        <p:spPr>
          <a:xfrm>
            <a:off x="365760" y="3474720"/>
            <a:ext cx="11430000"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93008"/>
            <a:ext cx="11247120" cy="283464"/>
          </a:xfrm>
          <a:prstGeom prst="rect">
            <a:avLst/>
          </a:prstGeom>
          <a:noFill/>
        </p:spPr>
        <p:txBody>
          <a:bodyPr wrap="square">
            <a:spAutoFit/>
          </a:bodyPr>
          <a:lstStyle/>
          <a:p>
            <a:pPr algn="l"/>
            <a:r>
              <a:rPr sz="1400" b="1">
                <a:solidFill>
                  <a:srgbClr val="FFFFFF"/>
                </a:solidFill>
              </a:rPr>
              <a:t>What the solver exploited with the &lt;= version:</a:t>
            </a:r>
          </a:p>
        </p:txBody>
      </p:sp>
      <p:sp>
        <p:nvSpPr>
          <p:cNvPr id="17" name="TextBox 16"/>
          <p:cNvSpPr txBox="1"/>
          <p:nvPr/>
        </p:nvSpPr>
        <p:spPr>
          <a:xfrm>
            <a:off x="365760" y="3858768"/>
            <a:ext cx="11430000" cy="1143000"/>
          </a:xfrm>
          <a:prstGeom prst="rect">
            <a:avLst/>
          </a:prstGeom>
          <a:noFill/>
        </p:spPr>
        <p:txBody>
          <a:bodyPr wrap="square">
            <a:spAutoFit/>
          </a:bodyPr>
          <a:lstStyle/>
          <a:p>
            <a:pPr algn="l"/>
            <a:r>
              <a:rPr sz="1300" b="0">
                <a:solidFill>
                  <a:srgbClr val="333333"/>
                </a:solidFill>
              </a:rPr>
              <a:t>1. Set a[i] = 1 for ALL tenants (admitted).
2. Set ALL x[i,j,n,t] = 0  (no workloads placed anywhere).
3. No nodes activated  -&gt;  zero infrastructure cost.
4. With no tenants placed, the DRF fairness variable sigma was unconstrained and went to 1.0 (maximum).
5. Objective = +revenue from all admissions - fairness reward = most negative value possible.
   The solver declared this 'optimal' because it satisfied all constraints (&lt;=) without doing any real scheduling.</a:t>
            </a:r>
          </a:p>
        </p:txBody>
      </p:sp>
      <p:sp>
        <p:nvSpPr>
          <p:cNvPr id="18" name="Rectangle 17"/>
          <p:cNvSpPr/>
          <p:nvPr/>
        </p:nvSpPr>
        <p:spPr>
          <a:xfrm>
            <a:off x="365760" y="5120640"/>
            <a:ext cx="114300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138928"/>
            <a:ext cx="11247120" cy="256032"/>
          </a:xfrm>
          <a:prstGeom prst="rect">
            <a:avLst/>
          </a:prstGeom>
          <a:noFill/>
        </p:spPr>
        <p:txBody>
          <a:bodyPr wrap="square">
            <a:spAutoFit/>
          </a:bodyPr>
          <a:lstStyle/>
          <a:p>
            <a:pPr algn="l"/>
            <a:r>
              <a:rPr sz="1300" b="1">
                <a:solidFill>
                  <a:srgbClr val="FFFFFF"/>
                </a:solidFill>
              </a:rPr>
              <a:t>After fix: solver admitted all tenants AND placed every workload on a node. Tests went from 7 failures to 17/17 passing.</a:t>
            </a:r>
          </a:p>
        </p:txBody>
      </p:sp>
      <p:sp>
        <p:nvSpPr>
          <p:cNvPr id="20" name="Rectangle 19"/>
          <p:cNvSpPr/>
          <p:nvPr/>
        </p:nvSpPr>
        <p:spPr>
          <a:xfrm>
            <a:off x="365760" y="5532120"/>
            <a:ext cx="41148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 y="5541264"/>
            <a:ext cx="4023360" cy="274320"/>
          </a:xfrm>
          <a:prstGeom prst="rect">
            <a:avLst/>
          </a:prstGeom>
          <a:noFill/>
        </p:spPr>
        <p:txBody>
          <a:bodyPr wrap="square">
            <a:spAutoFit/>
          </a:bodyPr>
          <a:lstStyle/>
          <a:p>
            <a:pPr algn="l"/>
            <a:r>
              <a:rPr sz="1300" b="1">
                <a:solidFill>
                  <a:srgbClr val="FFFFFF"/>
                </a:solidFill>
              </a:rPr>
              <a:t>Why this matters conceptually</a:t>
            </a:r>
          </a:p>
        </p:txBody>
      </p:sp>
      <p:sp>
        <p:nvSpPr>
          <p:cNvPr id="22" name="TextBox 21"/>
          <p:cNvSpPr txBox="1"/>
          <p:nvPr/>
        </p:nvSpPr>
        <p:spPr>
          <a:xfrm>
            <a:off x="365760" y="5870448"/>
            <a:ext cx="11430000" cy="685800"/>
          </a:xfrm>
          <a:prstGeom prst="rect">
            <a:avLst/>
          </a:prstGeom>
          <a:noFill/>
        </p:spPr>
        <p:txBody>
          <a:bodyPr wrap="square">
            <a:spAutoFit/>
          </a:bodyPr>
          <a:lstStyle/>
          <a:p>
            <a:pPr algn="l"/>
            <a:r>
              <a:rPr sz="1300" b="0">
                <a:solidFill>
                  <a:srgbClr val="333333"/>
                </a:solidFill>
              </a:rPr>
              <a:t>The original &lt;= was logically wrong. In a real cluster, you cannot bill a tenant and then give them nothing. The admission variable a[i] is a CONTRACT — admit means you must place their workloads. The == constraint enforces this contract mathematically.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Bug Fix 2 — Q_quota and DRF Fairness Calculation</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The quota denominator was too large, making fairness appear worthless to the solver</a:t>
            </a:r>
          </a:p>
        </p:txBody>
      </p:sp>
      <p:sp>
        <p:nvSpPr>
          <p:cNvPr id="5" name="Rectangle 4"/>
          <p:cNvSpPr/>
          <p:nvPr/>
        </p:nvSpPr>
        <p:spPr>
          <a:xfrm>
            <a:off x="365760" y="1143000"/>
            <a:ext cx="347472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1152144"/>
            <a:ext cx="3383279" cy="274320"/>
          </a:xfrm>
          <a:prstGeom prst="rect">
            <a:avLst/>
          </a:prstGeom>
          <a:noFill/>
        </p:spPr>
        <p:txBody>
          <a:bodyPr wrap="square">
            <a:spAutoFit/>
          </a:bodyPr>
          <a:lstStyle/>
          <a:p>
            <a:pPr algn="l"/>
            <a:r>
              <a:rPr sz="1300" b="1">
                <a:solidFill>
                  <a:srgbClr val="FFFFFF"/>
                </a:solidFill>
              </a:rPr>
              <a:t>What is DRF Fairness?</a:t>
            </a:r>
          </a:p>
        </p:txBody>
      </p:sp>
      <p:sp>
        <p:nvSpPr>
          <p:cNvPr id="7" name="TextBox 6"/>
          <p:cNvSpPr txBox="1"/>
          <p:nvPr/>
        </p:nvSpPr>
        <p:spPr>
          <a:xfrm>
            <a:off x="365760" y="1508760"/>
            <a:ext cx="11430000" cy="777240"/>
          </a:xfrm>
          <a:prstGeom prst="rect">
            <a:avLst/>
          </a:prstGeom>
          <a:noFill/>
        </p:spPr>
        <p:txBody>
          <a:bodyPr wrap="square">
            <a:spAutoFit/>
          </a:bodyPr>
          <a:lstStyle/>
          <a:p>
            <a:pPr algn="l"/>
            <a:r>
              <a:rPr sz="1400" b="0">
                <a:solidFill>
                  <a:srgbClr val="333333"/>
                </a:solidFill>
              </a:rPr>
              <a:t>DRF = Dominant Resource Fairness. The idea: each tenant has a 'fair share' of resources based on their quota. The model tracks sigma_fair = the MINIMUM satisfaction fraction across all admitted tenants. Maximising sigma_fair means raising the satisfaction of the worst-off tenant — nobody starves.</a:t>
            </a:r>
          </a:p>
        </p:txBody>
      </p:sp>
      <p:sp>
        <p:nvSpPr>
          <p:cNvPr id="8" name="Rectangle 7"/>
          <p:cNvSpPr/>
          <p:nvPr/>
        </p:nvSpPr>
        <p:spPr>
          <a:xfrm>
            <a:off x="365760" y="2423160"/>
            <a:ext cx="22860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2432303"/>
            <a:ext cx="2194560" cy="274320"/>
          </a:xfrm>
          <a:prstGeom prst="rect">
            <a:avLst/>
          </a:prstGeom>
          <a:noFill/>
        </p:spPr>
        <p:txBody>
          <a:bodyPr wrap="square">
            <a:spAutoFit/>
          </a:bodyPr>
          <a:lstStyle/>
          <a:p>
            <a:pPr algn="l"/>
            <a:r>
              <a:rPr sz="1300" b="1">
                <a:solidFill>
                  <a:srgbClr val="FFFFFF"/>
                </a:solidFill>
              </a:rPr>
              <a:t>The formula</a:t>
            </a:r>
          </a:p>
        </p:txBody>
      </p:sp>
      <p:sp>
        <p:nvSpPr>
          <p:cNvPr id="10" name="Rectangle 9"/>
          <p:cNvSpPr/>
          <p:nvPr/>
        </p:nvSpPr>
        <p:spPr>
          <a:xfrm>
            <a:off x="365760" y="2788920"/>
            <a:ext cx="11430000" cy="41148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07208"/>
            <a:ext cx="11247120" cy="374904"/>
          </a:xfrm>
          <a:prstGeom prst="rect">
            <a:avLst/>
          </a:prstGeom>
          <a:noFill/>
        </p:spPr>
        <p:txBody>
          <a:bodyPr wrap="square">
            <a:spAutoFit/>
          </a:bodyPr>
          <a:lstStyle/>
          <a:p>
            <a:pPr algn="l"/>
            <a:r>
              <a:rPr sz="1400" b="1">
                <a:solidFill>
                  <a:srgbClr val="1A375E"/>
                </a:solidFill>
              </a:rPr>
              <a:t>s_i (satisfaction of tenant i)  =  SUM over placed workloads: d[i,j,r*]  /  Q_quota[i, r*]     where r* = dominant resource of tenant i</a:t>
            </a:r>
          </a:p>
        </p:txBody>
      </p:sp>
      <p:sp>
        <p:nvSpPr>
          <p:cNvPr id="12" name="TextBox 11"/>
          <p:cNvSpPr txBox="1"/>
          <p:nvPr/>
        </p:nvSpPr>
        <p:spPr>
          <a:xfrm>
            <a:off x="365760" y="3291840"/>
            <a:ext cx="11430000" cy="548640"/>
          </a:xfrm>
          <a:prstGeom prst="rect">
            <a:avLst/>
          </a:prstGeom>
          <a:noFill/>
        </p:spPr>
        <p:txBody>
          <a:bodyPr wrap="square">
            <a:spAutoFit/>
          </a:bodyPr>
          <a:lstStyle/>
          <a:p>
            <a:pPr algn="l"/>
            <a:r>
              <a:rPr sz="1300" b="0">
                <a:solidFill>
                  <a:srgbClr val="333333"/>
                </a:solidFill>
              </a:rPr>
              <a:t>Larger Q_quota means a SMALLER satisfaction fraction. If the quota is set too high, even fully-placed tenants have very low satisfaction, so sigma_fair gives the solver very little reward — not worth caring about.</a:t>
            </a:r>
          </a:p>
        </p:txBody>
      </p:sp>
      <p:sp>
        <p:nvSpPr>
          <p:cNvPr id="13" name="Rectangle 12"/>
          <p:cNvSpPr/>
          <p:nvPr/>
        </p:nvSpPr>
        <p:spPr>
          <a:xfrm>
            <a:off x="365760" y="3931920"/>
            <a:ext cx="5394960" cy="292608"/>
          </a:xfrm>
          <a:prstGeom prst="rect">
            <a:avLst/>
          </a:prstGeom>
          <a:solidFill>
            <a:srgbClr val="99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950208"/>
            <a:ext cx="5303520" cy="256032"/>
          </a:xfrm>
          <a:prstGeom prst="rect">
            <a:avLst/>
          </a:prstGeom>
          <a:noFill/>
        </p:spPr>
        <p:txBody>
          <a:bodyPr wrap="square">
            <a:spAutoFit/>
          </a:bodyPr>
          <a:lstStyle/>
          <a:p>
            <a:pPr algn="l"/>
            <a:r>
              <a:rPr sz="1300" b="1">
                <a:solidFill>
                  <a:srgbClr val="FFFFFF"/>
                </a:solidFill>
              </a:rPr>
              <a:t>BEFORE (broken):</a:t>
            </a:r>
          </a:p>
        </p:txBody>
      </p:sp>
      <p:sp>
        <p:nvSpPr>
          <p:cNvPr id="15" name="Rectangle 14"/>
          <p:cNvSpPr/>
          <p:nvPr/>
        </p:nvSpPr>
        <p:spPr>
          <a:xfrm>
            <a:off x="365760" y="4224528"/>
            <a:ext cx="5394960" cy="384048"/>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42816"/>
            <a:ext cx="5303520" cy="347472"/>
          </a:xfrm>
          <a:prstGeom prst="rect">
            <a:avLst/>
          </a:prstGeom>
          <a:noFill/>
        </p:spPr>
        <p:txBody>
          <a:bodyPr wrap="square">
            <a:spAutoFit/>
          </a:bodyPr>
          <a:lstStyle/>
          <a:p>
            <a:pPr algn="l"/>
            <a:r>
              <a:rPr sz="1300" b="1">
                <a:solidFill>
                  <a:srgbClr val="992222"/>
                </a:solidFill>
              </a:rPr>
              <a:t>Q_quota = node_capacity * n_nodes / n_tenants  =  10 * 4 / 3  =  13.33</a:t>
            </a:r>
          </a:p>
        </p:txBody>
      </p:sp>
      <p:sp>
        <p:nvSpPr>
          <p:cNvPr id="17" name="TextBox 16"/>
          <p:cNvSpPr txBox="1"/>
          <p:nvPr/>
        </p:nvSpPr>
        <p:spPr>
          <a:xfrm>
            <a:off x="365760" y="4645152"/>
            <a:ext cx="5394960" cy="777240"/>
          </a:xfrm>
          <a:prstGeom prst="rect">
            <a:avLst/>
          </a:prstGeom>
          <a:noFill/>
        </p:spPr>
        <p:txBody>
          <a:bodyPr wrap="square">
            <a:spAutoFit/>
          </a:bodyPr>
          <a:lstStyle/>
          <a:p>
            <a:pPr algn="l"/>
            <a:r>
              <a:rPr sz="1200" b="0">
                <a:solidFill>
                  <a:srgbClr val="333333"/>
                </a:solidFill>
              </a:rPr>
              <a:t>With quota = 13.33: each admitted tenant's demand (~1-2 units) / 13.33 = ~0.09 to 0.15.
sigma_fair reward in objective: lam[3] * 0.15 = 5 * 0.15 = 0.75. Very small.
Solver finds rejecting everyone gives the same or better objective: not worth the infra cost.</a:t>
            </a:r>
          </a:p>
        </p:txBody>
      </p:sp>
      <p:sp>
        <p:nvSpPr>
          <p:cNvPr id="18" name="Rectangle 17"/>
          <p:cNvSpPr/>
          <p:nvPr/>
        </p:nvSpPr>
        <p:spPr>
          <a:xfrm>
            <a:off x="6309360" y="3931920"/>
            <a:ext cx="5394960" cy="2926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950208"/>
            <a:ext cx="5303520" cy="256032"/>
          </a:xfrm>
          <a:prstGeom prst="rect">
            <a:avLst/>
          </a:prstGeom>
          <a:noFill/>
        </p:spPr>
        <p:txBody>
          <a:bodyPr wrap="square">
            <a:spAutoFit/>
          </a:bodyPr>
          <a:lstStyle/>
          <a:p>
            <a:pPr algn="l"/>
            <a:r>
              <a:rPr sz="1300" b="1">
                <a:solidFill>
                  <a:srgbClr val="FFFFFF"/>
                </a:solidFill>
              </a:rPr>
              <a:t>AFTER (fixed):</a:t>
            </a:r>
          </a:p>
        </p:txBody>
      </p:sp>
      <p:sp>
        <p:nvSpPr>
          <p:cNvPr id="20" name="Rectangle 19"/>
          <p:cNvSpPr/>
          <p:nvPr/>
        </p:nvSpPr>
        <p:spPr>
          <a:xfrm>
            <a:off x="6309360" y="4224528"/>
            <a:ext cx="5394960" cy="384048"/>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242816"/>
            <a:ext cx="5303520" cy="347472"/>
          </a:xfrm>
          <a:prstGeom prst="rect">
            <a:avLst/>
          </a:prstGeom>
          <a:noFill/>
        </p:spPr>
        <p:txBody>
          <a:bodyPr wrap="square">
            <a:spAutoFit/>
          </a:bodyPr>
          <a:lstStyle/>
          <a:p>
            <a:pPr algn="l"/>
            <a:r>
              <a:rPr sz="1300" b="1">
                <a:solidFill>
                  <a:srgbClr val="1A7A3C"/>
                </a:solidFill>
              </a:rPr>
              <a:t>Q_quota = node_capacity / 2  =  10 / 2  =  5.0</a:t>
            </a:r>
          </a:p>
        </p:txBody>
      </p:sp>
      <p:sp>
        <p:nvSpPr>
          <p:cNvPr id="22" name="TextBox 21"/>
          <p:cNvSpPr txBox="1"/>
          <p:nvPr/>
        </p:nvSpPr>
        <p:spPr>
          <a:xfrm>
            <a:off x="6309360" y="4645152"/>
            <a:ext cx="5394960" cy="777240"/>
          </a:xfrm>
          <a:prstGeom prst="rect">
            <a:avLst/>
          </a:prstGeom>
          <a:noFill/>
        </p:spPr>
        <p:txBody>
          <a:bodyPr wrap="square">
            <a:spAutoFit/>
          </a:bodyPr>
          <a:lstStyle/>
          <a:p>
            <a:pPr algn="l"/>
            <a:r>
              <a:rPr sz="1200" b="0">
                <a:solidFill>
                  <a:srgbClr val="333333"/>
                </a:solidFill>
              </a:rPr>
              <a:t>With quota = 5.0: each admitted tenant's demand / 5.0 = ~0.2 to 0.4.
sigma_fair reward: lam[3] * 0.4 = 5 * 0.4 = 2.0. Now meaningful.
Solver finds admitting tenants is worth the infra cost because fairness reward is substantial.</a:t>
            </a:r>
          </a:p>
        </p:txBody>
      </p:sp>
      <p:sp>
        <p:nvSpPr>
          <p:cNvPr id="23" name="Rectangle 22"/>
          <p:cNvSpPr/>
          <p:nvPr/>
        </p:nvSpPr>
        <p:spPr>
          <a:xfrm>
            <a:off x="365760" y="5577840"/>
            <a:ext cx="114300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596128"/>
            <a:ext cx="11247120" cy="256032"/>
          </a:xfrm>
          <a:prstGeom prst="rect">
            <a:avLst/>
          </a:prstGeom>
          <a:noFill/>
        </p:spPr>
        <p:txBody>
          <a:bodyPr wrap="square">
            <a:spAutoFit/>
          </a:bodyPr>
          <a:lstStyle/>
          <a:p>
            <a:pPr algn="l"/>
            <a:r>
              <a:rPr sz="1300" b="1">
                <a:solidFill>
                  <a:srgbClr val="FFFFFF"/>
                </a:solidFill>
              </a:rPr>
              <a:t>Rule: Q_quota = node_capacity / 2 preserves the original ratio (10/2=5) and scales correctly when capacity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Bug Fix 3 — Revenue Must Scale With Planning Horizon</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With more time slots, infra cost grew but admission revenue stayed fixed — solver preferred rejecting everyone</a:t>
            </a:r>
          </a:p>
        </p:txBody>
      </p:sp>
      <p:sp>
        <p:nvSpPr>
          <p:cNvPr id="5" name="Rectangle 4"/>
          <p:cNvSpPr/>
          <p:nvPr/>
        </p:nvSpPr>
        <p:spPr>
          <a:xfrm>
            <a:off x="365760" y="1143000"/>
            <a:ext cx="347472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1152144"/>
            <a:ext cx="3383279" cy="274320"/>
          </a:xfrm>
          <a:prstGeom prst="rect">
            <a:avLst/>
          </a:prstGeom>
          <a:noFill/>
        </p:spPr>
        <p:txBody>
          <a:bodyPr wrap="square">
            <a:spAutoFit/>
          </a:bodyPr>
          <a:lstStyle/>
          <a:p>
            <a:pPr algn="l"/>
            <a:r>
              <a:rPr sz="1300" b="1">
                <a:solidFill>
                  <a:srgbClr val="FFFFFF"/>
                </a:solidFill>
              </a:rPr>
              <a:t>The imbalance problem</a:t>
            </a:r>
          </a:p>
        </p:txBody>
      </p:sp>
      <p:sp>
        <p:nvSpPr>
          <p:cNvPr id="7" name="TextBox 6"/>
          <p:cNvSpPr txBox="1"/>
          <p:nvPr/>
        </p:nvSpPr>
        <p:spPr>
          <a:xfrm>
            <a:off x="365760" y="1508760"/>
            <a:ext cx="11430000" cy="594360"/>
          </a:xfrm>
          <a:prstGeom prst="rect">
            <a:avLst/>
          </a:prstGeom>
          <a:noFill/>
        </p:spPr>
        <p:txBody>
          <a:bodyPr wrap="square">
            <a:spAutoFit/>
          </a:bodyPr>
          <a:lstStyle/>
          <a:p>
            <a:pPr algn="l"/>
            <a:r>
              <a:rPr sz="1400" b="0">
                <a:solidFill>
                  <a:srgbClr val="333333"/>
                </a:solidFill>
              </a:rPr>
              <a:t>The objective includes two competing forces: infrastructure COST (paid every slot) vs admission REVENUE (paid once per tenant). When the planning horizon grows, cost grows but revenue did not. The solver found 'reject everyone' was always cheaper.</a:t>
            </a:r>
          </a:p>
        </p:txBody>
      </p:sp>
      <p:sp>
        <p:nvSpPr>
          <p:cNvPr id="8" name="Rectangle 7"/>
          <p:cNvSpPr/>
          <p:nvPr/>
        </p:nvSpPr>
        <p:spPr>
          <a:xfrm>
            <a:off x="365760" y="2240280"/>
            <a:ext cx="5394960" cy="292608"/>
          </a:xfrm>
          <a:prstGeom prst="rect">
            <a:avLst/>
          </a:prstGeom>
          <a:solidFill>
            <a:srgbClr val="99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58568"/>
            <a:ext cx="5303520" cy="256032"/>
          </a:xfrm>
          <a:prstGeom prst="rect">
            <a:avLst/>
          </a:prstGeom>
          <a:noFill/>
        </p:spPr>
        <p:txBody>
          <a:bodyPr wrap="square">
            <a:spAutoFit/>
          </a:bodyPr>
          <a:lstStyle/>
          <a:p>
            <a:pPr algn="l"/>
            <a:r>
              <a:rPr sz="1300" b="1">
                <a:solidFill>
                  <a:srgbClr val="FFFFFF"/>
                </a:solidFill>
              </a:rPr>
              <a:t>Infrastructure COST (paid every slot)</a:t>
            </a:r>
          </a:p>
        </p:txBody>
      </p:sp>
      <p:sp>
        <p:nvSpPr>
          <p:cNvPr id="10" name="TextBox 9"/>
          <p:cNvSpPr txBox="1"/>
          <p:nvPr/>
        </p:nvSpPr>
        <p:spPr>
          <a:xfrm>
            <a:off x="365760" y="2578608"/>
            <a:ext cx="5394960" cy="1371600"/>
          </a:xfrm>
          <a:prstGeom prst="rect">
            <a:avLst/>
          </a:prstGeom>
          <a:noFill/>
        </p:spPr>
        <p:txBody>
          <a:bodyPr wrap="square">
            <a:spAutoFit/>
          </a:bodyPr>
          <a:lstStyle/>
          <a:p>
            <a:pPr algn="l"/>
            <a:r>
              <a:rPr sz="1300" b="0">
                <a:solidFill>
                  <a:srgbClr val="333333"/>
                </a:solidFill>
              </a:rPr>
              <a:t>Cost = lam[0] x pi_n x z[n,t]  (per active node, per slot)
Example with |H|=3 slots, 3 tenants using 4 nodes:
  Cost = 1.0 x 1.0 x 4 nodes x 3 slots = 12.0 units
This grows linearly with the number of planning slots.</a:t>
            </a:r>
          </a:p>
        </p:txBody>
      </p:sp>
      <p:sp>
        <p:nvSpPr>
          <p:cNvPr id="11" name="Rectangle 10"/>
          <p:cNvSpPr/>
          <p:nvPr/>
        </p:nvSpPr>
        <p:spPr>
          <a:xfrm>
            <a:off x="6309360" y="2240280"/>
            <a:ext cx="5394960" cy="2926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258568"/>
            <a:ext cx="5303520" cy="256032"/>
          </a:xfrm>
          <a:prstGeom prst="rect">
            <a:avLst/>
          </a:prstGeom>
          <a:noFill/>
        </p:spPr>
        <p:txBody>
          <a:bodyPr wrap="square">
            <a:spAutoFit/>
          </a:bodyPr>
          <a:lstStyle/>
          <a:p>
            <a:pPr algn="l"/>
            <a:r>
              <a:rPr sz="1300" b="1">
                <a:solidFill>
                  <a:srgbClr val="FFFFFF"/>
                </a:solidFill>
              </a:rPr>
              <a:t>Admission REVENUE (paid ONCE per tenant)</a:t>
            </a:r>
          </a:p>
        </p:txBody>
      </p:sp>
      <p:sp>
        <p:nvSpPr>
          <p:cNvPr id="13" name="TextBox 12"/>
          <p:cNvSpPr txBox="1"/>
          <p:nvPr/>
        </p:nvSpPr>
        <p:spPr>
          <a:xfrm>
            <a:off x="6309360" y="2578608"/>
            <a:ext cx="5394960" cy="1371600"/>
          </a:xfrm>
          <a:prstGeom prst="rect">
            <a:avLst/>
          </a:prstGeom>
          <a:noFill/>
        </p:spPr>
        <p:txBody>
          <a:bodyPr wrap="square">
            <a:spAutoFit/>
          </a:bodyPr>
          <a:lstStyle/>
          <a:p>
            <a:pPr algn="l"/>
            <a:r>
              <a:rPr sz="1300" b="0">
                <a:solidFill>
                  <a:srgbClr val="992222"/>
                </a:solidFill>
              </a:rPr>
              <a:t>Revenue = lam[2] x (pi_bar_i - v_op_i) x a[i]  (per admitted tenant)
BEFORE fix with pi_bar=3.0 (fixed), 3 tenants:
  Revenue = 1.0 x (3.0 - 0.5) x 3 = 7.5 units
Cost (12.0) &gt; Revenue (7.5)  -&gt;  solver rejects everyone!</a:t>
            </a:r>
          </a:p>
        </p:txBody>
      </p:sp>
      <p:sp>
        <p:nvSpPr>
          <p:cNvPr id="14" name="Rectangle 13"/>
          <p:cNvSpPr/>
          <p:nvPr/>
        </p:nvSpPr>
        <p:spPr>
          <a:xfrm>
            <a:off x="365760" y="4069080"/>
            <a:ext cx="11430000"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087368"/>
            <a:ext cx="11247120" cy="283464"/>
          </a:xfrm>
          <a:prstGeom prst="rect">
            <a:avLst/>
          </a:prstGeom>
          <a:noFill/>
        </p:spPr>
        <p:txBody>
          <a:bodyPr wrap="square">
            <a:spAutoFit/>
          </a:bodyPr>
          <a:lstStyle/>
          <a:p>
            <a:pPr algn="l"/>
            <a:r>
              <a:rPr sz="1300" b="1">
                <a:solidFill>
                  <a:srgbClr val="FFFFFF"/>
                </a:solidFill>
              </a:rPr>
              <a:t>Reject ALL = cost 0, revenue 0, objective = 0. Admit ALL = cost 12, revenue 7.5, obj = +4.5 (worse). Solver correctly chose rejection!</a:t>
            </a:r>
          </a:p>
        </p:txBody>
      </p:sp>
      <p:sp>
        <p:nvSpPr>
          <p:cNvPr id="16" name="Rectangle 15"/>
          <p:cNvSpPr/>
          <p:nvPr/>
        </p:nvSpPr>
        <p:spPr>
          <a:xfrm>
            <a:off x="365760" y="4526280"/>
            <a:ext cx="41148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4535424"/>
            <a:ext cx="4023360" cy="274320"/>
          </a:xfrm>
          <a:prstGeom prst="rect">
            <a:avLst/>
          </a:prstGeom>
          <a:noFill/>
        </p:spPr>
        <p:txBody>
          <a:bodyPr wrap="square">
            <a:spAutoFit/>
          </a:bodyPr>
          <a:lstStyle/>
          <a:p>
            <a:pPr algn="l"/>
            <a:r>
              <a:rPr sz="1300" b="1">
                <a:solidFill>
                  <a:srgbClr val="FFFFFF"/>
                </a:solidFill>
              </a:rPr>
              <a:t>The fix: scale revenue with horizon</a:t>
            </a:r>
          </a:p>
        </p:txBody>
      </p:sp>
      <p:sp>
        <p:nvSpPr>
          <p:cNvPr id="18" name="TextBox 17"/>
          <p:cNvSpPr txBox="1"/>
          <p:nvPr/>
        </p:nvSpPr>
        <p:spPr>
          <a:xfrm>
            <a:off x="365760" y="4892040"/>
            <a:ext cx="11430000" cy="457200"/>
          </a:xfrm>
          <a:prstGeom prst="rect">
            <a:avLst/>
          </a:prstGeom>
          <a:noFill/>
        </p:spPr>
        <p:txBody>
          <a:bodyPr wrap="square">
            <a:spAutoFit/>
          </a:bodyPr>
          <a:lstStyle/>
          <a:p>
            <a:pPr algn="l"/>
            <a:r>
              <a:rPr sz="1400" b="0">
                <a:solidFill>
                  <a:srgbClr val="333333"/>
                </a:solidFill>
              </a:rPr>
              <a:t>Logic: if you run the cluster for 3 time slots, you should charge tenants 3x as much. Contract value is proportional to the duration.</a:t>
            </a:r>
          </a:p>
        </p:txBody>
      </p:sp>
      <p:sp>
        <p:nvSpPr>
          <p:cNvPr id="19" name="Rectangle 18"/>
          <p:cNvSpPr/>
          <p:nvPr/>
        </p:nvSpPr>
        <p:spPr>
          <a:xfrm>
            <a:off x="365760" y="5440680"/>
            <a:ext cx="11430000" cy="384048"/>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458968"/>
            <a:ext cx="11247120" cy="347472"/>
          </a:xfrm>
          <a:prstGeom prst="rect">
            <a:avLst/>
          </a:prstGeom>
          <a:noFill/>
        </p:spPr>
        <p:txBody>
          <a:bodyPr wrap="square">
            <a:spAutoFit/>
          </a:bodyPr>
          <a:lstStyle/>
          <a:p>
            <a:pPr algn="l"/>
            <a:r>
              <a:rPr sz="1400" b="1">
                <a:solidFill>
                  <a:srgbClr val="1A7A3C"/>
                </a:solidFill>
              </a:rPr>
              <a:t>AFTER: pi_bar[i] = 3.0 x |H|   and   v_op[i] = 0.5 x |H|   -&gt;   revenue now grows with the horizon just like cost does</a:t>
            </a:r>
          </a:p>
        </p:txBody>
      </p:sp>
      <p:sp>
        <p:nvSpPr>
          <p:cNvPr id="21" name="TextBox 20"/>
          <p:cNvSpPr txBox="1"/>
          <p:nvPr/>
        </p:nvSpPr>
        <p:spPr>
          <a:xfrm>
            <a:off x="365760" y="5943600"/>
            <a:ext cx="11430000" cy="502920"/>
          </a:xfrm>
          <a:prstGeom prst="rect">
            <a:avLst/>
          </a:prstGeom>
          <a:noFill/>
        </p:spPr>
        <p:txBody>
          <a:bodyPr wrap="square">
            <a:spAutoFit/>
          </a:bodyPr>
          <a:lstStyle/>
          <a:p>
            <a:pPr algn="l"/>
            <a:r>
              <a:rPr sz="1300" b="0">
                <a:solidFill>
                  <a:srgbClr val="333333"/>
                </a:solidFill>
              </a:rPr>
              <a:t>Result: with |H|=3, revenue per tenant = (9.0 - 1.5) = 7.5, total revenue = 22.5 &gt; cost 12.0. Solver now finds admitting tenants is profitable. All three tenants are admitted.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The SOCP Capacity Constraint — Safety Under Uncertainty</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Why a simple 'sum of usage &lt;= capacity' is not enough, and what we do instead</a:t>
            </a:r>
          </a:p>
        </p:txBody>
      </p:sp>
      <p:sp>
        <p:nvSpPr>
          <p:cNvPr id="5" name="Rectangle 4"/>
          <p:cNvSpPr/>
          <p:nvPr/>
        </p:nvSpPr>
        <p:spPr>
          <a:xfrm>
            <a:off x="365760" y="1143000"/>
            <a:ext cx="438912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1152144"/>
            <a:ext cx="4297680" cy="274320"/>
          </a:xfrm>
          <a:prstGeom prst="rect">
            <a:avLst/>
          </a:prstGeom>
          <a:noFill/>
        </p:spPr>
        <p:txBody>
          <a:bodyPr wrap="square">
            <a:spAutoFit/>
          </a:bodyPr>
          <a:lstStyle/>
          <a:p>
            <a:pPr algn="l"/>
            <a:r>
              <a:rPr sz="1300" b="1">
                <a:solidFill>
                  <a:srgbClr val="FFFFFF"/>
                </a:solidFill>
              </a:rPr>
              <a:t>The problem: workload usage is uncertain</a:t>
            </a:r>
          </a:p>
        </p:txBody>
      </p:sp>
      <p:sp>
        <p:nvSpPr>
          <p:cNvPr id="7" name="TextBox 6"/>
          <p:cNvSpPr txBox="1"/>
          <p:nvPr/>
        </p:nvSpPr>
        <p:spPr>
          <a:xfrm>
            <a:off x="365760" y="1508760"/>
            <a:ext cx="11430000" cy="594360"/>
          </a:xfrm>
          <a:prstGeom prst="rect">
            <a:avLst/>
          </a:prstGeom>
          <a:noFill/>
        </p:spPr>
        <p:txBody>
          <a:bodyPr wrap="square">
            <a:spAutoFit/>
          </a:bodyPr>
          <a:lstStyle/>
          <a:p>
            <a:pPr algn="l"/>
            <a:r>
              <a:rPr sz="1400" b="0">
                <a:solidFill>
                  <a:srgbClr val="333333"/>
                </a:solidFill>
              </a:rPr>
              <a:t>If we just said: 'total mean usage &lt;= capacity', we would plan a node at exactly 100% utilization on average. That means 50% of the time the node is OVERLOADED. Workloads get throttled, SLAs violated. We need a safety margin.</a:t>
            </a:r>
          </a:p>
        </p:txBody>
      </p:sp>
      <p:sp>
        <p:nvSpPr>
          <p:cNvPr id="8" name="Rectangle 7"/>
          <p:cNvSpPr/>
          <p:nvPr/>
        </p:nvSpPr>
        <p:spPr>
          <a:xfrm>
            <a:off x="365760" y="2240280"/>
            <a:ext cx="50292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2249424"/>
            <a:ext cx="4937760" cy="274320"/>
          </a:xfrm>
          <a:prstGeom prst="rect">
            <a:avLst/>
          </a:prstGeom>
          <a:noFill/>
        </p:spPr>
        <p:txBody>
          <a:bodyPr wrap="square">
            <a:spAutoFit/>
          </a:bodyPr>
          <a:lstStyle/>
          <a:p>
            <a:pPr algn="l"/>
            <a:r>
              <a:rPr sz="1300" b="1">
                <a:solidFill>
                  <a:srgbClr val="FFFFFF"/>
                </a:solidFill>
              </a:rPr>
              <a:t>The Cantelli inequality — a probabilistic guarantee</a:t>
            </a:r>
          </a:p>
        </p:txBody>
      </p:sp>
      <p:sp>
        <p:nvSpPr>
          <p:cNvPr id="10" name="TextBox 9"/>
          <p:cNvSpPr txBox="1"/>
          <p:nvPr/>
        </p:nvSpPr>
        <p:spPr>
          <a:xfrm>
            <a:off x="365760" y="2606040"/>
            <a:ext cx="11430000" cy="594360"/>
          </a:xfrm>
          <a:prstGeom prst="rect">
            <a:avLst/>
          </a:prstGeom>
          <a:noFill/>
        </p:spPr>
        <p:txBody>
          <a:bodyPr wrap="square">
            <a:spAutoFit/>
          </a:bodyPr>
          <a:lstStyle/>
          <a:p>
            <a:pPr algn="l"/>
            <a:r>
              <a:rPr sz="1400" b="0">
                <a:solidFill>
                  <a:srgbClr val="333333"/>
                </a:solidFill>
              </a:rPr>
              <a:t>The Cantelli inequality says: if you add kappa(eps) x standard_deviation to the mean, the probability that the actual usage exceeds that bound is at most eps (the risk tolerance).</a:t>
            </a:r>
          </a:p>
        </p:txBody>
      </p:sp>
      <p:sp>
        <p:nvSpPr>
          <p:cNvPr id="11" name="Rectangle 10"/>
          <p:cNvSpPr/>
          <p:nvPr/>
        </p:nvSpPr>
        <p:spPr>
          <a:xfrm>
            <a:off x="365760" y="3291840"/>
            <a:ext cx="11430000" cy="438912"/>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10128"/>
            <a:ext cx="11247120" cy="402336"/>
          </a:xfrm>
          <a:prstGeom prst="rect">
            <a:avLst/>
          </a:prstGeom>
          <a:noFill/>
        </p:spPr>
        <p:txBody>
          <a:bodyPr wrap="square">
            <a:spAutoFit/>
          </a:bodyPr>
          <a:lstStyle/>
          <a:p>
            <a:pPr algn="l"/>
            <a:r>
              <a:rPr sz="1500" b="1">
                <a:solidFill>
                  <a:srgbClr val="1A375E"/>
                </a:solidFill>
              </a:rPr>
              <a:t>Constraint: Mean_Load[n,r,t]  +  kappa(eps)  x  ||Cholesky(Sigma_r) x xi_vec||  &lt;=  Capacity[n,r] x active[n,t]</a:t>
            </a:r>
          </a:p>
        </p:txBody>
      </p:sp>
      <p:sp>
        <p:nvSpPr>
          <p:cNvPr id="13" name="Rectangle 12"/>
          <p:cNvSpPr/>
          <p:nvPr/>
        </p:nvSpPr>
        <p:spPr>
          <a:xfrm>
            <a:off x="365760" y="3858768"/>
            <a:ext cx="3474720" cy="132588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931920"/>
            <a:ext cx="3291839" cy="292608"/>
          </a:xfrm>
          <a:prstGeom prst="rect">
            <a:avLst/>
          </a:prstGeom>
          <a:noFill/>
        </p:spPr>
        <p:txBody>
          <a:bodyPr wrap="square">
            <a:spAutoFit/>
          </a:bodyPr>
          <a:lstStyle/>
          <a:p>
            <a:pPr algn="l"/>
            <a:r>
              <a:rPr sz="1300" b="1">
                <a:solidFill>
                  <a:srgbClr val="1A375E"/>
                </a:solidFill>
              </a:rPr>
              <a:t>Mean_Load</a:t>
            </a:r>
          </a:p>
        </p:txBody>
      </p:sp>
      <p:sp>
        <p:nvSpPr>
          <p:cNvPr id="15" name="TextBox 14"/>
          <p:cNvSpPr txBox="1"/>
          <p:nvPr/>
        </p:nvSpPr>
        <p:spPr>
          <a:xfrm>
            <a:off x="475488" y="4206240"/>
            <a:ext cx="3291839" cy="914400"/>
          </a:xfrm>
          <a:prstGeom prst="rect">
            <a:avLst/>
          </a:prstGeom>
          <a:noFill/>
        </p:spPr>
        <p:txBody>
          <a:bodyPr wrap="square">
            <a:spAutoFit/>
          </a:bodyPr>
          <a:lstStyle/>
          <a:p>
            <a:pPr algn="l"/>
            <a:r>
              <a:rPr sz="1200" b="0">
                <a:solidFill>
                  <a:srgbClr val="333333"/>
                </a:solidFill>
              </a:rPr>
              <a:t>The AVERAGE total resource consumption on node n from all workloads placed there, accounting for the isolation primitive overhead (eta_kr x mu_ijr).</a:t>
            </a:r>
          </a:p>
        </p:txBody>
      </p:sp>
      <p:sp>
        <p:nvSpPr>
          <p:cNvPr id="16" name="Rectangle 15"/>
          <p:cNvSpPr/>
          <p:nvPr/>
        </p:nvSpPr>
        <p:spPr>
          <a:xfrm>
            <a:off x="4023360" y="3858768"/>
            <a:ext cx="3931920" cy="132588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33088" y="3931920"/>
            <a:ext cx="3749039" cy="292608"/>
          </a:xfrm>
          <a:prstGeom prst="rect">
            <a:avLst/>
          </a:prstGeom>
          <a:noFill/>
        </p:spPr>
        <p:txBody>
          <a:bodyPr wrap="square">
            <a:spAutoFit/>
          </a:bodyPr>
          <a:lstStyle/>
          <a:p>
            <a:pPr algn="l"/>
            <a:r>
              <a:rPr sz="1300" b="1">
                <a:solidFill>
                  <a:srgbClr val="1A375E"/>
                </a:solidFill>
              </a:rPr>
              <a:t>kappa x ||Chol(Sigma) x xi||</a:t>
            </a:r>
          </a:p>
        </p:txBody>
      </p:sp>
      <p:sp>
        <p:nvSpPr>
          <p:cNvPr id="18" name="TextBox 17"/>
          <p:cNvSpPr txBox="1"/>
          <p:nvPr/>
        </p:nvSpPr>
        <p:spPr>
          <a:xfrm>
            <a:off x="4133088" y="4206240"/>
            <a:ext cx="3749039" cy="914400"/>
          </a:xfrm>
          <a:prstGeom prst="rect">
            <a:avLst/>
          </a:prstGeom>
          <a:noFill/>
        </p:spPr>
        <p:txBody>
          <a:bodyPr wrap="square">
            <a:spAutoFit/>
          </a:bodyPr>
          <a:lstStyle/>
          <a:p>
            <a:pPr algn="l"/>
            <a:r>
              <a:rPr sz="1200" b="0">
                <a:solidFill>
                  <a:srgbClr val="333333"/>
                </a:solidFill>
              </a:rPr>
              <a:t>kappa(0.05) = 4.36. This is the safety buffer. Sigma_r is the covariance matrix (how correlated workload fluctuations are). Cholesky decomposes it. The ||...|| is the L2 norm, computed as a Second-Order Cone (hence SOCP).</a:t>
            </a:r>
          </a:p>
        </p:txBody>
      </p:sp>
      <p:sp>
        <p:nvSpPr>
          <p:cNvPr id="19" name="Rectangle 18"/>
          <p:cNvSpPr/>
          <p:nvPr/>
        </p:nvSpPr>
        <p:spPr>
          <a:xfrm>
            <a:off x="8138160" y="3858768"/>
            <a:ext cx="3657600" cy="132588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3931920"/>
            <a:ext cx="3474720" cy="292608"/>
          </a:xfrm>
          <a:prstGeom prst="rect">
            <a:avLst/>
          </a:prstGeom>
          <a:noFill/>
        </p:spPr>
        <p:txBody>
          <a:bodyPr wrap="square">
            <a:spAutoFit/>
          </a:bodyPr>
          <a:lstStyle/>
          <a:p>
            <a:pPr algn="l"/>
            <a:r>
              <a:rPr sz="1300" b="1">
                <a:solidFill>
                  <a:srgbClr val="1A375E"/>
                </a:solidFill>
              </a:rPr>
              <a:t>Capacity x active?</a:t>
            </a:r>
          </a:p>
        </p:txBody>
      </p:sp>
      <p:sp>
        <p:nvSpPr>
          <p:cNvPr id="21" name="TextBox 20"/>
          <p:cNvSpPr txBox="1"/>
          <p:nvPr/>
        </p:nvSpPr>
        <p:spPr>
          <a:xfrm>
            <a:off x="8247888" y="4206240"/>
            <a:ext cx="3474720" cy="914400"/>
          </a:xfrm>
          <a:prstGeom prst="rect">
            <a:avLst/>
          </a:prstGeom>
          <a:noFill/>
        </p:spPr>
        <p:txBody>
          <a:bodyPr wrap="square">
            <a:spAutoFit/>
          </a:bodyPr>
          <a:lstStyle/>
          <a:p>
            <a:pPr algn="l"/>
            <a:r>
              <a:rPr sz="1200" b="0">
                <a:solidFill>
                  <a:srgbClr val="333333"/>
                </a:solidFill>
              </a:rPr>
              <a:t>The right side is node capacity, but ONLY if the node is switched on (z[n,t]=1). If no workloads are placed, z=0 and the right side becomes 0 — no capacity used.</a:t>
            </a:r>
          </a:p>
        </p:txBody>
      </p:sp>
      <p:sp>
        <p:nvSpPr>
          <p:cNvPr id="22" name="Rectangle 21"/>
          <p:cNvSpPr/>
          <p:nvPr/>
        </p:nvSpPr>
        <p:spPr>
          <a:xfrm>
            <a:off x="365760" y="5321808"/>
            <a:ext cx="41148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5330952"/>
            <a:ext cx="4023360" cy="274320"/>
          </a:xfrm>
          <a:prstGeom prst="rect">
            <a:avLst/>
          </a:prstGeom>
          <a:noFill/>
        </p:spPr>
        <p:txBody>
          <a:bodyPr wrap="square">
            <a:spAutoFit/>
          </a:bodyPr>
          <a:lstStyle/>
          <a:p>
            <a:pPr algn="l"/>
            <a:r>
              <a:rPr sz="1300" b="1">
                <a:solidFill>
                  <a:srgbClr val="FFFFFF"/>
                </a:solidFill>
              </a:rPr>
              <a:t>Per-node kappa improvement (our fix)</a:t>
            </a:r>
          </a:p>
        </p:txBody>
      </p:sp>
      <p:sp>
        <p:nvSpPr>
          <p:cNvPr id="24" name="TextBox 23"/>
          <p:cNvSpPr txBox="1"/>
          <p:nvPr/>
        </p:nvSpPr>
        <p:spPr>
          <a:xfrm>
            <a:off x="365760" y="5687568"/>
            <a:ext cx="11430000" cy="594360"/>
          </a:xfrm>
          <a:prstGeom prst="rect">
            <a:avLst/>
          </a:prstGeom>
          <a:noFill/>
        </p:spPr>
        <p:txBody>
          <a:bodyPr wrap="square">
            <a:spAutoFit/>
          </a:bodyPr>
          <a:lstStyle/>
          <a:p>
            <a:pPr algn="l"/>
            <a:r>
              <a:rPr sz="1300" b="0">
                <a:solidFill>
                  <a:srgbClr val="333333"/>
                </a:solidFill>
              </a:rPr>
              <a:t>Original: used the single strictest tenant's risk tolerance for ALL nodes globally (most conservative).
Fix: each node uses the strictest eps_i only among tenants that actually have access to that node. Nodes restricted to lenient tenants get a smaller safety margin -&gt; more workloads can fit.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Real-Time Model — Improvements &amp; Integration</a:t>
            </a:r>
          </a:p>
        </p:txBody>
      </p:sp>
      <p:sp>
        <p:nvSpPr>
          <p:cNvPr id="4" name="Rectangle 3"/>
          <p:cNvSpPr/>
          <p:nvPr/>
        </p:nvSpPr>
        <p:spPr>
          <a:xfrm>
            <a:off x="365760" y="114300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152144"/>
            <a:ext cx="3108960" cy="274320"/>
          </a:xfrm>
          <a:prstGeom prst="rect">
            <a:avLst/>
          </a:prstGeom>
          <a:noFill/>
        </p:spPr>
        <p:txBody>
          <a:bodyPr wrap="square">
            <a:spAutoFit/>
          </a:bodyPr>
          <a:lstStyle/>
          <a:p>
            <a:pPr algn="l"/>
            <a:r>
              <a:rPr sz="1300" b="1">
                <a:solidFill>
                  <a:srgbClr val="FFFFFF"/>
                </a:solidFill>
              </a:rPr>
              <a:t>New Constraint C5 — Plan-Ahead Access Control</a:t>
            </a:r>
          </a:p>
        </p:txBody>
      </p:sp>
      <p:sp>
        <p:nvSpPr>
          <p:cNvPr id="6" name="TextBox 5"/>
          <p:cNvSpPr txBox="1"/>
          <p:nvPr/>
        </p:nvSpPr>
        <p:spPr>
          <a:xfrm>
            <a:off x="365760" y="1508760"/>
            <a:ext cx="11430000" cy="365760"/>
          </a:xfrm>
          <a:prstGeom prst="rect">
            <a:avLst/>
          </a:prstGeom>
          <a:noFill/>
        </p:spPr>
        <p:txBody>
          <a:bodyPr wrap="square">
            <a:spAutoFit/>
          </a:bodyPr>
          <a:lstStyle/>
          <a:p>
            <a:pPr algn="l"/>
            <a:r>
              <a:rPr sz="1500" b="1">
                <a:solidFill>
                  <a:srgbClr val="1A375E"/>
                </a:solidFill>
              </a:rPr>
              <a:t>x_jn = 0  if  n not in A_{t(j)}   (job j cannot be placed on node n if tenant is not authorised)</a:t>
            </a:r>
          </a:p>
        </p:txBody>
      </p:sp>
      <p:sp>
        <p:nvSpPr>
          <p:cNvPr id="7" name="TextBox 6"/>
          <p:cNvSpPr txBox="1"/>
          <p:nvPr/>
        </p:nvSpPr>
        <p:spPr>
          <a:xfrm>
            <a:off x="365760" y="1920240"/>
            <a:ext cx="11430000" cy="1005840"/>
          </a:xfrm>
          <a:prstGeom prst="rect">
            <a:avLst/>
          </a:prstGeom>
          <a:noFill/>
        </p:spPr>
        <p:txBody>
          <a:bodyPr wrap="square">
            <a:spAutoFit/>
          </a:bodyPr>
          <a:lstStyle/>
          <a:p>
            <a:pPr>
              <a:spcBef>
                <a:spcPts val="300"/>
              </a:spcBef>
            </a:pPr>
            <a:r>
              <a:rPr sz="1400">
                <a:solidFill>
                  <a:srgbClr val="333333"/>
                </a:solidFill>
              </a:rPr>
              <a:t>  •  Implemented via upper-bound = 0 at variable creation — zero solver overhead, no extra constraints</a:t>
            </a:r>
          </a:p>
          <a:p>
            <a:pPr>
              <a:spcBef>
                <a:spcPts val="300"/>
              </a:spcBef>
            </a:pPr>
            <a:r>
              <a:rPr sz="1400">
                <a:solidFill>
                  <a:srgbClr val="333333"/>
                </a:solidFill>
              </a:rPr>
              <a:t>  •  tenant_node_access = None  -&gt;  backward-compatible (all nodes allowed);  dict provided  -&gt;  plan-ahead enforced</a:t>
            </a:r>
          </a:p>
          <a:p>
            <a:pPr>
              <a:spcBef>
                <a:spcPts val="300"/>
              </a:spcBef>
            </a:pPr>
            <a:r>
              <a:rPr sz="1400">
                <a:solidFill>
                  <a:srgbClr val="333333"/>
                </a:solidFill>
              </a:rPr>
              <a:t>  •  Verified by tests 13 &amp; 14: blocked nodes produce zero placements, None allows all</a:t>
            </a:r>
          </a:p>
        </p:txBody>
      </p:sp>
      <p:sp>
        <p:nvSpPr>
          <p:cNvPr id="8" name="Rectangle 7"/>
          <p:cNvSpPr/>
          <p:nvPr/>
        </p:nvSpPr>
        <p:spPr>
          <a:xfrm>
            <a:off x="365760" y="306324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3072384"/>
            <a:ext cx="3108960" cy="274320"/>
          </a:xfrm>
          <a:prstGeom prst="rect">
            <a:avLst/>
          </a:prstGeom>
          <a:noFill/>
        </p:spPr>
        <p:txBody>
          <a:bodyPr wrap="square">
            <a:spAutoFit/>
          </a:bodyPr>
          <a:lstStyle/>
          <a:p>
            <a:pPr algn="l"/>
            <a:r>
              <a:rPr sz="1300" b="1">
                <a:solidFill>
                  <a:srgbClr val="FFFFFF"/>
                </a:solidFill>
              </a:rPr>
              <a:t>Integration Points</a:t>
            </a:r>
          </a:p>
        </p:txBody>
      </p:sp>
      <p:sp>
        <p:nvSpPr>
          <p:cNvPr id="10" name="TextBox 9"/>
          <p:cNvSpPr txBox="1"/>
          <p:nvPr/>
        </p:nvSpPr>
        <p:spPr>
          <a:xfrm>
            <a:off x="365760" y="3429000"/>
            <a:ext cx="5303520" cy="2286000"/>
          </a:xfrm>
          <a:prstGeom prst="rect">
            <a:avLst/>
          </a:prstGeom>
          <a:noFill/>
        </p:spPr>
        <p:txBody>
          <a:bodyPr wrap="square">
            <a:spAutoFit/>
          </a:bodyPr>
          <a:lstStyle/>
          <a:p>
            <a:pPr>
              <a:spcBef>
                <a:spcPts val="300"/>
              </a:spcBef>
            </a:pPr>
            <a:r>
              <a:rPr sz="1400">
                <a:solidFill>
                  <a:srgbClr val="333333"/>
                </a:solidFill>
              </a:rPr>
              <a:t>  •  filter_active_access(schedule, t) slices TenantAccessSchedule for the current round</a:t>
            </a:r>
          </a:p>
          <a:p>
            <a:pPr>
              <a:spcBef>
                <a:spcPts val="300"/>
              </a:spcBef>
            </a:pPr>
            <a:r>
              <a:rPr sz="1400">
                <a:solidFill>
                  <a:srgbClr val="333333"/>
                </a:solidFill>
              </a:rPr>
              <a:t>  •  TenantLease dataclass holds (tenant, nodes, start_slot, end_slot)</a:t>
            </a:r>
          </a:p>
          <a:p>
            <a:pPr>
              <a:spcBef>
                <a:spcPts val="300"/>
              </a:spcBef>
            </a:pPr>
            <a:r>
              <a:rPr sz="1400">
                <a:solidFill>
                  <a:srgbClr val="333333"/>
                </a:solidFill>
              </a:rPr>
              <a:t>  •  schedule_to_leases() merges consecutive identical slots into compact leases</a:t>
            </a:r>
          </a:p>
        </p:txBody>
      </p:sp>
      <p:sp>
        <p:nvSpPr>
          <p:cNvPr id="11" name="Rectangle 10"/>
          <p:cNvSpPr/>
          <p:nvPr/>
        </p:nvSpPr>
        <p:spPr>
          <a:xfrm>
            <a:off x="5943600" y="306324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07608" y="3072384"/>
            <a:ext cx="3108960" cy="274320"/>
          </a:xfrm>
          <a:prstGeom prst="rect">
            <a:avLst/>
          </a:prstGeom>
          <a:noFill/>
        </p:spPr>
        <p:txBody>
          <a:bodyPr wrap="square">
            <a:spAutoFit/>
          </a:bodyPr>
          <a:lstStyle/>
          <a:p>
            <a:pPr algn="l"/>
            <a:r>
              <a:rPr sz="1300" b="1">
                <a:solidFill>
                  <a:srgbClr val="FFFFFF"/>
                </a:solidFill>
              </a:rPr>
              <a:t>Scalability</a:t>
            </a:r>
          </a:p>
        </p:txBody>
      </p:sp>
      <p:sp>
        <p:nvSpPr>
          <p:cNvPr id="13" name="TextBox 12"/>
          <p:cNvSpPr txBox="1"/>
          <p:nvPr/>
        </p:nvSpPr>
        <p:spPr>
          <a:xfrm>
            <a:off x="5943600" y="3429000"/>
            <a:ext cx="5852160" cy="2286000"/>
          </a:xfrm>
          <a:prstGeom prst="rect">
            <a:avLst/>
          </a:prstGeom>
          <a:noFill/>
        </p:spPr>
        <p:txBody>
          <a:bodyPr wrap="square">
            <a:spAutoFit/>
          </a:bodyPr>
          <a:lstStyle/>
          <a:p>
            <a:pPr>
              <a:spcBef>
                <a:spcPts val="300"/>
              </a:spcBef>
            </a:pPr>
            <a:r>
              <a:rPr sz="1400">
                <a:solidFill>
                  <a:srgbClr val="333333"/>
                </a:solidFill>
              </a:rPr>
              <a:t>  •  CBC (exact MILP): correct for &lt;= ~24 jobs per round; slows beyond that</a:t>
            </a:r>
          </a:p>
          <a:p>
            <a:pPr>
              <a:spcBef>
                <a:spcPts val="300"/>
              </a:spcBef>
            </a:pPr>
            <a:r>
              <a:rPr sz="1400">
                <a:solidFill>
                  <a:srgbClr val="333333"/>
                </a:solidFill>
              </a:rPr>
              <a:t>  •  GLOP (LP relaxation + rounding): 10x faster, slight quality loss — used in Sample 3</a:t>
            </a:r>
          </a:p>
          <a:p>
            <a:pPr>
              <a:spcBef>
                <a:spcPts val="300"/>
              </a:spcBef>
            </a:pPr>
            <a:r>
              <a:rPr sz="1400">
                <a:solidFill>
                  <a:srgbClr val="333333"/>
                </a:solidFill>
              </a:rPr>
              <a:t>  •  Heuristic recommendation: First-Fit Decreasing by pred_mem — O(|J|x|N|), microseconds</a:t>
            </a:r>
          </a:p>
          <a:p>
            <a:pPr>
              <a:spcBef>
                <a:spcPts val="300"/>
              </a:spcBef>
            </a:pPr>
            <a:r>
              <a:rPr sz="1400">
                <a:solidFill>
                  <a:srgbClr val="333333"/>
                </a:solidFill>
              </a:rPr>
              <a:t>  •  Solver selectable per config; GLOP auto-selected in High complexity sample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How C5 Connects Plan-Ahead to Real-Time — The Handshake</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The plan-ahead issues a contract; the real-time scheduler honours it</a:t>
            </a:r>
          </a:p>
        </p:txBody>
      </p:sp>
      <p:sp>
        <p:nvSpPr>
          <p:cNvPr id="5" name="Rectangle 4"/>
          <p:cNvSpPr/>
          <p:nvPr/>
        </p:nvSpPr>
        <p:spPr>
          <a:xfrm>
            <a:off x="365760" y="1143000"/>
            <a:ext cx="5943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1152144"/>
            <a:ext cx="5852160" cy="274320"/>
          </a:xfrm>
          <a:prstGeom prst="rect">
            <a:avLst/>
          </a:prstGeom>
          <a:noFill/>
        </p:spPr>
        <p:txBody>
          <a:bodyPr wrap="square">
            <a:spAutoFit/>
          </a:bodyPr>
          <a:lstStyle/>
          <a:p>
            <a:pPr algn="l"/>
            <a:r>
              <a:rPr sz="1300" b="1">
                <a:solidFill>
                  <a:srgbClr val="FFFFFF"/>
                </a:solidFill>
              </a:rPr>
              <a:t>Step 1: Plan-ahead decides node access (runs once per horizon)</a:t>
            </a:r>
          </a:p>
        </p:txBody>
      </p:sp>
      <p:sp>
        <p:nvSpPr>
          <p:cNvPr id="7" name="Rectangle 6"/>
          <p:cNvSpPr/>
          <p:nvPr/>
        </p:nvSpPr>
        <p:spPr>
          <a:xfrm>
            <a:off x="365760" y="1508760"/>
            <a:ext cx="11430000" cy="41148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11247120" cy="374904"/>
          </a:xfrm>
          <a:prstGeom prst="rect">
            <a:avLst/>
          </a:prstGeom>
          <a:noFill/>
        </p:spPr>
        <p:txBody>
          <a:bodyPr wrap="square">
            <a:spAutoFit/>
          </a:bodyPr>
          <a:lstStyle/>
          <a:p>
            <a:pPr algn="l"/>
            <a:r>
              <a:rPr sz="1400" b="1">
                <a:solidFill>
                  <a:srgbClr val="1A375E"/>
                </a:solidFill>
              </a:rPr>
              <a:t>TenantAccessSchedule = { (tenant=0, slot=1): [node 2, node 3],   (tenant=1, slot=1): [node 0, node 1],  ... }</a:t>
            </a:r>
          </a:p>
        </p:txBody>
      </p:sp>
      <p:sp>
        <p:nvSpPr>
          <p:cNvPr id="9" name="TextBox 8"/>
          <p:cNvSpPr txBox="1"/>
          <p:nvPr/>
        </p:nvSpPr>
        <p:spPr>
          <a:xfrm>
            <a:off x="365760" y="1965960"/>
            <a:ext cx="11430000" cy="502920"/>
          </a:xfrm>
          <a:prstGeom prst="rect">
            <a:avLst/>
          </a:prstGeom>
          <a:noFill/>
        </p:spPr>
        <p:txBody>
          <a:bodyPr wrap="square">
            <a:spAutoFit/>
          </a:bodyPr>
          <a:lstStyle/>
          <a:p>
            <a:pPr algn="l"/>
            <a:r>
              <a:rPr sz="1300" b="0">
                <a:solidFill>
                  <a:srgbClr val="333333"/>
                </a:solidFill>
              </a:rPr>
              <a:t>This says: 'At time slot 1, tenant 0 may only use nodes 2 and 3. Tenant 1 may only use nodes 0 and 1.'  This is a hard access-control decision — no real-time flexibility to override it.</a:t>
            </a:r>
          </a:p>
        </p:txBody>
      </p:sp>
      <p:sp>
        <p:nvSpPr>
          <p:cNvPr id="10" name="Rectangle 9"/>
          <p:cNvSpPr/>
          <p:nvPr/>
        </p:nvSpPr>
        <p:spPr>
          <a:xfrm>
            <a:off x="365760" y="2606040"/>
            <a:ext cx="5943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2615184"/>
            <a:ext cx="5852160" cy="274320"/>
          </a:xfrm>
          <a:prstGeom prst="rect">
            <a:avLst/>
          </a:prstGeom>
          <a:noFill/>
        </p:spPr>
        <p:txBody>
          <a:bodyPr wrap="square">
            <a:spAutoFit/>
          </a:bodyPr>
          <a:lstStyle/>
          <a:p>
            <a:pPr algn="l"/>
            <a:r>
              <a:rPr sz="1300" b="1">
                <a:solidFill>
                  <a:srgbClr val="FFFFFF"/>
                </a:solidFill>
              </a:rPr>
              <a:t>Step 2: Each real-time round, slice the schedule to current slot</a:t>
            </a:r>
          </a:p>
        </p:txBody>
      </p:sp>
      <p:sp>
        <p:nvSpPr>
          <p:cNvPr id="12" name="Rectangle 11"/>
          <p:cNvSpPr/>
          <p:nvPr/>
        </p:nvSpPr>
        <p:spPr>
          <a:xfrm>
            <a:off x="365760" y="2971800"/>
            <a:ext cx="11430000" cy="384048"/>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990088"/>
            <a:ext cx="11247120" cy="347472"/>
          </a:xfrm>
          <a:prstGeom prst="rect">
            <a:avLst/>
          </a:prstGeom>
          <a:noFill/>
        </p:spPr>
        <p:txBody>
          <a:bodyPr wrap="square">
            <a:spAutoFit/>
          </a:bodyPr>
          <a:lstStyle/>
          <a:p>
            <a:pPr algn="l"/>
            <a:r>
              <a:rPr sz="1400" b="1">
                <a:solidFill>
                  <a:srgbClr val="1A375E"/>
                </a:solidFill>
              </a:rPr>
              <a:t>active_access = filter_active_access(schedule, t=1)  -&gt;  { 0: [2,3],  1: [0,1] }</a:t>
            </a:r>
          </a:p>
        </p:txBody>
      </p:sp>
      <p:sp>
        <p:nvSpPr>
          <p:cNvPr id="14" name="Rectangle 13"/>
          <p:cNvSpPr/>
          <p:nvPr/>
        </p:nvSpPr>
        <p:spPr>
          <a:xfrm>
            <a:off x="365760" y="3474720"/>
            <a:ext cx="50292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3483863"/>
            <a:ext cx="4937760" cy="274320"/>
          </a:xfrm>
          <a:prstGeom prst="rect">
            <a:avLst/>
          </a:prstGeom>
          <a:noFill/>
        </p:spPr>
        <p:txBody>
          <a:bodyPr wrap="square">
            <a:spAutoFit/>
          </a:bodyPr>
          <a:lstStyle/>
          <a:p>
            <a:pPr algn="l"/>
            <a:r>
              <a:rPr sz="1300" b="1">
                <a:solidFill>
                  <a:srgbClr val="FFFFFF"/>
                </a:solidFill>
              </a:rPr>
              <a:t>Step 3: Real-time solver enforces C5 at variable creation</a:t>
            </a:r>
          </a:p>
        </p:txBody>
      </p:sp>
      <p:sp>
        <p:nvSpPr>
          <p:cNvPr id="16" name="Rectangle 15"/>
          <p:cNvSpPr/>
          <p:nvPr/>
        </p:nvSpPr>
        <p:spPr>
          <a:xfrm>
            <a:off x="365760" y="3840480"/>
            <a:ext cx="11430000" cy="384048"/>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58768"/>
            <a:ext cx="11247120" cy="347472"/>
          </a:xfrm>
          <a:prstGeom prst="rect">
            <a:avLst/>
          </a:prstGeom>
          <a:noFill/>
        </p:spPr>
        <p:txBody>
          <a:bodyPr wrap="square">
            <a:spAutoFit/>
          </a:bodyPr>
          <a:lstStyle/>
          <a:p>
            <a:pPr algn="l"/>
            <a:r>
              <a:rPr sz="1300" b="1">
                <a:solidFill>
                  <a:srgbClr val="1A375E"/>
                </a:solidFill>
              </a:rPr>
              <a:t>For every job j and node n:  if n not in active_access[j.tenant_id]:  upper_bound of x[j,n] = 0  (variable CANNOT be 1)</a:t>
            </a:r>
          </a:p>
        </p:txBody>
      </p:sp>
      <p:sp>
        <p:nvSpPr>
          <p:cNvPr id="18" name="TextBox 17"/>
          <p:cNvSpPr txBox="1"/>
          <p:nvPr/>
        </p:nvSpPr>
        <p:spPr>
          <a:xfrm>
            <a:off x="365760" y="4297680"/>
            <a:ext cx="11430000" cy="548640"/>
          </a:xfrm>
          <a:prstGeom prst="rect">
            <a:avLst/>
          </a:prstGeom>
          <a:noFill/>
        </p:spPr>
        <p:txBody>
          <a:bodyPr wrap="square">
            <a:spAutoFit/>
          </a:bodyPr>
          <a:lstStyle/>
          <a:p>
            <a:pPr algn="l"/>
            <a:r>
              <a:rPr sz="1300" b="0">
                <a:solidFill>
                  <a:srgbClr val="333333"/>
                </a:solidFill>
              </a:rPr>
              <a:t>Setting UB=0 at variable creation is better than adding a constraint after the fact. The LP relaxation is tighter (fewer feasible directions), branch-and-bound converges faster, no extra memory for a constraint matrix row.</a:t>
            </a:r>
          </a:p>
        </p:txBody>
      </p:sp>
      <p:sp>
        <p:nvSpPr>
          <p:cNvPr id="19" name="Rectangle 18"/>
          <p:cNvSpPr/>
          <p:nvPr/>
        </p:nvSpPr>
        <p:spPr>
          <a:xfrm>
            <a:off x="365760" y="498348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 y="4992624"/>
            <a:ext cx="3108960" cy="274320"/>
          </a:xfrm>
          <a:prstGeom prst="rect">
            <a:avLst/>
          </a:prstGeom>
          <a:noFill/>
        </p:spPr>
        <p:txBody>
          <a:bodyPr wrap="square">
            <a:spAutoFit/>
          </a:bodyPr>
          <a:lstStyle/>
          <a:p>
            <a:pPr algn="l"/>
            <a:r>
              <a:rPr sz="1300" b="1">
                <a:solidFill>
                  <a:srgbClr val="FFFFFF"/>
                </a:solidFill>
              </a:rPr>
              <a:t>Why this design matters</a:t>
            </a:r>
          </a:p>
        </p:txBody>
      </p:sp>
      <p:sp>
        <p:nvSpPr>
          <p:cNvPr id="21" name="TextBox 20"/>
          <p:cNvSpPr txBox="1"/>
          <p:nvPr/>
        </p:nvSpPr>
        <p:spPr>
          <a:xfrm>
            <a:off x="365760" y="5349240"/>
            <a:ext cx="11430000" cy="1280160"/>
          </a:xfrm>
          <a:prstGeom prst="rect">
            <a:avLst/>
          </a:prstGeom>
          <a:noFill/>
        </p:spPr>
        <p:txBody>
          <a:bodyPr wrap="square">
            <a:spAutoFit/>
          </a:bodyPr>
          <a:lstStyle/>
          <a:p>
            <a:pPr>
              <a:spcBef>
                <a:spcPts val="300"/>
              </a:spcBef>
            </a:pPr>
            <a:r>
              <a:rPr sz="1400">
                <a:solidFill>
                  <a:srgbClr val="333333"/>
                </a:solidFill>
              </a:rPr>
              <a:t>  •  Security: a tenant's jobs cannot reach nodes they were not allocated — mimics Kubernetes NetworkPolicy</a:t>
            </a:r>
          </a:p>
          <a:p>
            <a:pPr>
              <a:spcBef>
                <a:spcPts val="300"/>
              </a:spcBef>
            </a:pPr>
            <a:r>
              <a:rPr sz="1400">
                <a:solidFill>
                  <a:srgbClr val="333333"/>
                </a:solidFill>
              </a:rPr>
              <a:t>  •  Predictability: the plan-ahead contract is honoured exactly; no job can 'sneak' onto an unplanned node</a:t>
            </a:r>
          </a:p>
          <a:p>
            <a:pPr>
              <a:spcBef>
                <a:spcPts val="300"/>
              </a:spcBef>
            </a:pPr>
            <a:r>
              <a:rPr sz="1400">
                <a:solidFill>
                  <a:srgbClr val="333333"/>
                </a:solidFill>
              </a:rPr>
              <a:t>  •  Backward compatibility: if no plan-ahead output is provided (None), all nodes are allowed — model works standalone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Test Results &amp; Pipeline Validation</a:t>
            </a:r>
          </a:p>
        </p:txBody>
      </p:sp>
      <p:sp>
        <p:nvSpPr>
          <p:cNvPr id="4" name="Rectangle 3"/>
          <p:cNvSpPr/>
          <p:nvPr/>
        </p:nvSpPr>
        <p:spPr>
          <a:xfrm>
            <a:off x="365760" y="114300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152144"/>
            <a:ext cx="3108960" cy="274320"/>
          </a:xfrm>
          <a:prstGeom prst="rect">
            <a:avLst/>
          </a:prstGeom>
          <a:noFill/>
        </p:spPr>
        <p:txBody>
          <a:bodyPr wrap="square">
            <a:spAutoFit/>
          </a:bodyPr>
          <a:lstStyle/>
          <a:p>
            <a:pPr algn="l"/>
            <a:r>
              <a:rPr sz="1300" b="1">
                <a:solidFill>
                  <a:srgbClr val="FFFFFF"/>
                </a:solidFill>
              </a:rPr>
              <a:t>Plan-Ahead Tests  (17 / 17 passing)</a:t>
            </a:r>
          </a:p>
        </p:txBody>
      </p:sp>
      <p:sp>
        <p:nvSpPr>
          <p:cNvPr id="6" name="TextBox 5"/>
          <p:cNvSpPr txBox="1"/>
          <p:nvPr/>
        </p:nvSpPr>
        <p:spPr>
          <a:xfrm>
            <a:off x="365760" y="1508760"/>
            <a:ext cx="5486400" cy="2560320"/>
          </a:xfrm>
          <a:prstGeom prst="rect">
            <a:avLst/>
          </a:prstGeom>
          <a:noFill/>
        </p:spPr>
        <p:txBody>
          <a:bodyPr wrap="square">
            <a:spAutoFit/>
          </a:bodyPr>
          <a:lstStyle/>
          <a:p>
            <a:pPr>
              <a:spcBef>
                <a:spcPts val="300"/>
              </a:spcBef>
            </a:pPr>
            <a:r>
              <a:rPr sz="1300">
                <a:solidFill>
                  <a:srgbClr val="1A7A3C"/>
                </a:solidFill>
              </a:rPr>
              <a:t>  •  Model solves to feasibility (no infeasible result)</a:t>
            </a:r>
          </a:p>
          <a:p>
            <a:pPr>
              <a:spcBef>
                <a:spcPts val="300"/>
              </a:spcBef>
            </a:pPr>
            <a:r>
              <a:rPr sz="1300">
                <a:solidFill>
                  <a:srgbClr val="1A7A3C"/>
                </a:solidFill>
              </a:rPr>
              <a:t>  •  At least one tenant admitted</a:t>
            </a:r>
          </a:p>
          <a:p>
            <a:pPr>
              <a:spcBef>
                <a:spcPts val="300"/>
              </a:spcBef>
            </a:pPr>
            <a:r>
              <a:rPr sz="1300">
                <a:solidFill>
                  <a:srgbClr val="1A7A3C"/>
                </a:solidFill>
              </a:rPr>
              <a:t>  •  All admitted tenants have workloads placed (C1 == fix verified)</a:t>
            </a:r>
          </a:p>
          <a:p>
            <a:pPr>
              <a:spcBef>
                <a:spcPts val="300"/>
              </a:spcBef>
            </a:pPr>
            <a:r>
              <a:rPr sz="1300">
                <a:solidFill>
                  <a:srgbClr val="1A7A3C"/>
                </a:solidFill>
              </a:rPr>
              <a:t>  •  Isolation floor: tenant with k_min=1 never uses primitive 0 (no-isolation)</a:t>
            </a:r>
          </a:p>
          <a:p>
            <a:pPr>
              <a:spcBef>
                <a:spcPts val="300"/>
              </a:spcBef>
            </a:pPr>
            <a:r>
              <a:rPr sz="1300">
                <a:solidFill>
                  <a:srgbClr val="1A7A3C"/>
                </a:solidFill>
              </a:rPr>
              <a:t>  •  Compliance: restricted workload stays on N_allowed nodes (C1c)</a:t>
            </a:r>
          </a:p>
          <a:p>
            <a:pPr>
              <a:spcBef>
                <a:spcPts val="300"/>
              </a:spcBef>
            </a:pPr>
            <a:r>
              <a:rPr sz="1300">
                <a:solidFill>
                  <a:srgbClr val="1A7A3C"/>
                </a:solidFill>
              </a:rPr>
              <a:t>  •  Migration budget respected per tenant per slot (C6c)</a:t>
            </a:r>
          </a:p>
          <a:p>
            <a:pPr>
              <a:spcBef>
                <a:spcPts val="300"/>
              </a:spcBef>
            </a:pPr>
            <a:r>
              <a:rPr sz="1300">
                <a:solidFill>
                  <a:srgbClr val="1A7A3C"/>
                </a:solidFill>
              </a:rPr>
              <a:t>  •  No migrations at t=0 (C6a)</a:t>
            </a:r>
          </a:p>
          <a:p>
            <a:pPr>
              <a:spcBef>
                <a:spcPts val="300"/>
              </a:spcBef>
            </a:pPr>
            <a:r>
              <a:rPr sz="1300">
                <a:solidFill>
                  <a:srgbClr val="1A7A3C"/>
                </a:solidFill>
              </a:rPr>
              <a:t>  •  DRF sigma in [0, 1]; admitted tenants appear in TenantAccessSchedule</a:t>
            </a:r>
          </a:p>
        </p:txBody>
      </p:sp>
      <p:sp>
        <p:nvSpPr>
          <p:cNvPr id="7" name="Rectangle 6"/>
          <p:cNvSpPr/>
          <p:nvPr/>
        </p:nvSpPr>
        <p:spPr>
          <a:xfrm>
            <a:off x="6126480" y="114300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0488" y="1152144"/>
            <a:ext cx="3108960" cy="274320"/>
          </a:xfrm>
          <a:prstGeom prst="rect">
            <a:avLst/>
          </a:prstGeom>
          <a:noFill/>
        </p:spPr>
        <p:txBody>
          <a:bodyPr wrap="square">
            <a:spAutoFit/>
          </a:bodyPr>
          <a:lstStyle/>
          <a:p>
            <a:pPr algn="l"/>
            <a:r>
              <a:rPr sz="1300" b="1">
                <a:solidFill>
                  <a:srgbClr val="FFFFFF"/>
                </a:solidFill>
              </a:rPr>
              <a:t>Real-Time Tests  (14 / 14 passing)</a:t>
            </a:r>
          </a:p>
        </p:txBody>
      </p:sp>
      <p:sp>
        <p:nvSpPr>
          <p:cNvPr id="9" name="TextBox 8"/>
          <p:cNvSpPr txBox="1"/>
          <p:nvPr/>
        </p:nvSpPr>
        <p:spPr>
          <a:xfrm>
            <a:off x="6126480" y="1508760"/>
            <a:ext cx="5669280" cy="2560320"/>
          </a:xfrm>
          <a:prstGeom prst="rect">
            <a:avLst/>
          </a:prstGeom>
          <a:noFill/>
        </p:spPr>
        <p:txBody>
          <a:bodyPr wrap="square">
            <a:spAutoFit/>
          </a:bodyPr>
          <a:lstStyle/>
          <a:p>
            <a:pPr>
              <a:spcBef>
                <a:spcPts val="300"/>
              </a:spcBef>
            </a:pPr>
            <a:r>
              <a:rPr sz="1300">
                <a:solidFill>
                  <a:srgbClr val="1A7A3C"/>
                </a:solidFill>
              </a:rPr>
              <a:t>  •  Node capacity constraint satisfied (no overloading)</a:t>
            </a:r>
          </a:p>
          <a:p>
            <a:pPr>
              <a:spcBef>
                <a:spcPts val="300"/>
              </a:spcBef>
            </a:pPr>
            <a:r>
              <a:rPr sz="1300">
                <a:solidFill>
                  <a:srgbClr val="1A7A3C"/>
                </a:solidFill>
              </a:rPr>
              <a:t>  •  One-node-per-job integrity</a:t>
            </a:r>
          </a:p>
          <a:p>
            <a:pPr>
              <a:spcBef>
                <a:spcPts val="300"/>
              </a:spcBef>
            </a:pPr>
            <a:r>
              <a:rPr sz="1300">
                <a:solidFill>
                  <a:srgbClr val="1A7A3C"/>
                </a:solidFill>
              </a:rPr>
              <a:t>  •  C5: blocked tenant-node pairs produce 0 placements</a:t>
            </a:r>
          </a:p>
          <a:p>
            <a:pPr>
              <a:spcBef>
                <a:spcPts val="300"/>
              </a:spcBef>
            </a:pPr>
            <a:r>
              <a:rPr sz="1300">
                <a:solidFill>
                  <a:srgbClr val="1A7A3C"/>
                </a:solidFill>
              </a:rPr>
              <a:t>  •  C5: None access allows all nodes (backward compat.)</a:t>
            </a:r>
          </a:p>
          <a:p>
            <a:pPr>
              <a:spcBef>
                <a:spcPts val="300"/>
              </a:spcBef>
            </a:pPr>
            <a:r>
              <a:rPr sz="1300">
                <a:solidFill>
                  <a:srgbClr val="1A7A3C"/>
                </a:solidFill>
              </a:rPr>
              <a:t>  •  Delay-weight omega: high-wait tenant fills capacity first</a:t>
            </a:r>
          </a:p>
          <a:p>
            <a:pPr>
              <a:spcBef>
                <a:spcPts val="300"/>
              </a:spcBef>
            </a:pPr>
            <a:r>
              <a:rPr sz="1300">
                <a:solidFill>
                  <a:srgbClr val="1A7A3C"/>
                </a:solidFill>
              </a:rPr>
              <a:t>  •  Partial violation rate halves effective capacity</a:t>
            </a:r>
          </a:p>
          <a:p>
            <a:pPr>
              <a:spcBef>
                <a:spcPts val="300"/>
              </a:spcBef>
            </a:pPr>
            <a:r>
              <a:rPr sz="1300">
                <a:solidFill>
                  <a:srgbClr val="1A7A3C"/>
                </a:solidFill>
              </a:rPr>
              <a:t>  •  Omega formula verified analytically</a:t>
            </a:r>
          </a:p>
        </p:txBody>
      </p:sp>
      <p:sp>
        <p:nvSpPr>
          <p:cNvPr id="10" name="Rectangle 9"/>
          <p:cNvSpPr/>
          <p:nvPr/>
        </p:nvSpPr>
        <p:spPr>
          <a:xfrm>
            <a:off x="365760" y="420624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4215383"/>
            <a:ext cx="3108960" cy="274320"/>
          </a:xfrm>
          <a:prstGeom prst="rect">
            <a:avLst/>
          </a:prstGeom>
          <a:noFill/>
        </p:spPr>
        <p:txBody>
          <a:bodyPr wrap="square">
            <a:spAutoFit/>
          </a:bodyPr>
          <a:lstStyle/>
          <a:p>
            <a:pPr algn="l"/>
            <a:r>
              <a:rPr sz="1300" b="1">
                <a:solidFill>
                  <a:srgbClr val="FFFFFF"/>
                </a:solidFill>
              </a:rPr>
              <a:t>Pipeline Demo Results</a:t>
            </a:r>
          </a:p>
        </p:txBody>
      </p:sp>
      <p:sp>
        <p:nvSpPr>
          <p:cNvPr id="12" name="Rectangle 11"/>
          <p:cNvSpPr/>
          <p:nvPr/>
        </p:nvSpPr>
        <p:spPr>
          <a:xfrm>
            <a:off x="365760" y="4617720"/>
            <a:ext cx="1691639"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4636008"/>
            <a:ext cx="1645919" cy="274320"/>
          </a:xfrm>
          <a:prstGeom prst="rect">
            <a:avLst/>
          </a:prstGeom>
          <a:noFill/>
        </p:spPr>
        <p:txBody>
          <a:bodyPr wrap="square">
            <a:spAutoFit/>
          </a:bodyPr>
          <a:lstStyle/>
          <a:p>
            <a:pPr algn="l"/>
            <a:r>
              <a:rPr sz="1200" b="1">
                <a:solidFill>
                  <a:srgbClr val="FFFFFF"/>
                </a:solidFill>
              </a:rPr>
              <a:t>Sample</a:t>
            </a:r>
          </a:p>
        </p:txBody>
      </p:sp>
      <p:sp>
        <p:nvSpPr>
          <p:cNvPr id="14" name="Rectangle 13"/>
          <p:cNvSpPr/>
          <p:nvPr/>
        </p:nvSpPr>
        <p:spPr>
          <a:xfrm>
            <a:off x="2194560" y="4617720"/>
            <a:ext cx="242316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0279" y="4636008"/>
            <a:ext cx="2377440" cy="274320"/>
          </a:xfrm>
          <a:prstGeom prst="rect">
            <a:avLst/>
          </a:prstGeom>
          <a:noFill/>
        </p:spPr>
        <p:txBody>
          <a:bodyPr wrap="square">
            <a:spAutoFit/>
          </a:bodyPr>
          <a:lstStyle/>
          <a:p>
            <a:pPr algn="l"/>
            <a:r>
              <a:rPr sz="1200" b="1">
                <a:solidFill>
                  <a:srgbClr val="FFFFFF"/>
                </a:solidFill>
              </a:rPr>
              <a:t>Plan-Ahead Size</a:t>
            </a:r>
          </a:p>
        </p:txBody>
      </p:sp>
      <p:sp>
        <p:nvSpPr>
          <p:cNvPr id="16" name="Rectangle 15"/>
          <p:cNvSpPr/>
          <p:nvPr/>
        </p:nvSpPr>
        <p:spPr>
          <a:xfrm>
            <a:off x="4754880" y="4617720"/>
            <a:ext cx="224028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4636008"/>
            <a:ext cx="2194560" cy="274320"/>
          </a:xfrm>
          <a:prstGeom prst="rect">
            <a:avLst/>
          </a:prstGeom>
          <a:noFill/>
        </p:spPr>
        <p:txBody>
          <a:bodyPr wrap="square">
            <a:spAutoFit/>
          </a:bodyPr>
          <a:lstStyle/>
          <a:p>
            <a:pPr algn="l"/>
            <a:r>
              <a:rPr sz="1200" b="1">
                <a:solidFill>
                  <a:srgbClr val="FFFFFF"/>
                </a:solidFill>
              </a:rPr>
              <a:t>Solver Status</a:t>
            </a:r>
          </a:p>
        </p:txBody>
      </p:sp>
      <p:sp>
        <p:nvSpPr>
          <p:cNvPr id="18" name="Rectangle 17"/>
          <p:cNvSpPr/>
          <p:nvPr/>
        </p:nvSpPr>
        <p:spPr>
          <a:xfrm>
            <a:off x="7132320" y="4617720"/>
            <a:ext cx="141732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4636008"/>
            <a:ext cx="1371600" cy="274320"/>
          </a:xfrm>
          <a:prstGeom prst="rect">
            <a:avLst/>
          </a:prstGeom>
          <a:noFill/>
        </p:spPr>
        <p:txBody>
          <a:bodyPr wrap="square">
            <a:spAutoFit/>
          </a:bodyPr>
          <a:lstStyle/>
          <a:p>
            <a:pPr algn="l"/>
            <a:r>
              <a:rPr sz="1200" b="1">
                <a:solidFill>
                  <a:srgbClr val="FFFFFF"/>
                </a:solidFill>
              </a:rPr>
              <a:t>Jobs/slot</a:t>
            </a:r>
          </a:p>
        </p:txBody>
      </p:sp>
      <p:sp>
        <p:nvSpPr>
          <p:cNvPr id="20" name="Rectangle 19"/>
          <p:cNvSpPr/>
          <p:nvPr/>
        </p:nvSpPr>
        <p:spPr>
          <a:xfrm>
            <a:off x="8686800" y="4617720"/>
            <a:ext cx="96012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32520" y="4636008"/>
            <a:ext cx="914400" cy="274320"/>
          </a:xfrm>
          <a:prstGeom prst="rect">
            <a:avLst/>
          </a:prstGeom>
          <a:noFill/>
        </p:spPr>
        <p:txBody>
          <a:bodyPr wrap="square">
            <a:spAutoFit/>
          </a:bodyPr>
          <a:lstStyle/>
          <a:p>
            <a:pPr algn="l"/>
            <a:r>
              <a:rPr sz="1200" b="1">
                <a:solidFill>
                  <a:srgbClr val="FFFFFF"/>
                </a:solidFill>
              </a:rPr>
              <a:t>Placed</a:t>
            </a:r>
          </a:p>
        </p:txBody>
      </p:sp>
      <p:sp>
        <p:nvSpPr>
          <p:cNvPr id="22" name="Rectangle 21"/>
          <p:cNvSpPr/>
          <p:nvPr/>
        </p:nvSpPr>
        <p:spPr>
          <a:xfrm>
            <a:off x="9784080" y="4617720"/>
            <a:ext cx="114300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4636008"/>
            <a:ext cx="1097280" cy="274320"/>
          </a:xfrm>
          <a:prstGeom prst="rect">
            <a:avLst/>
          </a:prstGeom>
          <a:noFill/>
        </p:spPr>
        <p:txBody>
          <a:bodyPr wrap="square">
            <a:spAutoFit/>
          </a:bodyPr>
          <a:lstStyle/>
          <a:p>
            <a:pPr algn="l"/>
            <a:r>
              <a:rPr sz="1200" b="1">
                <a:solidFill>
                  <a:srgbClr val="FFFFFF"/>
                </a:solidFill>
              </a:rPr>
              <a:t>RT Solver</a:t>
            </a:r>
          </a:p>
        </p:txBody>
      </p:sp>
      <p:sp>
        <p:nvSpPr>
          <p:cNvPr id="24" name="Rectangle 23"/>
          <p:cNvSpPr/>
          <p:nvPr/>
        </p:nvSpPr>
        <p:spPr>
          <a:xfrm>
            <a:off x="365760" y="4983480"/>
            <a:ext cx="1691639"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5001768"/>
            <a:ext cx="1645919" cy="301752"/>
          </a:xfrm>
          <a:prstGeom prst="rect">
            <a:avLst/>
          </a:prstGeom>
          <a:noFill/>
        </p:spPr>
        <p:txBody>
          <a:bodyPr wrap="square">
            <a:spAutoFit/>
          </a:bodyPr>
          <a:lstStyle/>
          <a:p>
            <a:pPr algn="l"/>
            <a:r>
              <a:rPr sz="1100" b="0">
                <a:solidFill>
                  <a:srgbClr val="333333"/>
                </a:solidFill>
              </a:rPr>
              <a:t>1 — Simple</a:t>
            </a:r>
          </a:p>
        </p:txBody>
      </p:sp>
      <p:sp>
        <p:nvSpPr>
          <p:cNvPr id="26" name="Rectangle 25"/>
          <p:cNvSpPr/>
          <p:nvPr/>
        </p:nvSpPr>
        <p:spPr>
          <a:xfrm>
            <a:off x="2194560" y="4983480"/>
            <a:ext cx="242316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40279" y="5001768"/>
            <a:ext cx="2377440" cy="301752"/>
          </a:xfrm>
          <a:prstGeom prst="rect">
            <a:avLst/>
          </a:prstGeom>
          <a:noFill/>
        </p:spPr>
        <p:txBody>
          <a:bodyPr wrap="square">
            <a:spAutoFit/>
          </a:bodyPr>
          <a:lstStyle/>
          <a:p>
            <a:pPr algn="l"/>
            <a:r>
              <a:rPr sz="1100" b="0">
                <a:solidFill>
                  <a:srgbClr val="333333"/>
                </a:solidFill>
              </a:rPr>
              <a:t>3T, 4N, 2 slots, 6 wl</a:t>
            </a:r>
          </a:p>
        </p:txBody>
      </p:sp>
      <p:sp>
        <p:nvSpPr>
          <p:cNvPr id="28" name="Rectangle 27"/>
          <p:cNvSpPr/>
          <p:nvPr/>
        </p:nvSpPr>
        <p:spPr>
          <a:xfrm>
            <a:off x="4754880" y="4983480"/>
            <a:ext cx="224028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0600" y="5001768"/>
            <a:ext cx="2194560" cy="301752"/>
          </a:xfrm>
          <a:prstGeom prst="rect">
            <a:avLst/>
          </a:prstGeom>
          <a:noFill/>
        </p:spPr>
        <p:txBody>
          <a:bodyPr wrap="square">
            <a:spAutoFit/>
          </a:bodyPr>
          <a:lstStyle/>
          <a:p>
            <a:pPr algn="l"/>
            <a:r>
              <a:rPr sz="1100" b="0">
                <a:solidFill>
                  <a:srgbClr val="333333"/>
                </a:solidFill>
              </a:rPr>
              <a:t>OPTIMAL (&lt;1s)</a:t>
            </a:r>
          </a:p>
        </p:txBody>
      </p:sp>
      <p:sp>
        <p:nvSpPr>
          <p:cNvPr id="30" name="Rectangle 29"/>
          <p:cNvSpPr/>
          <p:nvPr/>
        </p:nvSpPr>
        <p:spPr>
          <a:xfrm>
            <a:off x="7132320" y="4983480"/>
            <a:ext cx="141732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78040" y="5001768"/>
            <a:ext cx="1371600" cy="301752"/>
          </a:xfrm>
          <a:prstGeom prst="rect">
            <a:avLst/>
          </a:prstGeom>
          <a:noFill/>
        </p:spPr>
        <p:txBody>
          <a:bodyPr wrap="square">
            <a:spAutoFit/>
          </a:bodyPr>
          <a:lstStyle/>
          <a:p>
            <a:pPr algn="l"/>
            <a:r>
              <a:rPr sz="1100" b="0">
                <a:solidFill>
                  <a:srgbClr val="333333"/>
                </a:solidFill>
              </a:rPr>
              <a:t>8</a:t>
            </a:r>
          </a:p>
        </p:txBody>
      </p:sp>
      <p:sp>
        <p:nvSpPr>
          <p:cNvPr id="32" name="Rectangle 31"/>
          <p:cNvSpPr/>
          <p:nvPr/>
        </p:nvSpPr>
        <p:spPr>
          <a:xfrm>
            <a:off x="8686800" y="4983480"/>
            <a:ext cx="96012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32520" y="5001768"/>
            <a:ext cx="914400" cy="301752"/>
          </a:xfrm>
          <a:prstGeom prst="rect">
            <a:avLst/>
          </a:prstGeom>
          <a:noFill/>
        </p:spPr>
        <p:txBody>
          <a:bodyPr wrap="square">
            <a:spAutoFit/>
          </a:bodyPr>
          <a:lstStyle/>
          <a:p>
            <a:pPr algn="l"/>
            <a:r>
              <a:rPr sz="1100" b="0">
                <a:solidFill>
                  <a:srgbClr val="333333"/>
                </a:solidFill>
              </a:rPr>
              <a:t>8/8</a:t>
            </a:r>
          </a:p>
        </p:txBody>
      </p:sp>
      <p:sp>
        <p:nvSpPr>
          <p:cNvPr id="34" name="Rectangle 33"/>
          <p:cNvSpPr/>
          <p:nvPr/>
        </p:nvSpPr>
        <p:spPr>
          <a:xfrm>
            <a:off x="9784080" y="4983480"/>
            <a:ext cx="114300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29800" y="5001768"/>
            <a:ext cx="1097280" cy="301752"/>
          </a:xfrm>
          <a:prstGeom prst="rect">
            <a:avLst/>
          </a:prstGeom>
          <a:noFill/>
        </p:spPr>
        <p:txBody>
          <a:bodyPr wrap="square">
            <a:spAutoFit/>
          </a:bodyPr>
          <a:lstStyle/>
          <a:p>
            <a:pPr algn="l"/>
            <a:r>
              <a:rPr sz="1100" b="0">
                <a:solidFill>
                  <a:srgbClr val="333333"/>
                </a:solidFill>
              </a:rPr>
              <a:t>CBC</a:t>
            </a:r>
          </a:p>
        </p:txBody>
      </p:sp>
      <p:sp>
        <p:nvSpPr>
          <p:cNvPr id="36" name="Rectangle 35"/>
          <p:cNvSpPr/>
          <p:nvPr/>
        </p:nvSpPr>
        <p:spPr>
          <a:xfrm>
            <a:off x="365760" y="5330952"/>
            <a:ext cx="1691639"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5349240"/>
            <a:ext cx="1645919" cy="301752"/>
          </a:xfrm>
          <a:prstGeom prst="rect">
            <a:avLst/>
          </a:prstGeom>
          <a:noFill/>
        </p:spPr>
        <p:txBody>
          <a:bodyPr wrap="square">
            <a:spAutoFit/>
          </a:bodyPr>
          <a:lstStyle/>
          <a:p>
            <a:pPr algn="l"/>
            <a:r>
              <a:rPr sz="1100" b="0">
                <a:solidFill>
                  <a:srgbClr val="333333"/>
                </a:solidFill>
              </a:rPr>
              <a:t>2 — Medium</a:t>
            </a:r>
          </a:p>
        </p:txBody>
      </p:sp>
      <p:sp>
        <p:nvSpPr>
          <p:cNvPr id="38" name="Rectangle 37"/>
          <p:cNvSpPr/>
          <p:nvPr/>
        </p:nvSpPr>
        <p:spPr>
          <a:xfrm>
            <a:off x="2194560" y="5330952"/>
            <a:ext cx="242316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40279" y="5349240"/>
            <a:ext cx="2377440" cy="301752"/>
          </a:xfrm>
          <a:prstGeom prst="rect">
            <a:avLst/>
          </a:prstGeom>
          <a:noFill/>
        </p:spPr>
        <p:txBody>
          <a:bodyPr wrap="square">
            <a:spAutoFit/>
          </a:bodyPr>
          <a:lstStyle/>
          <a:p>
            <a:pPr algn="l"/>
            <a:r>
              <a:rPr sz="1100" b="0">
                <a:solidFill>
                  <a:srgbClr val="333333"/>
                </a:solidFill>
              </a:rPr>
              <a:t>3T, 5N, 3 slots, 9 wl</a:t>
            </a:r>
          </a:p>
        </p:txBody>
      </p:sp>
      <p:sp>
        <p:nvSpPr>
          <p:cNvPr id="40" name="Rectangle 39"/>
          <p:cNvSpPr/>
          <p:nvPr/>
        </p:nvSpPr>
        <p:spPr>
          <a:xfrm>
            <a:off x="4754880" y="5330952"/>
            <a:ext cx="224028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00600" y="5349240"/>
            <a:ext cx="2194560" cy="301752"/>
          </a:xfrm>
          <a:prstGeom prst="rect">
            <a:avLst/>
          </a:prstGeom>
          <a:noFill/>
        </p:spPr>
        <p:txBody>
          <a:bodyPr wrap="square">
            <a:spAutoFit/>
          </a:bodyPr>
          <a:lstStyle/>
          <a:p>
            <a:pPr algn="l"/>
            <a:r>
              <a:rPr sz="1100" b="0">
                <a:solidFill>
                  <a:srgbClr val="333333"/>
                </a:solidFill>
              </a:rPr>
              <a:t>Feasible (22% gap)</a:t>
            </a:r>
          </a:p>
        </p:txBody>
      </p:sp>
      <p:sp>
        <p:nvSpPr>
          <p:cNvPr id="42" name="Rectangle 41"/>
          <p:cNvSpPr/>
          <p:nvPr/>
        </p:nvSpPr>
        <p:spPr>
          <a:xfrm>
            <a:off x="7132320" y="5330952"/>
            <a:ext cx="14173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78040" y="5349240"/>
            <a:ext cx="1371600" cy="301752"/>
          </a:xfrm>
          <a:prstGeom prst="rect">
            <a:avLst/>
          </a:prstGeom>
          <a:noFill/>
        </p:spPr>
        <p:txBody>
          <a:bodyPr wrap="square">
            <a:spAutoFit/>
          </a:bodyPr>
          <a:lstStyle/>
          <a:p>
            <a:pPr algn="l"/>
            <a:r>
              <a:rPr sz="1100" b="0">
                <a:solidFill>
                  <a:srgbClr val="333333"/>
                </a:solidFill>
              </a:rPr>
              <a:t>12</a:t>
            </a:r>
          </a:p>
        </p:txBody>
      </p:sp>
      <p:sp>
        <p:nvSpPr>
          <p:cNvPr id="44" name="Rectangle 43"/>
          <p:cNvSpPr/>
          <p:nvPr/>
        </p:nvSpPr>
        <p:spPr>
          <a:xfrm>
            <a:off x="8686800" y="5330952"/>
            <a:ext cx="9601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32520" y="5349240"/>
            <a:ext cx="914400" cy="301752"/>
          </a:xfrm>
          <a:prstGeom prst="rect">
            <a:avLst/>
          </a:prstGeom>
          <a:noFill/>
        </p:spPr>
        <p:txBody>
          <a:bodyPr wrap="square">
            <a:spAutoFit/>
          </a:bodyPr>
          <a:lstStyle/>
          <a:p>
            <a:pPr algn="l"/>
            <a:r>
              <a:rPr sz="1100" b="0">
                <a:solidFill>
                  <a:srgbClr val="333333"/>
                </a:solidFill>
              </a:rPr>
              <a:t>12/12</a:t>
            </a:r>
          </a:p>
        </p:txBody>
      </p:sp>
      <p:sp>
        <p:nvSpPr>
          <p:cNvPr id="46" name="Rectangle 45"/>
          <p:cNvSpPr/>
          <p:nvPr/>
        </p:nvSpPr>
        <p:spPr>
          <a:xfrm>
            <a:off x="9784080" y="5330952"/>
            <a:ext cx="1143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29800" y="5349240"/>
            <a:ext cx="1097280" cy="301752"/>
          </a:xfrm>
          <a:prstGeom prst="rect">
            <a:avLst/>
          </a:prstGeom>
          <a:noFill/>
        </p:spPr>
        <p:txBody>
          <a:bodyPr wrap="square">
            <a:spAutoFit/>
          </a:bodyPr>
          <a:lstStyle/>
          <a:p>
            <a:pPr algn="l"/>
            <a:r>
              <a:rPr sz="1100" b="0">
                <a:solidFill>
                  <a:srgbClr val="333333"/>
                </a:solidFill>
              </a:rPr>
              <a:t>CBC</a:t>
            </a:r>
          </a:p>
        </p:txBody>
      </p:sp>
      <p:sp>
        <p:nvSpPr>
          <p:cNvPr id="48" name="Rectangle 47"/>
          <p:cNvSpPr/>
          <p:nvPr/>
        </p:nvSpPr>
        <p:spPr>
          <a:xfrm>
            <a:off x="365760" y="5678424"/>
            <a:ext cx="1691639"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 y="5696712"/>
            <a:ext cx="1645919" cy="301752"/>
          </a:xfrm>
          <a:prstGeom prst="rect">
            <a:avLst/>
          </a:prstGeom>
          <a:noFill/>
        </p:spPr>
        <p:txBody>
          <a:bodyPr wrap="square">
            <a:spAutoFit/>
          </a:bodyPr>
          <a:lstStyle/>
          <a:p>
            <a:pPr algn="l"/>
            <a:r>
              <a:rPr sz="1100" b="0">
                <a:solidFill>
                  <a:srgbClr val="333333"/>
                </a:solidFill>
              </a:rPr>
              <a:t>3 — High</a:t>
            </a:r>
          </a:p>
        </p:txBody>
      </p:sp>
      <p:sp>
        <p:nvSpPr>
          <p:cNvPr id="50" name="Rectangle 49"/>
          <p:cNvSpPr/>
          <p:nvPr/>
        </p:nvSpPr>
        <p:spPr>
          <a:xfrm>
            <a:off x="2194560" y="5678424"/>
            <a:ext cx="242316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40279" y="5696712"/>
            <a:ext cx="2377440" cy="301752"/>
          </a:xfrm>
          <a:prstGeom prst="rect">
            <a:avLst/>
          </a:prstGeom>
          <a:noFill/>
        </p:spPr>
        <p:txBody>
          <a:bodyPr wrap="square">
            <a:spAutoFit/>
          </a:bodyPr>
          <a:lstStyle/>
          <a:p>
            <a:pPr algn="l"/>
            <a:r>
              <a:rPr sz="1100" b="0">
                <a:solidFill>
                  <a:srgbClr val="333333"/>
                </a:solidFill>
              </a:rPr>
              <a:t>3T, 5N, 4 slots, 9 wl</a:t>
            </a:r>
          </a:p>
        </p:txBody>
      </p:sp>
      <p:sp>
        <p:nvSpPr>
          <p:cNvPr id="52" name="Rectangle 51"/>
          <p:cNvSpPr/>
          <p:nvPr/>
        </p:nvSpPr>
        <p:spPr>
          <a:xfrm>
            <a:off x="4754880" y="5678424"/>
            <a:ext cx="224028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00600" y="5696712"/>
            <a:ext cx="2194560" cy="301752"/>
          </a:xfrm>
          <a:prstGeom prst="rect">
            <a:avLst/>
          </a:prstGeom>
          <a:noFill/>
        </p:spPr>
        <p:txBody>
          <a:bodyPr wrap="square">
            <a:spAutoFit/>
          </a:bodyPr>
          <a:lstStyle/>
          <a:p>
            <a:pPr algn="l"/>
            <a:r>
              <a:rPr sz="1100" b="0">
                <a:solidFill>
                  <a:srgbClr val="333333"/>
                </a:solidFill>
              </a:rPr>
              <a:t>Feasible (29% gap)</a:t>
            </a:r>
          </a:p>
        </p:txBody>
      </p:sp>
      <p:sp>
        <p:nvSpPr>
          <p:cNvPr id="54" name="Rectangle 53"/>
          <p:cNvSpPr/>
          <p:nvPr/>
        </p:nvSpPr>
        <p:spPr>
          <a:xfrm>
            <a:off x="7132320" y="5678424"/>
            <a:ext cx="141732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78040" y="5696712"/>
            <a:ext cx="1371600" cy="301752"/>
          </a:xfrm>
          <a:prstGeom prst="rect">
            <a:avLst/>
          </a:prstGeom>
          <a:noFill/>
        </p:spPr>
        <p:txBody>
          <a:bodyPr wrap="square">
            <a:spAutoFit/>
          </a:bodyPr>
          <a:lstStyle/>
          <a:p>
            <a:pPr algn="l"/>
            <a:r>
              <a:rPr sz="1100" b="0">
                <a:solidFill>
                  <a:srgbClr val="333333"/>
                </a:solidFill>
              </a:rPr>
              <a:t>20</a:t>
            </a:r>
          </a:p>
        </p:txBody>
      </p:sp>
      <p:sp>
        <p:nvSpPr>
          <p:cNvPr id="56" name="Rectangle 55"/>
          <p:cNvSpPr/>
          <p:nvPr/>
        </p:nvSpPr>
        <p:spPr>
          <a:xfrm>
            <a:off x="8686800" y="5678424"/>
            <a:ext cx="96012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32520" y="5696712"/>
            <a:ext cx="914400" cy="301752"/>
          </a:xfrm>
          <a:prstGeom prst="rect">
            <a:avLst/>
          </a:prstGeom>
          <a:noFill/>
        </p:spPr>
        <p:txBody>
          <a:bodyPr wrap="square">
            <a:spAutoFit/>
          </a:bodyPr>
          <a:lstStyle/>
          <a:p>
            <a:pPr algn="l"/>
            <a:r>
              <a:rPr sz="1100" b="0">
                <a:solidFill>
                  <a:srgbClr val="333333"/>
                </a:solidFill>
              </a:rPr>
              <a:t>20/20</a:t>
            </a:r>
          </a:p>
        </p:txBody>
      </p:sp>
      <p:sp>
        <p:nvSpPr>
          <p:cNvPr id="58" name="Rectangle 57"/>
          <p:cNvSpPr/>
          <p:nvPr/>
        </p:nvSpPr>
        <p:spPr>
          <a:xfrm>
            <a:off x="9784080" y="5678424"/>
            <a:ext cx="1143000" cy="3200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29800" y="5696712"/>
            <a:ext cx="1097280" cy="301752"/>
          </a:xfrm>
          <a:prstGeom prst="rect">
            <a:avLst/>
          </a:prstGeom>
          <a:noFill/>
        </p:spPr>
        <p:txBody>
          <a:bodyPr wrap="square">
            <a:spAutoFit/>
          </a:bodyPr>
          <a:lstStyle/>
          <a:p>
            <a:pPr algn="l"/>
            <a:r>
              <a:rPr sz="1100" b="0">
                <a:solidFill>
                  <a:srgbClr val="333333"/>
                </a:solidFill>
              </a:rPr>
              <a:t>GLOP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Sensitivity Analysis — What the Results Actually Mean</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D6E8F5"/>
                </a:solidFill>
              </a:rPr>
              <a:t>Which model parameters matter and which are inactive for this instance</a:t>
            </a:r>
          </a:p>
        </p:txBody>
      </p:sp>
      <p:sp>
        <p:nvSpPr>
          <p:cNvPr id="5" name="TextBox 4"/>
          <p:cNvSpPr txBox="1"/>
          <p:nvPr/>
        </p:nvSpPr>
        <p:spPr>
          <a:xfrm>
            <a:off x="365760" y="1097280"/>
            <a:ext cx="11430000" cy="365760"/>
          </a:xfrm>
          <a:prstGeom prst="rect">
            <a:avLst/>
          </a:prstGeom>
          <a:noFill/>
        </p:spPr>
        <p:txBody>
          <a:bodyPr wrap="square">
            <a:spAutoFit/>
          </a:bodyPr>
          <a:lstStyle/>
          <a:p>
            <a:pPr algn="l"/>
            <a:r>
              <a:rPr sz="1400" b="0">
                <a:solidFill>
                  <a:srgbClr val="333333"/>
                </a:solidFill>
              </a:rPr>
              <a:t>We swept 5 parameters and measured objective value (more negative = better = more revenue + fairness admitted).</a:t>
            </a:r>
          </a:p>
        </p:txBody>
      </p:sp>
      <p:sp>
        <p:nvSpPr>
          <p:cNvPr id="6" name="Rectangle 5"/>
          <p:cNvSpPr/>
          <p:nvPr/>
        </p:nvSpPr>
        <p:spPr>
          <a:xfrm>
            <a:off x="365760" y="1572768"/>
            <a:ext cx="5394960" cy="2926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91056"/>
            <a:ext cx="5303520" cy="256032"/>
          </a:xfrm>
          <a:prstGeom prst="rect">
            <a:avLst/>
          </a:prstGeom>
          <a:noFill/>
        </p:spPr>
        <p:txBody>
          <a:bodyPr wrap="square">
            <a:spAutoFit/>
          </a:bodyPr>
          <a:lstStyle/>
          <a:p>
            <a:pPr algn="l"/>
            <a:r>
              <a:rPr sz="1300" b="1">
                <a:solidFill>
                  <a:srgbClr val="FFFFFF"/>
                </a:solidFill>
              </a:rPr>
              <a:t>ACTIVE — these change the solution</a:t>
            </a:r>
          </a:p>
        </p:txBody>
      </p:sp>
      <p:sp>
        <p:nvSpPr>
          <p:cNvPr id="8" name="Rectangle 7"/>
          <p:cNvSpPr/>
          <p:nvPr/>
        </p:nvSpPr>
        <p:spPr>
          <a:xfrm>
            <a:off x="365760" y="1920240"/>
            <a:ext cx="5394960" cy="13716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993392"/>
            <a:ext cx="5212080" cy="292608"/>
          </a:xfrm>
          <a:prstGeom prst="rect">
            <a:avLst/>
          </a:prstGeom>
          <a:noFill/>
        </p:spPr>
        <p:txBody>
          <a:bodyPr wrap="square">
            <a:spAutoFit/>
          </a:bodyPr>
          <a:lstStyle/>
          <a:p>
            <a:pPr algn="l"/>
            <a:r>
              <a:rPr sz="1300" b="1">
                <a:solidFill>
                  <a:srgbClr val="1A375E"/>
                </a:solidFill>
              </a:rPr>
              <a:t>eps_i (SLA risk tolerance): obj dropped from -13.3 to -8.7 at eps=0.02</a:t>
            </a:r>
          </a:p>
        </p:txBody>
      </p:sp>
      <p:sp>
        <p:nvSpPr>
          <p:cNvPr id="10" name="TextBox 9"/>
          <p:cNvSpPr txBox="1"/>
          <p:nvPr/>
        </p:nvSpPr>
        <p:spPr>
          <a:xfrm>
            <a:off x="475488" y="2267712"/>
            <a:ext cx="5212080" cy="960120"/>
          </a:xfrm>
          <a:prstGeom prst="rect">
            <a:avLst/>
          </a:prstGeom>
          <a:noFill/>
        </p:spPr>
        <p:txBody>
          <a:bodyPr wrap="square">
            <a:spAutoFit/>
          </a:bodyPr>
          <a:lstStyle/>
          <a:p>
            <a:pPr algn="l"/>
            <a:r>
              <a:rPr sz="1200" b="0">
                <a:solidFill>
                  <a:srgbClr val="333333"/>
                </a:solidFill>
              </a:rPr>
              <a:t>At very tight risk tolerance (eps&lt;0.05, kappa&gt;4.36), the SOCP safety margin becomes so large it exceeds node capacity. Workloads cannot fit. Fewer tenants admitted -&gt; worse objective. Default eps=0.05 sits right at the feasibility boundary.</a:t>
            </a:r>
          </a:p>
        </p:txBody>
      </p:sp>
      <p:sp>
        <p:nvSpPr>
          <p:cNvPr id="11" name="Rectangle 10"/>
          <p:cNvSpPr/>
          <p:nvPr/>
        </p:nvSpPr>
        <p:spPr>
          <a:xfrm>
            <a:off x="365760" y="3383280"/>
            <a:ext cx="5394960" cy="13716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3456432"/>
            <a:ext cx="5212080" cy="292608"/>
          </a:xfrm>
          <a:prstGeom prst="rect">
            <a:avLst/>
          </a:prstGeom>
          <a:noFill/>
        </p:spPr>
        <p:txBody>
          <a:bodyPr wrap="square">
            <a:spAutoFit/>
          </a:bodyPr>
          <a:lstStyle/>
          <a:p>
            <a:pPr algn="l"/>
            <a:r>
              <a:rPr sz="1300" b="1">
                <a:solidFill>
                  <a:srgbClr val="1A375E"/>
                </a:solidFill>
              </a:rPr>
              <a:t>Node capacity: obj improved from -6.7 (cap=5) to -15.1 (cap=20)</a:t>
            </a:r>
          </a:p>
        </p:txBody>
      </p:sp>
      <p:sp>
        <p:nvSpPr>
          <p:cNvPr id="13" name="TextBox 12"/>
          <p:cNvSpPr txBox="1"/>
          <p:nvPr/>
        </p:nvSpPr>
        <p:spPr>
          <a:xfrm>
            <a:off x="475488" y="3730752"/>
            <a:ext cx="5212080" cy="960120"/>
          </a:xfrm>
          <a:prstGeom prst="rect">
            <a:avLst/>
          </a:prstGeom>
          <a:noFill/>
        </p:spPr>
        <p:txBody>
          <a:bodyPr wrap="square">
            <a:spAutoFit/>
          </a:bodyPr>
          <a:lstStyle/>
          <a:p>
            <a:pPr algn="l"/>
            <a:r>
              <a:rPr sz="1200" b="0">
                <a:solidFill>
                  <a:srgbClr val="333333"/>
                </a:solidFill>
              </a:rPr>
              <a:t>With small nodes, SOCP margin eats all available space and workloads cannot be packed in. After cap=10, all tenants are admitted and the plateau means no further benefit until packing improves at cap=20 (fewer nodes activated = lower infra cost).</a:t>
            </a:r>
          </a:p>
        </p:txBody>
      </p:sp>
      <p:sp>
        <p:nvSpPr>
          <p:cNvPr id="14" name="Rectangle 13"/>
          <p:cNvSpPr/>
          <p:nvPr/>
        </p:nvSpPr>
        <p:spPr>
          <a:xfrm>
            <a:off x="6309360" y="1572768"/>
            <a:ext cx="5394960" cy="292608"/>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91056"/>
            <a:ext cx="5303520" cy="256032"/>
          </a:xfrm>
          <a:prstGeom prst="rect">
            <a:avLst/>
          </a:prstGeom>
          <a:noFill/>
        </p:spPr>
        <p:txBody>
          <a:bodyPr wrap="square">
            <a:spAutoFit/>
          </a:bodyPr>
          <a:lstStyle/>
          <a:p>
            <a:pPr algn="l"/>
            <a:r>
              <a:rPr sz="1300" b="1">
                <a:solidFill>
                  <a:srgbClr val="FFFFFF"/>
                </a:solidFill>
              </a:rPr>
              <a:t>INACTIVE — flat for this instance</a:t>
            </a:r>
          </a:p>
        </p:txBody>
      </p:sp>
      <p:sp>
        <p:nvSpPr>
          <p:cNvPr id="16" name="Rectangle 15"/>
          <p:cNvSpPr/>
          <p:nvPr/>
        </p:nvSpPr>
        <p:spPr>
          <a:xfrm>
            <a:off x="6309360" y="1920240"/>
            <a:ext cx="5394960" cy="841248"/>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993392"/>
            <a:ext cx="5212080" cy="292608"/>
          </a:xfrm>
          <a:prstGeom prst="rect">
            <a:avLst/>
          </a:prstGeom>
          <a:noFill/>
        </p:spPr>
        <p:txBody>
          <a:bodyPr wrap="square">
            <a:spAutoFit/>
          </a:bodyPr>
          <a:lstStyle/>
          <a:p>
            <a:pPr algn="l"/>
            <a:r>
              <a:rPr sz="1300" b="1">
                <a:solidFill>
                  <a:srgbClr val="1A375E"/>
                </a:solidFill>
              </a:rPr>
              <a:t>Migration budget (Delta_i): completely flat across 0-10</a:t>
            </a:r>
          </a:p>
        </p:txBody>
      </p:sp>
      <p:sp>
        <p:nvSpPr>
          <p:cNvPr id="18" name="TextBox 17"/>
          <p:cNvSpPr txBox="1"/>
          <p:nvPr/>
        </p:nvSpPr>
        <p:spPr>
          <a:xfrm>
            <a:off x="6419088" y="2267712"/>
            <a:ext cx="5212080" cy="429768"/>
          </a:xfrm>
          <a:prstGeom prst="rect">
            <a:avLst/>
          </a:prstGeom>
          <a:noFill/>
        </p:spPr>
        <p:txBody>
          <a:bodyPr wrap="square">
            <a:spAutoFit/>
          </a:bodyPr>
          <a:lstStyle/>
          <a:p>
            <a:pPr algn="l"/>
            <a:r>
              <a:rPr sz="1200" b="0">
                <a:solidFill>
                  <a:srgbClr val="333333"/>
                </a:solidFill>
              </a:rPr>
              <a:t>With only 2 time slots, the optimal placement never requires migration. Budget never binds. Would activate with 5+ slots and heterogeneous demand.</a:t>
            </a:r>
          </a:p>
        </p:txBody>
      </p:sp>
      <p:sp>
        <p:nvSpPr>
          <p:cNvPr id="19" name="Rectangle 18"/>
          <p:cNvSpPr/>
          <p:nvPr/>
        </p:nvSpPr>
        <p:spPr>
          <a:xfrm>
            <a:off x="6309360" y="2834640"/>
            <a:ext cx="5394960" cy="841248"/>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907792"/>
            <a:ext cx="5212080" cy="292608"/>
          </a:xfrm>
          <a:prstGeom prst="rect">
            <a:avLst/>
          </a:prstGeom>
          <a:noFill/>
        </p:spPr>
        <p:txBody>
          <a:bodyPr wrap="square">
            <a:spAutoFit/>
          </a:bodyPr>
          <a:lstStyle/>
          <a:p>
            <a:pPr algn="l"/>
            <a:r>
              <a:rPr sz="1300" b="1">
                <a:solidFill>
                  <a:srgbClr val="1A375E"/>
                </a:solidFill>
              </a:rPr>
              <a:t>SLA penalty weight (lam[1]): identical at 1x through 50x</a:t>
            </a:r>
          </a:p>
        </p:txBody>
      </p:sp>
      <p:sp>
        <p:nvSpPr>
          <p:cNvPr id="21" name="TextBox 20"/>
          <p:cNvSpPr txBox="1"/>
          <p:nvPr/>
        </p:nvSpPr>
        <p:spPr>
          <a:xfrm>
            <a:off x="6419088" y="3182112"/>
            <a:ext cx="5212080" cy="429768"/>
          </a:xfrm>
          <a:prstGeom prst="rect">
            <a:avLst/>
          </a:prstGeom>
          <a:noFill/>
        </p:spPr>
        <p:txBody>
          <a:bodyPr wrap="square">
            <a:spAutoFit/>
          </a:bodyPr>
          <a:lstStyle/>
          <a:p>
            <a:pPr algn="l"/>
            <a:r>
              <a:rPr sz="1200" b="0">
                <a:solidFill>
                  <a:srgbClr val="333333"/>
                </a:solidFill>
              </a:rPr>
              <a:t>Latency SLA violations (e_ijt) are always zero. With L=50ms target and only 2-3 co-located workloads, there is 40ms of slack. The latency model never activates.</a:t>
            </a:r>
          </a:p>
        </p:txBody>
      </p:sp>
      <p:sp>
        <p:nvSpPr>
          <p:cNvPr id="22" name="Rectangle 21"/>
          <p:cNvSpPr/>
          <p:nvPr/>
        </p:nvSpPr>
        <p:spPr>
          <a:xfrm>
            <a:off x="6309360" y="3749039"/>
            <a:ext cx="5394960" cy="1005840"/>
          </a:xfrm>
          <a:prstGeom prst="rect">
            <a:avLst/>
          </a:prstGeom>
          <a:solidFill>
            <a:srgbClr val="D6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822191"/>
            <a:ext cx="5212080" cy="292608"/>
          </a:xfrm>
          <a:prstGeom prst="rect">
            <a:avLst/>
          </a:prstGeom>
          <a:noFill/>
        </p:spPr>
        <p:txBody>
          <a:bodyPr wrap="square">
            <a:spAutoFit/>
          </a:bodyPr>
          <a:lstStyle/>
          <a:p>
            <a:pPr algn="l"/>
            <a:r>
              <a:rPr sz="1300" b="1">
                <a:solidFill>
                  <a:srgbClr val="1A375E"/>
                </a:solidFill>
              </a:rPr>
              <a:t>Fairness weight (lam[3]): sigma_fair = 0.6131 regardless of weight</a:t>
            </a:r>
          </a:p>
        </p:txBody>
      </p:sp>
      <p:sp>
        <p:nvSpPr>
          <p:cNvPr id="24" name="TextBox 23"/>
          <p:cNvSpPr txBox="1"/>
          <p:nvPr/>
        </p:nvSpPr>
        <p:spPr>
          <a:xfrm>
            <a:off x="6419088" y="4096511"/>
            <a:ext cx="5212080" cy="594360"/>
          </a:xfrm>
          <a:prstGeom prst="rect">
            <a:avLst/>
          </a:prstGeom>
          <a:noFill/>
        </p:spPr>
        <p:txBody>
          <a:bodyPr wrap="square">
            <a:spAutoFit/>
          </a:bodyPr>
          <a:lstStyle/>
          <a:p>
            <a:pPr algn="l"/>
            <a:r>
              <a:rPr sz="1200" b="0">
                <a:solidFill>
                  <a:srgbClr val="333333"/>
                </a:solidFill>
              </a:rPr>
              <a:t>Objective scales exactly linearly with lam[3], meaning sigma_fair is the SAME in every solution. For this symmetric synthetic instance, the fair allocation IS the cost-optimal allocation. Fairness is free here — this will not hold for heterogeneous real workloads.</a:t>
            </a:r>
          </a:p>
        </p:txBody>
      </p:sp>
      <p:sp>
        <p:nvSpPr>
          <p:cNvPr id="25" name="Rectangle 24"/>
          <p:cNvSpPr/>
          <p:nvPr/>
        </p:nvSpPr>
        <p:spPr>
          <a:xfrm>
            <a:off x="365760" y="4864608"/>
            <a:ext cx="1143000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82896"/>
            <a:ext cx="11247120" cy="283464"/>
          </a:xfrm>
          <a:prstGeom prst="rect">
            <a:avLst/>
          </a:prstGeom>
          <a:noFill/>
        </p:spPr>
        <p:txBody>
          <a:bodyPr wrap="square">
            <a:spAutoFit/>
          </a:bodyPr>
          <a:lstStyle/>
          <a:p>
            <a:pPr algn="l"/>
            <a:r>
              <a:rPr sz="1300" b="1">
                <a:solidFill>
                  <a:srgbClr val="FFFFFF"/>
                </a:solidFill>
              </a:rPr>
              <a:t>Takeaway: SOCP capacity constraint (C2) is the only binding constraint for this synthetic instance. Migration, SLA, and fairness constraints are inactive with synthetic data.</a:t>
            </a:r>
          </a:p>
        </p:txBody>
      </p:sp>
      <p:sp>
        <p:nvSpPr>
          <p:cNvPr id="27" name="Rectangle 26"/>
          <p:cNvSpPr/>
          <p:nvPr/>
        </p:nvSpPr>
        <p:spPr>
          <a:xfrm>
            <a:off x="365760" y="5321808"/>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 y="5330952"/>
            <a:ext cx="3566160" cy="274320"/>
          </a:xfrm>
          <a:prstGeom prst="rect">
            <a:avLst/>
          </a:prstGeom>
          <a:noFill/>
        </p:spPr>
        <p:txBody>
          <a:bodyPr wrap="square">
            <a:spAutoFit/>
          </a:bodyPr>
          <a:lstStyle/>
          <a:p>
            <a:pPr algn="l"/>
            <a:r>
              <a:rPr sz="1300" b="1">
                <a:solidFill>
                  <a:srgbClr val="FFFFFF"/>
                </a:solidFill>
              </a:rPr>
              <a:t>What this tells us about the model</a:t>
            </a:r>
          </a:p>
        </p:txBody>
      </p:sp>
      <p:sp>
        <p:nvSpPr>
          <p:cNvPr id="29" name="TextBox 28"/>
          <p:cNvSpPr txBox="1"/>
          <p:nvPr/>
        </p:nvSpPr>
        <p:spPr>
          <a:xfrm>
            <a:off x="365760" y="5687568"/>
            <a:ext cx="11430000" cy="914400"/>
          </a:xfrm>
          <a:prstGeom prst="rect">
            <a:avLst/>
          </a:prstGeom>
          <a:noFill/>
        </p:spPr>
        <p:txBody>
          <a:bodyPr wrap="square">
            <a:spAutoFit/>
          </a:bodyPr>
          <a:lstStyle/>
          <a:p>
            <a:pPr>
              <a:spcBef>
                <a:spcPts val="300"/>
              </a:spcBef>
            </a:pPr>
            <a:r>
              <a:rPr sz="1300">
                <a:solidFill>
                  <a:srgbClr val="333333"/>
                </a:solidFill>
              </a:rPr>
              <a:t>  •  The model is correct — active constraints change behaviour as expected</a:t>
            </a:r>
          </a:p>
          <a:p>
            <a:pPr>
              <a:spcBef>
                <a:spcPts val="300"/>
              </a:spcBef>
            </a:pPr>
            <a:r>
              <a:rPr sz="1300">
                <a:solidFill>
                  <a:srgbClr val="333333"/>
                </a:solidFill>
              </a:rPr>
              <a:t>  •  Inactive constraints need real trace data (lower variance Sigma_r, tighter L, heterogeneous workloads) to activate and show their effect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Challenges Encountered</a:t>
            </a:r>
          </a:p>
        </p:txBody>
      </p:sp>
      <p:sp>
        <p:nvSpPr>
          <p:cNvPr id="4" name="Rectangle 3"/>
          <p:cNvSpPr/>
          <p:nvPr/>
        </p:nvSpPr>
        <p:spPr>
          <a:xfrm>
            <a:off x="365760" y="1143000"/>
            <a:ext cx="292608"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43000"/>
            <a:ext cx="274320" cy="320040"/>
          </a:xfrm>
          <a:prstGeom prst="rect">
            <a:avLst/>
          </a:prstGeom>
          <a:noFill/>
        </p:spPr>
        <p:txBody>
          <a:bodyPr wrap="square">
            <a:spAutoFit/>
          </a:bodyPr>
          <a:lstStyle/>
          <a:p>
            <a:pPr algn="ctr"/>
            <a:r>
              <a:rPr sz="1600" b="1">
                <a:solidFill>
                  <a:srgbClr val="FFFFFF"/>
                </a:solidFill>
              </a:rPr>
              <a:t>1</a:t>
            </a:r>
          </a:p>
        </p:txBody>
      </p:sp>
      <p:sp>
        <p:nvSpPr>
          <p:cNvPr id="6" name="TextBox 5"/>
          <p:cNvSpPr txBox="1"/>
          <p:nvPr/>
        </p:nvSpPr>
        <p:spPr>
          <a:xfrm>
            <a:off x="731520" y="1143000"/>
            <a:ext cx="5029200" cy="320040"/>
          </a:xfrm>
          <a:prstGeom prst="rect">
            <a:avLst/>
          </a:prstGeom>
          <a:noFill/>
        </p:spPr>
        <p:txBody>
          <a:bodyPr wrap="square">
            <a:spAutoFit/>
          </a:bodyPr>
          <a:lstStyle/>
          <a:p>
            <a:pPr algn="l"/>
            <a:r>
              <a:rPr sz="1300" b="1">
                <a:solidFill>
                  <a:srgbClr val="1A375E"/>
                </a:solidFill>
              </a:rPr>
              <a:t>SOCP Safety Margin Too Conservative</a:t>
            </a:r>
          </a:p>
        </p:txBody>
      </p:sp>
      <p:sp>
        <p:nvSpPr>
          <p:cNvPr id="7" name="TextBox 6"/>
          <p:cNvSpPr txBox="1"/>
          <p:nvPr/>
        </p:nvSpPr>
        <p:spPr>
          <a:xfrm>
            <a:off x="731520" y="1463040"/>
            <a:ext cx="11064240" cy="685800"/>
          </a:xfrm>
          <a:prstGeom prst="rect">
            <a:avLst/>
          </a:prstGeom>
          <a:noFill/>
        </p:spPr>
        <p:txBody>
          <a:bodyPr wrap="square">
            <a:spAutoFit/>
          </a:bodyPr>
          <a:lstStyle/>
          <a:p>
            <a:pPr algn="l"/>
            <a:r>
              <a:rPr sz="1200" b="0">
                <a:solidFill>
                  <a:srgbClr val="333333"/>
                </a:solidFill>
              </a:rPr>
              <a:t>kappa(0.05) = 4.36 is very large. Random synthetic covariance matrices generate large off-diagonal values, so the safety buffer can exceed available capacity. Fixed partially via per-node kappa. Would improve further with real trace data.</a:t>
            </a:r>
          </a:p>
        </p:txBody>
      </p:sp>
      <p:sp>
        <p:nvSpPr>
          <p:cNvPr id="8" name="Rectangle 7"/>
          <p:cNvSpPr/>
          <p:nvPr/>
        </p:nvSpPr>
        <p:spPr>
          <a:xfrm>
            <a:off x="365760" y="2212848"/>
            <a:ext cx="292608"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212848"/>
            <a:ext cx="274320" cy="320040"/>
          </a:xfrm>
          <a:prstGeom prst="rect">
            <a:avLst/>
          </a:prstGeom>
          <a:noFill/>
        </p:spPr>
        <p:txBody>
          <a:bodyPr wrap="square">
            <a:spAutoFit/>
          </a:bodyPr>
          <a:lstStyle/>
          <a:p>
            <a:pPr algn="ctr"/>
            <a:r>
              <a:rPr sz="1600" b="1">
                <a:solidFill>
                  <a:srgbClr val="FFFFFF"/>
                </a:solidFill>
              </a:rPr>
              <a:t>2</a:t>
            </a:r>
          </a:p>
        </p:txBody>
      </p:sp>
      <p:sp>
        <p:nvSpPr>
          <p:cNvPr id="10" name="TextBox 9"/>
          <p:cNvSpPr txBox="1"/>
          <p:nvPr/>
        </p:nvSpPr>
        <p:spPr>
          <a:xfrm>
            <a:off x="731520" y="2212848"/>
            <a:ext cx="5029200" cy="320040"/>
          </a:xfrm>
          <a:prstGeom prst="rect">
            <a:avLst/>
          </a:prstGeom>
          <a:noFill/>
        </p:spPr>
        <p:txBody>
          <a:bodyPr wrap="square">
            <a:spAutoFit/>
          </a:bodyPr>
          <a:lstStyle/>
          <a:p>
            <a:pPr algn="l"/>
            <a:r>
              <a:rPr sz="1300" b="1">
                <a:solidFill>
                  <a:srgbClr val="1A375E"/>
                </a:solidFill>
              </a:rPr>
              <a:t>Revenue vs. Infrastructure Cost Balance</a:t>
            </a:r>
          </a:p>
        </p:txBody>
      </p:sp>
      <p:sp>
        <p:nvSpPr>
          <p:cNvPr id="11" name="TextBox 10"/>
          <p:cNvSpPr txBox="1"/>
          <p:nvPr/>
        </p:nvSpPr>
        <p:spPr>
          <a:xfrm>
            <a:off x="731520" y="2532888"/>
            <a:ext cx="11064240" cy="685800"/>
          </a:xfrm>
          <a:prstGeom prst="rect">
            <a:avLst/>
          </a:prstGeom>
          <a:noFill/>
        </p:spPr>
        <p:txBody>
          <a:bodyPr wrap="square">
            <a:spAutoFit/>
          </a:bodyPr>
          <a:lstStyle/>
          <a:p>
            <a:pPr algn="l"/>
            <a:r>
              <a:rPr sz="1200" b="0">
                <a:solidFill>
                  <a:srgbClr val="333333"/>
                </a:solidFill>
              </a:rPr>
              <a:t>With more time slots, recurring infra cost dominated one-time admission revenue. Required scaling pi_bar by |H| — treating contract value as proportional to horizon length. Without this, solver always preferred rejecting everyone.</a:t>
            </a:r>
          </a:p>
        </p:txBody>
      </p:sp>
      <p:sp>
        <p:nvSpPr>
          <p:cNvPr id="12" name="Rectangle 11"/>
          <p:cNvSpPr/>
          <p:nvPr/>
        </p:nvSpPr>
        <p:spPr>
          <a:xfrm>
            <a:off x="365760" y="3282696"/>
            <a:ext cx="292608"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282696"/>
            <a:ext cx="274320" cy="320040"/>
          </a:xfrm>
          <a:prstGeom prst="rect">
            <a:avLst/>
          </a:prstGeom>
          <a:noFill/>
        </p:spPr>
        <p:txBody>
          <a:bodyPr wrap="square">
            <a:spAutoFit/>
          </a:bodyPr>
          <a:lstStyle/>
          <a:p>
            <a:pPr algn="ctr"/>
            <a:r>
              <a:rPr sz="1600" b="1">
                <a:solidFill>
                  <a:srgbClr val="FFFFFF"/>
                </a:solidFill>
              </a:rPr>
              <a:t>3</a:t>
            </a:r>
          </a:p>
        </p:txBody>
      </p:sp>
      <p:sp>
        <p:nvSpPr>
          <p:cNvPr id="14" name="TextBox 13"/>
          <p:cNvSpPr txBox="1"/>
          <p:nvPr/>
        </p:nvSpPr>
        <p:spPr>
          <a:xfrm>
            <a:off x="731520" y="3282696"/>
            <a:ext cx="5029200" cy="320040"/>
          </a:xfrm>
          <a:prstGeom prst="rect">
            <a:avLst/>
          </a:prstGeom>
          <a:noFill/>
        </p:spPr>
        <p:txBody>
          <a:bodyPr wrap="square">
            <a:spAutoFit/>
          </a:bodyPr>
          <a:lstStyle/>
          <a:p>
            <a:pPr algn="l"/>
            <a:r>
              <a:rPr sz="1300" b="1">
                <a:solidFill>
                  <a:srgbClr val="1A375E"/>
                </a:solidFill>
              </a:rPr>
              <a:t>Degenerate Admission Solution (C1 bug)</a:t>
            </a:r>
          </a:p>
        </p:txBody>
      </p:sp>
      <p:sp>
        <p:nvSpPr>
          <p:cNvPr id="15" name="TextBox 14"/>
          <p:cNvSpPr txBox="1"/>
          <p:nvPr/>
        </p:nvSpPr>
        <p:spPr>
          <a:xfrm>
            <a:off x="731520" y="3602736"/>
            <a:ext cx="11064240" cy="685800"/>
          </a:xfrm>
          <a:prstGeom prst="rect">
            <a:avLst/>
          </a:prstGeom>
          <a:noFill/>
        </p:spPr>
        <p:txBody>
          <a:bodyPr wrap="square">
            <a:spAutoFit/>
          </a:bodyPr>
          <a:lstStyle/>
          <a:p>
            <a:pPr algn="l"/>
            <a:r>
              <a:rPr sz="1200" b="0">
                <a:solidFill>
                  <a:srgbClr val="333333"/>
                </a:solidFill>
              </a:rPr>
              <a:t>Original C1 used &lt;= a[i], allowing 'admit all tenants, place nothing'. Sigma=1 (unconstrained when nothing placed) made this appear optimal with objective=-5.0. Fixed to == a[i]. This was the single most impactful bug.</a:t>
            </a:r>
          </a:p>
        </p:txBody>
      </p:sp>
      <p:sp>
        <p:nvSpPr>
          <p:cNvPr id="16" name="Rectangle 15"/>
          <p:cNvSpPr/>
          <p:nvPr/>
        </p:nvSpPr>
        <p:spPr>
          <a:xfrm>
            <a:off x="365760" y="4352544"/>
            <a:ext cx="292608"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4352544"/>
            <a:ext cx="274320" cy="320040"/>
          </a:xfrm>
          <a:prstGeom prst="rect">
            <a:avLst/>
          </a:prstGeom>
          <a:noFill/>
        </p:spPr>
        <p:txBody>
          <a:bodyPr wrap="square">
            <a:spAutoFit/>
          </a:bodyPr>
          <a:lstStyle/>
          <a:p>
            <a:pPr algn="ctr"/>
            <a:r>
              <a:rPr sz="1600" b="1">
                <a:solidFill>
                  <a:srgbClr val="FFFFFF"/>
                </a:solidFill>
              </a:rPr>
              <a:t>4</a:t>
            </a:r>
          </a:p>
        </p:txBody>
      </p:sp>
      <p:sp>
        <p:nvSpPr>
          <p:cNvPr id="18" name="TextBox 17"/>
          <p:cNvSpPr txBox="1"/>
          <p:nvPr/>
        </p:nvSpPr>
        <p:spPr>
          <a:xfrm>
            <a:off x="731520" y="4352544"/>
            <a:ext cx="5029200" cy="320040"/>
          </a:xfrm>
          <a:prstGeom prst="rect">
            <a:avLst/>
          </a:prstGeom>
          <a:noFill/>
        </p:spPr>
        <p:txBody>
          <a:bodyPr wrap="square">
            <a:spAutoFit/>
          </a:bodyPr>
          <a:lstStyle/>
          <a:p>
            <a:pPr algn="l"/>
            <a:r>
              <a:rPr sz="1300" b="1">
                <a:solidFill>
                  <a:srgbClr val="1A375E"/>
                </a:solidFill>
              </a:rPr>
              <a:t>Gurobi Time Limits on Medium+ Instances</a:t>
            </a:r>
          </a:p>
        </p:txBody>
      </p:sp>
      <p:sp>
        <p:nvSpPr>
          <p:cNvPr id="19" name="TextBox 18"/>
          <p:cNvSpPr txBox="1"/>
          <p:nvPr/>
        </p:nvSpPr>
        <p:spPr>
          <a:xfrm>
            <a:off x="731520" y="4672583"/>
            <a:ext cx="11064240" cy="685800"/>
          </a:xfrm>
          <a:prstGeom prst="rect">
            <a:avLst/>
          </a:prstGeom>
          <a:noFill/>
        </p:spPr>
        <p:txBody>
          <a:bodyPr wrap="square">
            <a:spAutoFit/>
          </a:bodyPr>
          <a:lstStyle/>
          <a:p>
            <a:pPr algn="l"/>
            <a:r>
              <a:rPr sz="1200" b="0">
                <a:solidFill>
                  <a:srgbClr val="333333"/>
                </a:solidFill>
              </a:rPr>
              <a:t>9 workloads + SOCP constraints make branch-and-bound hard. Medium sample hits 120s time limit at 22% gap, High at 29% gap. Solver still returns a feasible solution, but optimality is not proven.</a:t>
            </a:r>
          </a:p>
        </p:txBody>
      </p:sp>
      <p:sp>
        <p:nvSpPr>
          <p:cNvPr id="20" name="Rectangle 19"/>
          <p:cNvSpPr/>
          <p:nvPr/>
        </p:nvSpPr>
        <p:spPr>
          <a:xfrm>
            <a:off x="365760" y="5422392"/>
            <a:ext cx="292608" cy="32004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5422392"/>
            <a:ext cx="274320" cy="320040"/>
          </a:xfrm>
          <a:prstGeom prst="rect">
            <a:avLst/>
          </a:prstGeom>
          <a:noFill/>
        </p:spPr>
        <p:txBody>
          <a:bodyPr wrap="square">
            <a:spAutoFit/>
          </a:bodyPr>
          <a:lstStyle/>
          <a:p>
            <a:pPr algn="ctr"/>
            <a:r>
              <a:rPr sz="1600" b="1">
                <a:solidFill>
                  <a:srgbClr val="FFFFFF"/>
                </a:solidFill>
              </a:rPr>
              <a:t>5</a:t>
            </a:r>
          </a:p>
        </p:txBody>
      </p:sp>
      <p:sp>
        <p:nvSpPr>
          <p:cNvPr id="22" name="TextBox 21"/>
          <p:cNvSpPr txBox="1"/>
          <p:nvPr/>
        </p:nvSpPr>
        <p:spPr>
          <a:xfrm>
            <a:off x="731520" y="5422392"/>
            <a:ext cx="5029200" cy="320040"/>
          </a:xfrm>
          <a:prstGeom prst="rect">
            <a:avLst/>
          </a:prstGeom>
          <a:noFill/>
        </p:spPr>
        <p:txBody>
          <a:bodyPr wrap="square">
            <a:spAutoFit/>
          </a:bodyPr>
          <a:lstStyle/>
          <a:p>
            <a:pPr algn="l"/>
            <a:r>
              <a:rPr sz="1300" b="1">
                <a:solidFill>
                  <a:srgbClr val="1A375E"/>
                </a:solidFill>
              </a:rPr>
              <a:t>Real-Time Scalability Past ~24 Jobs</a:t>
            </a:r>
          </a:p>
        </p:txBody>
      </p:sp>
      <p:sp>
        <p:nvSpPr>
          <p:cNvPr id="23" name="TextBox 22"/>
          <p:cNvSpPr txBox="1"/>
          <p:nvPr/>
        </p:nvSpPr>
        <p:spPr>
          <a:xfrm>
            <a:off x="731520" y="5742431"/>
            <a:ext cx="11064240" cy="685800"/>
          </a:xfrm>
          <a:prstGeom prst="rect">
            <a:avLst/>
          </a:prstGeom>
          <a:noFill/>
        </p:spPr>
        <p:txBody>
          <a:bodyPr wrap="square">
            <a:spAutoFit/>
          </a:bodyPr>
          <a:lstStyle/>
          <a:p>
            <a:pPr algn="l"/>
            <a:r>
              <a:rPr sz="1200" b="0">
                <a:solidFill>
                  <a:srgbClr val="333333"/>
                </a:solidFill>
              </a:rPr>
              <a:t>OR-Tools CBC is exact but slow for large |J|x|N| binary programs. GLOP (LP relaxation) is 10x faster. A greedy FFD heuristic would make it O(|J| log|J|) — not yet implemented.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Pros and Cons</a:t>
            </a:r>
          </a:p>
        </p:txBody>
      </p:sp>
      <p:sp>
        <p:nvSpPr>
          <p:cNvPr id="4" name="Rectangle 3"/>
          <p:cNvSpPr/>
          <p:nvPr/>
        </p:nvSpPr>
        <p:spPr>
          <a:xfrm>
            <a:off x="365760" y="1097280"/>
            <a:ext cx="5486400" cy="347472"/>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15568"/>
            <a:ext cx="5394960" cy="310896"/>
          </a:xfrm>
          <a:prstGeom prst="rect">
            <a:avLst/>
          </a:prstGeom>
          <a:noFill/>
        </p:spPr>
        <p:txBody>
          <a:bodyPr wrap="square">
            <a:spAutoFit/>
          </a:bodyPr>
          <a:lstStyle/>
          <a:p>
            <a:pPr algn="l"/>
            <a:r>
              <a:rPr sz="1400" b="1">
                <a:solidFill>
                  <a:srgbClr val="FFFFFF"/>
                </a:solidFill>
              </a:rPr>
              <a:t>STRENGTHS</a:t>
            </a:r>
          </a:p>
        </p:txBody>
      </p:sp>
      <p:sp>
        <p:nvSpPr>
          <p:cNvPr id="6" name="TextBox 5"/>
          <p:cNvSpPr txBox="1"/>
          <p:nvPr/>
        </p:nvSpPr>
        <p:spPr>
          <a:xfrm>
            <a:off x="365760" y="1508760"/>
            <a:ext cx="5486400" cy="5029200"/>
          </a:xfrm>
          <a:prstGeom prst="rect">
            <a:avLst/>
          </a:prstGeom>
          <a:noFill/>
        </p:spPr>
        <p:txBody>
          <a:bodyPr wrap="square">
            <a:spAutoFit/>
          </a:bodyPr>
          <a:lstStyle/>
          <a:p>
            <a:pPr>
              <a:spcBef>
                <a:spcPts val="300"/>
              </a:spcBef>
            </a:pPr>
            <a:r>
              <a:rPr sz="1300">
                <a:solidFill>
                  <a:srgbClr val="1A7A3C"/>
                </a:solidFill>
              </a:rPr>
              <a:t>  •  Mathematically rigorous MISOCP with 7 constraint families (C1-C7)</a:t>
            </a:r>
          </a:p>
          <a:p>
            <a:pPr>
              <a:spcBef>
                <a:spcPts val="300"/>
              </a:spcBef>
            </a:pPr>
            <a:r>
              <a:rPr sz="1300">
                <a:solidFill>
                  <a:srgbClr val="1A7A3C"/>
                </a:solidFill>
              </a:rPr>
              <a:t>  •  Probabilistic capacity via Cantelli inequality — SLA guarantees on uncertainty</a:t>
            </a:r>
          </a:p>
          <a:p>
            <a:pPr>
              <a:spcBef>
                <a:spcPts val="300"/>
              </a:spcBef>
            </a:pPr>
            <a:r>
              <a:rPr sz="1300">
                <a:solidFill>
                  <a:srgbClr val="1A7A3C"/>
                </a:solidFill>
              </a:rPr>
              <a:t>  •  DRF fairness: max-min satisfaction prevents tenant starvation</a:t>
            </a:r>
          </a:p>
          <a:p>
            <a:pPr>
              <a:spcBef>
                <a:spcPts val="300"/>
              </a:spcBef>
            </a:pPr>
            <a:r>
              <a:rPr sz="1300">
                <a:solidFill>
                  <a:srgbClr val="1A7A3C"/>
                </a:solidFill>
              </a:rPr>
              <a:t>  •  Isolation primitives (none / gVisor / Kata) with compliance floor enforcement</a:t>
            </a:r>
          </a:p>
          <a:p>
            <a:pPr>
              <a:spcBef>
                <a:spcPts val="300"/>
              </a:spcBef>
            </a:pPr>
            <a:r>
              <a:rPr sz="1300">
                <a:solidFill>
                  <a:srgbClr val="1A7A3C"/>
                </a:solidFill>
              </a:rPr>
              <a:t>  •  Clean two-layer separation: plan-ahead contract feeds real-time access control</a:t>
            </a:r>
          </a:p>
          <a:p>
            <a:pPr>
              <a:spcBef>
                <a:spcPts val="300"/>
              </a:spcBef>
            </a:pPr>
            <a:r>
              <a:rPr sz="1300">
                <a:solidFill>
                  <a:srgbClr val="1A7A3C"/>
                </a:solidFill>
              </a:rPr>
              <a:t>  •  Full test coverage: 31 passing tests across both models</a:t>
            </a:r>
          </a:p>
          <a:p>
            <a:pPr>
              <a:spcBef>
                <a:spcPts val="300"/>
              </a:spcBef>
            </a:pPr>
            <a:r>
              <a:rPr sz="1300">
                <a:solidFill>
                  <a:srgbClr val="1A7A3C"/>
                </a:solidFill>
              </a:rPr>
              <a:t>  •  Scalable real-time solver: switchable between exact MILP and LP relaxation</a:t>
            </a:r>
          </a:p>
        </p:txBody>
      </p:sp>
      <p:sp>
        <p:nvSpPr>
          <p:cNvPr id="7" name="Rectangle 6"/>
          <p:cNvSpPr/>
          <p:nvPr/>
        </p:nvSpPr>
        <p:spPr>
          <a:xfrm>
            <a:off x="6309360" y="1097280"/>
            <a:ext cx="5486400" cy="347472"/>
          </a:xfrm>
          <a:prstGeom prst="rect">
            <a:avLst/>
          </a:prstGeom>
          <a:solidFill>
            <a:srgbClr val="99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115568"/>
            <a:ext cx="5394960" cy="310896"/>
          </a:xfrm>
          <a:prstGeom prst="rect">
            <a:avLst/>
          </a:prstGeom>
          <a:noFill/>
        </p:spPr>
        <p:txBody>
          <a:bodyPr wrap="square">
            <a:spAutoFit/>
          </a:bodyPr>
          <a:lstStyle/>
          <a:p>
            <a:pPr algn="l"/>
            <a:r>
              <a:rPr sz="1400" b="1">
                <a:solidFill>
                  <a:srgbClr val="FFFFFF"/>
                </a:solidFill>
              </a:rPr>
              <a:t>WEAKNESSES / LIMITATIONS</a:t>
            </a:r>
          </a:p>
        </p:txBody>
      </p:sp>
      <p:sp>
        <p:nvSpPr>
          <p:cNvPr id="9" name="TextBox 8"/>
          <p:cNvSpPr txBox="1"/>
          <p:nvPr/>
        </p:nvSpPr>
        <p:spPr>
          <a:xfrm>
            <a:off x="6309360" y="1508760"/>
            <a:ext cx="5486400" cy="5029200"/>
          </a:xfrm>
          <a:prstGeom prst="rect">
            <a:avLst/>
          </a:prstGeom>
          <a:noFill/>
        </p:spPr>
        <p:txBody>
          <a:bodyPr wrap="square">
            <a:spAutoFit/>
          </a:bodyPr>
          <a:lstStyle/>
          <a:p>
            <a:pPr>
              <a:spcBef>
                <a:spcPts val="300"/>
              </a:spcBef>
            </a:pPr>
            <a:r>
              <a:rPr sz="1300">
                <a:solidFill>
                  <a:srgbClr val="992222"/>
                </a:solidFill>
              </a:rPr>
              <a:t>  •  Plan-ahead MISOCP grows O(|W|^2) in workloads due to McCormick zeta pairs</a:t>
            </a:r>
          </a:p>
          <a:p>
            <a:pPr>
              <a:spcBef>
                <a:spcPts val="300"/>
              </a:spcBef>
            </a:pPr>
            <a:r>
              <a:rPr sz="1300">
                <a:solidFill>
                  <a:srgbClr val="992222"/>
                </a:solidFill>
              </a:rPr>
              <a:t>  •  Gurobi commercial license required — not deployable open-source as-is</a:t>
            </a:r>
          </a:p>
          <a:p>
            <a:pPr>
              <a:spcBef>
                <a:spcPts val="300"/>
              </a:spcBef>
            </a:pPr>
            <a:r>
              <a:rPr sz="1300">
                <a:solidFill>
                  <a:srgbClr val="992222"/>
                </a:solidFill>
              </a:rPr>
              <a:t>  •  Synthetic data only — no real Google trace ingestion yet</a:t>
            </a:r>
          </a:p>
          <a:p>
            <a:pPr>
              <a:spcBef>
                <a:spcPts val="300"/>
              </a:spcBef>
            </a:pPr>
            <a:r>
              <a:rPr sz="1300">
                <a:solidFill>
                  <a:srgbClr val="992222"/>
                </a:solidFill>
              </a:rPr>
              <a:t>  •  kap_node still conservative (per-node floor, not exact per-time-slot)</a:t>
            </a:r>
          </a:p>
          <a:p>
            <a:pPr>
              <a:spcBef>
                <a:spcPts val="300"/>
              </a:spcBef>
            </a:pPr>
            <a:r>
              <a:rPr sz="1300">
                <a:solidFill>
                  <a:srgbClr val="992222"/>
                </a:solidFill>
              </a:rPr>
              <a:t>  •  Real-time heuristic not yet implemented — CBC needed for exact results</a:t>
            </a:r>
          </a:p>
          <a:p>
            <a:pPr>
              <a:spcBef>
                <a:spcPts val="300"/>
              </a:spcBef>
            </a:pPr>
            <a:r>
              <a:rPr sz="1300">
                <a:solidFill>
                  <a:srgbClr val="992222"/>
                </a:solidFill>
              </a:rPr>
              <a:t>  •  Sensitivity analysis shows most constraints are inactive with synthetic data</a:t>
            </a:r>
          </a:p>
          <a:p>
            <a:pPr>
              <a:spcBef>
                <a:spcPts val="300"/>
              </a:spcBef>
            </a:pPr>
            <a:r>
              <a:rPr sz="1300">
                <a:solidFill>
                  <a:srgbClr val="992222"/>
                </a:solidFill>
              </a:rPr>
              <a:t>  •  No warm-start from prior solution — each plan-ahead solves cold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Setting Expectations — What This Capstone Delivers</a:t>
            </a:r>
          </a:p>
        </p:txBody>
      </p:sp>
      <p:sp>
        <p:nvSpPr>
          <p:cNvPr id="4" name="Rectangle 3"/>
          <p:cNvSpPr/>
          <p:nvPr/>
        </p:nvSpPr>
        <p:spPr>
          <a:xfrm>
            <a:off x="365760" y="1143000"/>
            <a:ext cx="347472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152144"/>
            <a:ext cx="3383279" cy="274320"/>
          </a:xfrm>
          <a:prstGeom prst="rect">
            <a:avLst/>
          </a:prstGeom>
          <a:noFill/>
        </p:spPr>
        <p:txBody>
          <a:bodyPr wrap="square">
            <a:spAutoFit/>
          </a:bodyPr>
          <a:lstStyle/>
          <a:p>
            <a:pPr algn="l"/>
            <a:r>
              <a:rPr sz="1300" b="1">
                <a:solidFill>
                  <a:srgbClr val="FFFFFF"/>
                </a:solidFill>
              </a:rPr>
              <a:t>What IS delivered</a:t>
            </a:r>
          </a:p>
        </p:txBody>
      </p:sp>
      <p:sp>
        <p:nvSpPr>
          <p:cNvPr id="6" name="TextBox 5"/>
          <p:cNvSpPr txBox="1"/>
          <p:nvPr/>
        </p:nvSpPr>
        <p:spPr>
          <a:xfrm>
            <a:off x="365760" y="1508760"/>
            <a:ext cx="5394960" cy="4114800"/>
          </a:xfrm>
          <a:prstGeom prst="rect">
            <a:avLst/>
          </a:prstGeom>
          <a:noFill/>
        </p:spPr>
        <p:txBody>
          <a:bodyPr wrap="square">
            <a:spAutoFit/>
          </a:bodyPr>
          <a:lstStyle/>
          <a:p>
            <a:pPr>
              <a:spcBef>
                <a:spcPts val="300"/>
              </a:spcBef>
            </a:pPr>
            <a:r>
              <a:rPr sz="1400">
                <a:solidFill>
                  <a:srgbClr val="1A7A3C"/>
                </a:solidFill>
              </a:rPr>
              <a:t>  •  End-to-end two-layer scheduling pipeline with clean interfaces</a:t>
            </a:r>
          </a:p>
          <a:p>
            <a:pPr>
              <a:spcBef>
                <a:spcPts val="300"/>
              </a:spcBef>
            </a:pPr>
            <a:r>
              <a:rPr sz="1400">
                <a:solidFill>
                  <a:srgbClr val="1A7A3C"/>
                </a:solidFill>
              </a:rPr>
              <a:t>  •  A corrected and modularised MISOCP plan-ahead model</a:t>
            </a:r>
          </a:p>
          <a:p>
            <a:pPr>
              <a:spcBef>
                <a:spcPts val="300"/>
              </a:spcBef>
            </a:pPr>
            <a:r>
              <a:rPr sz="1400">
                <a:solidFill>
                  <a:srgbClr val="1A7A3C"/>
                </a:solidFill>
              </a:rPr>
              <a:t>  •  Real-time MILP with plan-ahead access enforcement (C5)</a:t>
            </a:r>
          </a:p>
          <a:p>
            <a:pPr>
              <a:spcBef>
                <a:spcPts val="300"/>
              </a:spcBef>
            </a:pPr>
            <a:r>
              <a:rPr sz="1400">
                <a:solidFill>
                  <a:srgbClr val="1A7A3C"/>
                </a:solidFill>
              </a:rPr>
              <a:t>  •  31 passing behavioral tests across both models</a:t>
            </a:r>
          </a:p>
          <a:p>
            <a:pPr>
              <a:spcBef>
                <a:spcPts val="300"/>
              </a:spcBef>
            </a:pPr>
            <a:r>
              <a:rPr sz="1400">
                <a:solidFill>
                  <a:srgbClr val="1A7A3C"/>
                </a:solidFill>
              </a:rPr>
              <a:t>  •  Three complexity levels (Simple / Medium / High) as demo</a:t>
            </a:r>
          </a:p>
          <a:p>
            <a:pPr>
              <a:spcBef>
                <a:spcPts val="300"/>
              </a:spcBef>
            </a:pPr>
            <a:r>
              <a:rPr sz="1400">
                <a:solidFill>
                  <a:srgbClr val="1A7A3C"/>
                </a:solidFill>
              </a:rPr>
              <a:t>  •  Documented source of truth + lexicon for both models</a:t>
            </a:r>
          </a:p>
          <a:p>
            <a:pPr>
              <a:spcBef>
                <a:spcPts val="300"/>
              </a:spcBef>
            </a:pPr>
            <a:r>
              <a:rPr sz="1400">
                <a:solidFill>
                  <a:srgbClr val="1A7A3C"/>
                </a:solidFill>
              </a:rPr>
              <a:t>  •  Pipeline interface with TenantLease reservation contracts</a:t>
            </a:r>
          </a:p>
          <a:p>
            <a:pPr>
              <a:spcBef>
                <a:spcPts val="300"/>
              </a:spcBef>
            </a:pPr>
            <a:r>
              <a:rPr sz="1400">
                <a:solidFill>
                  <a:srgbClr val="1A7A3C"/>
                </a:solidFill>
              </a:rPr>
              <a:t>  •  Sensitivity analysis module with real results</a:t>
            </a:r>
          </a:p>
        </p:txBody>
      </p:sp>
      <p:sp>
        <p:nvSpPr>
          <p:cNvPr id="7" name="Rectangle 6"/>
          <p:cNvSpPr/>
          <p:nvPr/>
        </p:nvSpPr>
        <p:spPr>
          <a:xfrm>
            <a:off x="6126480" y="1143000"/>
            <a:ext cx="347472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0488" y="1152144"/>
            <a:ext cx="3383279" cy="274320"/>
          </a:xfrm>
          <a:prstGeom prst="rect">
            <a:avLst/>
          </a:prstGeom>
          <a:noFill/>
        </p:spPr>
        <p:txBody>
          <a:bodyPr wrap="square">
            <a:spAutoFit/>
          </a:bodyPr>
          <a:lstStyle/>
          <a:p>
            <a:pPr algn="l"/>
            <a:r>
              <a:rPr sz="1300" b="1">
                <a:solidFill>
                  <a:srgbClr val="FFFFFF"/>
                </a:solidFill>
              </a:rPr>
              <a:t>What is NOT in scope</a:t>
            </a:r>
          </a:p>
        </p:txBody>
      </p:sp>
      <p:sp>
        <p:nvSpPr>
          <p:cNvPr id="9" name="TextBox 8"/>
          <p:cNvSpPr txBox="1"/>
          <p:nvPr/>
        </p:nvSpPr>
        <p:spPr>
          <a:xfrm>
            <a:off x="6126480" y="1508760"/>
            <a:ext cx="5669280" cy="4114800"/>
          </a:xfrm>
          <a:prstGeom prst="rect">
            <a:avLst/>
          </a:prstGeom>
          <a:noFill/>
        </p:spPr>
        <p:txBody>
          <a:bodyPr wrap="square">
            <a:spAutoFit/>
          </a:bodyPr>
          <a:lstStyle/>
          <a:p>
            <a:pPr>
              <a:spcBef>
                <a:spcPts val="300"/>
              </a:spcBef>
            </a:pPr>
            <a:r>
              <a:rPr sz="1400">
                <a:solidFill>
                  <a:srgbClr val="992222"/>
                </a:solidFill>
              </a:rPr>
              <a:t>  •  Real Google cluster-usage traces ingestion</a:t>
            </a:r>
          </a:p>
          <a:p>
            <a:pPr>
              <a:spcBef>
                <a:spcPts val="300"/>
              </a:spcBef>
            </a:pPr>
            <a:r>
              <a:rPr sz="1400">
                <a:solidFill>
                  <a:srgbClr val="992222"/>
                </a:solidFill>
              </a:rPr>
              <a:t>  •  Production Kubernetes / container runtime integration</a:t>
            </a:r>
          </a:p>
          <a:p>
            <a:pPr>
              <a:spcBef>
                <a:spcPts val="300"/>
              </a:spcBef>
            </a:pPr>
            <a:r>
              <a:rPr sz="1400">
                <a:solidFill>
                  <a:srgbClr val="992222"/>
                </a:solidFill>
              </a:rPr>
              <a:t>  •  Live cluster experiments or SLA violation measurements</a:t>
            </a:r>
          </a:p>
          <a:p>
            <a:pPr>
              <a:spcBef>
                <a:spcPts val="300"/>
              </a:spcBef>
            </a:pPr>
            <a:r>
              <a:rPr sz="1400">
                <a:solidFill>
                  <a:srgbClr val="992222"/>
                </a:solidFill>
              </a:rPr>
              <a:t>  •  FFD greedy heuristic for real-time at scale</a:t>
            </a:r>
          </a:p>
          <a:p>
            <a:pPr>
              <a:spcBef>
                <a:spcPts val="300"/>
              </a:spcBef>
            </a:pPr>
            <a:r>
              <a:rPr sz="1400">
                <a:solidFill>
                  <a:srgbClr val="992222"/>
                </a:solidFill>
              </a:rPr>
              <a:t>  •  Dynamic re-planning on SLA breach events</a:t>
            </a:r>
          </a:p>
          <a:p>
            <a:pPr>
              <a:spcBef>
                <a:spcPts val="300"/>
              </a:spcBef>
            </a:pPr>
            <a:r>
              <a:rPr sz="1400">
                <a:solidFill>
                  <a:srgbClr val="992222"/>
                </a:solidFill>
              </a:rPr>
              <a:t>  •  Multi-cluster or federated scheduling</a:t>
            </a:r>
          </a:p>
        </p:txBody>
      </p:sp>
      <p:sp>
        <p:nvSpPr>
          <p:cNvPr id="10" name="Rectangle 9"/>
          <p:cNvSpPr/>
          <p:nvPr/>
        </p:nvSpPr>
        <p:spPr>
          <a:xfrm>
            <a:off x="365760" y="576072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5769864"/>
            <a:ext cx="3108960" cy="274320"/>
          </a:xfrm>
          <a:prstGeom prst="rect">
            <a:avLst/>
          </a:prstGeom>
          <a:noFill/>
        </p:spPr>
        <p:txBody>
          <a:bodyPr wrap="square">
            <a:spAutoFit/>
          </a:bodyPr>
          <a:lstStyle/>
          <a:p>
            <a:pPr algn="l"/>
            <a:r>
              <a:rPr sz="1300" b="1">
                <a:solidFill>
                  <a:srgbClr val="FFFFFF"/>
                </a:solidFill>
              </a:rPr>
              <a:t>Bottom line</a:t>
            </a:r>
          </a:p>
        </p:txBody>
      </p:sp>
      <p:sp>
        <p:nvSpPr>
          <p:cNvPr id="12" name="TextBox 11"/>
          <p:cNvSpPr txBox="1"/>
          <p:nvPr/>
        </p:nvSpPr>
        <p:spPr>
          <a:xfrm>
            <a:off x="365760" y="6126480"/>
            <a:ext cx="11430000" cy="548640"/>
          </a:xfrm>
          <a:prstGeom prst="rect">
            <a:avLst/>
          </a:prstGeom>
          <a:noFill/>
        </p:spPr>
        <p:txBody>
          <a:bodyPr wrap="square">
            <a:spAutoFit/>
          </a:bodyPr>
          <a:lstStyle/>
          <a:p>
            <a:pPr algn="l"/>
            <a:r>
              <a:rPr sz="1500" b="1">
                <a:solidFill>
                  <a:srgbClr val="1A375E"/>
                </a:solidFill>
              </a:rPr>
              <a:t>This capstone proves the two-layer architecture is sound, implementable, and testable. It establishes the foundation for a production-grade scheduler.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Future Work</a:t>
            </a:r>
          </a:p>
        </p:txBody>
      </p:sp>
      <p:sp>
        <p:nvSpPr>
          <p:cNvPr id="4" name="Rectangle 3"/>
          <p:cNvSpPr/>
          <p:nvPr/>
        </p:nvSpPr>
        <p:spPr>
          <a:xfrm>
            <a:off x="365760" y="1188720"/>
            <a:ext cx="557784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5486400" cy="283464"/>
          </a:xfrm>
          <a:prstGeom prst="rect">
            <a:avLst/>
          </a:prstGeom>
          <a:noFill/>
        </p:spPr>
        <p:txBody>
          <a:bodyPr wrap="square">
            <a:spAutoFit/>
          </a:bodyPr>
          <a:lstStyle/>
          <a:p>
            <a:pPr algn="l"/>
            <a:r>
              <a:rPr sz="1300" b="1">
                <a:solidFill>
                  <a:srgbClr val="FFFFFF"/>
                </a:solidFill>
              </a:rPr>
              <a:t>F1  Real Trace Ingestion</a:t>
            </a:r>
          </a:p>
        </p:txBody>
      </p:sp>
      <p:sp>
        <p:nvSpPr>
          <p:cNvPr id="6" name="TextBox 5"/>
          <p:cNvSpPr txBox="1"/>
          <p:nvPr/>
        </p:nvSpPr>
        <p:spPr>
          <a:xfrm>
            <a:off x="457200" y="1536192"/>
            <a:ext cx="5486400" cy="1325880"/>
          </a:xfrm>
          <a:prstGeom prst="rect">
            <a:avLst/>
          </a:prstGeom>
          <a:noFill/>
        </p:spPr>
        <p:txBody>
          <a:bodyPr wrap="square">
            <a:spAutoFit/>
          </a:bodyPr>
          <a:lstStyle/>
          <a:p>
            <a:pPr algn="l"/>
            <a:r>
              <a:rPr sz="1200" b="0">
                <a:solidFill>
                  <a:srgbClr val="333333"/>
                </a:solidFill>
              </a:rPr>
              <a:t>Map Google cluster-usage traces v3: InstanceUsage.average_usage -&gt; mu_ijr, random_sampled_usage -&gt; Sigma_r, resource_request -&gt; d_ijr, MachineEvents.capacity -&gt; C_nr.</a:t>
            </a:r>
          </a:p>
        </p:txBody>
      </p:sp>
      <p:sp>
        <p:nvSpPr>
          <p:cNvPr id="7" name="Rectangle 6"/>
          <p:cNvSpPr/>
          <p:nvPr/>
        </p:nvSpPr>
        <p:spPr>
          <a:xfrm>
            <a:off x="6309360" y="1188720"/>
            <a:ext cx="557784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207008"/>
            <a:ext cx="5486400" cy="283464"/>
          </a:xfrm>
          <a:prstGeom prst="rect">
            <a:avLst/>
          </a:prstGeom>
          <a:noFill/>
        </p:spPr>
        <p:txBody>
          <a:bodyPr wrap="square">
            <a:spAutoFit/>
          </a:bodyPr>
          <a:lstStyle/>
          <a:p>
            <a:pPr algn="l"/>
            <a:r>
              <a:rPr sz="1300" b="1">
                <a:solidFill>
                  <a:srgbClr val="FFFFFF"/>
                </a:solidFill>
              </a:rPr>
              <a:t>F2  FFD Greedy Heuristic for Real-Time</a:t>
            </a:r>
          </a:p>
        </p:txBody>
      </p:sp>
      <p:sp>
        <p:nvSpPr>
          <p:cNvPr id="9" name="TextBox 8"/>
          <p:cNvSpPr txBox="1"/>
          <p:nvPr/>
        </p:nvSpPr>
        <p:spPr>
          <a:xfrm>
            <a:off x="6400800" y="1536192"/>
            <a:ext cx="5486400" cy="1325880"/>
          </a:xfrm>
          <a:prstGeom prst="rect">
            <a:avLst/>
          </a:prstGeom>
          <a:noFill/>
        </p:spPr>
        <p:txBody>
          <a:bodyPr wrap="square">
            <a:spAutoFit/>
          </a:bodyPr>
          <a:lstStyle/>
          <a:p>
            <a:pPr algn="l"/>
            <a:r>
              <a:rPr sz="1200" b="0">
                <a:solidFill>
                  <a:srgbClr val="333333"/>
                </a:solidFill>
              </a:rPr>
              <a:t>Replace CBC for large instances: sort jobs by pred_mem descending, assign greedily to first node that fits within tenant_node_access. O(|J| log|J| + |J|x|N|). Already designed, ~30 lines.</a:t>
            </a:r>
          </a:p>
        </p:txBody>
      </p:sp>
      <p:sp>
        <p:nvSpPr>
          <p:cNvPr id="10" name="Rectangle 9"/>
          <p:cNvSpPr/>
          <p:nvPr/>
        </p:nvSpPr>
        <p:spPr>
          <a:xfrm>
            <a:off x="365760" y="2926080"/>
            <a:ext cx="557784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44368"/>
            <a:ext cx="5486400" cy="283464"/>
          </a:xfrm>
          <a:prstGeom prst="rect">
            <a:avLst/>
          </a:prstGeom>
          <a:noFill/>
        </p:spPr>
        <p:txBody>
          <a:bodyPr wrap="square">
            <a:spAutoFit/>
          </a:bodyPr>
          <a:lstStyle/>
          <a:p>
            <a:pPr algn="l"/>
            <a:r>
              <a:rPr sz="1300" b="1">
                <a:solidFill>
                  <a:srgbClr val="FFFFFF"/>
                </a:solidFill>
              </a:rPr>
              <a:t>F3  Dynamic Re-Planning</a:t>
            </a:r>
          </a:p>
        </p:txBody>
      </p:sp>
      <p:sp>
        <p:nvSpPr>
          <p:cNvPr id="12" name="TextBox 11"/>
          <p:cNvSpPr txBox="1"/>
          <p:nvPr/>
        </p:nvSpPr>
        <p:spPr>
          <a:xfrm>
            <a:off x="457200" y="3273552"/>
            <a:ext cx="5486400" cy="1325880"/>
          </a:xfrm>
          <a:prstGeom prst="rect">
            <a:avLst/>
          </a:prstGeom>
          <a:noFill/>
        </p:spPr>
        <p:txBody>
          <a:bodyPr wrap="square">
            <a:spAutoFit/>
          </a:bodyPr>
          <a:lstStyle/>
          <a:p>
            <a:pPr algn="l"/>
            <a:r>
              <a:rPr sz="1200" b="0">
                <a:solidFill>
                  <a:srgbClr val="333333"/>
                </a:solidFill>
              </a:rPr>
              <a:t>Trigger plan-ahead re-solve when a high-value tenant arrives or SLA breach detected. Use prior solution as MIPStart warm-start to reduce solve time significantly.</a:t>
            </a:r>
          </a:p>
        </p:txBody>
      </p:sp>
      <p:sp>
        <p:nvSpPr>
          <p:cNvPr id="13" name="Rectangle 12"/>
          <p:cNvSpPr/>
          <p:nvPr/>
        </p:nvSpPr>
        <p:spPr>
          <a:xfrm>
            <a:off x="6309360" y="2926080"/>
            <a:ext cx="557784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944368"/>
            <a:ext cx="5486400" cy="283464"/>
          </a:xfrm>
          <a:prstGeom prst="rect">
            <a:avLst/>
          </a:prstGeom>
          <a:noFill/>
        </p:spPr>
        <p:txBody>
          <a:bodyPr wrap="square">
            <a:spAutoFit/>
          </a:bodyPr>
          <a:lstStyle/>
          <a:p>
            <a:pPr algn="l"/>
            <a:r>
              <a:rPr sz="1300" b="1">
                <a:solidFill>
                  <a:srgbClr val="FFFFFF"/>
                </a:solidFill>
              </a:rPr>
              <a:t>F4  Exact Per-Node eps_eff</a:t>
            </a:r>
          </a:p>
        </p:txBody>
      </p:sp>
      <p:sp>
        <p:nvSpPr>
          <p:cNvPr id="15" name="TextBox 14"/>
          <p:cNvSpPr txBox="1"/>
          <p:nvPr/>
        </p:nvSpPr>
        <p:spPr>
          <a:xfrm>
            <a:off x="6400800" y="3273552"/>
            <a:ext cx="5486400" cy="1325880"/>
          </a:xfrm>
          <a:prstGeom prst="rect">
            <a:avLst/>
          </a:prstGeom>
          <a:noFill/>
        </p:spPr>
        <p:txBody>
          <a:bodyPr wrap="square">
            <a:spAutoFit/>
          </a:bodyPr>
          <a:lstStyle/>
          <a:p>
            <a:pPr algn="l"/>
            <a:r>
              <a:rPr sz="1200" b="0">
                <a:solidFill>
                  <a:srgbClr val="333333"/>
                </a:solidFill>
              </a:rPr>
              <a:t>Replace precomputed kap_node with binary selectors on y[i,n,t] for exact minimum eps_i per node. Reduces capacity conservatism without adding continuous variables.</a:t>
            </a:r>
          </a:p>
        </p:txBody>
      </p:sp>
      <p:sp>
        <p:nvSpPr>
          <p:cNvPr id="16" name="Rectangle 15"/>
          <p:cNvSpPr/>
          <p:nvPr/>
        </p:nvSpPr>
        <p:spPr>
          <a:xfrm>
            <a:off x="365760" y="4663440"/>
            <a:ext cx="557784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81727"/>
            <a:ext cx="5486400" cy="283464"/>
          </a:xfrm>
          <a:prstGeom prst="rect">
            <a:avLst/>
          </a:prstGeom>
          <a:noFill/>
        </p:spPr>
        <p:txBody>
          <a:bodyPr wrap="square">
            <a:spAutoFit/>
          </a:bodyPr>
          <a:lstStyle/>
          <a:p>
            <a:pPr algn="l"/>
            <a:r>
              <a:rPr sz="1300" b="1">
                <a:solidFill>
                  <a:srgbClr val="FFFFFF"/>
                </a:solidFill>
              </a:rPr>
              <a:t>F5  Kubernetes API Integration</a:t>
            </a:r>
          </a:p>
        </p:txBody>
      </p:sp>
      <p:sp>
        <p:nvSpPr>
          <p:cNvPr id="18" name="TextBox 17"/>
          <p:cNvSpPr txBox="1"/>
          <p:nvPr/>
        </p:nvSpPr>
        <p:spPr>
          <a:xfrm>
            <a:off x="457200" y="5010912"/>
            <a:ext cx="5486400" cy="1325880"/>
          </a:xfrm>
          <a:prstGeom prst="rect">
            <a:avLst/>
          </a:prstGeom>
          <a:noFill/>
        </p:spPr>
        <p:txBody>
          <a:bodyPr wrap="square">
            <a:spAutoFit/>
          </a:bodyPr>
          <a:lstStyle/>
          <a:p>
            <a:pPr algn="l"/>
            <a:r>
              <a:rPr sz="1200" b="0">
                <a:solidFill>
                  <a:srgbClr val="333333"/>
                </a:solidFill>
              </a:rPr>
              <a:t>Map x_ijnt -&gt; Pod scheduling, w_ijkt -&gt; RuntimeClass (gVisor/Kata), Delta_i -&gt; PodDisruptionBudget, TenantAccessSchedule -&gt; NetworkPolicy rules.</a:t>
            </a:r>
          </a:p>
        </p:txBody>
      </p:sp>
      <p:sp>
        <p:nvSpPr>
          <p:cNvPr id="19" name="Rectangle 18"/>
          <p:cNvSpPr/>
          <p:nvPr/>
        </p:nvSpPr>
        <p:spPr>
          <a:xfrm>
            <a:off x="6309360" y="4663440"/>
            <a:ext cx="5577840" cy="32004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681727"/>
            <a:ext cx="5486400" cy="283464"/>
          </a:xfrm>
          <a:prstGeom prst="rect">
            <a:avLst/>
          </a:prstGeom>
          <a:noFill/>
        </p:spPr>
        <p:txBody>
          <a:bodyPr wrap="square">
            <a:spAutoFit/>
          </a:bodyPr>
          <a:lstStyle/>
          <a:p>
            <a:pPr algn="l"/>
            <a:r>
              <a:rPr sz="1300" b="1">
                <a:solidFill>
                  <a:srgbClr val="FFFFFF"/>
                </a:solidFill>
              </a:rPr>
              <a:t>F6  Rolling Horizon Re-Planning</a:t>
            </a:r>
          </a:p>
        </p:txBody>
      </p:sp>
      <p:sp>
        <p:nvSpPr>
          <p:cNvPr id="21" name="TextBox 20"/>
          <p:cNvSpPr txBox="1"/>
          <p:nvPr/>
        </p:nvSpPr>
        <p:spPr>
          <a:xfrm>
            <a:off x="6400800" y="5010912"/>
            <a:ext cx="5486400" cy="1325880"/>
          </a:xfrm>
          <a:prstGeom prst="rect">
            <a:avLst/>
          </a:prstGeom>
          <a:noFill/>
        </p:spPr>
        <p:txBody>
          <a:bodyPr wrap="square">
            <a:spAutoFit/>
          </a:bodyPr>
          <a:lstStyle/>
          <a:p>
            <a:pPr algn="l"/>
            <a:r>
              <a:rPr sz="1200" b="0">
                <a:solidFill>
                  <a:srgbClr val="333333"/>
                </a:solidFill>
              </a:rPr>
              <a:t>Re-run plan-ahead every |H|/2 slots with updated demand forecasts. Allows the model to adapt to workload changes mid-horizon without a full cold restart.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Improvements Achievable Now  (before final submission)</a:t>
            </a:r>
          </a:p>
        </p:txBody>
      </p:sp>
      <p:sp>
        <p:nvSpPr>
          <p:cNvPr id="4" name="Rectangle 3"/>
          <p:cNvSpPr/>
          <p:nvPr/>
        </p:nvSpPr>
        <p:spPr>
          <a:xfrm>
            <a:off x="365760" y="1188720"/>
            <a:ext cx="274320" cy="82296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4114800" cy="347472"/>
          </a:xfrm>
          <a:prstGeom prst="rect">
            <a:avLst/>
          </a:prstGeom>
          <a:noFill/>
        </p:spPr>
        <p:txBody>
          <a:bodyPr wrap="square">
            <a:spAutoFit/>
          </a:bodyPr>
          <a:lstStyle/>
          <a:p>
            <a:pPr algn="l"/>
            <a:r>
              <a:rPr sz="1400" b="1">
                <a:solidFill>
                  <a:srgbClr val="1A375E"/>
                </a:solidFill>
              </a:rPr>
              <a:t>FFD Heuristic — Real-Time</a:t>
            </a:r>
          </a:p>
        </p:txBody>
      </p:sp>
      <p:sp>
        <p:nvSpPr>
          <p:cNvPr id="6" name="TextBox 5"/>
          <p:cNvSpPr txBox="1"/>
          <p:nvPr/>
        </p:nvSpPr>
        <p:spPr>
          <a:xfrm>
            <a:off x="731520" y="1536192"/>
            <a:ext cx="11064240" cy="640080"/>
          </a:xfrm>
          <a:prstGeom prst="rect">
            <a:avLst/>
          </a:prstGeom>
          <a:noFill/>
        </p:spPr>
        <p:txBody>
          <a:bodyPr wrap="square">
            <a:spAutoFit/>
          </a:bodyPr>
          <a:lstStyle/>
          <a:p>
            <a:pPr algn="l"/>
            <a:r>
              <a:rPr sz="1300" b="0">
                <a:solidFill>
                  <a:srgbClr val="333333"/>
                </a:solidFill>
              </a:rPr>
              <a:t>~30 lines. Sort jobs by pred_mem desc, greedily assign to first fitting node in tenant_node_access. Eliminates CBC timeout for Sample 3 and any production-scale test.</a:t>
            </a:r>
          </a:p>
        </p:txBody>
      </p:sp>
      <p:sp>
        <p:nvSpPr>
          <p:cNvPr id="7" name="Rectangle 6"/>
          <p:cNvSpPr/>
          <p:nvPr/>
        </p:nvSpPr>
        <p:spPr>
          <a:xfrm>
            <a:off x="365760" y="2221991"/>
            <a:ext cx="274320" cy="8229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21991"/>
            <a:ext cx="4114800" cy="347472"/>
          </a:xfrm>
          <a:prstGeom prst="rect">
            <a:avLst/>
          </a:prstGeom>
          <a:noFill/>
        </p:spPr>
        <p:txBody>
          <a:bodyPr wrap="square">
            <a:spAutoFit/>
          </a:bodyPr>
          <a:lstStyle/>
          <a:p>
            <a:pPr algn="l"/>
            <a:r>
              <a:rPr sz="1400" b="1">
                <a:solidFill>
                  <a:srgbClr val="1A375E"/>
                </a:solidFill>
              </a:rPr>
              <a:t>Assert Compliance in Pipeline</a:t>
            </a:r>
          </a:p>
        </p:txBody>
      </p:sp>
      <p:sp>
        <p:nvSpPr>
          <p:cNvPr id="9" name="TextBox 8"/>
          <p:cNvSpPr txBox="1"/>
          <p:nvPr/>
        </p:nvSpPr>
        <p:spPr>
          <a:xfrm>
            <a:off x="731520" y="2569463"/>
            <a:ext cx="11064240" cy="640080"/>
          </a:xfrm>
          <a:prstGeom prst="rect">
            <a:avLst/>
          </a:prstGeom>
          <a:noFill/>
        </p:spPr>
        <p:txBody>
          <a:bodyPr wrap="square">
            <a:spAutoFit/>
          </a:bodyPr>
          <a:lstStyle/>
          <a:p>
            <a:pPr algn="l"/>
            <a:r>
              <a:rPr sz="1300" b="0">
                <a:solidFill>
                  <a:srgbClr val="333333"/>
                </a:solidFill>
              </a:rPr>
              <a:t>Add an explicit check in run_pipeline() that no placed real-time job lands on a node outside its lease. One assertion, catches any regression in C5 immediately.</a:t>
            </a:r>
          </a:p>
        </p:txBody>
      </p:sp>
      <p:sp>
        <p:nvSpPr>
          <p:cNvPr id="10" name="Rectangle 9"/>
          <p:cNvSpPr/>
          <p:nvPr/>
        </p:nvSpPr>
        <p:spPr>
          <a:xfrm>
            <a:off x="365760" y="3255263"/>
            <a:ext cx="274320" cy="82296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255263"/>
            <a:ext cx="4114800" cy="347472"/>
          </a:xfrm>
          <a:prstGeom prst="rect">
            <a:avLst/>
          </a:prstGeom>
          <a:noFill/>
        </p:spPr>
        <p:txBody>
          <a:bodyPr wrap="square">
            <a:spAutoFit/>
          </a:bodyPr>
          <a:lstStyle/>
          <a:p>
            <a:pPr algn="l"/>
            <a:r>
              <a:rPr sz="1400" b="1">
                <a:solidFill>
                  <a:srgbClr val="1A375E"/>
                </a:solidFill>
              </a:rPr>
              <a:t>Gurobi MIPStart Warm-Start</a:t>
            </a:r>
          </a:p>
        </p:txBody>
      </p:sp>
      <p:sp>
        <p:nvSpPr>
          <p:cNvPr id="12" name="TextBox 11"/>
          <p:cNvSpPr txBox="1"/>
          <p:nvPr/>
        </p:nvSpPr>
        <p:spPr>
          <a:xfrm>
            <a:off x="731520" y="3602735"/>
            <a:ext cx="11064240" cy="640080"/>
          </a:xfrm>
          <a:prstGeom prst="rect">
            <a:avLst/>
          </a:prstGeom>
          <a:noFill/>
        </p:spPr>
        <p:txBody>
          <a:bodyPr wrap="square">
            <a:spAutoFit/>
          </a:bodyPr>
          <a:lstStyle/>
          <a:p>
            <a:pPr algn="l"/>
            <a:r>
              <a:rPr sz="1300" b="0">
                <a:solidFill>
                  <a:srgbClr val="333333"/>
                </a:solidFill>
              </a:rPr>
              <a:t>After finding the Sample 1 solution, pass x, w, a values as hints for Sample 2/3 using var.Start. Can cut the branch-and-bound tree significantly for related instances.</a:t>
            </a:r>
          </a:p>
        </p:txBody>
      </p:sp>
      <p:sp>
        <p:nvSpPr>
          <p:cNvPr id="13" name="Rectangle 12"/>
          <p:cNvSpPr/>
          <p:nvPr/>
        </p:nvSpPr>
        <p:spPr>
          <a:xfrm>
            <a:off x="365760" y="4288536"/>
            <a:ext cx="274320" cy="822960"/>
          </a:xfrm>
          <a:prstGeom prst="rect">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88536"/>
            <a:ext cx="4114800" cy="347472"/>
          </a:xfrm>
          <a:prstGeom prst="rect">
            <a:avLst/>
          </a:prstGeom>
          <a:noFill/>
        </p:spPr>
        <p:txBody>
          <a:bodyPr wrap="square">
            <a:spAutoFit/>
          </a:bodyPr>
          <a:lstStyle/>
          <a:p>
            <a:pPr algn="l"/>
            <a:r>
              <a:rPr sz="1400" b="1">
                <a:solidFill>
                  <a:srgbClr val="1A375E"/>
                </a:solidFill>
              </a:rPr>
              <a:t>Diagonal Covariance for Cleaner Demos</a:t>
            </a:r>
          </a:p>
        </p:txBody>
      </p:sp>
      <p:sp>
        <p:nvSpPr>
          <p:cNvPr id="15" name="TextBox 14"/>
          <p:cNvSpPr txBox="1"/>
          <p:nvPr/>
        </p:nvSpPr>
        <p:spPr>
          <a:xfrm>
            <a:off x="731520" y="4636007"/>
            <a:ext cx="11064240" cy="640080"/>
          </a:xfrm>
          <a:prstGeom prst="rect">
            <a:avLst/>
          </a:prstGeom>
          <a:noFill/>
        </p:spPr>
        <p:txBody>
          <a:bodyPr wrap="square">
            <a:spAutoFit/>
          </a:bodyPr>
          <a:lstStyle/>
          <a:p>
            <a:pPr algn="l"/>
            <a:r>
              <a:rPr sz="1300" b="0">
                <a:solidFill>
                  <a:srgbClr val="333333"/>
                </a:solidFill>
              </a:rPr>
              <a:t>Replace random Sigma_r with identity matrix for sensitivity analysis. Removes the dominant SOCP effect from synthetic data, making all 5 constraint sweeps show meaningful variation.</a:t>
            </a:r>
          </a:p>
        </p:txBody>
      </p:sp>
      <p:sp>
        <p:nvSpPr>
          <p:cNvPr id="16" name="Rectangle 15"/>
          <p:cNvSpPr/>
          <p:nvPr/>
        </p:nvSpPr>
        <p:spPr>
          <a:xfrm>
            <a:off x="365760" y="5321807"/>
            <a:ext cx="274320" cy="8229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21807"/>
            <a:ext cx="4114800" cy="347472"/>
          </a:xfrm>
          <a:prstGeom prst="rect">
            <a:avLst/>
          </a:prstGeom>
          <a:noFill/>
        </p:spPr>
        <p:txBody>
          <a:bodyPr wrap="square">
            <a:spAutoFit/>
          </a:bodyPr>
          <a:lstStyle/>
          <a:p>
            <a:pPr algn="l"/>
            <a:r>
              <a:rPr sz="1400" b="1">
                <a:solidFill>
                  <a:srgbClr val="1A375E"/>
                </a:solidFill>
              </a:rPr>
              <a:t>State Initialisation at t=0</a:t>
            </a:r>
          </a:p>
        </p:txBody>
      </p:sp>
      <p:sp>
        <p:nvSpPr>
          <p:cNvPr id="18" name="TextBox 17"/>
          <p:cNvSpPr txBox="1"/>
          <p:nvPr/>
        </p:nvSpPr>
        <p:spPr>
          <a:xfrm>
            <a:off x="731520" y="5669279"/>
            <a:ext cx="11064240" cy="640080"/>
          </a:xfrm>
          <a:prstGeom prst="rect">
            <a:avLst/>
          </a:prstGeom>
          <a:noFill/>
        </p:spPr>
        <p:txBody>
          <a:bodyPr wrap="square">
            <a:spAutoFit/>
          </a:bodyPr>
          <a:lstStyle/>
          <a:p>
            <a:pPr algn="l"/>
            <a:r>
              <a:rPr sz="1300" b="0">
                <a:solidFill>
                  <a:srgbClr val="333333"/>
                </a:solidFill>
              </a:rPr>
              <a:t>Pass current cluster placement as prior-state input to plan-ahead. Enables migration constraints (C6b/C6c) to activate for multi-slot instances, making sensitivity sweeps informative.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640080"/>
          </a:xfrm>
          <a:prstGeom prst="rect">
            <a:avLst/>
          </a:prstGeom>
          <a:noFill/>
        </p:spPr>
        <p:txBody>
          <a:bodyPr wrap="square">
            <a:spAutoFit/>
          </a:bodyPr>
          <a:lstStyle/>
          <a:p>
            <a:pPr algn="l"/>
            <a:r>
              <a:rPr sz="2800" b="1">
                <a:solidFill>
                  <a:srgbClr val="FFFFFF"/>
                </a:solidFill>
              </a:rPr>
              <a:t>How Is the Plan-Ahead Model? — Honest Assessment</a:t>
            </a:r>
          </a:p>
        </p:txBody>
      </p:sp>
      <p:sp>
        <p:nvSpPr>
          <p:cNvPr id="4" name="Rectangle 3"/>
          <p:cNvSpPr/>
          <p:nvPr/>
        </p:nvSpPr>
        <p:spPr>
          <a:xfrm>
            <a:off x="365760" y="1097280"/>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106424"/>
            <a:ext cx="3566160" cy="274320"/>
          </a:xfrm>
          <a:prstGeom prst="rect">
            <a:avLst/>
          </a:prstGeom>
          <a:noFill/>
        </p:spPr>
        <p:txBody>
          <a:bodyPr wrap="square">
            <a:spAutoFit/>
          </a:bodyPr>
          <a:lstStyle/>
          <a:p>
            <a:pPr algn="l"/>
            <a:r>
              <a:rPr sz="1300" b="1">
                <a:solidFill>
                  <a:srgbClr val="FFFFFF"/>
                </a:solidFill>
              </a:rPr>
              <a:t>What is working well</a:t>
            </a:r>
          </a:p>
        </p:txBody>
      </p:sp>
      <p:sp>
        <p:nvSpPr>
          <p:cNvPr id="6" name="TextBox 5"/>
          <p:cNvSpPr txBox="1"/>
          <p:nvPr/>
        </p:nvSpPr>
        <p:spPr>
          <a:xfrm>
            <a:off x="365760" y="1463040"/>
            <a:ext cx="5394960" cy="2560320"/>
          </a:xfrm>
          <a:prstGeom prst="rect">
            <a:avLst/>
          </a:prstGeom>
          <a:noFill/>
        </p:spPr>
        <p:txBody>
          <a:bodyPr wrap="square">
            <a:spAutoFit/>
          </a:bodyPr>
          <a:lstStyle/>
          <a:p>
            <a:pPr>
              <a:spcBef>
                <a:spcPts val="300"/>
              </a:spcBef>
            </a:pPr>
            <a:r>
              <a:rPr sz="1300">
                <a:solidFill>
                  <a:srgbClr val="1A7A3C"/>
                </a:solidFill>
              </a:rPr>
              <a:t>  •  All 7 constraint families correctly implemented (C1-C7)</a:t>
            </a:r>
          </a:p>
          <a:p>
            <a:pPr>
              <a:spcBef>
                <a:spcPts val="300"/>
              </a:spcBef>
            </a:pPr>
            <a:r>
              <a:rPr sz="1300">
                <a:solidFill>
                  <a:srgbClr val="1A7A3C"/>
                </a:solidFill>
              </a:rPr>
              <a:t>  •  SOCP capacity with Cantelli safety margin is mathematically sound</a:t>
            </a:r>
          </a:p>
          <a:p>
            <a:pPr>
              <a:spcBef>
                <a:spcPts val="300"/>
              </a:spcBef>
            </a:pPr>
            <a:r>
              <a:rPr sz="1300">
                <a:solidFill>
                  <a:srgbClr val="1A7A3C"/>
                </a:solidFill>
              </a:rPr>
              <a:t>  •  McCormick linearisations produce tight LP relaxation bounds</a:t>
            </a:r>
          </a:p>
          <a:p>
            <a:pPr>
              <a:spcBef>
                <a:spcPts val="300"/>
              </a:spcBef>
            </a:pPr>
            <a:r>
              <a:rPr sz="1300">
                <a:solidFill>
                  <a:srgbClr val="1A7A3C"/>
                </a:solidFill>
              </a:rPr>
              <a:t>  •  DRF fairness sigma correctly bounded by all admitted tenants</a:t>
            </a:r>
          </a:p>
          <a:p>
            <a:pPr>
              <a:spcBef>
                <a:spcPts val="300"/>
              </a:spcBef>
            </a:pPr>
            <a:r>
              <a:rPr sz="1300">
                <a:solidFill>
                  <a:srgbClr val="1A7A3C"/>
                </a:solidFill>
              </a:rPr>
              <a:t>  •  Compliance / residency hard constraints verified in tests</a:t>
            </a:r>
          </a:p>
          <a:p>
            <a:pPr>
              <a:spcBef>
                <a:spcPts val="300"/>
              </a:spcBef>
            </a:pPr>
            <a:r>
              <a:rPr sz="1300">
                <a:solidFill>
                  <a:srgbClr val="1A7A3C"/>
                </a:solidFill>
              </a:rPr>
              <a:t>  •  Output interface (TenantAccessSchedule) cleanly connects to real-time</a:t>
            </a:r>
          </a:p>
        </p:txBody>
      </p:sp>
      <p:sp>
        <p:nvSpPr>
          <p:cNvPr id="7" name="Rectangle 6"/>
          <p:cNvSpPr/>
          <p:nvPr/>
        </p:nvSpPr>
        <p:spPr>
          <a:xfrm>
            <a:off x="6126480" y="1097280"/>
            <a:ext cx="36576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0488" y="1106424"/>
            <a:ext cx="3566160" cy="274320"/>
          </a:xfrm>
          <a:prstGeom prst="rect">
            <a:avLst/>
          </a:prstGeom>
          <a:noFill/>
        </p:spPr>
        <p:txBody>
          <a:bodyPr wrap="square">
            <a:spAutoFit/>
          </a:bodyPr>
          <a:lstStyle/>
          <a:p>
            <a:pPr algn="l"/>
            <a:r>
              <a:rPr sz="1300" b="1">
                <a:solidFill>
                  <a:srgbClr val="FFFFFF"/>
                </a:solidFill>
              </a:rPr>
              <a:t>Known limitations</a:t>
            </a:r>
          </a:p>
        </p:txBody>
      </p:sp>
      <p:sp>
        <p:nvSpPr>
          <p:cNvPr id="9" name="TextBox 8"/>
          <p:cNvSpPr txBox="1"/>
          <p:nvPr/>
        </p:nvSpPr>
        <p:spPr>
          <a:xfrm>
            <a:off x="6126480" y="1463040"/>
            <a:ext cx="5669280" cy="2560320"/>
          </a:xfrm>
          <a:prstGeom prst="rect">
            <a:avLst/>
          </a:prstGeom>
          <a:noFill/>
        </p:spPr>
        <p:txBody>
          <a:bodyPr wrap="square">
            <a:spAutoFit/>
          </a:bodyPr>
          <a:lstStyle/>
          <a:p>
            <a:pPr>
              <a:spcBef>
                <a:spcPts val="300"/>
              </a:spcBef>
            </a:pPr>
            <a:r>
              <a:rPr sz="1300">
                <a:solidFill>
                  <a:srgbClr val="992222"/>
                </a:solidFill>
              </a:rPr>
              <a:t>  •  SOCP is still conservative: kap_node uses floor over tenant access, not actual occupancy</a:t>
            </a:r>
          </a:p>
          <a:p>
            <a:pPr>
              <a:spcBef>
                <a:spcPts val="300"/>
              </a:spcBef>
            </a:pPr>
            <a:r>
              <a:rPr sz="1300">
                <a:solidFill>
                  <a:srgbClr val="992222"/>
                </a:solidFill>
              </a:rPr>
              <a:t>  •  Scale: quadratic in workloads (zeta pairs); 9 workloads already near solve-time limit</a:t>
            </a:r>
          </a:p>
          <a:p>
            <a:pPr>
              <a:spcBef>
                <a:spcPts val="300"/>
              </a:spcBef>
            </a:pPr>
            <a:r>
              <a:rPr sz="1300">
                <a:solidFill>
                  <a:srgbClr val="992222"/>
                </a:solidFill>
              </a:rPr>
              <a:t>  •  Synthetic Sigma too large: SOCP dominates; real traces would show more varied behaviour</a:t>
            </a:r>
          </a:p>
          <a:p>
            <a:pPr>
              <a:spcBef>
                <a:spcPts val="300"/>
              </a:spcBef>
            </a:pPr>
            <a:r>
              <a:rPr sz="1300">
                <a:solidFill>
                  <a:srgbClr val="992222"/>
                </a:solidFill>
              </a:rPr>
              <a:t>  •  Academic Gurobi license may hit time limit before 1% gap on medium instances</a:t>
            </a:r>
          </a:p>
        </p:txBody>
      </p:sp>
      <p:sp>
        <p:nvSpPr>
          <p:cNvPr id="10" name="Rectangle 9"/>
          <p:cNvSpPr/>
          <p:nvPr/>
        </p:nvSpPr>
        <p:spPr>
          <a:xfrm>
            <a:off x="365760" y="416052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4169663"/>
            <a:ext cx="3108960" cy="274320"/>
          </a:xfrm>
          <a:prstGeom prst="rect">
            <a:avLst/>
          </a:prstGeom>
          <a:noFill/>
        </p:spPr>
        <p:txBody>
          <a:bodyPr wrap="square">
            <a:spAutoFit/>
          </a:bodyPr>
          <a:lstStyle/>
          <a:p>
            <a:pPr algn="l"/>
            <a:r>
              <a:rPr sz="1300" b="1">
                <a:solidFill>
                  <a:srgbClr val="FFFFFF"/>
                </a:solidFill>
              </a:rPr>
              <a:t>Verdict for capstone</a:t>
            </a:r>
          </a:p>
        </p:txBody>
      </p:sp>
      <p:sp>
        <p:nvSpPr>
          <p:cNvPr id="12" name="TextBox 11"/>
          <p:cNvSpPr txBox="1"/>
          <p:nvPr/>
        </p:nvSpPr>
        <p:spPr>
          <a:xfrm>
            <a:off x="365760" y="4526280"/>
            <a:ext cx="11430000" cy="411480"/>
          </a:xfrm>
          <a:prstGeom prst="rect">
            <a:avLst/>
          </a:prstGeom>
          <a:noFill/>
        </p:spPr>
        <p:txBody>
          <a:bodyPr wrap="square">
            <a:spAutoFit/>
          </a:bodyPr>
          <a:lstStyle/>
          <a:p>
            <a:pPr algn="l"/>
            <a:r>
              <a:rPr sz="1400" b="0">
                <a:solidFill>
                  <a:srgbClr val="1A375E"/>
                </a:solidFill>
              </a:rPr>
              <a:t>The model is mathematically correct, modular, and fully tested. The C1 fix and per-node kappa are genuine improvements over the original. It is the right model for this scope — limitations are well-understood and documented.</a:t>
            </a:r>
          </a:p>
        </p:txBody>
      </p:sp>
      <p:sp>
        <p:nvSpPr>
          <p:cNvPr id="13" name="Rectangle 12"/>
          <p:cNvSpPr/>
          <p:nvPr/>
        </p:nvSpPr>
        <p:spPr>
          <a:xfrm>
            <a:off x="365760" y="5074920"/>
            <a:ext cx="3200400" cy="292608"/>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5084064"/>
            <a:ext cx="3108960" cy="274320"/>
          </a:xfrm>
          <a:prstGeom prst="rect">
            <a:avLst/>
          </a:prstGeom>
          <a:noFill/>
        </p:spPr>
        <p:txBody>
          <a:bodyPr wrap="square">
            <a:spAutoFit/>
          </a:bodyPr>
          <a:lstStyle/>
          <a:p>
            <a:pPr algn="l"/>
            <a:r>
              <a:rPr sz="1300" b="1">
                <a:solidFill>
                  <a:srgbClr val="FFFFFF"/>
                </a:solidFill>
              </a:rPr>
              <a:t>Constraint status</a:t>
            </a:r>
          </a:p>
        </p:txBody>
      </p:sp>
      <p:sp>
        <p:nvSpPr>
          <p:cNvPr id="15" name="TextBox 14"/>
          <p:cNvSpPr txBox="1"/>
          <p:nvPr/>
        </p:nvSpPr>
        <p:spPr>
          <a:xfrm>
            <a:off x="365760" y="5440680"/>
            <a:ext cx="2926080" cy="292608"/>
          </a:xfrm>
          <a:prstGeom prst="rect">
            <a:avLst/>
          </a:prstGeom>
          <a:noFill/>
        </p:spPr>
        <p:txBody>
          <a:bodyPr wrap="square">
            <a:spAutoFit/>
          </a:bodyPr>
          <a:lstStyle/>
          <a:p>
            <a:pPr algn="l"/>
            <a:r>
              <a:rPr sz="1100" b="1">
                <a:solidFill>
                  <a:srgbClr val="333333"/>
                </a:solidFill>
              </a:rPr>
              <a:t>C1  Placement integrity</a:t>
            </a:r>
          </a:p>
        </p:txBody>
      </p:sp>
      <p:sp>
        <p:nvSpPr>
          <p:cNvPr id="16" name="TextBox 15"/>
          <p:cNvSpPr txBox="1"/>
          <p:nvPr/>
        </p:nvSpPr>
        <p:spPr>
          <a:xfrm>
            <a:off x="3291840" y="5440680"/>
            <a:ext cx="2743200" cy="292608"/>
          </a:xfrm>
          <a:prstGeom prst="rect">
            <a:avLst/>
          </a:prstGeom>
          <a:noFill/>
        </p:spPr>
        <p:txBody>
          <a:bodyPr wrap="square">
            <a:spAutoFit/>
          </a:bodyPr>
          <a:lstStyle/>
          <a:p>
            <a:pPr algn="l"/>
            <a:r>
              <a:rPr sz="1100" b="0">
                <a:solidFill>
                  <a:srgbClr val="1A7A3C"/>
                </a:solidFill>
              </a:rPr>
              <a:t>FIXED (== not &lt;=)</a:t>
            </a:r>
          </a:p>
        </p:txBody>
      </p:sp>
      <p:sp>
        <p:nvSpPr>
          <p:cNvPr id="17" name="TextBox 16"/>
          <p:cNvSpPr txBox="1"/>
          <p:nvPr/>
        </p:nvSpPr>
        <p:spPr>
          <a:xfrm>
            <a:off x="6217920" y="5440680"/>
            <a:ext cx="2926080" cy="292608"/>
          </a:xfrm>
          <a:prstGeom prst="rect">
            <a:avLst/>
          </a:prstGeom>
          <a:noFill/>
        </p:spPr>
        <p:txBody>
          <a:bodyPr wrap="square">
            <a:spAutoFit/>
          </a:bodyPr>
          <a:lstStyle/>
          <a:p>
            <a:pPr algn="l"/>
            <a:r>
              <a:rPr sz="1100" b="1">
                <a:solidFill>
                  <a:srgbClr val="333333"/>
                </a:solidFill>
              </a:rPr>
              <a:t>C2  Probabilistic capacity (SOCP)</a:t>
            </a:r>
          </a:p>
        </p:txBody>
      </p:sp>
      <p:sp>
        <p:nvSpPr>
          <p:cNvPr id="18" name="TextBox 17"/>
          <p:cNvSpPr txBox="1"/>
          <p:nvPr/>
        </p:nvSpPr>
        <p:spPr>
          <a:xfrm>
            <a:off x="9144000" y="5440680"/>
            <a:ext cx="2743200" cy="292608"/>
          </a:xfrm>
          <a:prstGeom prst="rect">
            <a:avLst/>
          </a:prstGeom>
          <a:noFill/>
        </p:spPr>
        <p:txBody>
          <a:bodyPr wrap="square">
            <a:spAutoFit/>
          </a:bodyPr>
          <a:lstStyle/>
          <a:p>
            <a:pPr algn="l"/>
            <a:r>
              <a:rPr sz="1100" b="0">
                <a:solidFill>
                  <a:srgbClr val="1A7A3C"/>
                </a:solidFill>
              </a:rPr>
              <a:t>Sound, per-node kappa</a:t>
            </a:r>
          </a:p>
        </p:txBody>
      </p:sp>
      <p:sp>
        <p:nvSpPr>
          <p:cNvPr id="19" name="TextBox 18"/>
          <p:cNvSpPr txBox="1"/>
          <p:nvPr/>
        </p:nvSpPr>
        <p:spPr>
          <a:xfrm>
            <a:off x="365760" y="5760720"/>
            <a:ext cx="2926080" cy="292608"/>
          </a:xfrm>
          <a:prstGeom prst="rect">
            <a:avLst/>
          </a:prstGeom>
          <a:noFill/>
        </p:spPr>
        <p:txBody>
          <a:bodyPr wrap="square">
            <a:spAutoFit/>
          </a:bodyPr>
          <a:lstStyle/>
          <a:p>
            <a:pPr algn="l"/>
            <a:r>
              <a:rPr sz="1100" b="1">
                <a:solidFill>
                  <a:srgbClr val="333333"/>
                </a:solidFill>
              </a:rPr>
              <a:t>C3  Isolation primitives</a:t>
            </a:r>
          </a:p>
        </p:txBody>
      </p:sp>
      <p:sp>
        <p:nvSpPr>
          <p:cNvPr id="20" name="TextBox 19"/>
          <p:cNvSpPr txBox="1"/>
          <p:nvPr/>
        </p:nvSpPr>
        <p:spPr>
          <a:xfrm>
            <a:off x="3291840" y="5760720"/>
            <a:ext cx="2743200" cy="292608"/>
          </a:xfrm>
          <a:prstGeom prst="rect">
            <a:avLst/>
          </a:prstGeom>
          <a:noFill/>
        </p:spPr>
        <p:txBody>
          <a:bodyPr wrap="square">
            <a:spAutoFit/>
          </a:bodyPr>
          <a:lstStyle/>
          <a:p>
            <a:pPr algn="l"/>
            <a:r>
              <a:rPr sz="1100" b="0">
                <a:solidFill>
                  <a:srgbClr val="1A7A3C"/>
                </a:solidFill>
              </a:rPr>
              <a:t>Correct, floor verified</a:t>
            </a:r>
          </a:p>
        </p:txBody>
      </p:sp>
      <p:sp>
        <p:nvSpPr>
          <p:cNvPr id="21" name="TextBox 20"/>
          <p:cNvSpPr txBox="1"/>
          <p:nvPr/>
        </p:nvSpPr>
        <p:spPr>
          <a:xfrm>
            <a:off x="6217920" y="5760720"/>
            <a:ext cx="2926080" cy="292608"/>
          </a:xfrm>
          <a:prstGeom prst="rect">
            <a:avLst/>
          </a:prstGeom>
          <a:noFill/>
        </p:spPr>
        <p:txBody>
          <a:bodyPr wrap="square">
            <a:spAutoFit/>
          </a:bodyPr>
          <a:lstStyle/>
          <a:p>
            <a:pPr algn="l"/>
            <a:r>
              <a:rPr sz="1100" b="1">
                <a:solidFill>
                  <a:srgbClr val="333333"/>
                </a:solidFill>
              </a:rPr>
              <a:t>C4  Control-plane budgets</a:t>
            </a:r>
          </a:p>
        </p:txBody>
      </p:sp>
      <p:sp>
        <p:nvSpPr>
          <p:cNvPr id="22" name="TextBox 21"/>
          <p:cNvSpPr txBox="1"/>
          <p:nvPr/>
        </p:nvSpPr>
        <p:spPr>
          <a:xfrm>
            <a:off x="9144000" y="5760720"/>
            <a:ext cx="2743200" cy="292608"/>
          </a:xfrm>
          <a:prstGeom prst="rect">
            <a:avLst/>
          </a:prstGeom>
          <a:noFill/>
        </p:spPr>
        <p:txBody>
          <a:bodyPr wrap="square">
            <a:spAutoFit/>
          </a:bodyPr>
          <a:lstStyle/>
          <a:p>
            <a:pPr algn="l"/>
            <a:r>
              <a:rPr sz="1100" b="0">
                <a:solidFill>
                  <a:srgbClr val="2E6DA4"/>
                </a:solidFill>
              </a:rPr>
              <a:t>Correct (inactive with synthetic data)</a:t>
            </a:r>
          </a:p>
        </p:txBody>
      </p:sp>
      <p:sp>
        <p:nvSpPr>
          <p:cNvPr id="23" name="TextBox 22"/>
          <p:cNvSpPr txBox="1"/>
          <p:nvPr/>
        </p:nvSpPr>
        <p:spPr>
          <a:xfrm>
            <a:off x="365760" y="6080760"/>
            <a:ext cx="2926080" cy="292608"/>
          </a:xfrm>
          <a:prstGeom prst="rect">
            <a:avLst/>
          </a:prstGeom>
          <a:noFill/>
        </p:spPr>
        <p:txBody>
          <a:bodyPr wrap="square">
            <a:spAutoFit/>
          </a:bodyPr>
          <a:lstStyle/>
          <a:p>
            <a:pPr algn="l"/>
            <a:r>
              <a:rPr sz="1100" b="1">
                <a:solidFill>
                  <a:srgbClr val="333333"/>
                </a:solidFill>
              </a:rPr>
              <a:t>C5  SLA latency (big-M)</a:t>
            </a:r>
          </a:p>
        </p:txBody>
      </p:sp>
      <p:sp>
        <p:nvSpPr>
          <p:cNvPr id="24" name="TextBox 23"/>
          <p:cNvSpPr txBox="1"/>
          <p:nvPr/>
        </p:nvSpPr>
        <p:spPr>
          <a:xfrm>
            <a:off x="3291840" y="6080760"/>
            <a:ext cx="2743200" cy="292608"/>
          </a:xfrm>
          <a:prstGeom prst="rect">
            <a:avLst/>
          </a:prstGeom>
          <a:noFill/>
        </p:spPr>
        <p:txBody>
          <a:bodyPr wrap="square">
            <a:spAutoFit/>
          </a:bodyPr>
          <a:lstStyle/>
          <a:p>
            <a:pPr algn="l"/>
            <a:r>
              <a:rPr sz="1100" b="0">
                <a:solidFill>
                  <a:srgbClr val="2E6DA4"/>
                </a:solidFill>
              </a:rPr>
              <a:t>Correct (inactive with synthetic data)</a:t>
            </a:r>
          </a:p>
        </p:txBody>
      </p:sp>
      <p:sp>
        <p:nvSpPr>
          <p:cNvPr id="25" name="TextBox 24"/>
          <p:cNvSpPr txBox="1"/>
          <p:nvPr/>
        </p:nvSpPr>
        <p:spPr>
          <a:xfrm>
            <a:off x="6217920" y="6080760"/>
            <a:ext cx="2926080" cy="292608"/>
          </a:xfrm>
          <a:prstGeom prst="rect">
            <a:avLst/>
          </a:prstGeom>
          <a:noFill/>
        </p:spPr>
        <p:txBody>
          <a:bodyPr wrap="square">
            <a:spAutoFit/>
          </a:bodyPr>
          <a:lstStyle/>
          <a:p>
            <a:pPr algn="l"/>
            <a:r>
              <a:rPr sz="1100" b="1">
                <a:solidFill>
                  <a:srgbClr val="333333"/>
                </a:solidFill>
              </a:rPr>
              <a:t>C6  Migration + disruption</a:t>
            </a:r>
          </a:p>
        </p:txBody>
      </p:sp>
      <p:sp>
        <p:nvSpPr>
          <p:cNvPr id="26" name="TextBox 25"/>
          <p:cNvSpPr txBox="1"/>
          <p:nvPr/>
        </p:nvSpPr>
        <p:spPr>
          <a:xfrm>
            <a:off x="9144000" y="6080760"/>
            <a:ext cx="2743200" cy="292608"/>
          </a:xfrm>
          <a:prstGeom prst="rect">
            <a:avLst/>
          </a:prstGeom>
          <a:noFill/>
        </p:spPr>
        <p:txBody>
          <a:bodyPr wrap="square">
            <a:spAutoFit/>
          </a:bodyPr>
          <a:lstStyle/>
          <a:p>
            <a:pPr algn="l"/>
            <a:r>
              <a:rPr sz="1100" b="0">
                <a:solidFill>
                  <a:srgbClr val="2E6DA4"/>
                </a:solidFill>
              </a:rPr>
              <a:t>Correct (inactive with synthetic data)</a:t>
            </a:r>
          </a:p>
        </p:txBody>
      </p:sp>
      <p:sp>
        <p:nvSpPr>
          <p:cNvPr id="27" name="TextBox 26"/>
          <p:cNvSpPr txBox="1"/>
          <p:nvPr/>
        </p:nvSpPr>
        <p:spPr>
          <a:xfrm>
            <a:off x="365760" y="6400800"/>
            <a:ext cx="2926080" cy="292608"/>
          </a:xfrm>
          <a:prstGeom prst="rect">
            <a:avLst/>
          </a:prstGeom>
          <a:noFill/>
        </p:spPr>
        <p:txBody>
          <a:bodyPr wrap="square">
            <a:spAutoFit/>
          </a:bodyPr>
          <a:lstStyle/>
          <a:p>
            <a:pPr algn="l"/>
            <a:r>
              <a:rPr sz="1100" b="1">
                <a:solidFill>
                  <a:srgbClr val="333333"/>
                </a:solidFill>
              </a:rPr>
              <a:t>C7  DRF fairness</a:t>
            </a:r>
          </a:p>
        </p:txBody>
      </p:sp>
      <p:sp>
        <p:nvSpPr>
          <p:cNvPr id="28" name="TextBox 27"/>
          <p:cNvSpPr txBox="1"/>
          <p:nvPr/>
        </p:nvSpPr>
        <p:spPr>
          <a:xfrm>
            <a:off x="3291840" y="6400800"/>
            <a:ext cx="2743200" cy="292608"/>
          </a:xfrm>
          <a:prstGeom prst="rect">
            <a:avLst/>
          </a:prstGeom>
          <a:noFill/>
        </p:spPr>
        <p:txBody>
          <a:bodyPr wrap="square">
            <a:spAutoFit/>
          </a:bodyPr>
          <a:lstStyle/>
          <a:p>
            <a:pPr algn="l"/>
            <a:r>
              <a:rPr sz="1100" b="0">
                <a:solidFill>
                  <a:srgbClr val="1A7A3C"/>
                </a:solidFill>
              </a:rPr>
              <a:t>Correct, Q_quota fix applied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88952" cy="1645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731520"/>
          </a:xfrm>
          <a:prstGeom prst="rect">
            <a:avLst/>
          </a:prstGeom>
          <a:noFill/>
        </p:spPr>
        <p:txBody>
          <a:bodyPr wrap="square">
            <a:spAutoFit/>
          </a:bodyPr>
          <a:lstStyle/>
          <a:p>
            <a:pPr algn="ctr"/>
            <a:r>
              <a:rPr sz="4400" b="1">
                <a:solidFill>
                  <a:srgbClr val="FFFFFF"/>
                </a:solidFill>
              </a:rPr>
              <a:t>Thank You</a:t>
            </a:r>
          </a:p>
        </p:txBody>
      </p:sp>
      <p:sp>
        <p:nvSpPr>
          <p:cNvPr id="5" name="TextBox 4"/>
          <p:cNvSpPr txBox="1"/>
          <p:nvPr/>
        </p:nvSpPr>
        <p:spPr>
          <a:xfrm>
            <a:off x="731520" y="1920240"/>
            <a:ext cx="10698480" cy="548640"/>
          </a:xfrm>
          <a:prstGeom prst="rect">
            <a:avLst/>
          </a:prstGeom>
          <a:noFill/>
        </p:spPr>
        <p:txBody>
          <a:bodyPr wrap="square">
            <a:spAutoFit/>
          </a:bodyPr>
          <a:lstStyle/>
          <a:p>
            <a:pPr algn="ctr"/>
            <a:r>
              <a:rPr sz="2800" b="0">
                <a:solidFill>
                  <a:srgbClr val="D6E8F5"/>
                </a:solidFill>
              </a:rPr>
              <a:t>Questions?</a:t>
            </a:r>
          </a:p>
        </p:txBody>
      </p:sp>
      <p:sp>
        <p:nvSpPr>
          <p:cNvPr id="6" name="TextBox 5"/>
          <p:cNvSpPr txBox="1"/>
          <p:nvPr/>
        </p:nvSpPr>
        <p:spPr>
          <a:xfrm>
            <a:off x="731520" y="2834640"/>
            <a:ext cx="10698480" cy="457200"/>
          </a:xfrm>
          <a:prstGeom prst="rect">
            <a:avLst/>
          </a:prstGeom>
          <a:noFill/>
        </p:spPr>
        <p:txBody>
          <a:bodyPr wrap="square">
            <a:spAutoFit/>
          </a:bodyPr>
          <a:lstStyle/>
          <a:p>
            <a:pPr algn="ctr"/>
            <a:r>
              <a:rPr sz="1800" b="1">
                <a:solidFill>
                  <a:srgbClr val="FFFFFF"/>
                </a:solidFill>
              </a:rPr>
              <a:t>Plan-Ahead MISOCP  +  Real-Time MILP  +  Pipeline Interface</a:t>
            </a:r>
          </a:p>
        </p:txBody>
      </p:sp>
      <p:sp>
        <p:nvSpPr>
          <p:cNvPr id="7" name="TextBox 6"/>
          <p:cNvSpPr txBox="1"/>
          <p:nvPr/>
        </p:nvSpPr>
        <p:spPr>
          <a:xfrm>
            <a:off x="1371600" y="3840480"/>
            <a:ext cx="9418320" cy="1463040"/>
          </a:xfrm>
          <a:prstGeom prst="rect">
            <a:avLst/>
          </a:prstGeom>
          <a:noFill/>
        </p:spPr>
        <p:txBody>
          <a:bodyPr wrap="square">
            <a:spAutoFit/>
          </a:bodyPr>
          <a:lstStyle/>
          <a:p>
            <a:pPr algn="l"/>
            <a:r>
              <a:rPr sz="1300" b="0">
                <a:solidFill>
                  <a:srgbClr val="D6E8F5"/>
                </a:solidFill>
              </a:rPr>
              <a:t>Key deliverables:
  plan_ahead_data.py  |  plan_ahead_optimizer.py  |  plan_ahead_sensitivity.py
  optimizer_google_or.py  |  pipeline/interface.py  |  pipeline/pipeline_configs.py
  test_plan_ahead.py (17 tests)  |  test_model.py (14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