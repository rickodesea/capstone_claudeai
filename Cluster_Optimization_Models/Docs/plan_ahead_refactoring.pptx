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27" y="2532888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Multi-Tenant Cluster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30023" y="1417320"/>
            <a:ext cx="470148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 i="0" dirty="0">
                <a:solidFill>
                  <a:srgbClr val="38BDF8"/>
                </a:solidFill>
              </a:rPr>
              <a:t>A </a:t>
            </a:r>
            <a:r>
              <a:rPr lang="en-JM" sz="2600" b="0" i="0" dirty="0">
                <a:solidFill>
                  <a:srgbClr val="38BDF8"/>
                </a:solidFill>
              </a:rPr>
              <a:t>Two</a:t>
            </a:r>
            <a:r>
              <a:rPr sz="2600" b="0" i="0" dirty="0">
                <a:solidFill>
                  <a:srgbClr val="38BDF8"/>
                </a:solidFill>
              </a:rPr>
              <a:t>-Layer </a:t>
            </a:r>
            <a:r>
              <a:rPr lang="en-JM" sz="2600" b="0" i="0" dirty="0">
                <a:solidFill>
                  <a:srgbClr val="38BDF8"/>
                </a:solidFill>
              </a:rPr>
              <a:t>Optimization </a:t>
            </a:r>
            <a:r>
              <a:rPr sz="2600" b="0" i="0" dirty="0">
                <a:solidFill>
                  <a:srgbClr val="38BDF8"/>
                </a:solidFill>
              </a:rP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0" i="0">
                <a:solidFill>
                  <a:srgbClr val="94A3B8"/>
                </a:solidFill>
              </a:rPr>
              <a:t>Plan-Ahead MISOCP  ?  Real-Time MILP  ?  Interactive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0">
                <a:solidFill>
                  <a:srgbClr val="94A3B8"/>
                </a:solidFill>
              </a:rPr>
              <a:t>Cluster Optimization Models ? Capstone Project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4160520"/>
            <a:ext cx="1737360" cy="3840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79" y="4187952"/>
            <a:ext cx="164591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3"/>
                </a:solidFill>
              </a:rPr>
              <a:t>MISOCP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4160520"/>
            <a:ext cx="173736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7800" y="4187952"/>
            <a:ext cx="164591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3"/>
                </a:solidFill>
              </a:rPr>
              <a:t>MILP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4160520"/>
            <a:ext cx="173736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0" y="4187952"/>
            <a:ext cx="164591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3"/>
                </a:solidFill>
              </a:rPr>
              <a:t>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The challenge of shared cluster resource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94A3B8"/>
                </a:solidFill>
              </a:rPr>
              <a:t>Cluster resource management at scale involves competing objectives: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12801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404872"/>
            <a:ext cx="12435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1723"/>
                </a:solidFill>
              </a:rPr>
              <a:t>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04872"/>
            <a:ext cx="9052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Activate only the machines needed ? minimize infrastructure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39"/>
            <a:ext cx="128016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136391"/>
            <a:ext cx="12435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1723"/>
                </a:solidFill>
              </a:rPr>
              <a:t>Fairness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136391"/>
            <a:ext cx="9052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Every tenant receives their fair share of resources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94760"/>
            <a:ext cx="128016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867912"/>
            <a:ext cx="12435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1723"/>
                </a:solidFill>
              </a:rPr>
              <a:t>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867912"/>
            <a:ext cx="9052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Capacity guarantees hold even when demand is uncertain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26280"/>
            <a:ext cx="128016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4599432"/>
            <a:ext cx="12435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1723"/>
                </a:solidFill>
              </a:rPr>
              <a:t>Co-location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599432"/>
            <a:ext cx="9052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Mix heavy and light workloads to improve machine utilization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57800"/>
            <a:ext cx="1280160" cy="457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5330952"/>
            <a:ext cx="12435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1723"/>
                </a:solidFill>
              </a:rPr>
              <a:t>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330952"/>
            <a:ext cx="9052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Exclusive tenants must never share machines with others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Three-layer pipeline from planning to real-time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6616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6616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1723"/>
                </a:solidFill>
              </a:rP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Synthesis /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? Tenant demand profiles u[i,h]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? Machine pool partitioning M_a ? M_b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? Exclusive vs shared tenant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356616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356616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67335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1723"/>
                </a:solidFill>
              </a:rPr>
              <a:t>Layer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28600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Plan-Ahead MISOCP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8803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? Gurobi WLS solver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375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? Solves over planning horizon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947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? Output: per-interval tenant groups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645920"/>
            <a:ext cx="356616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21040" y="1645920"/>
            <a:ext cx="356616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67335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1723"/>
                </a:solidFill>
              </a:rPr>
              <a:t>Layer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28600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Real-Time MILP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? OR-Tools CBC/GLOP/SCIP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3375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? One call per tenant group per interval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7947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? No knowledge of plan-ahead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566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solidFill>
                  <a:srgbClr val="38BDF8"/>
                </a:solidFill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566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solidFill>
                  <a:srgbClr val="38BDF8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Sets &amp;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Machine pool partitioning and tenant tagging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949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Machine Pool  M = M_a ? M_b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M_a  ?  Always-Available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Always on ? No activation cost
Fixed by |M_a| = A 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M_b  ?  Additional Machines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5029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Model decides which to activate
Activation cost ?_n per machine
z_on[n] ? {0,1}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3949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Tenant Sets  T = T_e ? T_s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</a:rPr>
              <a:t>T_e  ?  Exclusive Tenants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Randomly tagged (exclusive_frac %)
Dedicated machines, full horizon
e[i,n] binary ? never changes
Never share with other tenants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94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T_s  ?  Shared Tenants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605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Per-interval machine assignments
y[i,n,h] binary ? can change
Heavy vs light sub-classification
for mix-bonus objective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Plan-Ahead MISOCP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Key variables and objective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949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Key Decision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e[i,n]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240280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BBF24"/>
                </a:solidFill>
              </a:rPr>
              <a:t>{0,1}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40280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Excl. tenant i on machine n (horizon)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16352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z_on[n]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81635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BBF24"/>
                </a:solidFill>
              </a:rPr>
              <a:t>{0,1}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816352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Additional machine n activated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92424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y[i,n,h]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392424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BBF24"/>
                </a:solidFill>
              </a:rPr>
              <a:t>{0,1}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92424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Shared tenant i on machine n in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68496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f[i,n,h]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68496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BBF24"/>
                </a:solidFill>
              </a:rPr>
              <a:t>?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968496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Capacity allocated (shared)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44568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544568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BBF24"/>
                </a:solidFill>
              </a:rPr>
              <a:t>[0,1]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544568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Min demand-satisfaction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20640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t[n,h]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120640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BBF24"/>
                </a:solidFill>
              </a:rPr>
              <a:t>?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120640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Cantelli safety buffer (SOCP)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96712"/>
            <a:ext cx="1371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mix[n,h]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69671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BBF24"/>
                </a:solidFill>
              </a:rPr>
              <a:t>{0,1}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696712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Heavy+light co-location indicator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645920"/>
            <a:ext cx="53949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7373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Objective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2402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min  ???InfraCost  ?  ????  ?  ???MixTotal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017520"/>
            <a:ext cx="201168" cy="1005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0840" y="303580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InfraCost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40156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78BFA"/>
                </a:solidFill>
              </a:rPr>
              <a:t>? ?_n?z_on[n]  for n ? M_b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7033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Minimize additional machines activated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206240"/>
            <a:ext cx="20116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0840" y="4224527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59028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78BFA"/>
                </a:solidFill>
              </a:rPr>
              <a:t>min_i (satisfaction_i)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8920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Maximize fairness across tenants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394960"/>
            <a:ext cx="201168" cy="1005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20840" y="541324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MixTotal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577900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78BFA"/>
                </a:solidFill>
              </a:rPr>
              <a:t>? mix[n,h]  over all (n,h)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60807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Reward heavy+light co-location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Cantelli Uncertainty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Distribution-free probabilistic capacity guarantee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Why Cantelli?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Tenant demand is uncertain. We know only mean u[i,h] and variance ??[i,h] ? not the full distribution.
Cantelli's inequality is distribution-free: it gives a one-sided tail bound using only mean and variance.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5120640" cy="32004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Cantelli Bound (1-sided Chebyshev)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P[ D_n,h &gt; ? + ???_tot ] ? 1/(1+??)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23360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?     = ? f[i,n,h]    (mean total)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7083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?_tot? = ? ??[i,h]?y[i,n,h]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?     = ?((1??)/?)  =  3.0 for ?=0.10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926080"/>
            <a:ext cx="5303520" cy="32004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0175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MISOCP Cone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74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C??:  ? f[i,n,h] + ??t[n,h] ? C_eff[n]?z[n,h]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977639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C??:  ? ??[i,h]?y[i,n,h]  ?  t[n,h]?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805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Together: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80060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P[ D_n,h ? C_eff[n] ] ? 1 ? ? = 90%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Constraint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All constraints in the MISOCP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6035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28016" cy="60350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C_aa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783080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Always-available machines always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41448"/>
            <a:ext cx="5486400" cy="6035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441448"/>
            <a:ext cx="128016" cy="60350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C_act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532888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Additional machine activation z_on[n]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91256"/>
            <a:ext cx="5486400" cy="6035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191256"/>
            <a:ext cx="128016" cy="60350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236976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C_zact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82696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Machine active if any tenant assigned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41064"/>
            <a:ext cx="5486400" cy="6035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941064"/>
            <a:ext cx="128016" cy="60350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986784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C_excl1/2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032504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Exclusive: one machine per excl. tenant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90872"/>
            <a:ext cx="5486400" cy="6035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690872"/>
            <a:ext cx="128016" cy="60350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736592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C_excl_cap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782312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Exclusive: capacity covers peak demand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40679"/>
            <a:ext cx="5486400" cy="6035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5440679"/>
            <a:ext cx="128016" cy="60350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486399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C_sep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532119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Exclusive and shared cannot share machines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691640"/>
            <a:ext cx="5486400" cy="6035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1691640"/>
            <a:ext cx="128016" cy="6035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1737360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C_share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1783080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Every shared tenant assigned ?1 machine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441448"/>
            <a:ext cx="5486400" cy="6035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2441448"/>
            <a:ext cx="128016" cy="6035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2487168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C?? / C??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532888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Capacity + Cantelli cone (MISOCP)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191256"/>
            <a:ext cx="5486400" cy="6035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0" y="3191256"/>
            <a:ext cx="128016" cy="6035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3236976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C?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3282696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Priority link: f[i,n,h] ? C_n?y[i,n,h]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941064"/>
            <a:ext cx="5486400" cy="6035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00800" y="3941064"/>
            <a:ext cx="128016" cy="6035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29400" y="3986784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C?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032504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Demand satisfaction ? u_fb[i,h]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690872"/>
            <a:ext cx="5486400" cy="6035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4690872"/>
            <a:ext cx="128016" cy="6035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9400" y="4736592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C?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782312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Fairness ? ? min satisfaction ratio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440679"/>
            <a:ext cx="5486400" cy="6035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00800" y="5440679"/>
            <a:ext cx="128016" cy="6035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29400" y="5486399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5532119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Linearized AND: mix = heavy ? light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Real-Time MILP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Stateless per-group scheduler ? OR-Tools CBC/GLOP/SCIP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949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</a:rPr>
              <a:t>Design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?  Stateless: no knowledge of tenants or plan-ahead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?  Called once per tenant group per interval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?  Receives pre-filtered jobs + machines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?  Time limit: configurable ms (keeps UI responsive)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?  Unplaced jobs return to queue with wait bump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53949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</a:rPr>
              <a:t>Constraints (C1?C4)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240280"/>
            <a:ext cx="50292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59" y="2267712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3"/>
                </a:solidFill>
              </a:rPr>
              <a:t>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40280"/>
            <a:ext cx="4389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Each job placed on ? 1 node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063240"/>
            <a:ext cx="50292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3090672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3"/>
                </a:solidFill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063240"/>
            <a:ext cx="4389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Predicted memory ? M_eff_n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886200"/>
            <a:ext cx="50292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59" y="3913632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3"/>
                </a:solidFill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886200"/>
            <a:ext cx="4389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Binary domain x[j,n] ? {0,1}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709160"/>
            <a:ext cx="50292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59" y="4736592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3"/>
                </a:solidFill>
              </a:rPr>
              <a:t>C4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709160"/>
            <a:ext cx="4389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CPU demand ? node cores
(enforced as variable upper bound)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Objective: maximize ? ?_t ? pred_mem ? u_mem ? w_node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Cluster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Per-interval, per-group scheduling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For each interval h: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28016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1. Get plan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 = sim_interval % |H|  ?  groups = plan['intervals'][h]['groups']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128016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7355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2. Filter per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9184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group_jobs  = [j for j in queue  if j.tenant_id  in group.tenant_ids]
group_nodes = [n for n in nodes  if n.node_id    in group.machine_ids]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51960"/>
            <a:ext cx="128016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7939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3. Solve per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29768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placements = solve(group_jobs, group_nodes, W_t, K, time_limit_ms)
# Solver has no knowledge of tenants or plan-ahead 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257800"/>
            <a:ext cx="128016" cy="8229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28523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4. Wait bump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30352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For each unplaced job:  W_t[tenant] += batch_duration_sec
# Raises ?_delay on next call ? solver prioritizes lagging tenants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Feedback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Real-time metrics feed back into the plan-ahead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949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</a:rPr>
              <a:t>What Real-Time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v?_n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77440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Rolling SLA violation rate per machine
(fraction of intervals where demand &gt; M_cap)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W?_i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91840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Average scheduling wait time per tenant
(seconds; long wait ? demand underestimated)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3949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</a:rPr>
              <a:t>How Plan-Ahead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C_eff[n] = C[n] ? (1 ? ? ? v?_n)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High violation rate ? shrink available capacity
? fewer tenants packed onto that machine
Default ? = 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11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u_fb[i,h] = u[i,h] ? (1 + ? ? W?_i / W?_ref)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6908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Long wait ? inflate demand estimate
? model allocates more machines
Default ? = 0.3, W?_ref = 60 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Interactive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FastAPI + React visualization of the live scheduler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28016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Real-time visualizer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Node grid, job queue, memory wave chart ? all live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9164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128016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801368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Per-group scheduling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4028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Calls real-time solver once per tenant group per step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28016" cy="137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310128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Plan-ahead Gantt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Tenant-machine assignments per period, NOW indicator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20040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200400"/>
            <a:ext cx="128016" cy="1371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310128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Tenant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49039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Per-tenant: running jobs, queued jobs, avg wait W?_t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709160"/>
            <a:ext cx="128016" cy="13716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818888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Wait bump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Unplaced jobs increase W?_t ? raised ?_delay next step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70916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4709160"/>
            <a:ext cx="128016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818888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Full config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25780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All parameters configurable (no max limits ? only &gt; 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Four sweeps covering the key design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0" cy="4389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46504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1723"/>
                </a:solidFill>
              </a:rPr>
              <a:t>Interval Frequency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Jobs/interval: 5, 10, 20, 40, 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Measures: placement rate, queue size, avg wait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Output: CSV + matplotlib plots in sensitivity_plots/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548640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691640"/>
            <a:ext cx="5486400" cy="4389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746504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1723"/>
                </a:solidFill>
              </a:rPr>
              <a:t>Machine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Nodes: 5, 10, 20,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97480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Measures: placement rate, effective memory utilization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004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Output: CSV + matplotlib plots in sensitivity_plots/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77639"/>
            <a:ext cx="548640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5486400" cy="43891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032503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1723"/>
                </a:solidFill>
              </a:rPr>
              <a:t>Tenant 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Tenants: 3, 5, 10, 15,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83479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Measures: placement rate, queue overflow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Output: CSV + matplotlib plots in sensitivity_plots/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77639"/>
            <a:ext cx="548640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3977639"/>
            <a:ext cx="5486400" cy="43891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032503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1723"/>
                </a:solidFill>
              </a:rPr>
              <a:t>Saturation Grid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572000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Nodes ? Jobs/interval (2D heat map)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83479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Measures: placement rate collapse under overload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4864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Output: CSV + matplotlib plots in sensitivity_plots/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Key Results &amp;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17320"/>
            <a:ext cx="11247120" cy="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4712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28016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Exclusive-shared separation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874519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Exclusive tenants get dedicated capacity for the full horizon with zero contention, while shared tenants benefit from per-interval flexibility.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128016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697479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Cantelli cone vs plain MILP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4320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MISOCP provides a 90%-safe capacity guarantee without assuming normality ? critical when prediction error is unknown.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520439"/>
            <a:ext cx="128016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566159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Feedback closes the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611879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SLA violations and scheduling delays feed back into C_eff and u_fb, making the plan self-correcting across horizons.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389120"/>
            <a:ext cx="128016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Mix bonus improves utilization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480559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Co-locating heavy and light tenants increases average machine utilization while maintaining fairness ?.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257800"/>
            <a:ext cx="128016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303520"/>
            <a:ext cx="3291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Real-time is stateless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34924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The per-group solve architecture lets the real-time layer remain simple and fast ? all complexity lives in the plan-ahead.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Multi-Tenant Cluster Optimization ? Capstone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0">
                <a:solidFill>
                  <a:srgbClr val="94A3B8"/>
                </a:solidFill>
              </a:rPr>
              <a:t>Plan-Ahead MISOCP  ?  Real-Time MILP  ?  Cantelli Uncertainty  ?  Interactive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Code: Cluster_Optimization_Models/   ?   Docs: Docs/   ?   Slides: Docs/plan_ahead_refactoring.pptx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4160520"/>
            <a:ext cx="1737360" cy="3840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79" y="4187952"/>
            <a:ext cx="164591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3"/>
                </a:solidFill>
              </a:rPr>
              <a:t>MISOCP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4160520"/>
            <a:ext cx="173736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7800" y="4187952"/>
            <a:ext cx="164591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3"/>
                </a:solidFill>
              </a:rPr>
              <a:t>MILP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4160520"/>
            <a:ext cx="173736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0" y="4187952"/>
            <a:ext cx="164591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F1723"/>
                </a:solidFill>
              </a:rPr>
              <a:t>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1682</Words>
  <Application>Microsoft Office PowerPoint</Application>
  <PresentationFormat>Custom</PresentationFormat>
  <Paragraphs>217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Alrick Grandison</cp:lastModifiedBy>
  <cp:revision>2</cp:revision>
  <dcterms:created xsi:type="dcterms:W3CDTF">2013-01-27T09:14:16Z</dcterms:created>
  <dcterms:modified xsi:type="dcterms:W3CDTF">2026-05-24T02:25:39Z</dcterms:modified>
  <cp:category/>
</cp:coreProperties>
</file>