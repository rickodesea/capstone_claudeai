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798" y="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3200400"/>
            <a:ext cx="12188952" cy="54864"/>
          </a:xfrm>
          <a:prstGeom prst="rect">
            <a:avLst/>
          </a:prstGeom>
          <a:solidFill>
            <a:srgbClr val="0D6E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0" y="1371600"/>
            <a:ext cx="121889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 i="0">
                <a:solidFill>
                  <a:srgbClr val="FFFFFF"/>
                </a:solidFill>
                <a:latin typeface="Calibri"/>
              </a:rPr>
              <a:t>Plan-Ahead Model Refactoring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2286000"/>
            <a:ext cx="121889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CCD6E0"/>
                </a:solidFill>
                <a:latin typeface="Calibri"/>
              </a:rPr>
              <a:t>Justification, Design Decisions &amp; Optimization Layer Status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3657600"/>
            <a:ext cx="121889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CCD6E0"/>
                </a:solidFill>
                <a:latin typeface="Calibri"/>
              </a:rPr>
              <a:t>Alrick Grandison  |  Capstone Project, Spring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4206240"/>
            <a:ext cx="121889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88A8C8"/>
                </a:solidFill>
                <a:latin typeface="Calibri"/>
              </a:rPr>
              <a:t>Multi-Tenant Cluster Scheduler — Optimization Layer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Agenda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88952" cy="36576"/>
          </a:xfrm>
          <a:prstGeom prst="rect">
            <a:avLst/>
          </a:prstGeom>
          <a:solidFill>
            <a:srgbClr val="0D6E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658368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6E0"/>
                </a:solidFill>
                <a:latin typeface="Calibri"/>
              </a:rPr>
              <a:t>Alrick Grandison  |  Capstone Project, Spring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583680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CCD6E0"/>
                </a:solidFill>
                <a:latin typeface="Calibri"/>
              </a:rPr>
              <a:t>2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188720"/>
            <a:ext cx="5486400" cy="4114800"/>
          </a:xfrm>
          <a:prstGeom prst="rect">
            <a:avLst/>
          </a:prstGeom>
          <a:solidFill>
            <a:srgbClr val="F0F4F8"/>
          </a:solidFill>
          <a:ln w="635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84048" y="1298448"/>
            <a:ext cx="5266944" cy="3895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dirty="0">
                <a:solidFill>
                  <a:srgbClr val="1A3A5C"/>
                </a:solidFill>
                <a:latin typeface="Calibri"/>
              </a:rPr>
              <a:t>Part 1 — Plan-Ahead Refactoring</a:t>
            </a:r>
          </a:p>
          <a:p>
            <a:pPr algn="l"/>
            <a:r>
              <a:rPr sz="1500" dirty="0">
                <a:solidFill>
                  <a:srgbClr val="1A1A2E"/>
                </a:solidFill>
                <a:latin typeface="Calibri"/>
              </a:rPr>
              <a:t>  •  What the original model was</a:t>
            </a:r>
          </a:p>
          <a:p>
            <a:pPr algn="l"/>
            <a:r>
              <a:rPr sz="1500" dirty="0">
                <a:solidFill>
                  <a:srgbClr val="1A1A2E"/>
                </a:solidFill>
                <a:latin typeface="Calibri"/>
              </a:rPr>
              <a:t>  •  Problems discovered during simulation</a:t>
            </a:r>
          </a:p>
          <a:p>
            <a:pPr algn="l"/>
            <a:r>
              <a:rPr sz="1500" dirty="0">
                <a:solidFill>
                  <a:srgbClr val="1A1A2E"/>
                </a:solidFill>
                <a:latin typeface="Calibri"/>
              </a:rPr>
              <a:t>  •  Change 1: Workloads → Tenant Usage Profiles</a:t>
            </a:r>
          </a:p>
          <a:p>
            <a:pPr algn="l"/>
            <a:r>
              <a:rPr sz="1500" dirty="0">
                <a:solidFill>
                  <a:srgbClr val="1A1A2E"/>
                </a:solidFill>
                <a:latin typeface="Calibri"/>
              </a:rPr>
              <a:t>  •  Change 2: Hard Access → Priority Hints</a:t>
            </a:r>
          </a:p>
          <a:p>
            <a:pPr algn="l"/>
            <a:r>
              <a:rPr sz="1500" dirty="0">
                <a:solidFill>
                  <a:srgbClr val="1A1A2E"/>
                </a:solidFill>
                <a:latin typeface="Calibri"/>
              </a:rPr>
              <a:t>  •  Change 3: SOCP uncertainty input redesigned</a:t>
            </a:r>
          </a:p>
          <a:p>
            <a:pPr algn="l"/>
            <a:r>
              <a:rPr sz="1500" dirty="0">
                <a:solidFill>
                  <a:srgbClr val="1A1A2E"/>
                </a:solidFill>
                <a:latin typeface="Calibri"/>
              </a:rPr>
              <a:t>  •  What was removed (migration, isolation, McCormick)</a:t>
            </a:r>
          </a:p>
          <a:p>
            <a:pPr algn="l"/>
            <a:r>
              <a:rPr sz="1500" dirty="0">
                <a:solidFill>
                  <a:srgbClr val="1A1A2E"/>
                </a:solidFill>
                <a:latin typeface="Calibri"/>
              </a:rPr>
              <a:t>  •  Complexity comparison — model remains MISOCP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26480" y="1188720"/>
            <a:ext cx="5760720" cy="4114800"/>
          </a:xfrm>
          <a:prstGeom prst="rect">
            <a:avLst/>
          </a:prstGeom>
          <a:solidFill>
            <a:srgbClr val="E8F0FE"/>
          </a:solidFill>
          <a:ln w="635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236208" y="1298448"/>
            <a:ext cx="5541264" cy="3895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dirty="0">
                <a:solidFill>
                  <a:srgbClr val="1A3A5C"/>
                </a:solidFill>
                <a:latin typeface="Calibri"/>
              </a:rPr>
              <a:t>Part 2 — Optimization Layer Status</a:t>
            </a:r>
          </a:p>
          <a:p>
            <a:pPr algn="l"/>
            <a:r>
              <a:rPr sz="1500" dirty="0">
                <a:solidFill>
                  <a:srgbClr val="1A1A2E"/>
                </a:solidFill>
                <a:latin typeface="Calibri"/>
              </a:rPr>
              <a:t>  •  System architecture overview</a:t>
            </a:r>
          </a:p>
          <a:p>
            <a:pPr algn="l"/>
            <a:r>
              <a:rPr sz="1500" dirty="0">
                <a:solidFill>
                  <a:srgbClr val="1A1A2E"/>
                </a:solidFill>
                <a:latin typeface="Calibri"/>
              </a:rPr>
              <a:t>  •  Plan-Ahead: current state</a:t>
            </a:r>
          </a:p>
          <a:p>
            <a:pPr algn="l"/>
            <a:r>
              <a:rPr sz="1500" dirty="0">
                <a:solidFill>
                  <a:srgbClr val="1A1A2E"/>
                </a:solidFill>
                <a:latin typeface="Calibri"/>
              </a:rPr>
              <a:t>  •  Real-Time: current state</a:t>
            </a:r>
          </a:p>
          <a:p>
            <a:pPr algn="l"/>
            <a:r>
              <a:rPr sz="1500" dirty="0">
                <a:solidFill>
                  <a:srgbClr val="1A1A2E"/>
                </a:solidFill>
                <a:latin typeface="Calibri"/>
              </a:rPr>
              <a:t>  •  Pipeline: how the layers connect</a:t>
            </a:r>
          </a:p>
          <a:p>
            <a:pPr algn="l"/>
            <a:r>
              <a:rPr sz="1500" dirty="0">
                <a:solidFill>
                  <a:srgbClr val="1A1A2E"/>
                </a:solidFill>
                <a:latin typeface="Calibri"/>
              </a:rPr>
              <a:t>  •  Simulation: current state</a:t>
            </a:r>
          </a:p>
          <a:p>
            <a:pPr algn="l"/>
            <a:r>
              <a:rPr sz="1500" dirty="0">
                <a:solidFill>
                  <a:srgbClr val="1A1A2E"/>
                </a:solidFill>
                <a:latin typeface="Calibri"/>
              </a:rPr>
              <a:t>  •  What’s next</a:t>
            </a:r>
          </a:p>
          <a:p>
            <a:pPr algn="l"/>
            <a:r>
              <a:rPr sz="1500" dirty="0">
                <a:solidFill>
                  <a:srgbClr val="1A1A2E"/>
                </a:solidFill>
                <a:latin typeface="Calibri"/>
              </a:rPr>
              <a:t>  •  Future work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2834640"/>
            <a:ext cx="12188952" cy="54864"/>
          </a:xfrm>
          <a:prstGeom prst="rect">
            <a:avLst/>
          </a:prstGeom>
          <a:solidFill>
            <a:srgbClr val="0D6E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0" y="2011680"/>
            <a:ext cx="121889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D6EFD"/>
                </a:solidFill>
                <a:latin typeface="Calibri"/>
              </a:rPr>
              <a:t>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2468880"/>
            <a:ext cx="121889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Plan-Ahead Refactoring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3291840"/>
            <a:ext cx="121889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CCD6E0"/>
                </a:solidFill>
                <a:latin typeface="Calibri"/>
              </a:rPr>
              <a:t>Justification for design changes to the planning 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6309360"/>
            <a:ext cx="121889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CCD6E0"/>
                </a:solidFill>
                <a:latin typeface="Calibri"/>
              </a:rPr>
              <a:t>Alrick Grandison  |  Capstone Project, Spring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The Original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21792"/>
            <a:ext cx="9144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CCD6E0"/>
                </a:solidFill>
                <a:latin typeface="Calibri"/>
              </a:rPr>
              <a:t>What we started with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05840"/>
            <a:ext cx="12188952" cy="36576"/>
          </a:xfrm>
          <a:prstGeom prst="rect">
            <a:avLst/>
          </a:prstGeom>
          <a:solidFill>
            <a:srgbClr val="0D6E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74320" y="658368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6E0"/>
                </a:solidFill>
                <a:latin typeface="Calibri"/>
              </a:rPr>
              <a:t>Alrick Grandison  |  Capstone Project, Spring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21440" y="6583680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CCD6E0"/>
                </a:solidFill>
                <a:latin typeface="Calibri"/>
              </a:rPr>
              <a:t>4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143000"/>
            <a:ext cx="2194560" cy="561702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20040" y="1170432"/>
            <a:ext cx="2103120" cy="5068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Component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468879" y="1143000"/>
            <a:ext cx="9418320" cy="561702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514599" y="1170432"/>
            <a:ext cx="9326880" cy="5068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Description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1704702"/>
            <a:ext cx="2194560" cy="561702"/>
          </a:xfrm>
          <a:prstGeom prst="rect">
            <a:avLst/>
          </a:prstGeom>
          <a:solidFill>
            <a:srgbClr val="F0F4F8"/>
          </a:solidFill>
          <a:ln w="381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20040" y="1732134"/>
            <a:ext cx="2103120" cy="5068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2E"/>
                </a:solidFill>
                <a:latin typeface="Calibri"/>
              </a:rPr>
              <a:t>Scheduling unit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468879" y="1704702"/>
            <a:ext cx="9418320" cy="561702"/>
          </a:xfrm>
          <a:prstGeom prst="rect">
            <a:avLst/>
          </a:prstGeom>
          <a:solidFill>
            <a:srgbClr val="F0F4F8"/>
          </a:solidFill>
          <a:ln w="381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2514599" y="1732134"/>
            <a:ext cx="9326880" cy="5068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2E"/>
                </a:solidFill>
                <a:latin typeface="Calibri"/>
              </a:rPr>
              <a:t>Individual workloads  x_{i,j,n,t} in {0,1}  — per-job binary placement variable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2266405"/>
            <a:ext cx="2194560" cy="561702"/>
          </a:xfrm>
          <a:prstGeom prst="rect">
            <a:avLst/>
          </a:prstGeom>
          <a:solidFill>
            <a:srgbClr val="FFFFFF"/>
          </a:solidFill>
          <a:ln w="381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20040" y="2293837"/>
            <a:ext cx="2103120" cy="5068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2E"/>
                </a:solidFill>
                <a:latin typeface="Calibri"/>
              </a:rPr>
              <a:t>Capacity (SOCP)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468879" y="2266405"/>
            <a:ext cx="9418320" cy="561702"/>
          </a:xfrm>
          <a:prstGeom prst="rect">
            <a:avLst/>
          </a:prstGeom>
          <a:solidFill>
            <a:srgbClr val="FFFFFF"/>
          </a:solidFill>
          <a:ln w="381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2514599" y="2293837"/>
            <a:ext cx="9326880" cy="5068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2E"/>
                </a:solidFill>
                <a:latin typeface="Calibri"/>
              </a:rPr>
              <a:t>Cantelli cone on per-workload covariance Σ_r (Cholesky decomposition L_r)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2828108"/>
            <a:ext cx="2194560" cy="561702"/>
          </a:xfrm>
          <a:prstGeom prst="rect">
            <a:avLst/>
          </a:prstGeom>
          <a:solidFill>
            <a:srgbClr val="F0F4F8"/>
          </a:solidFill>
          <a:ln w="381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20040" y="2855540"/>
            <a:ext cx="21031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 dirty="0">
                <a:solidFill>
                  <a:srgbClr val="1A1A2E"/>
                </a:solidFill>
                <a:latin typeface="Calibri"/>
              </a:rPr>
              <a:t>Access control</a:t>
            </a:r>
            <a:r>
              <a:rPr lang="en-JM" sz="1400" b="0" i="0" dirty="0">
                <a:solidFill>
                  <a:srgbClr val="1A1A2E"/>
                </a:solidFill>
                <a:latin typeface="Calibri"/>
              </a:rPr>
              <a:t> (Realtime)</a:t>
            </a:r>
            <a:endParaRPr sz="1400" b="0" i="0" dirty="0">
              <a:solidFill>
                <a:srgbClr val="1A1A2E"/>
              </a:solidFill>
              <a:latin typeface="Calibri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2468879" y="2828108"/>
            <a:ext cx="9418320" cy="561702"/>
          </a:xfrm>
          <a:prstGeom prst="rect">
            <a:avLst/>
          </a:prstGeom>
          <a:solidFill>
            <a:srgbClr val="F0F4F8"/>
          </a:solidFill>
          <a:ln w="381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2514599" y="2855540"/>
            <a:ext cx="9326880" cy="5068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2E"/>
                </a:solidFill>
                <a:latin typeface="Calibri"/>
              </a:rPr>
              <a:t>Hard block: x_{j,n} = 0  if node n not in A_{t(j)}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3389811"/>
            <a:ext cx="2194560" cy="561702"/>
          </a:xfrm>
          <a:prstGeom prst="rect">
            <a:avLst/>
          </a:prstGeom>
          <a:solidFill>
            <a:srgbClr val="FFFFFF"/>
          </a:solidFill>
          <a:ln w="381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320040" y="3417243"/>
            <a:ext cx="2103120" cy="5068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2E"/>
                </a:solidFill>
                <a:latin typeface="Calibri"/>
              </a:rPr>
              <a:t>Isolation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468879" y="3389811"/>
            <a:ext cx="9418320" cy="561702"/>
          </a:xfrm>
          <a:prstGeom prst="rect">
            <a:avLst/>
          </a:prstGeom>
          <a:solidFill>
            <a:srgbClr val="FFFFFF"/>
          </a:solidFill>
          <a:ln w="381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2514599" y="3417243"/>
            <a:ext cx="9326880" cy="5068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 dirty="0" err="1">
                <a:solidFill>
                  <a:srgbClr val="1A1A2E"/>
                </a:solidFill>
                <a:latin typeface="Calibri"/>
              </a:rPr>
              <a:t>gVisor</a:t>
            </a:r>
            <a:r>
              <a:rPr sz="1400" b="0" i="0" dirty="0">
                <a:solidFill>
                  <a:srgbClr val="1A1A2E"/>
                </a:solidFill>
                <a:latin typeface="Calibri"/>
              </a:rPr>
              <a:t> / Kata selection  w_{</a:t>
            </a:r>
            <a:r>
              <a:rPr sz="1400" b="0" i="0" dirty="0" err="1">
                <a:solidFill>
                  <a:srgbClr val="1A1A2E"/>
                </a:solidFill>
                <a:latin typeface="Calibri"/>
              </a:rPr>
              <a:t>i,j,k,t</a:t>
            </a:r>
            <a:r>
              <a:rPr sz="1400" b="0" i="0" dirty="0">
                <a:solidFill>
                  <a:srgbClr val="1A1A2E"/>
                </a:solidFill>
                <a:latin typeface="Calibri"/>
              </a:rPr>
              <a:t>}  with McCormick linearization (ξ variables)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4320" y="3951514"/>
            <a:ext cx="2194560" cy="561702"/>
          </a:xfrm>
          <a:prstGeom prst="rect">
            <a:avLst/>
          </a:prstGeom>
          <a:solidFill>
            <a:srgbClr val="F0F4F8"/>
          </a:solidFill>
          <a:ln w="381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320040" y="3978946"/>
            <a:ext cx="2103120" cy="5068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2E"/>
                </a:solidFill>
                <a:latin typeface="Calibri"/>
              </a:rPr>
              <a:t>Migration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468879" y="3951514"/>
            <a:ext cx="9418320" cy="561702"/>
          </a:xfrm>
          <a:prstGeom prst="rect">
            <a:avLst/>
          </a:prstGeom>
          <a:solidFill>
            <a:srgbClr val="F0F4F8"/>
          </a:solidFill>
          <a:ln w="381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2514599" y="3978946"/>
            <a:ext cx="9326880" cy="5068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 dirty="0">
                <a:solidFill>
                  <a:srgbClr val="1A1A2E"/>
                </a:solidFill>
                <a:latin typeface="Calibri"/>
              </a:rPr>
              <a:t>Explicit migration indicators  m_{</a:t>
            </a:r>
            <a:r>
              <a:rPr sz="1400" b="0" i="0" dirty="0" err="1">
                <a:solidFill>
                  <a:srgbClr val="1A1A2E"/>
                </a:solidFill>
                <a:latin typeface="Calibri"/>
              </a:rPr>
              <a:t>i,j,n,t</a:t>
            </a:r>
            <a:r>
              <a:rPr sz="1400" b="0" i="0" dirty="0">
                <a:solidFill>
                  <a:srgbClr val="1A1A2E"/>
                </a:solidFill>
                <a:latin typeface="Calibri"/>
              </a:rPr>
              <a:t>}  across planning periods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4513217"/>
            <a:ext cx="2194560" cy="561702"/>
          </a:xfrm>
          <a:prstGeom prst="rect">
            <a:avLst/>
          </a:prstGeom>
          <a:solidFill>
            <a:srgbClr val="FFFFFF"/>
          </a:solidFill>
          <a:ln w="381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320040" y="4540649"/>
            <a:ext cx="2103120" cy="5068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2E"/>
                </a:solidFill>
                <a:latin typeface="Calibri"/>
              </a:rPr>
              <a:t>Fairness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468879" y="4513217"/>
            <a:ext cx="9418320" cy="561702"/>
          </a:xfrm>
          <a:prstGeom prst="rect">
            <a:avLst/>
          </a:prstGeom>
          <a:solidFill>
            <a:srgbClr val="FFFFFF"/>
          </a:solidFill>
          <a:ln w="381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2514599" y="4540649"/>
            <a:ext cx="9326880" cy="5068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 dirty="0">
                <a:solidFill>
                  <a:srgbClr val="1A1A2E"/>
                </a:solidFill>
                <a:latin typeface="Calibri"/>
              </a:rPr>
              <a:t>DRF max-min on declared per-job demand  d_{</a:t>
            </a:r>
            <a:r>
              <a:rPr sz="1400" b="0" i="0" dirty="0" err="1">
                <a:solidFill>
                  <a:srgbClr val="1A1A2E"/>
                </a:solidFill>
                <a:latin typeface="Calibri"/>
              </a:rPr>
              <a:t>i,j,r</a:t>
            </a:r>
            <a:r>
              <a:rPr sz="1400" b="0" i="0" dirty="0">
                <a:solidFill>
                  <a:srgbClr val="1A1A2E"/>
                </a:solidFill>
                <a:latin typeface="Calibri"/>
              </a:rPr>
              <a:t>}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74320" y="5212080"/>
            <a:ext cx="11612880" cy="822960"/>
          </a:xfrm>
          <a:prstGeom prst="rect">
            <a:avLst/>
          </a:prstGeom>
          <a:solidFill>
            <a:srgbClr val="E8F0FE"/>
          </a:solidFill>
          <a:ln w="12700">
            <a:solidFill>
              <a:srgbClr val="2A5A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274320" y="5212080"/>
            <a:ext cx="64008" cy="822960"/>
          </a:xfrm>
          <a:prstGeom prst="rect">
            <a:avLst/>
          </a:prstGeom>
          <a:solidFill>
            <a:srgbClr val="2A5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438912" y="5285232"/>
            <a:ext cx="11338559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2A5A8C"/>
                </a:solidFill>
                <a:latin typeface="Calibri"/>
              </a:rPr>
              <a:t>The model was mathematically complete on paper, but its inputs required data that cannot be known at planning time.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Problems Found During Simulation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88952" cy="36576"/>
          </a:xfrm>
          <a:prstGeom prst="rect">
            <a:avLst/>
          </a:prstGeom>
          <a:solidFill>
            <a:srgbClr val="0D6E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658368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6E0"/>
                </a:solidFill>
                <a:latin typeface="Calibri"/>
              </a:rPr>
              <a:t>Alrick Grandison  |  Capstone Project, Spring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583680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CCD6E0"/>
                </a:solidFill>
                <a:latin typeface="Calibri"/>
              </a:rPr>
              <a:t>5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143000"/>
            <a:ext cx="11640312" cy="1371600"/>
          </a:xfrm>
          <a:prstGeom prst="rect">
            <a:avLst/>
          </a:prstGeom>
          <a:solidFill>
            <a:srgbClr val="F0F4F8"/>
          </a:solidFill>
          <a:ln w="635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1188720"/>
            <a:ext cx="9144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A3A5C"/>
                </a:solidFill>
                <a:latin typeface="Calibri"/>
              </a:rPr>
              <a:t>1  —  Infeasible Input Requirements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508760"/>
            <a:ext cx="112471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 dirty="0">
                <a:solidFill>
                  <a:srgbClr val="1A1A2E"/>
                </a:solidFill>
                <a:latin typeface="Calibri"/>
              </a:rPr>
              <a:t>The SOCP cone required a Cholesky decomposition of </a:t>
            </a:r>
            <a:r>
              <a:rPr sz="1400" b="0" i="0" dirty="0" err="1">
                <a:solidFill>
                  <a:srgbClr val="1A1A2E"/>
                </a:solidFill>
                <a:latin typeface="Calibri"/>
              </a:rPr>
              <a:t>Σ_r</a:t>
            </a:r>
            <a:r>
              <a:rPr sz="1400" b="0" i="0" dirty="0">
                <a:solidFill>
                  <a:srgbClr val="1A1A2E"/>
                </a:solidFill>
                <a:latin typeface="Calibri"/>
              </a:rPr>
              <a:t> — the joint covariance matrix of all individual workloads across the horizon. This is unknowable in advance; workloads are only known when jobs arrive.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2651760"/>
            <a:ext cx="11640312" cy="1508760"/>
          </a:xfrm>
          <a:prstGeom prst="rect">
            <a:avLst/>
          </a:prstGeom>
          <a:solidFill>
            <a:srgbClr val="F0F4F8"/>
          </a:solidFill>
          <a:ln w="635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7200" y="2697480"/>
            <a:ext cx="9144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A3A5C"/>
                </a:solidFill>
                <a:latin typeface="Calibri"/>
              </a:rPr>
              <a:t>2  —  Feasibility Failures &amp; Queue Starvation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01752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2E"/>
                </a:solidFill>
                <a:latin typeface="Calibri"/>
              </a:rPr>
              <a:t>With x_{j,n} = 0 outside the plan-ahead set, jobs were blocked from idle nodes while their “allowed” nodes were saturated.
Little’s Law: blocking a job from 4 of 5 nodes multiplies expected wait time proportionally.
Simulation confirmed: queue backlogs persisted even with idle capacity available.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4297680"/>
            <a:ext cx="11640312" cy="1234440"/>
          </a:xfrm>
          <a:prstGeom prst="rect">
            <a:avLst/>
          </a:prstGeom>
          <a:solidFill>
            <a:srgbClr val="F0F4F8"/>
          </a:solidFill>
          <a:ln w="635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57200" y="4343400"/>
            <a:ext cx="9144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A3A5C"/>
                </a:solidFill>
                <a:latin typeface="Calibri"/>
              </a:rPr>
              <a:t>3  —  Over-Engineered Variables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663440"/>
            <a:ext cx="11247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2E"/>
                </a:solidFill>
                <a:latin typeface="Calibri"/>
              </a:rPr>
              <a:t>Migration and isolation-primitive variables each scale as O(T · W · N · K · H). Container isolation choice and migration decisions are real-time concerns — they cannot be meaningfully set at planning granularity.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5669280"/>
            <a:ext cx="11640312" cy="594360"/>
          </a:xfrm>
          <a:prstGeom prst="rect">
            <a:avLst/>
          </a:prstGeom>
          <a:solidFill>
            <a:srgbClr val="E8F0FE"/>
          </a:solidFill>
          <a:ln w="12700">
            <a:solidFill>
              <a:srgbClr val="2A5A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274320" y="5669280"/>
            <a:ext cx="64008" cy="594360"/>
          </a:xfrm>
          <a:prstGeom prst="rect">
            <a:avLst/>
          </a:prstGeom>
          <a:solidFill>
            <a:srgbClr val="2A5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38912" y="5742432"/>
            <a:ext cx="11365992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2A5A8C"/>
                </a:solidFill>
                <a:latin typeface="Calibri"/>
              </a:rPr>
              <a:t>Key insight: the original design modelled the wrong level of detail for a plan-ahead horizon.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Change 1: Workloads → Tenant Usage Profiles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21792"/>
            <a:ext cx="9144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CCD6E0"/>
                </a:solidFill>
                <a:latin typeface="Calibri"/>
              </a:rPr>
              <a:t>What the planning unit is and why it changed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05840"/>
            <a:ext cx="12188952" cy="36576"/>
          </a:xfrm>
          <a:prstGeom prst="rect">
            <a:avLst/>
          </a:prstGeom>
          <a:solidFill>
            <a:srgbClr val="0D6E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74320" y="658368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6E0"/>
                </a:solidFill>
                <a:latin typeface="Calibri"/>
              </a:rPr>
              <a:t>Alrick Grandison  |  Capstone Project, Spring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21440" y="6583680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CCD6E0"/>
                </a:solidFill>
                <a:latin typeface="Calibri"/>
              </a:rPr>
              <a:t>6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143000"/>
            <a:ext cx="2286000" cy="64008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20040" y="1170432"/>
            <a:ext cx="2194560" cy="5852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2560320" y="1143000"/>
            <a:ext cx="4389120" cy="64008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606039" y="1170432"/>
            <a:ext cx="4297680" cy="5852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Original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949440" y="1143000"/>
            <a:ext cx="4937760" cy="64008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995159" y="1170432"/>
            <a:ext cx="4846320" cy="5852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Refactored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1783080"/>
            <a:ext cx="2286000" cy="640080"/>
          </a:xfrm>
          <a:prstGeom prst="rect">
            <a:avLst/>
          </a:prstGeom>
          <a:solidFill>
            <a:srgbClr val="F0F4F8"/>
          </a:solidFill>
          <a:ln w="381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20040" y="1810512"/>
            <a:ext cx="2194560" cy="5852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Planning unit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560320" y="1783080"/>
            <a:ext cx="4389120" cy="640080"/>
          </a:xfrm>
          <a:prstGeom prst="rect">
            <a:avLst/>
          </a:prstGeom>
          <a:solidFill>
            <a:srgbClr val="F0F4F8"/>
          </a:solidFill>
          <a:ln w="381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2606039" y="1810512"/>
            <a:ext cx="4297680" cy="5852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x_{i,j,n,t} in {0,1}  per workload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949440" y="1783080"/>
            <a:ext cx="4937760" cy="640080"/>
          </a:xfrm>
          <a:prstGeom prst="rect">
            <a:avLst/>
          </a:prstGeom>
          <a:solidFill>
            <a:srgbClr val="F0F4F8"/>
          </a:solidFill>
          <a:ln w="381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995159" y="1810512"/>
            <a:ext cx="4846320" cy="5852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u_{i,h} &gt;= 0  — aggregate usage profile per tenant per period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2423160"/>
            <a:ext cx="2286000" cy="640080"/>
          </a:xfrm>
          <a:prstGeom prst="rect">
            <a:avLst/>
          </a:prstGeom>
          <a:solidFill>
            <a:srgbClr val="FFFFFF"/>
          </a:solidFill>
          <a:ln w="381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20040" y="2450591"/>
            <a:ext cx="2194560" cy="5852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What is predicted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560320" y="2423160"/>
            <a:ext cx="4389120" cy="640080"/>
          </a:xfrm>
          <a:prstGeom prst="rect">
            <a:avLst/>
          </a:prstGeom>
          <a:solidFill>
            <a:srgbClr val="FFFFFF"/>
          </a:solidFill>
          <a:ln w="381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2606039" y="2450591"/>
            <a:ext cx="4297680" cy="5852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 dirty="0">
                <a:solidFill>
                  <a:srgbClr val="1A1A2E"/>
                </a:solidFill>
                <a:latin typeface="Calibri"/>
              </a:rPr>
              <a:t>Which specific jobs tenant </a:t>
            </a:r>
            <a:r>
              <a:rPr sz="1300" b="0" i="0" dirty="0" err="1">
                <a:solidFill>
                  <a:srgbClr val="1A1A2E"/>
                </a:solidFill>
                <a:latin typeface="Calibri"/>
              </a:rPr>
              <a:t>i</a:t>
            </a:r>
            <a:r>
              <a:rPr sz="1300" b="0" i="0" dirty="0">
                <a:solidFill>
                  <a:srgbClr val="1A1A2E"/>
                </a:solidFill>
                <a:latin typeface="Calibri"/>
              </a:rPr>
              <a:t> will submit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949440" y="2423160"/>
            <a:ext cx="4937760" cy="640080"/>
          </a:xfrm>
          <a:prstGeom prst="rect">
            <a:avLst/>
          </a:prstGeom>
          <a:solidFill>
            <a:srgbClr val="FFFFFF"/>
          </a:solidFill>
          <a:ln w="381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995159" y="2450591"/>
            <a:ext cx="4846320" cy="5852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How much resource tenant i uses in total during period h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3063239"/>
            <a:ext cx="2286000" cy="640080"/>
          </a:xfrm>
          <a:prstGeom prst="rect">
            <a:avLst/>
          </a:prstGeom>
          <a:solidFill>
            <a:srgbClr val="F0F4F8"/>
          </a:solidFill>
          <a:ln w="381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320040" y="3090671"/>
            <a:ext cx="2194560" cy="5852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Predictability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560320" y="3063239"/>
            <a:ext cx="4389120" cy="640080"/>
          </a:xfrm>
          <a:prstGeom prst="rect">
            <a:avLst/>
          </a:prstGeom>
          <a:solidFill>
            <a:srgbClr val="F0F4F8"/>
          </a:solidFill>
          <a:ln w="381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2606039" y="3090671"/>
            <a:ext cx="4297680" cy="5852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Very low — depends on user behaviour &amp; pipelines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949440" y="3063239"/>
            <a:ext cx="4937760" cy="640080"/>
          </a:xfrm>
          <a:prstGeom prst="rect">
            <a:avLst/>
          </a:prstGeom>
          <a:solidFill>
            <a:srgbClr val="F0F4F8"/>
          </a:solidFill>
          <a:ln w="381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995159" y="3090671"/>
            <a:ext cx="4846320" cy="5852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High — aggregate demand forecastable at 15-min to 4-hr granularity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3703320"/>
            <a:ext cx="2286000" cy="640080"/>
          </a:xfrm>
          <a:prstGeom prst="rect">
            <a:avLst/>
          </a:prstGeom>
          <a:solidFill>
            <a:srgbClr val="FFFFFF"/>
          </a:solidFill>
          <a:ln w="381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320040" y="3730752"/>
            <a:ext cx="2194560" cy="5852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Variable count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560320" y="3703320"/>
            <a:ext cx="4389120" cy="640080"/>
          </a:xfrm>
          <a:prstGeom prst="rect">
            <a:avLst/>
          </a:prstGeom>
          <a:solidFill>
            <a:srgbClr val="FFFFFF"/>
          </a:solidFill>
          <a:ln w="381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2606039" y="3730752"/>
            <a:ext cx="4297680" cy="5852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O(T · W · N · H)  (per-workload)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949440" y="3703320"/>
            <a:ext cx="4937760" cy="640080"/>
          </a:xfrm>
          <a:prstGeom prst="rect">
            <a:avLst/>
          </a:prstGeom>
          <a:solidFill>
            <a:srgbClr val="FFFFFF"/>
          </a:solidFill>
          <a:ln w="381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995159" y="3730752"/>
            <a:ext cx="4846320" cy="5852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O(T · N · H)  (per-tenant)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4320" y="4480560"/>
            <a:ext cx="11612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A3A5C"/>
                </a:solidFill>
                <a:latin typeface="Calibri"/>
              </a:rPr>
              <a:t>Why aggregate demand is forecastable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74320" y="4828032"/>
            <a:ext cx="11612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2E"/>
                </a:solidFill>
                <a:latin typeface="Calibri"/>
              </a:rPr>
              <a:t>Google cluster traces v3 show aggregate per-tenant resource consumption is predictable at 15-min to 4-hour granularity using standard time-series methods (ARIMA, LSTM). Individual job arrivals are not.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74320" y="5577840"/>
            <a:ext cx="11612880" cy="658368"/>
          </a:xfrm>
          <a:prstGeom prst="rect">
            <a:avLst/>
          </a:prstGeom>
          <a:solidFill>
            <a:srgbClr val="E8F0FE"/>
          </a:solidFill>
          <a:ln w="12700">
            <a:solidFill>
              <a:srgbClr val="2A5A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274320" y="5577840"/>
            <a:ext cx="64008" cy="658368"/>
          </a:xfrm>
          <a:prstGeom prst="rect">
            <a:avLst/>
          </a:prstGeom>
          <a:solidFill>
            <a:srgbClr val="2A5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438912" y="5650992"/>
            <a:ext cx="11338559" cy="5120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2A5A8C"/>
                </a:solidFill>
                <a:latin typeface="Calibri"/>
              </a:rPr>
              <a:t>u_{i,h} = total expected resource usage of tenant i in period h  —  this is the clean, well-defined input the prediction team produces.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Change 2: Hard Access → Priority Hints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21792"/>
            <a:ext cx="9144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CCD6E0"/>
                </a:solidFill>
                <a:latin typeface="Calibri"/>
              </a:rPr>
              <a:t>Replacing blocking constraints with objective boosts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05840"/>
            <a:ext cx="12188952" cy="36576"/>
          </a:xfrm>
          <a:prstGeom prst="rect">
            <a:avLst/>
          </a:prstGeom>
          <a:solidFill>
            <a:srgbClr val="0D6E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74320" y="658368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6E0"/>
                </a:solidFill>
                <a:latin typeface="Calibri"/>
              </a:rPr>
              <a:t>Alrick Grandison  |  Capstone Project, Spring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21440" y="6583680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CCD6E0"/>
                </a:solidFill>
                <a:latin typeface="Calibri"/>
              </a:rPr>
              <a:t>7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143000"/>
            <a:ext cx="5303520" cy="2651760"/>
          </a:xfrm>
          <a:prstGeom prst="rect">
            <a:avLst/>
          </a:prstGeom>
          <a:solidFill>
            <a:srgbClr val="FCE8E6"/>
          </a:solidFill>
          <a:ln w="1016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7200" y="118872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62828"/>
                </a:solidFill>
                <a:latin typeface="Calibri"/>
              </a:rPr>
              <a:t>✗  Original: Hard Block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572768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1A1A2E"/>
                </a:solidFill>
                <a:latin typeface="Calibri"/>
              </a:rPr>
              <a:t>x_{j,n} = 0   if  n ∉ A_{t(j)}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029968"/>
            <a:ext cx="49377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Feasibility fragility: if the plan is stale or a node fails, legitimate jobs are unnecessarily rejected.
Queue starvation: blocked tenants wait indefinitely while other nodes sit idle — violates fairness.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0" y="1143000"/>
            <a:ext cx="5330952" cy="2651760"/>
          </a:xfrm>
          <a:prstGeom prst="rect">
            <a:avLst/>
          </a:prstGeom>
          <a:solidFill>
            <a:srgbClr val="E6F4EA"/>
          </a:solidFill>
          <a:ln w="10160">
            <a:solidFill>
              <a:srgbClr val="1E7E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766560" y="118872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E7E34"/>
                </a:solidFill>
                <a:latin typeface="Calibri"/>
              </a:rPr>
              <a:t>✓  Refactored: Priority Boost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66560" y="1572768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2E"/>
                </a:solidFill>
                <a:latin typeface="Calibri"/>
              </a:rPr>
              <a:t>b_{t(j),n} = 2.0  if n in priority_set[t(j)]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60" y="1847088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2E"/>
                </a:solidFill>
                <a:latin typeface="Calibri"/>
              </a:rPr>
              <a:t>b_{t(j),n} = 1.0  otherwise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66560" y="2240280"/>
            <a:ext cx="49377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Jobs are never unnecessarily blocked.
Plan-ahead guidance is respected when capacity allows.
System degrades gracefully when the plan is stale.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23560" y="2194560"/>
            <a:ext cx="822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0" i="0">
                <a:solidFill>
                  <a:srgbClr val="1A3A5C"/>
                </a:solidFill>
                <a:latin typeface="Calibri"/>
              </a:rPr>
              <a:t>➡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3977639"/>
            <a:ext cx="11612880" cy="822960"/>
          </a:xfrm>
          <a:prstGeom prst="rect">
            <a:avLst/>
          </a:prstGeom>
          <a:solidFill>
            <a:srgbClr val="E8F0FE"/>
          </a:solidFill>
          <a:ln w="12700">
            <a:solidFill>
              <a:srgbClr val="2A5A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274320" y="3977639"/>
            <a:ext cx="64008" cy="822960"/>
          </a:xfrm>
          <a:prstGeom prst="rect">
            <a:avLst/>
          </a:prstGeom>
          <a:solidFill>
            <a:srgbClr val="2A5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38912" y="4050791"/>
            <a:ext cx="11338559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2A5A8C"/>
                </a:solidFill>
                <a:latin typeface="Calibri"/>
              </a:rPr>
              <a:t>No node is off-limits. The plan-ahead guides placements; it does not dictate them. Simulation confirmed: switching to priority-boost eliminated queue backlogs without sacrificing the planning signal.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4937760"/>
            <a:ext cx="11612880" cy="822960"/>
          </a:xfrm>
          <a:prstGeom prst="rect">
            <a:avLst/>
          </a:prstGeom>
          <a:solidFill>
            <a:srgbClr val="F0F4F8"/>
          </a:solidFill>
          <a:ln w="635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57200" y="5001768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Little’s Law: blocking a job from 4 of 5 nodes (default 10% exclusivity = 1 allowed node) multiplies expected wait time by 5× compared to free placement.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Change 3: SOCP Uncertainty Input Redesigned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21792"/>
            <a:ext cx="9144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CCD6E0"/>
                </a:solidFill>
                <a:latin typeface="Calibri"/>
              </a:rPr>
              <a:t>Same cone structure, different and obtainable uncertainty source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05840"/>
            <a:ext cx="12188952" cy="36576"/>
          </a:xfrm>
          <a:prstGeom prst="rect">
            <a:avLst/>
          </a:prstGeom>
          <a:solidFill>
            <a:srgbClr val="0D6E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74320" y="658368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6E0"/>
                </a:solidFill>
                <a:latin typeface="Calibri"/>
              </a:rPr>
              <a:t>Alrick Grandison  |  Capstone Project, Spring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21440" y="6583680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CCD6E0"/>
                </a:solidFill>
                <a:latin typeface="Calibri"/>
              </a:rPr>
              <a:t>8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143000"/>
            <a:ext cx="5394960" cy="3017520"/>
          </a:xfrm>
          <a:prstGeom prst="rect">
            <a:avLst/>
          </a:prstGeom>
          <a:solidFill>
            <a:srgbClr val="F0F4F8"/>
          </a:solidFill>
          <a:ln w="635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7200" y="118872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A3A5C"/>
                </a:solidFill>
                <a:latin typeface="Calibri"/>
              </a:rPr>
              <a:t>Original C2 — Per-Workload Cholesky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572768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2E"/>
                </a:solidFill>
                <a:latin typeface="Calibri"/>
              </a:rPr>
              <a:t>Mean load
+ κ_n · ‖ L_r · ξ_{n,r,t} ‖₂
≤  C_{n,r} · z_{n,t}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542032"/>
            <a:ext cx="5029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62828"/>
                </a:solidFill>
                <a:latin typeface="Calibri"/>
              </a:rPr>
              <a:t>Requires:  full workload covariance matrix Σ_r,
Cholesky factor L_r  (Cholesky of Σ_r)
➡ unknowable at planning time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06440" y="233172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0" i="0">
                <a:solidFill>
                  <a:srgbClr val="1A3A5C"/>
                </a:solidFill>
                <a:latin typeface="Calibri"/>
              </a:rPr>
              <a:t>➡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92240" y="1143000"/>
            <a:ext cx="5422392" cy="3017520"/>
          </a:xfrm>
          <a:prstGeom prst="rect">
            <a:avLst/>
          </a:prstGeom>
          <a:solidFill>
            <a:srgbClr val="E6F4EA"/>
          </a:solidFill>
          <a:ln w="10160">
            <a:solidFill>
              <a:srgbClr val="1E7E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675120" y="1188720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E7E34"/>
                </a:solidFill>
                <a:latin typeface="Calibri"/>
              </a:rPr>
              <a:t>Refactored C1a + C1b — Per-Tenant Variance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1572768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C1a (linear):   sum_i f_{i,n,h} + κ · t_{n,h} ≤ C_n · z_{n,h}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1938528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C1b (cone):    sum_i σ²_{i,h} · y_{i,n,h} ≤ t_{n,h}²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0" y="2331720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1A1A2E"/>
                </a:solidFill>
                <a:latin typeface="Calibri"/>
              </a:rPr>
              <a:t>where  σ²_{i,h} = (sigma_frac × u_{i,h})²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0" y="2724912"/>
            <a:ext cx="51206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7E34"/>
                </a:solidFill>
                <a:latin typeface="Calibri"/>
              </a:rPr>
              <a:t>Requires:  sigma_frac (one operator scalar)
+ u_{i,h} (prediction team output)
➡ estimable from cluster usage traces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4297680"/>
            <a:ext cx="11612880" cy="822960"/>
          </a:xfrm>
          <a:prstGeom prst="rect">
            <a:avLst/>
          </a:prstGeom>
          <a:solidFill>
            <a:srgbClr val="E8F0FE"/>
          </a:solidFill>
          <a:ln w="12700">
            <a:solidFill>
              <a:srgbClr val="2A5A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274320" y="4297680"/>
            <a:ext cx="64008" cy="822960"/>
          </a:xfrm>
          <a:prstGeom prst="rect">
            <a:avLst/>
          </a:prstGeom>
          <a:solidFill>
            <a:srgbClr val="2A5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38912" y="4370832"/>
            <a:ext cx="11338559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2A5A8C"/>
                </a:solidFill>
                <a:latin typeface="Calibri"/>
              </a:rPr>
              <a:t>Same probabilistic guarantee:  P[ actual usage ≤ C_n · z_{n,h} ] ≥ 1 − ε
Cantelli factor: κ = sqrt((1−ε)/ε)  —  ε=0.10 → κ=3.00  (90% coverage)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5257800"/>
            <a:ext cx="2194560" cy="33147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20040" y="5285232"/>
            <a:ext cx="2103120" cy="2766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2468879" y="5257800"/>
            <a:ext cx="4572000" cy="33147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2514599" y="5285232"/>
            <a:ext cx="4480560" cy="2766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Original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040879" y="5257800"/>
            <a:ext cx="4846320" cy="33147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086599" y="5285232"/>
            <a:ext cx="4754880" cy="2766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Refactored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4320" y="5589270"/>
            <a:ext cx="2194560" cy="331470"/>
          </a:xfrm>
          <a:prstGeom prst="rect">
            <a:avLst/>
          </a:prstGeom>
          <a:solidFill>
            <a:srgbClr val="F0F4F8"/>
          </a:solidFill>
          <a:ln w="381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320040" y="5616702"/>
            <a:ext cx="2103120" cy="2766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Uncertainty source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468879" y="5589270"/>
            <a:ext cx="4572000" cy="331470"/>
          </a:xfrm>
          <a:prstGeom prst="rect">
            <a:avLst/>
          </a:prstGeom>
          <a:solidFill>
            <a:srgbClr val="F0F4F8"/>
          </a:solidFill>
          <a:ln w="381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2514599" y="5616702"/>
            <a:ext cx="4480560" cy="2766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Per-workload covariance Σ_r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040879" y="5589270"/>
            <a:ext cx="4846320" cy="331470"/>
          </a:xfrm>
          <a:prstGeom prst="rect">
            <a:avLst/>
          </a:prstGeom>
          <a:solidFill>
            <a:srgbClr val="F0F4F8"/>
          </a:solidFill>
          <a:ln w="381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7086599" y="5616702"/>
            <a:ext cx="4754880" cy="2766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Per-tenant usage variance σ²_{i,h}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4320" y="5920740"/>
            <a:ext cx="2194560" cy="331470"/>
          </a:xfrm>
          <a:prstGeom prst="rect">
            <a:avLst/>
          </a:prstGeom>
          <a:solidFill>
            <a:srgbClr val="FFFFFF"/>
          </a:solidFill>
          <a:ln w="381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320040" y="5948172"/>
            <a:ext cx="2103120" cy="2766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Data required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468879" y="5920740"/>
            <a:ext cx="4572000" cy="331470"/>
          </a:xfrm>
          <a:prstGeom prst="rect">
            <a:avLst/>
          </a:prstGeom>
          <a:solidFill>
            <a:srgbClr val="FFFFFF"/>
          </a:solidFill>
          <a:ln w="381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2514599" y="5948172"/>
            <a:ext cx="4480560" cy="2766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Joint workload distribution (unknowable)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040879" y="5920740"/>
            <a:ext cx="4846320" cy="331470"/>
          </a:xfrm>
          <a:prstGeom prst="rect">
            <a:avLst/>
          </a:prstGeom>
          <a:solidFill>
            <a:srgbClr val="FFFFFF"/>
          </a:solidFill>
          <a:ln w="381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7086599" y="5948172"/>
            <a:ext cx="4754880" cy="2766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sigma_frac × u_{i,h} (estimable)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74320" y="6252210"/>
            <a:ext cx="2194560" cy="331470"/>
          </a:xfrm>
          <a:prstGeom prst="rect">
            <a:avLst/>
          </a:prstGeom>
          <a:solidFill>
            <a:srgbClr val="F0F4F8"/>
          </a:solidFill>
          <a:ln w="381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320040" y="6279642"/>
            <a:ext cx="2103120" cy="2766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Cone variable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468879" y="6252210"/>
            <a:ext cx="4572000" cy="331470"/>
          </a:xfrm>
          <a:prstGeom prst="rect">
            <a:avLst/>
          </a:prstGeom>
          <a:solidFill>
            <a:srgbClr val="F0F4F8"/>
          </a:solidFill>
          <a:ln w="381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2514599" y="6279642"/>
            <a:ext cx="4480560" cy="2766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Tied to Cholesky of Σ_r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040879" y="6252210"/>
            <a:ext cx="4846320" cy="331470"/>
          </a:xfrm>
          <a:prstGeom prst="rect">
            <a:avLst/>
          </a:prstGeom>
          <a:solidFill>
            <a:srgbClr val="F0F4F8"/>
          </a:solidFill>
          <a:ln w="381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7086599" y="6279642"/>
            <a:ext cx="4754880" cy="2766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Single slack t_{n,h} per node per period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The Model Remains a MISOCP — Why This Matters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88952" cy="36576"/>
          </a:xfrm>
          <a:prstGeom prst="rect">
            <a:avLst/>
          </a:prstGeom>
          <a:solidFill>
            <a:srgbClr val="0D6E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658368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6E0"/>
                </a:solidFill>
                <a:latin typeface="Calibri"/>
              </a:rPr>
              <a:t>Alrick Grandison  |  Capstone Project, Spring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583680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CCD6E0"/>
                </a:solidFill>
                <a:latin typeface="Calibri"/>
              </a:rPr>
              <a:t>9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143000"/>
            <a:ext cx="11640312" cy="640080"/>
          </a:xfrm>
          <a:prstGeom prst="rect">
            <a:avLst/>
          </a:prstGeom>
          <a:solidFill>
            <a:srgbClr val="E6F4EA"/>
          </a:solidFill>
          <a:ln w="19050">
            <a:solidFill>
              <a:srgbClr val="1E7E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118872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E7E34"/>
                </a:solidFill>
                <a:latin typeface="Calibri"/>
              </a:rPr>
              <a:t>✓  The refactored model is still a Mixed-Integer Second-Order Cone Program (MISOCP). The cone constraint is preserved. What changed is the uncertainty source driving it.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920240"/>
            <a:ext cx="2286000" cy="48768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20040" y="1947672"/>
            <a:ext cx="2194560" cy="432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2560320" y="1920240"/>
            <a:ext cx="4572000" cy="48768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606039" y="1947672"/>
            <a:ext cx="4480560" cy="432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Original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32320" y="1920240"/>
            <a:ext cx="4754880" cy="48768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178040" y="1947672"/>
            <a:ext cx="4663440" cy="432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Refactored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2407920"/>
            <a:ext cx="2286000" cy="487680"/>
          </a:xfrm>
          <a:prstGeom prst="rect">
            <a:avLst/>
          </a:prstGeom>
          <a:solidFill>
            <a:srgbClr val="F0F4F8"/>
          </a:solidFill>
          <a:ln w="381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20040" y="2435352"/>
            <a:ext cx="2194560" cy="432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Cone expression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60320" y="2407920"/>
            <a:ext cx="4572000" cy="487680"/>
          </a:xfrm>
          <a:prstGeom prst="rect">
            <a:avLst/>
          </a:prstGeom>
          <a:solidFill>
            <a:srgbClr val="F0F4F8"/>
          </a:solidFill>
          <a:ln w="381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606039" y="2435352"/>
            <a:ext cx="4480560" cy="432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‖ L_r · ξ_{n,r,t} ‖₂ ≤ soc_aux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132320" y="2407920"/>
            <a:ext cx="4754880" cy="487680"/>
          </a:xfrm>
          <a:prstGeom prst="rect">
            <a:avLst/>
          </a:prstGeom>
          <a:solidFill>
            <a:srgbClr val="F0F4F8"/>
          </a:solidFill>
          <a:ln w="381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178040" y="2435352"/>
            <a:ext cx="4663440" cy="432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sum_i σ²_{i,h} · y_{i,n,h} ≤ t_{n,h}²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2895600"/>
            <a:ext cx="2286000" cy="487680"/>
          </a:xfrm>
          <a:prstGeom prst="rect">
            <a:avLst/>
          </a:prstGeom>
          <a:solidFill>
            <a:srgbClr val="FFFFFF"/>
          </a:solidFill>
          <a:ln w="381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320040" y="2923032"/>
            <a:ext cx="2194560" cy="432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Uncertainty source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560320" y="2895600"/>
            <a:ext cx="4572000" cy="487680"/>
          </a:xfrm>
          <a:prstGeom prst="rect">
            <a:avLst/>
          </a:prstGeom>
          <a:solidFill>
            <a:srgbClr val="FFFFFF"/>
          </a:solidFill>
          <a:ln w="381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2606039" y="2923032"/>
            <a:ext cx="4480560" cy="432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Per-workload covariance Σ_r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132320" y="2895600"/>
            <a:ext cx="4754880" cy="487680"/>
          </a:xfrm>
          <a:prstGeom prst="rect">
            <a:avLst/>
          </a:prstGeom>
          <a:solidFill>
            <a:srgbClr val="FFFFFF"/>
          </a:solidFill>
          <a:ln w="381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178040" y="2923032"/>
            <a:ext cx="4663440" cy="432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Per-tenant usage variance σ²_{i,h}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" y="3383280"/>
            <a:ext cx="2286000" cy="487680"/>
          </a:xfrm>
          <a:prstGeom prst="rect">
            <a:avLst/>
          </a:prstGeom>
          <a:solidFill>
            <a:srgbClr val="F0F4F8"/>
          </a:solidFill>
          <a:ln w="381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320040" y="3410712"/>
            <a:ext cx="2194560" cy="432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Data required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60320" y="3383280"/>
            <a:ext cx="4572000" cy="487680"/>
          </a:xfrm>
          <a:prstGeom prst="rect">
            <a:avLst/>
          </a:prstGeom>
          <a:solidFill>
            <a:srgbClr val="F0F4F8"/>
          </a:solidFill>
          <a:ln w="381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2606039" y="3410712"/>
            <a:ext cx="4480560" cy="432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Joint workload distribution (unknowable in advance)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132320" y="3383280"/>
            <a:ext cx="4754880" cy="487680"/>
          </a:xfrm>
          <a:prstGeom prst="rect">
            <a:avLst/>
          </a:prstGeom>
          <a:solidFill>
            <a:srgbClr val="F0F4F8"/>
          </a:solidFill>
          <a:ln w="381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7178040" y="3410712"/>
            <a:ext cx="4663440" cy="432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sigma_frac × u_{i,h}  (estimable from usage traces)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74320" y="3870960"/>
            <a:ext cx="2286000" cy="487680"/>
          </a:xfrm>
          <a:prstGeom prst="rect">
            <a:avLst/>
          </a:prstGeom>
          <a:solidFill>
            <a:srgbClr val="FFFFFF"/>
          </a:solidFill>
          <a:ln w="381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320040" y="3898392"/>
            <a:ext cx="2194560" cy="432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Probabilistic guarantee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560320" y="3870960"/>
            <a:ext cx="4572000" cy="487680"/>
          </a:xfrm>
          <a:prstGeom prst="rect">
            <a:avLst/>
          </a:prstGeom>
          <a:solidFill>
            <a:srgbClr val="FFFFFF"/>
          </a:solidFill>
          <a:ln w="381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2606039" y="3898392"/>
            <a:ext cx="4480560" cy="432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P[usage ≤ C] ≥ 1−ε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132320" y="3870960"/>
            <a:ext cx="4754880" cy="487680"/>
          </a:xfrm>
          <a:prstGeom prst="rect">
            <a:avLst/>
          </a:prstGeom>
          <a:solidFill>
            <a:srgbClr val="FFFFFF"/>
          </a:solidFill>
          <a:ln w="381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7178040" y="3898392"/>
            <a:ext cx="4663440" cy="432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P[usage ≤ C] ≥ 1−ε  (same)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74320" y="4358640"/>
            <a:ext cx="2286000" cy="487680"/>
          </a:xfrm>
          <a:prstGeom prst="rect">
            <a:avLst/>
          </a:prstGeom>
          <a:solidFill>
            <a:srgbClr val="F0F4F8"/>
          </a:solidFill>
          <a:ln w="381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320040" y="4386072"/>
            <a:ext cx="2194560" cy="432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Model class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560320" y="4358640"/>
            <a:ext cx="4572000" cy="487680"/>
          </a:xfrm>
          <a:prstGeom prst="rect">
            <a:avLst/>
          </a:prstGeom>
          <a:solidFill>
            <a:srgbClr val="F0F4F8"/>
          </a:solidFill>
          <a:ln w="381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2606039" y="4386072"/>
            <a:ext cx="4480560" cy="432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MISOCP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132320" y="4358640"/>
            <a:ext cx="4754880" cy="487680"/>
          </a:xfrm>
          <a:prstGeom prst="rect">
            <a:avLst/>
          </a:prstGeom>
          <a:solidFill>
            <a:srgbClr val="F0F4F8"/>
          </a:solidFill>
          <a:ln w="381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7178040" y="4386072"/>
            <a:ext cx="4663440" cy="432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MISOCP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74320" y="4983480"/>
            <a:ext cx="11640312" cy="1051560"/>
          </a:xfrm>
          <a:prstGeom prst="rect">
            <a:avLst/>
          </a:prstGeom>
          <a:solidFill>
            <a:srgbClr val="E8F0FE"/>
          </a:solidFill>
          <a:ln w="6350">
            <a:solidFill>
              <a:srgbClr val="2A5A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457200" y="502920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A3A5C"/>
                </a:solidFill>
                <a:latin typeface="Calibri"/>
              </a:rPr>
              <a:t>Simulation-speed MILP mode  (use_socp=False)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7200" y="5358384"/>
            <a:ext cx="11155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A plain MILP fallback (drops C1b and t_{n,h}) is available for interactive simulation where the plan-ahead fires every 50 steps. This is NOT the primary formulation and does not change the model’s MISOCP identity.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What Was Removed and Why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88952" cy="36576"/>
          </a:xfrm>
          <a:prstGeom prst="rect">
            <a:avLst/>
          </a:prstGeom>
          <a:solidFill>
            <a:srgbClr val="0D6E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658368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6E0"/>
                </a:solidFill>
                <a:latin typeface="Calibri"/>
              </a:rPr>
              <a:t>Alrick Grandison  |  Capstone Project, Spring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583680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CCD6E0"/>
                </a:solidFill>
                <a:latin typeface="Calibri"/>
              </a:rPr>
              <a:t>10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143000"/>
            <a:ext cx="11640312" cy="1417320"/>
          </a:xfrm>
          <a:prstGeom prst="rect">
            <a:avLst/>
          </a:prstGeom>
          <a:solidFill>
            <a:srgbClr val="F0F4F8"/>
          </a:solidFill>
          <a:ln w="508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274320" y="1143000"/>
            <a:ext cx="64008" cy="141732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7200" y="1207008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3A5C"/>
                </a:solidFill>
                <a:latin typeface="Calibri"/>
              </a:rPr>
              <a:t>Isolation primitives  w_{i,j,k,t}  and McCormick auxiliaries  ξ_{i,j,n,k,t}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60020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Container isolation (gVisor / Kata) is a runtime decision made at placement time. It cannot be meaningfully set at planning granularity. Removing these eliminates McCormick linearizations and C3/C4 control-plane constraints.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2651760"/>
            <a:ext cx="11640312" cy="1417320"/>
          </a:xfrm>
          <a:prstGeom prst="rect">
            <a:avLst/>
          </a:prstGeom>
          <a:solidFill>
            <a:srgbClr val="F0F4F8"/>
          </a:solidFill>
          <a:ln w="508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274320" y="2651760"/>
            <a:ext cx="64008" cy="141732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7200" y="2715768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3A5C"/>
                </a:solidFill>
                <a:latin typeface="Calibri"/>
              </a:rPr>
              <a:t>Migration variables  m_{i,j,n,t}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10896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In a priority-hint model, the plan-ahead does not place individual jobs. Migration is a real-time concept — 'workload j moves from node n to n’ in period h' has no meaning when the plan only signals priority. Removes C6 entirely.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4160520"/>
            <a:ext cx="11640312" cy="1417320"/>
          </a:xfrm>
          <a:prstGeom prst="rect">
            <a:avLst/>
          </a:prstGeom>
          <a:solidFill>
            <a:srgbClr val="F0F4F8"/>
          </a:solidFill>
          <a:ln w="508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274320" y="4160520"/>
            <a:ext cx="64008" cy="141732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57200" y="4224528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3A5C"/>
                </a:solidFill>
                <a:latin typeface="Calibri"/>
              </a:rPr>
              <a:t>DRF fairness on declared demand  d_{i,j,r}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461772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Per-job declared demand d_{i,j,r} is not available at planning time. Fairness is now expressed over aggregate allocation vs aggregate demand (C4), which is computable from u_{i,h}.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5669279"/>
            <a:ext cx="11640312" cy="685800"/>
          </a:xfrm>
          <a:prstGeom prst="rect">
            <a:avLst/>
          </a:prstGeom>
          <a:solidFill>
            <a:srgbClr val="E8F0FE"/>
          </a:solidFill>
          <a:ln w="6350">
            <a:solidFill>
              <a:srgbClr val="2A5A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57200" y="5714999"/>
            <a:ext cx="11155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Original constraints:  C1, C1b, C1c, McCormick, C2 SOCP, C3 isolation, C4 control-plane, C5 latency, C6 migration, C7 DRF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007607"/>
            <a:ext cx="11155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3A5C"/>
                </a:solidFill>
                <a:latin typeface="Calibri"/>
              </a:rPr>
              <a:t>Refactored constraints:  C1a capacity, C1b cone, C2 priority link, C3 demand, C4 fairness, C5 node activation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Complexity Comparison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88952" cy="36576"/>
          </a:xfrm>
          <a:prstGeom prst="rect">
            <a:avLst/>
          </a:prstGeom>
          <a:solidFill>
            <a:srgbClr val="0D6E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658368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6E0"/>
                </a:solidFill>
                <a:latin typeface="Calibri"/>
              </a:rPr>
              <a:t>Alrick Grandison  |  Capstone Project, Spring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583680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CCD6E0"/>
                </a:solidFill>
                <a:latin typeface="Calibri"/>
              </a:rPr>
              <a:t>11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143000"/>
            <a:ext cx="2743200" cy="587828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20040" y="1170432"/>
            <a:ext cx="2651760" cy="5329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Aspect</a:t>
            </a:r>
          </a:p>
        </p:txBody>
      </p:sp>
      <p:sp>
        <p:nvSpPr>
          <p:cNvPr id="10" name="Rectangle 9"/>
          <p:cNvSpPr/>
          <p:nvPr/>
        </p:nvSpPr>
        <p:spPr>
          <a:xfrm>
            <a:off x="3017520" y="1143000"/>
            <a:ext cx="4434840" cy="587828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063239" y="1170432"/>
            <a:ext cx="4343400" cy="5329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Original MISOCP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52359" y="1143000"/>
            <a:ext cx="4434840" cy="587828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498079" y="1170432"/>
            <a:ext cx="4343400" cy="5329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Refactored MISOCP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1730828"/>
            <a:ext cx="2743200" cy="587828"/>
          </a:xfrm>
          <a:prstGeom prst="rect">
            <a:avLst/>
          </a:prstGeom>
          <a:solidFill>
            <a:srgbClr val="F0F4F8"/>
          </a:solidFill>
          <a:ln w="381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20040" y="1758260"/>
            <a:ext cx="2651760" cy="5329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Binary variables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017520" y="1730828"/>
            <a:ext cx="4434840" cy="587828"/>
          </a:xfrm>
          <a:prstGeom prst="rect">
            <a:avLst/>
          </a:prstGeom>
          <a:solidFill>
            <a:srgbClr val="F0F4F8"/>
          </a:solidFill>
          <a:ln w="381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063239" y="1758260"/>
            <a:ext cx="4343400" cy="5329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O(T·W·N·H + T·N·H + N·H + T)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452359" y="1730828"/>
            <a:ext cx="4434840" cy="587828"/>
          </a:xfrm>
          <a:prstGeom prst="rect">
            <a:avLst/>
          </a:prstGeom>
          <a:solidFill>
            <a:srgbClr val="F0F4F8"/>
          </a:solidFill>
          <a:ln w="381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498079" y="1758260"/>
            <a:ext cx="4343400" cy="5329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O(T·N·H + N·H + T)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2318657"/>
            <a:ext cx="2743200" cy="587828"/>
          </a:xfrm>
          <a:prstGeom prst="rect">
            <a:avLst/>
          </a:prstGeom>
          <a:solidFill>
            <a:srgbClr val="FFFFFF"/>
          </a:solidFill>
          <a:ln w="381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20040" y="2346089"/>
            <a:ext cx="2651760" cy="5329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Continuous variables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017520" y="2318657"/>
            <a:ext cx="4434840" cy="587828"/>
          </a:xfrm>
          <a:prstGeom prst="rect">
            <a:avLst/>
          </a:prstGeom>
          <a:solidFill>
            <a:srgbClr val="FFFFFF"/>
          </a:solidFill>
          <a:ln w="381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3063239" y="2346089"/>
            <a:ext cx="4343400" cy="5329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O(T·W·N·K·H + T·W·H + N·H)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452359" y="2318657"/>
            <a:ext cx="4434840" cy="587828"/>
          </a:xfrm>
          <a:prstGeom prst="rect">
            <a:avLst/>
          </a:prstGeom>
          <a:solidFill>
            <a:srgbClr val="FFFFFF"/>
          </a:solidFill>
          <a:ln w="381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498079" y="2346089"/>
            <a:ext cx="4343400" cy="5329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O(T·N·H + N·H + 1)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2906485"/>
            <a:ext cx="2743200" cy="587828"/>
          </a:xfrm>
          <a:prstGeom prst="rect">
            <a:avLst/>
          </a:prstGeom>
          <a:solidFill>
            <a:srgbClr val="F0F4F8"/>
          </a:solidFill>
          <a:ln w="381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20040" y="2933917"/>
            <a:ext cx="2651760" cy="5329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Cone constraints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017520" y="2906485"/>
            <a:ext cx="4434840" cy="587828"/>
          </a:xfrm>
          <a:prstGeom prst="rect">
            <a:avLst/>
          </a:prstGeom>
          <a:solidFill>
            <a:srgbClr val="F0F4F8"/>
          </a:solidFill>
          <a:ln w="381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3063239" y="2933917"/>
            <a:ext cx="4343400" cy="5329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‖L_r · ξ_{n,r,t}‖₂ ≤ soc_aux  per (n,r,t)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452359" y="2906485"/>
            <a:ext cx="4434840" cy="587828"/>
          </a:xfrm>
          <a:prstGeom prst="rect">
            <a:avLst/>
          </a:prstGeom>
          <a:solidFill>
            <a:srgbClr val="F0F4F8"/>
          </a:solidFill>
          <a:ln w="381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498079" y="2933917"/>
            <a:ext cx="4343400" cy="5329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sum_i σ²_{i,h} · y_{i,n,h} ≤ t_{n,h}²  per (n,h)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3494314"/>
            <a:ext cx="2743200" cy="587828"/>
          </a:xfrm>
          <a:prstGeom prst="rect">
            <a:avLst/>
          </a:prstGeom>
          <a:solidFill>
            <a:srgbClr val="FFFFFF"/>
          </a:solidFill>
          <a:ln w="381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320040" y="3521746"/>
            <a:ext cx="2651760" cy="5329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Isolation variables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017520" y="3494314"/>
            <a:ext cx="4434840" cy="587828"/>
          </a:xfrm>
          <a:prstGeom prst="rect">
            <a:avLst/>
          </a:prstGeom>
          <a:solidFill>
            <a:srgbClr val="FFFFFF"/>
          </a:solidFill>
          <a:ln w="381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3063239" y="3521746"/>
            <a:ext cx="4343400" cy="5329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O(T·W·N·K·H) binary  (McCormick)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452359" y="3494314"/>
            <a:ext cx="4434840" cy="587828"/>
          </a:xfrm>
          <a:prstGeom prst="rect">
            <a:avLst/>
          </a:prstGeom>
          <a:solidFill>
            <a:srgbClr val="FFFFFF"/>
          </a:solidFill>
          <a:ln w="381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7498079" y="3521746"/>
            <a:ext cx="4343400" cy="5329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None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74320" y="4082142"/>
            <a:ext cx="2743200" cy="587828"/>
          </a:xfrm>
          <a:prstGeom prst="rect">
            <a:avLst/>
          </a:prstGeom>
          <a:solidFill>
            <a:srgbClr val="F0F4F8"/>
          </a:solidFill>
          <a:ln w="381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320040" y="4109574"/>
            <a:ext cx="2651760" cy="5329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Migration variables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017520" y="4082142"/>
            <a:ext cx="4434840" cy="587828"/>
          </a:xfrm>
          <a:prstGeom prst="rect">
            <a:avLst/>
          </a:prstGeom>
          <a:solidFill>
            <a:srgbClr val="F0F4F8"/>
          </a:solidFill>
          <a:ln w="381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3063239" y="4109574"/>
            <a:ext cx="4343400" cy="5329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O(T·W·N·H) binary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452359" y="4082142"/>
            <a:ext cx="4434840" cy="587828"/>
          </a:xfrm>
          <a:prstGeom prst="rect">
            <a:avLst/>
          </a:prstGeom>
          <a:solidFill>
            <a:srgbClr val="F0F4F8"/>
          </a:solidFill>
          <a:ln w="381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7498079" y="4109574"/>
            <a:ext cx="4343400" cy="5329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None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74320" y="4669971"/>
            <a:ext cx="2743200" cy="587828"/>
          </a:xfrm>
          <a:prstGeom prst="rect">
            <a:avLst/>
          </a:prstGeom>
          <a:solidFill>
            <a:srgbClr val="FFFFFF"/>
          </a:solidFill>
          <a:ln w="381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320040" y="4697403"/>
            <a:ext cx="2651760" cy="5329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External data required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017520" y="4669971"/>
            <a:ext cx="4434840" cy="587828"/>
          </a:xfrm>
          <a:prstGeom prst="rect">
            <a:avLst/>
          </a:prstGeom>
          <a:solidFill>
            <a:srgbClr val="FFFFFF"/>
          </a:solidFill>
          <a:ln w="381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3063239" y="4697403"/>
            <a:ext cx="4343400" cy="5329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Σ_r,  d_{i,j,r},  N_{i,t},  η_{k,r},  γ_{i,j},  …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452359" y="4669971"/>
            <a:ext cx="4434840" cy="587828"/>
          </a:xfrm>
          <a:prstGeom prst="rect">
            <a:avLst/>
          </a:prstGeom>
          <a:solidFill>
            <a:srgbClr val="FFFFFF"/>
          </a:solidFill>
          <a:ln w="381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7498079" y="4697403"/>
            <a:ext cx="4343400" cy="5329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u_{i,h}  and  sigma_frac  (one scalar)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74320" y="5394960"/>
            <a:ext cx="11612880" cy="749808"/>
          </a:xfrm>
          <a:prstGeom prst="rect">
            <a:avLst/>
          </a:prstGeom>
          <a:solidFill>
            <a:srgbClr val="E8F0FE"/>
          </a:solidFill>
          <a:ln w="12700">
            <a:solidFill>
              <a:srgbClr val="2A5A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ectangle 50"/>
          <p:cNvSpPr/>
          <p:nvPr/>
        </p:nvSpPr>
        <p:spPr>
          <a:xfrm>
            <a:off x="274320" y="5394960"/>
            <a:ext cx="64008" cy="749808"/>
          </a:xfrm>
          <a:prstGeom prst="rect">
            <a:avLst/>
          </a:prstGeom>
          <a:solidFill>
            <a:srgbClr val="2A5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438912" y="5468112"/>
            <a:ext cx="11338559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2A5A8C"/>
                </a:solidFill>
                <a:latin typeface="Calibri"/>
              </a:rPr>
              <a:t>The model is simpler to solve but not simpler in class. MISOCP complexity is retained through the Cantelli cone — it is just driven by practically obtainable inputs.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2834640"/>
            <a:ext cx="12188952" cy="54864"/>
          </a:xfrm>
          <a:prstGeom prst="rect">
            <a:avLst/>
          </a:prstGeom>
          <a:solidFill>
            <a:srgbClr val="0D6E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0" y="2011680"/>
            <a:ext cx="121889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D6EFD"/>
                </a:solidFill>
                <a:latin typeface="Calibri"/>
              </a:rPr>
              <a:t>PART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2468880"/>
            <a:ext cx="121889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Optimization Layer Status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3291840"/>
            <a:ext cx="121889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CCD6E0"/>
                </a:solidFill>
                <a:latin typeface="Calibri"/>
              </a:rPr>
              <a:t>Current state of all three model layers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6309360"/>
            <a:ext cx="121889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CCD6E0"/>
                </a:solidFill>
                <a:latin typeface="Calibri"/>
              </a:rPr>
              <a:t>Alrick Grandison  |  Capstone Project, Spring 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System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21792"/>
            <a:ext cx="9144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CCD6E0"/>
                </a:solidFill>
                <a:latin typeface="Calibri"/>
              </a:rPr>
              <a:t>How the three layers connect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05840"/>
            <a:ext cx="12188952" cy="36576"/>
          </a:xfrm>
          <a:prstGeom prst="rect">
            <a:avLst/>
          </a:prstGeom>
          <a:solidFill>
            <a:srgbClr val="0D6E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74320" y="658368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6E0"/>
                </a:solidFill>
                <a:latin typeface="Calibri"/>
              </a:rPr>
              <a:t>Alrick Grandison  |  Capstone Project, Spring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21440" y="6583680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CCD6E0"/>
                </a:solidFill>
                <a:latin typeface="Calibri"/>
              </a:rPr>
              <a:t>13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11274552" cy="1024128"/>
          </a:xfrm>
          <a:prstGeom prst="rect">
            <a:avLst/>
          </a:prstGeom>
          <a:solidFill>
            <a:srgbClr val="E8F0FE"/>
          </a:solidFill>
          <a:ln w="12700">
            <a:solidFill>
              <a:srgbClr val="2A5A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57200" y="1170432"/>
            <a:ext cx="73152" cy="1024128"/>
          </a:xfrm>
          <a:prstGeom prst="rect">
            <a:avLst/>
          </a:prstGeom>
          <a:solidFill>
            <a:srgbClr val="2A5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58368" y="1243584"/>
            <a:ext cx="10515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A5A8C"/>
                </a:solidFill>
                <a:latin typeface="Calibri"/>
              </a:rPr>
              <a:t>PREDICTION LAYER  (teammates)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1609344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Time-series forecast  →  u[i,h]  per tenant per planning period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160" y="2194560"/>
            <a:ext cx="548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1A3A5C"/>
                </a:solidFill>
                <a:latin typeface="Calibri"/>
              </a:rPr>
              <a:t>▼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450592"/>
            <a:ext cx="11274552" cy="1024128"/>
          </a:xfrm>
          <a:prstGeom prst="rect">
            <a:avLst/>
          </a:prstGeom>
          <a:solidFill>
            <a:srgbClr val="E6F4EA"/>
          </a:solidFill>
          <a:ln w="12700">
            <a:solidFill>
              <a:srgbClr val="1E7E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57200" y="2450592"/>
            <a:ext cx="73152" cy="1024128"/>
          </a:xfrm>
          <a:prstGeom prst="rect">
            <a:avLst/>
          </a:prstGeom>
          <a:solidFill>
            <a:srgbClr val="1E7E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58368" y="2523744"/>
            <a:ext cx="10515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E7E34"/>
                </a:solidFill>
                <a:latin typeface="Calibri"/>
              </a:rPr>
              <a:t>PLAN-AHEAD MODEL  (MISOCP — Gurobi)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889504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Solved once per planning horizon  →  TenantAccessSchedule (priority hints  y[i,n,h])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52160" y="3474720"/>
            <a:ext cx="548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1A3A5C"/>
                </a:solidFill>
                <a:latin typeface="Calibri"/>
              </a:rPr>
              <a:t>▼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3730752"/>
            <a:ext cx="11274552" cy="1024128"/>
          </a:xfrm>
          <a:prstGeom prst="rect">
            <a:avLst/>
          </a:prstGeom>
          <a:solidFill>
            <a:srgbClr val="FFF3CD"/>
          </a:solidFill>
          <a:ln w="12700">
            <a:solidFill>
              <a:srgbClr val="8565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57200" y="3730752"/>
            <a:ext cx="73152" cy="1024128"/>
          </a:xfrm>
          <a:prstGeom prst="rect">
            <a:avLst/>
          </a:prstGeom>
          <a:solidFill>
            <a:srgbClr val="8565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58368" y="3803904"/>
            <a:ext cx="10515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856504"/>
                </a:solidFill>
                <a:latin typeface="Calibri"/>
              </a:rPr>
              <a:t>REAL-TIME MODEL  (MILP — OR-Tools / CBC)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4169664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Solved every scheduling epoch  →  placement decisions  x[j,n]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52160" y="4754880"/>
            <a:ext cx="548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1A3A5C"/>
                </a:solidFill>
                <a:latin typeface="Calibri"/>
              </a:rPr>
              <a:t>▼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5010912"/>
            <a:ext cx="11274552" cy="1024128"/>
          </a:xfrm>
          <a:prstGeom prst="rect">
            <a:avLst/>
          </a:prstGeom>
          <a:solidFill>
            <a:srgbClr val="F0F4F8"/>
          </a:solidFill>
          <a:ln w="12700">
            <a:solidFill>
              <a:srgbClr val="1A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457200" y="5010912"/>
            <a:ext cx="73152" cy="1024128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58368" y="5084064"/>
            <a:ext cx="10515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A3A5C"/>
                </a:solidFill>
                <a:latin typeface="Calibri"/>
              </a:rPr>
              <a:t>SIMULATION  (FastAPI + React)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5449824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Interactive step-by-step execution with live dashboard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4320" y="6263640"/>
            <a:ext cx="11612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2A5A8C"/>
                </a:solidFill>
                <a:latin typeface="Calibri"/>
              </a:rPr>
              <a:t>Plug-in point: replace  build_synthetic_data()  with prediction model output. Interface contract:  dict[(tenant_id, period) → float]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Plan-Ahead Model — Current State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88952" cy="36576"/>
          </a:xfrm>
          <a:prstGeom prst="rect">
            <a:avLst/>
          </a:prstGeom>
          <a:solidFill>
            <a:srgbClr val="0D6E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658368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6E0"/>
                </a:solidFill>
                <a:latin typeface="Calibri"/>
              </a:rPr>
              <a:t>Alrick Grandison  |  Capstone Project, Spring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583680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CCD6E0"/>
                </a:solidFill>
                <a:latin typeface="Calibri"/>
              </a:rPr>
              <a:t>14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170432"/>
            <a:ext cx="822960" cy="256032"/>
          </a:xfrm>
          <a:prstGeom prst="rect">
            <a:avLst/>
          </a:prstGeom>
          <a:solidFill>
            <a:srgbClr val="E6F4EA"/>
          </a:solidFill>
          <a:ln w="6350">
            <a:solidFill>
              <a:srgbClr val="1E7E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29184" y="1197864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E7E34"/>
                </a:solidFill>
                <a:latin typeface="Calibri"/>
              </a:rPr>
              <a:t>✓  Implemented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88720" y="1170432"/>
            <a:ext cx="822960" cy="256032"/>
          </a:xfrm>
          <a:prstGeom prst="rect">
            <a:avLst/>
          </a:prstGeom>
          <a:solidFill>
            <a:srgbClr val="E6F4EA"/>
          </a:solidFill>
          <a:ln w="6350">
            <a:solidFill>
              <a:srgbClr val="1E7E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243584" y="1197864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E7E34"/>
                </a:solidFill>
                <a:latin typeface="Calibri"/>
              </a:rPr>
              <a:t>✓  Tested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48840" y="1188720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2A5A8C"/>
                </a:solidFill>
                <a:latin typeface="Calibri"/>
              </a:rPr>
              <a:t>plan_ahead_optimizer.py  (Gurobi MISOCP)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1572768"/>
            <a:ext cx="2926080" cy="391885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20040" y="1600200"/>
            <a:ext cx="2834640" cy="3370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Variable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0" y="1572768"/>
            <a:ext cx="8686800" cy="391885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246120" y="1600200"/>
            <a:ext cx="8595360" cy="3370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Description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1964653"/>
            <a:ext cx="2926080" cy="391885"/>
          </a:xfrm>
          <a:prstGeom prst="rect">
            <a:avLst/>
          </a:prstGeom>
          <a:solidFill>
            <a:srgbClr val="F0F4F8"/>
          </a:solidFill>
          <a:ln w="381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20040" y="1992085"/>
            <a:ext cx="2834640" cy="3370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f[i,n,h] &gt;= 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0" y="1964653"/>
            <a:ext cx="8686800" cy="391885"/>
          </a:xfrm>
          <a:prstGeom prst="rect">
            <a:avLst/>
          </a:prstGeom>
          <a:solidFill>
            <a:srgbClr val="F0F4F8"/>
          </a:solidFill>
          <a:ln w="381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246120" y="1992085"/>
            <a:ext cx="8595360" cy="3370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Continuous allocation of node n capacity to tenant i in period h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2356539"/>
            <a:ext cx="2926080" cy="391885"/>
          </a:xfrm>
          <a:prstGeom prst="rect">
            <a:avLst/>
          </a:prstGeom>
          <a:solidFill>
            <a:srgbClr val="FFFFFF"/>
          </a:solidFill>
          <a:ln w="381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20040" y="2383971"/>
            <a:ext cx="2834640" cy="3370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y[i,n,h] in {0,1}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00400" y="2356539"/>
            <a:ext cx="8686800" cy="391885"/>
          </a:xfrm>
          <a:prstGeom prst="rect">
            <a:avLst/>
          </a:prstGeom>
          <a:solidFill>
            <a:srgbClr val="FFFFFF"/>
          </a:solidFill>
          <a:ln w="381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246120" y="2383971"/>
            <a:ext cx="8595360" cy="3370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Priority indicator — primary output; forms TenantAccessSchedule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2748425"/>
            <a:ext cx="2926080" cy="391885"/>
          </a:xfrm>
          <a:prstGeom prst="rect">
            <a:avLst/>
          </a:prstGeom>
          <a:solidFill>
            <a:srgbClr val="F0F4F8"/>
          </a:solidFill>
          <a:ln w="381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320040" y="2775857"/>
            <a:ext cx="2834640" cy="3370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z[n,h]   in {0,1}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00400" y="2748425"/>
            <a:ext cx="8686800" cy="391885"/>
          </a:xfrm>
          <a:prstGeom prst="rect">
            <a:avLst/>
          </a:prstGeom>
          <a:solidFill>
            <a:srgbClr val="F0F4F8"/>
          </a:solidFill>
          <a:ln w="381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3246120" y="2775857"/>
            <a:ext cx="8595360" cy="3370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Node activation indicator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4320" y="3140310"/>
            <a:ext cx="2926080" cy="391885"/>
          </a:xfrm>
          <a:prstGeom prst="rect">
            <a:avLst/>
          </a:prstGeom>
          <a:solidFill>
            <a:srgbClr val="FFFFFF"/>
          </a:solidFill>
          <a:ln w="381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320040" y="3167742"/>
            <a:ext cx="2834640" cy="3370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t[n,h]   &gt;= 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200400" y="3140310"/>
            <a:ext cx="8686800" cy="391885"/>
          </a:xfrm>
          <a:prstGeom prst="rect">
            <a:avLst/>
          </a:prstGeom>
          <a:solidFill>
            <a:srgbClr val="FFFFFF"/>
          </a:solidFill>
          <a:ln w="381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3246120" y="3167742"/>
            <a:ext cx="8595360" cy="3370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Cantelli slack (SOCP mode only)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3532196"/>
            <a:ext cx="2926080" cy="391885"/>
          </a:xfrm>
          <a:prstGeom prst="rect">
            <a:avLst/>
          </a:prstGeom>
          <a:solidFill>
            <a:srgbClr val="F0F4F8"/>
          </a:solidFill>
          <a:ln w="381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320040" y="3559628"/>
            <a:ext cx="2834640" cy="3370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a[i]     in {0,1}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200400" y="3532196"/>
            <a:ext cx="8686800" cy="391885"/>
          </a:xfrm>
          <a:prstGeom prst="rect">
            <a:avLst/>
          </a:prstGeom>
          <a:solidFill>
            <a:srgbClr val="F0F4F8"/>
          </a:solidFill>
          <a:ln w="381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3246120" y="3559628"/>
            <a:ext cx="8595360" cy="3370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Tenant admission indicator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74320" y="3924082"/>
            <a:ext cx="2926080" cy="391885"/>
          </a:xfrm>
          <a:prstGeom prst="rect">
            <a:avLst/>
          </a:prstGeom>
          <a:solidFill>
            <a:srgbClr val="FFFFFF"/>
          </a:solidFill>
          <a:ln w="381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320040" y="3951514"/>
            <a:ext cx="2834640" cy="3370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sigma    in [0,1]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200400" y="3924082"/>
            <a:ext cx="8686800" cy="391885"/>
          </a:xfrm>
          <a:prstGeom prst="rect">
            <a:avLst/>
          </a:prstGeom>
          <a:solidFill>
            <a:srgbClr val="FFFFFF"/>
          </a:solidFill>
          <a:ln w="381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3246120" y="3951514"/>
            <a:ext cx="8595360" cy="3370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Fairness auxiliary: min demand-satisfaction ratio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74320" y="4434840"/>
            <a:ext cx="5486400" cy="1828800"/>
          </a:xfrm>
          <a:prstGeom prst="rect">
            <a:avLst/>
          </a:prstGeom>
          <a:solidFill>
            <a:srgbClr val="F0F4F8"/>
          </a:solidFill>
          <a:ln w="635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384048" y="4544568"/>
            <a:ext cx="5266944" cy="1609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A3A5C"/>
                </a:solidFill>
                <a:latin typeface="Calibri"/>
              </a:rPr>
              <a:t>Constraints</a:t>
            </a:r>
          </a:p>
          <a:p>
            <a:pPr algn="l"/>
            <a:r>
              <a:rPr sz="1300">
                <a:solidFill>
                  <a:srgbClr val="1A1A2E"/>
                </a:solidFill>
                <a:latin typeface="Calibri"/>
              </a:rPr>
              <a:t>  •  C1a: capacity with safety buffer</a:t>
            </a:r>
          </a:p>
          <a:p>
            <a:pPr algn="l"/>
            <a:r>
              <a:rPr sz="1300">
                <a:solidFill>
                  <a:srgbClr val="1A1A2E"/>
                </a:solidFill>
                <a:latin typeface="Calibri"/>
              </a:rPr>
              <a:t>  •  C1b: cone — sum_i σ²_{i,h} · y_{i,n,h} ≤ t_{n,h}²</a:t>
            </a:r>
          </a:p>
          <a:p>
            <a:pPr algn="l"/>
            <a:r>
              <a:rPr sz="1300">
                <a:solidFill>
                  <a:srgbClr val="1A1A2E"/>
                </a:solidFill>
                <a:latin typeface="Calibri"/>
              </a:rPr>
              <a:t>  •  C2: priority link (f ≤ C[n] · y)</a:t>
            </a:r>
          </a:p>
          <a:p>
            <a:pPr algn="l"/>
            <a:r>
              <a:rPr sz="1300">
                <a:solidFill>
                  <a:srgbClr val="1A1A2E"/>
                </a:solidFill>
                <a:latin typeface="Calibri"/>
              </a:rPr>
              <a:t>  •  C3: demand satisfaction  (sum_n f ≥ u · a)</a:t>
            </a:r>
          </a:p>
          <a:p>
            <a:pPr algn="l"/>
            <a:r>
              <a:rPr sz="1300">
                <a:solidFill>
                  <a:srgbClr val="1A1A2E"/>
                </a:solidFill>
                <a:latin typeface="Calibri"/>
              </a:rPr>
              <a:t>  •  C4: fairness (min demand-satisfaction ratio)</a:t>
            </a:r>
          </a:p>
          <a:p>
            <a:pPr algn="l"/>
            <a:r>
              <a:rPr sz="1300">
                <a:solidFill>
                  <a:srgbClr val="1A1A2E"/>
                </a:solidFill>
                <a:latin typeface="Calibri"/>
              </a:rPr>
              <a:t>  •  C5: node activation  (z ≥ y)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943600" y="4434840"/>
            <a:ext cx="5943600" cy="1828800"/>
          </a:xfrm>
          <a:prstGeom prst="rect">
            <a:avLst/>
          </a:prstGeom>
          <a:solidFill>
            <a:srgbClr val="E8F0FE"/>
          </a:solidFill>
          <a:ln w="635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053328" y="4544568"/>
            <a:ext cx="5724144" cy="1609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A3A5C"/>
                </a:solidFill>
                <a:latin typeface="Calibri"/>
              </a:rPr>
              <a:t>Notes</a:t>
            </a:r>
          </a:p>
          <a:p>
            <a:pPr algn="l"/>
            <a:r>
              <a:rPr sz="1300">
                <a:solidFill>
                  <a:srgbClr val="1A1A2E"/>
                </a:solidFill>
                <a:latin typeface="Calibri"/>
              </a:rPr>
              <a:t>  •  Output: TenantAccessSchedule  —  dict[(i,h) → [node_ids]]</a:t>
            </a:r>
          </a:p>
          <a:p>
            <a:pPr algn="l"/>
            <a:r>
              <a:rPr sz="1300">
                <a:solidFill>
                  <a:srgbClr val="1A1A2E"/>
                </a:solidFill>
                <a:latin typeface="Calibri"/>
              </a:rPr>
              <a:t>  •  use_socp=True  (default): full MISOCP, probabilistic guarantee</a:t>
            </a:r>
          </a:p>
          <a:p>
            <a:pPr algn="l"/>
            <a:r>
              <a:rPr sz="1300">
                <a:solidFill>
                  <a:srgbClr val="1A1A2E"/>
                </a:solidFill>
                <a:latin typeface="Calibri"/>
              </a:rPr>
              <a:t>  •  use_socp=False: plain MILP, simulation-speed fallback</a:t>
            </a:r>
          </a:p>
          <a:p>
            <a:pPr algn="l"/>
            <a:r>
              <a:rPr sz="1300">
                <a:solidFill>
                  <a:srgbClr val="1A1A2E"/>
                </a:solidFill>
                <a:latin typeface="Calibri"/>
              </a:rPr>
              <a:t>  •  Sensitivity analysis complete  (plan_ahead_sensitivity.py)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Real-Time Model — Current State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88952" cy="36576"/>
          </a:xfrm>
          <a:prstGeom prst="rect">
            <a:avLst/>
          </a:prstGeom>
          <a:solidFill>
            <a:srgbClr val="0D6E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658368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6E0"/>
                </a:solidFill>
                <a:latin typeface="Calibri"/>
              </a:rPr>
              <a:t>Alrick Grandison  |  Capstone Project, Spring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583680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CCD6E0"/>
                </a:solidFill>
                <a:latin typeface="Calibri"/>
              </a:rPr>
              <a:t>15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170432"/>
            <a:ext cx="822960" cy="256032"/>
          </a:xfrm>
          <a:prstGeom prst="rect">
            <a:avLst/>
          </a:prstGeom>
          <a:solidFill>
            <a:srgbClr val="E6F4EA"/>
          </a:solidFill>
          <a:ln w="6350">
            <a:solidFill>
              <a:srgbClr val="1E7E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29184" y="1197864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E7E34"/>
                </a:solidFill>
                <a:latin typeface="Calibri"/>
              </a:rPr>
              <a:t>✓  Implemented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88720" y="1170432"/>
            <a:ext cx="822960" cy="256032"/>
          </a:xfrm>
          <a:prstGeom prst="rect">
            <a:avLst/>
          </a:prstGeom>
          <a:solidFill>
            <a:srgbClr val="E6F4EA"/>
          </a:solidFill>
          <a:ln w="6350">
            <a:solidFill>
              <a:srgbClr val="1E7E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243584" y="1197864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E7E34"/>
                </a:solidFill>
                <a:latin typeface="Calibri"/>
              </a:rPr>
              <a:t>✓  Tested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48840" y="1188720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2A5A8C"/>
                </a:solidFill>
                <a:latin typeface="Calibri"/>
              </a:rPr>
              <a:t>optimizer_google_or.py  (OR-Tools / CBC)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" y="1572768"/>
            <a:ext cx="1161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A3A5C"/>
                </a:solidFill>
                <a:latin typeface="Calibri"/>
              </a:rPr>
              <a:t>Objective (maximise):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" y="1892807"/>
            <a:ext cx="11612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2E"/>
                </a:solidFill>
                <a:latin typeface="Calibri"/>
              </a:rPr>
              <a:t>max  sum_{j,n}  omega_{delay,t(j)} · P_j_mem · u_n_mem · sigma_n_consolid · b_{t(j),n} · x[j,n]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" y="2240280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1A1A2E"/>
                </a:solidFill>
                <a:latin typeface="Calibri"/>
              </a:rPr>
              <a:t>where  b_{t(j),n} = 2.0  if n in plan-ahead priority set,  else  1.0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2651760"/>
            <a:ext cx="1097280" cy="384048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20040" y="2679191"/>
            <a:ext cx="10058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Constraint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371600" y="2651760"/>
            <a:ext cx="10515600" cy="384048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417320" y="2679191"/>
            <a:ext cx="10424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Description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3035808"/>
            <a:ext cx="1097280" cy="384048"/>
          </a:xfrm>
          <a:prstGeom prst="rect">
            <a:avLst/>
          </a:prstGeom>
          <a:solidFill>
            <a:srgbClr val="F0F4F8"/>
          </a:solidFill>
          <a:ln w="381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20040" y="3063239"/>
            <a:ext cx="10058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C1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371600" y="3035808"/>
            <a:ext cx="10515600" cy="384048"/>
          </a:xfrm>
          <a:prstGeom prst="rect">
            <a:avLst/>
          </a:prstGeom>
          <a:solidFill>
            <a:srgbClr val="F0F4F8"/>
          </a:solidFill>
          <a:ln w="381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417320" y="3063239"/>
            <a:ext cx="10424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At most one node per job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3419856"/>
            <a:ext cx="1097280" cy="384048"/>
          </a:xfrm>
          <a:prstGeom prst="rect">
            <a:avLst/>
          </a:prstGeom>
          <a:solidFill>
            <a:srgbClr val="FFFFFF"/>
          </a:solidFill>
          <a:ln w="381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20040" y="3447288"/>
            <a:ext cx="10058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C2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371600" y="3419856"/>
            <a:ext cx="10515600" cy="384048"/>
          </a:xfrm>
          <a:prstGeom prst="rect">
            <a:avLst/>
          </a:prstGeom>
          <a:solidFill>
            <a:srgbClr val="FFFFFF"/>
          </a:solidFill>
          <a:ln w="381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417320" y="3447288"/>
            <a:ext cx="10424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Memory capacity ≤ M_n_eff = M_n_cap - U_n - v_bar_n · M_n_cap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" y="3803904"/>
            <a:ext cx="1097280" cy="384048"/>
          </a:xfrm>
          <a:prstGeom prst="rect">
            <a:avLst/>
          </a:prstGeom>
          <a:solidFill>
            <a:srgbClr val="F0F4F8"/>
          </a:solidFill>
          <a:ln w="381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320040" y="3831336"/>
            <a:ext cx="10058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C4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371600" y="3803904"/>
            <a:ext cx="10515600" cy="384048"/>
          </a:xfrm>
          <a:prstGeom prst="rect">
            <a:avLst/>
          </a:prstGeom>
          <a:solidFill>
            <a:srgbClr val="F0F4F8"/>
          </a:solidFill>
          <a:ln w="381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417320" y="3831336"/>
            <a:ext cx="10424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CPU fitment pre-filter (x[j,n]=0 if job CPU &gt; node cores)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4187952"/>
            <a:ext cx="1097280" cy="384048"/>
          </a:xfrm>
          <a:prstGeom prst="rect">
            <a:avLst/>
          </a:prstGeom>
          <a:solidFill>
            <a:srgbClr val="FFFFFF"/>
          </a:solidFill>
          <a:ln w="381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320040" y="4215384"/>
            <a:ext cx="10058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C5 (soft)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371600" y="4187952"/>
            <a:ext cx="10515600" cy="384048"/>
          </a:xfrm>
          <a:prstGeom prst="rect">
            <a:avLst/>
          </a:prstGeom>
          <a:solidFill>
            <a:srgbClr val="FFFFFF"/>
          </a:solidFill>
          <a:ln w="381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1417320" y="4215384"/>
            <a:ext cx="10424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Priority boost: b=2.0 for plan-ahead-endorsed (tenant, node) pairs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" y="4709160"/>
            <a:ext cx="11612880" cy="1417320"/>
          </a:xfrm>
          <a:prstGeom prst="rect">
            <a:avLst/>
          </a:prstGeom>
          <a:solidFill>
            <a:srgbClr val="F0F4F8"/>
          </a:solidFill>
          <a:ln w="635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384048" y="4818888"/>
            <a:ext cx="11393424" cy="1197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A3A5C"/>
                </a:solidFill>
                <a:latin typeface="Calibri"/>
              </a:rPr>
              <a:t>Active Feedback Loops</a:t>
            </a:r>
          </a:p>
          <a:p>
            <a:pPr algn="l"/>
            <a:r>
              <a:rPr sz="1300">
                <a:solidFill>
                  <a:srgbClr val="1A1A2E"/>
                </a:solidFill>
                <a:latin typeface="Calibri"/>
              </a:rPr>
              <a:t>  •  SLA violation rate v_bar_n: shrinks effective capacity on struggling nodes</a:t>
            </a:r>
          </a:p>
          <a:p>
            <a:pPr algn="l"/>
            <a:r>
              <a:rPr sz="1300">
                <a:solidFill>
                  <a:srgbClr val="1A1A2E"/>
                </a:solidFill>
                <a:latin typeface="Calibri"/>
              </a:rPr>
              <a:t>  •  Tenant delay weight omega_{delay,t}: boosts priority for tenants with long queue waits</a:t>
            </a:r>
          </a:p>
          <a:p>
            <a:pPr algn="l"/>
            <a:r>
              <a:rPr sz="1300">
                <a:solidFill>
                  <a:srgbClr val="1A1A2E"/>
                </a:solidFill>
                <a:latin typeface="Calibri"/>
              </a:rPr>
              <a:t>  •  Both updated every scheduling epoch — continuous closed-loop feedback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Pipeline — How the Layers Connect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88952" cy="36576"/>
          </a:xfrm>
          <a:prstGeom prst="rect">
            <a:avLst/>
          </a:prstGeom>
          <a:solidFill>
            <a:srgbClr val="0D6E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658368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6E0"/>
                </a:solidFill>
                <a:latin typeface="Calibri"/>
              </a:rPr>
              <a:t>Alrick Grandison  |  Capstone Project, Spring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583680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CCD6E0"/>
                </a:solidFill>
                <a:latin typeface="Calibri"/>
              </a:rPr>
              <a:t>16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170432"/>
            <a:ext cx="822960" cy="256032"/>
          </a:xfrm>
          <a:prstGeom prst="rect">
            <a:avLst/>
          </a:prstGeom>
          <a:solidFill>
            <a:srgbClr val="E6F4EA"/>
          </a:solidFill>
          <a:ln w="6350">
            <a:solidFill>
              <a:srgbClr val="1E7E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29184" y="1197864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E7E34"/>
                </a:solidFill>
                <a:latin typeface="Calibri"/>
              </a:rPr>
              <a:t>✓  Implemented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1188720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2A5A8C"/>
                </a:solidFill>
                <a:latin typeface="Calibri"/>
              </a:rPr>
              <a:t>Pipeline/interface.py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1572768"/>
            <a:ext cx="548640" cy="86868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74320" y="1755648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1572768"/>
            <a:ext cx="11091672" cy="868680"/>
          </a:xfrm>
          <a:prstGeom prst="rect">
            <a:avLst/>
          </a:prstGeom>
          <a:solidFill>
            <a:srgbClr val="F0F4F8"/>
          </a:solidFill>
          <a:ln w="381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60120" y="1636776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3A5C"/>
                </a:solidFill>
                <a:latin typeface="Calibri"/>
              </a:rPr>
              <a:t>build_synthetic_data()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1984248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Generates u[i,h] as placeholders ← PLUG-IN POINT for prediction team output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2487168"/>
            <a:ext cx="548640" cy="86868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74320" y="2670048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2487168"/>
            <a:ext cx="11091672" cy="868680"/>
          </a:xfrm>
          <a:prstGeom prst="rect">
            <a:avLst/>
          </a:prstGeom>
          <a:solidFill>
            <a:srgbClr val="F0F4F8"/>
          </a:solidFill>
          <a:ln w="381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60120" y="2551175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3A5C"/>
                </a:solidFill>
                <a:latin typeface="Calibri"/>
              </a:rPr>
              <a:t>Plan-Ahead MISOCP (Gurobi)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2898648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Solves over horizon H → TenantAccessSchedule:  dict[(tenant_id, h) → [node_ids]]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3401568"/>
            <a:ext cx="548640" cy="86868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274320" y="3584448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3401568"/>
            <a:ext cx="11091672" cy="868680"/>
          </a:xfrm>
          <a:prstGeom prst="rect">
            <a:avLst/>
          </a:prstGeom>
          <a:solidFill>
            <a:srgbClr val="F0F4F8"/>
          </a:solidFill>
          <a:ln w="381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60120" y="3465575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3A5C"/>
                </a:solidFill>
                <a:latin typeface="Calibri"/>
              </a:rPr>
              <a:t>schedule_to_leases()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" y="3813048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Compresses contiguous same-node periods into TenantLease objects (cleaner period tracking)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4315968"/>
            <a:ext cx="548640" cy="86868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274320" y="4498848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2960" y="4315968"/>
            <a:ext cx="11091672" cy="868680"/>
          </a:xfrm>
          <a:prstGeom prst="rect">
            <a:avLst/>
          </a:prstGeom>
          <a:solidFill>
            <a:srgbClr val="F0F4F8"/>
          </a:solidFill>
          <a:ln w="381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960120" y="4379976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3A5C"/>
                </a:solidFill>
                <a:latin typeface="Calibri"/>
              </a:rPr>
              <a:t>filter_active_access(schedule, current_period)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" y="4727448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Slices TenantAccessSchedule to current planning period → dict[tenant_id → [node_ids]]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4320" y="5230368"/>
            <a:ext cx="548640" cy="86868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274320" y="5413248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2960" y="5230368"/>
            <a:ext cx="11091672" cy="868680"/>
          </a:xfrm>
          <a:prstGeom prst="rect">
            <a:avLst/>
          </a:prstGeom>
          <a:solidFill>
            <a:srgbClr val="F0F4F8"/>
          </a:solidFill>
          <a:ln w="381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960120" y="5294376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3A5C"/>
                </a:solidFill>
                <a:latin typeface="Calibri"/>
              </a:rPr>
              <a:t>Real-Time Model (OR-Tools)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0120" y="5641848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Receives active priority hints, applies PRIORITY_BOOST=2.0, places jobs, returns node states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" y="6291072"/>
            <a:ext cx="11612880" cy="530352"/>
          </a:xfrm>
          <a:prstGeom prst="rect">
            <a:avLst/>
          </a:prstGeom>
          <a:solidFill>
            <a:srgbClr val="E8F0FE"/>
          </a:solidFill>
          <a:ln w="12700">
            <a:solidFill>
              <a:srgbClr val="2A5A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274320" y="6291072"/>
            <a:ext cx="64008" cy="530352"/>
          </a:xfrm>
          <a:prstGeom prst="rect">
            <a:avLst/>
          </a:prstGeom>
          <a:solidFill>
            <a:srgbClr val="2A5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438912" y="6364224"/>
            <a:ext cx="11338559" cy="3840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2A5A8C"/>
                </a:solidFill>
                <a:latin typeface="Calibri"/>
              </a:rPr>
              <a:t>Plug-in contract for prediction team:  dict[(tenant_id: int, period: int) → float]
Assign to  P['u']  before calling  build_model(P, env).  No other changes required.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Simulation — Current State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88952" cy="36576"/>
          </a:xfrm>
          <a:prstGeom prst="rect">
            <a:avLst/>
          </a:prstGeom>
          <a:solidFill>
            <a:srgbClr val="0D6E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658368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6E0"/>
                </a:solidFill>
                <a:latin typeface="Calibri"/>
              </a:rPr>
              <a:t>Alrick Grandison  |  Capstone Project, Spring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583680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CCD6E0"/>
                </a:solidFill>
                <a:latin typeface="Calibri"/>
              </a:rPr>
              <a:t>17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170432"/>
            <a:ext cx="822960" cy="256032"/>
          </a:xfrm>
          <a:prstGeom prst="rect">
            <a:avLst/>
          </a:prstGeom>
          <a:solidFill>
            <a:srgbClr val="E6F4EA"/>
          </a:solidFill>
          <a:ln w="6350">
            <a:solidFill>
              <a:srgbClr val="1E7E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29184" y="1197864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E7E34"/>
                </a:solidFill>
                <a:latin typeface="Calibri"/>
              </a:rPr>
              <a:t>✓  Running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1188720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2A5A8C"/>
                </a:solidFill>
                <a:latin typeface="Calibri"/>
              </a:rPr>
              <a:t>FastAPI backend  +  React frontend  (Simulation/)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1572768"/>
            <a:ext cx="5577840" cy="2743200"/>
          </a:xfrm>
          <a:prstGeom prst="rect">
            <a:avLst/>
          </a:prstGeom>
          <a:solidFill>
            <a:srgbClr val="F0F4F8"/>
          </a:solidFill>
          <a:ln w="635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84048" y="1682495"/>
            <a:ext cx="5358383" cy="2523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A3A5C"/>
                </a:solidFill>
                <a:latin typeface="Calibri"/>
              </a:rPr>
              <a:t>What It Does</a:t>
            </a:r>
          </a:p>
          <a:p>
            <a:pPr algn="l"/>
            <a:r>
              <a:rPr sz="1300">
                <a:solidFill>
                  <a:srgbClr val="1A1A2E"/>
                </a:solidFill>
                <a:latin typeface="Calibri"/>
              </a:rPr>
              <a:t>  •  Manages a live job queue with per-tenant arrival rates</a:t>
            </a:r>
          </a:p>
          <a:p>
            <a:pPr algn="l"/>
            <a:r>
              <a:rPr sz="1300">
                <a:solidFill>
                  <a:srgbClr val="1A1A2E"/>
                </a:solidFill>
                <a:latin typeface="Calibri"/>
              </a:rPr>
              <a:t>  •  Runs the real-time MILP every step (configurable step size)</a:t>
            </a:r>
          </a:p>
          <a:p>
            <a:pPr algn="l"/>
            <a:r>
              <a:rPr sz="1300">
                <a:solidFill>
                  <a:srgbClr val="1A1A2E"/>
                </a:solidFill>
                <a:latin typeface="Calibri"/>
              </a:rPr>
              <a:t>  •  Fires the plan-ahead MISOCP every plan_ahead_interval steps (default: 50)</a:t>
            </a:r>
          </a:p>
          <a:p>
            <a:pPr algn="l"/>
            <a:r>
              <a:rPr sz="1300">
                <a:solidFill>
                  <a:srgbClr val="1A1A2E"/>
                </a:solidFill>
                <a:latin typeface="Calibri"/>
              </a:rPr>
              <a:t>  •  Tracks per-node memory usage, SLA violation rates, tenant wait times</a:t>
            </a:r>
          </a:p>
          <a:p>
            <a:pPr algn="l"/>
            <a:r>
              <a:rPr sz="1300">
                <a:solidFill>
                  <a:srgbClr val="1A1A2E"/>
                </a:solidFill>
                <a:latin typeface="Calibri"/>
              </a:rPr>
              <a:t>  •  REST API: GET /api/state,  POST /api/step,  POST /api/reset,  POST /api/config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35040" y="1572768"/>
            <a:ext cx="5879592" cy="2743200"/>
          </a:xfrm>
          <a:prstGeom prst="rect">
            <a:avLst/>
          </a:prstGeom>
          <a:solidFill>
            <a:srgbClr val="E8F0FE"/>
          </a:solidFill>
          <a:ln w="635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144768" y="1682495"/>
            <a:ext cx="5660136" cy="2523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A3A5C"/>
                </a:solidFill>
                <a:latin typeface="Calibri"/>
              </a:rPr>
              <a:t>Dashboard Shows (live)</a:t>
            </a:r>
          </a:p>
          <a:p>
            <a:pPr algn="l"/>
            <a:r>
              <a:rPr sz="1300">
                <a:solidFill>
                  <a:srgbClr val="1A1A2E"/>
                </a:solidFill>
                <a:latin typeface="Calibri"/>
              </a:rPr>
              <a:t>  •  Node utilization over time (rolling history)</a:t>
            </a:r>
          </a:p>
          <a:p>
            <a:pPr algn="l"/>
            <a:r>
              <a:rPr sz="1300">
                <a:solidFill>
                  <a:srgbClr val="1A1A2E"/>
                </a:solidFill>
                <a:latin typeface="Calibri"/>
              </a:rPr>
              <a:t>  •  Queue depth per tenant</a:t>
            </a:r>
          </a:p>
          <a:p>
            <a:pPr algn="l"/>
            <a:r>
              <a:rPr sz="1300">
                <a:solidFill>
                  <a:srgbClr val="1A1A2E"/>
                </a:solidFill>
                <a:latin typeface="Calibri"/>
              </a:rPr>
              <a:t>  •  Placed vs rejected jobs per batch</a:t>
            </a:r>
          </a:p>
          <a:p>
            <a:pPr algn="l"/>
            <a:r>
              <a:rPr sz="1300">
                <a:solidFill>
                  <a:srgbClr val="1A1A2E"/>
                </a:solidFill>
                <a:latin typeface="Calibri"/>
              </a:rPr>
              <a:t>  •  Plan-ahead priority assignments (tenant → nodes)</a:t>
            </a:r>
          </a:p>
          <a:p>
            <a:pPr algn="l"/>
            <a:r>
              <a:rPr sz="1300">
                <a:solidFill>
                  <a:srgbClr val="1A1A2E"/>
                </a:solidFill>
                <a:latin typeface="Calibri"/>
              </a:rPr>
              <a:t>  •  SLA violation rate per node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4453128"/>
            <a:ext cx="11640312" cy="1737360"/>
          </a:xfrm>
          <a:prstGeom prst="rect">
            <a:avLst/>
          </a:prstGeom>
          <a:solidFill>
            <a:srgbClr val="F0F4F8"/>
          </a:solidFill>
          <a:ln w="635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84048" y="4562856"/>
            <a:ext cx="11420856" cy="1517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A3A5C"/>
                </a:solidFill>
                <a:latin typeface="Calibri"/>
              </a:rPr>
              <a:t>Simulation Mechanics</a:t>
            </a:r>
          </a:p>
          <a:p>
            <a:pPr algn="l"/>
            <a:r>
              <a:rPr sz="1300">
                <a:solidFill>
                  <a:srgbClr val="1A1A2E"/>
                </a:solidFill>
                <a:latin typeface="Calibri"/>
              </a:rPr>
              <a:t>  •  Per-job lifetimes replace old fractional memory release — accurate per-job lifecycle</a:t>
            </a:r>
          </a:p>
          <a:p>
            <a:pPr algn="l"/>
            <a:r>
              <a:rPr sz="1300">
                <a:solidFill>
                  <a:srgbClr val="1A1A2E"/>
                </a:solidFill>
                <a:latin typeface="Calibri"/>
              </a:rPr>
              <a:t>  •  Actual memory = predicted × (1 + spike_frac) — tests robustness to demand spikes</a:t>
            </a:r>
          </a:p>
          <a:p>
            <a:pPr algn="l"/>
            <a:r>
              <a:rPr sz="1300">
                <a:solidFill>
                  <a:srgbClr val="1A1A2E"/>
                </a:solidFill>
                <a:latin typeface="Calibri"/>
              </a:rPr>
              <a:t>  •  Simulated clock advances BATCH_DURATION_SEC per step</a:t>
            </a:r>
          </a:p>
          <a:p>
            <a:pPr algn="l"/>
            <a:r>
              <a:rPr sz="1300">
                <a:solidFill>
                  <a:srgbClr val="1A1A2E"/>
                </a:solidFill>
                <a:latin typeface="Calibri"/>
              </a:rPr>
              <a:t>  •  Node used_mb recomputed from scratch each round (always accurate, self-correcting)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What’s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21792"/>
            <a:ext cx="9144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CCD6E0"/>
                </a:solidFill>
                <a:latin typeface="Calibri"/>
              </a:rPr>
              <a:t>Immediate next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05840"/>
            <a:ext cx="12188952" cy="36576"/>
          </a:xfrm>
          <a:prstGeom prst="rect">
            <a:avLst/>
          </a:prstGeom>
          <a:solidFill>
            <a:srgbClr val="0D6E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74320" y="658368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6E0"/>
                </a:solidFill>
                <a:latin typeface="Calibri"/>
              </a:rPr>
              <a:t>Alrick Grandison  |  Capstone Project, Spring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21440" y="6583680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CCD6E0"/>
                </a:solidFill>
                <a:latin typeface="Calibri"/>
              </a:rPr>
              <a:t>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1170432"/>
            <a:ext cx="11612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A3A5C"/>
                </a:solidFill>
                <a:latin typeface="Calibri"/>
              </a:rPr>
              <a:t>Primary open item: Plug in Prediction Model Output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627632"/>
            <a:ext cx="11640312" cy="2286000"/>
          </a:xfrm>
          <a:prstGeom prst="rect">
            <a:avLst/>
          </a:prstGeom>
          <a:solidFill>
            <a:srgbClr val="F0F4F8"/>
          </a:solidFill>
          <a:ln w="635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7200" y="1691640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2E"/>
                </a:solidFill>
                <a:latin typeface="Calibri"/>
              </a:rPr>
              <a:t>The optimization layer is ready. The interface contract is defined: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039112"/>
            <a:ext cx="1115568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3A5C"/>
                </a:solidFill>
                <a:latin typeface="Courier New"/>
              </a:rPr>
              <a:t># Replace this:
P = build_synthetic_data()           # synthetic u[i,h]
# With this:
P['u'] = prediction_model.forecast(tenants, horizon)   # dict[(i,h) → float]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977639"/>
            <a:ext cx="11155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A5A8C"/>
                </a:solidFill>
                <a:latin typeface="Calibri"/>
              </a:rPr>
              <a:t>The prediction team delivers:   dict[(tenant_id: int, period: int) → total_resource_usage: float]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32511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2E"/>
                </a:solidFill>
                <a:latin typeface="Calibri"/>
              </a:rPr>
              <a:t>No other changes required in the optimization layer.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4800600"/>
            <a:ext cx="11640312" cy="1691640"/>
          </a:xfrm>
          <a:prstGeom prst="rect">
            <a:avLst/>
          </a:prstGeom>
          <a:solidFill>
            <a:srgbClr val="E8F0FE"/>
          </a:solidFill>
          <a:ln w="635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84048" y="4910328"/>
            <a:ext cx="11420856" cy="1472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A3A5C"/>
                </a:solidFill>
                <a:latin typeface="Calibri"/>
              </a:rPr>
              <a:t>Already Verified</a:t>
            </a:r>
          </a:p>
          <a:p>
            <a:pPr algn="l"/>
            <a:r>
              <a:rPr sz="1300">
                <a:solidFill>
                  <a:srgbClr val="1A1A2E"/>
                </a:solidFill>
                <a:latin typeface="Calibri"/>
              </a:rPr>
              <a:t>  •  Sensitivity analysis already complete — lambda weights, sigma_frac, kappa documented</a:t>
            </a:r>
          </a:p>
          <a:p>
            <a:pPr algn="l"/>
            <a:r>
              <a:rPr sz="1300">
                <a:solidFill>
                  <a:srgbClr val="1A1A2E"/>
                </a:solidFill>
                <a:latin typeface="Calibri"/>
              </a:rPr>
              <a:t>  •  Simulation tested end-to-end with synthetic usage profiles</a:t>
            </a:r>
          </a:p>
          <a:p>
            <a:pPr algn="l"/>
            <a:r>
              <a:rPr sz="1300">
                <a:solidFill>
                  <a:srgbClr val="1A1A2E"/>
                </a:solidFill>
                <a:latin typeface="Calibri"/>
              </a:rPr>
              <a:t>  •  Plan-ahead fires every 50 steps; real-time fires every step — verified pipeline timing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Future Work &amp; Research Directions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88952" cy="36576"/>
          </a:xfrm>
          <a:prstGeom prst="rect">
            <a:avLst/>
          </a:prstGeom>
          <a:solidFill>
            <a:srgbClr val="0D6E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658368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6E0"/>
                </a:solidFill>
                <a:latin typeface="Calibri"/>
              </a:rPr>
              <a:t>Alrick Grandison  |  Capstone Project, Spring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583680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CCD6E0"/>
                </a:solidFill>
                <a:latin typeface="Calibri"/>
              </a:rPr>
              <a:t>19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143000"/>
            <a:ext cx="11640312" cy="2834640"/>
          </a:xfrm>
          <a:prstGeom prst="rect">
            <a:avLst/>
          </a:prstGeom>
          <a:solidFill>
            <a:srgbClr val="F0F4F8"/>
          </a:solidFill>
          <a:ln w="635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274320" y="1143000"/>
            <a:ext cx="73152" cy="283464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75488" y="11887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A3A5C"/>
                </a:solidFill>
                <a:latin typeface="Calibri"/>
              </a:rPr>
              <a:t>Heuristic Acceleration for the Real-Time Model  (exploratory)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1581912"/>
            <a:ext cx="110642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The real-time MILP (OR-Tools / CBC) is exact and fast for small instances (≤20 jobs, 5 nodes). For larger instances, alternatives include:
  •  Greedy First-Fit Decreasing (FFD) — O(J log J), well-studied for bin packing. Can be adapted to respect the plan-ahead priority boost. Likely sufficient for most practical cluster sizes.
  •  LP relaxation + rounding (OR-Tools GLOP mode) — faster, slight quality loss.
  •  Learning-based heuristics — policy trained on historical placements; out of scope for capstone timeline.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4114800"/>
            <a:ext cx="11640312" cy="502920"/>
          </a:xfrm>
          <a:prstGeom prst="rect">
            <a:avLst/>
          </a:prstGeom>
          <a:solidFill>
            <a:srgbClr val="FCE8E6"/>
          </a:solidFill>
          <a:ln w="1016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7200" y="4169663"/>
            <a:ext cx="11155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62828"/>
                </a:solidFill>
                <a:latin typeface="Calibri"/>
              </a:rPr>
              <a:t>Capstone scope note: heuristic acceleration is exploratory. A working exact MILP is already in place. If time permits we will benchmark FFD vs CBC; otherwise this is future work.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4773168"/>
            <a:ext cx="11640312" cy="1719072"/>
          </a:xfrm>
          <a:prstGeom prst="rect">
            <a:avLst/>
          </a:prstGeom>
          <a:solidFill>
            <a:srgbClr val="F0F4F8"/>
          </a:solidFill>
          <a:ln w="635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84048" y="4882896"/>
            <a:ext cx="11420856" cy="14996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A3A5C"/>
                </a:solidFill>
                <a:latin typeface="Calibri"/>
              </a:rPr>
              <a:t>Other Future Directions</a:t>
            </a:r>
          </a:p>
          <a:p>
            <a:pPr algn="l"/>
            <a:r>
              <a:rPr sz="1300">
                <a:solidFill>
                  <a:srgbClr val="1A1A2E"/>
                </a:solidFill>
                <a:latin typeface="Calibri"/>
              </a:rPr>
              <a:t>  •  Replace synthetic u_{i,h} with live Google cluster trace replay</a:t>
            </a:r>
          </a:p>
          <a:p>
            <a:pPr algn="l"/>
            <a:r>
              <a:rPr sz="1300">
                <a:solidFill>
                  <a:srgbClr val="1A1A2E"/>
                </a:solidFill>
                <a:latin typeface="Calibri"/>
              </a:rPr>
              <a:t>  •  Tune Cantelli epsilon per-tenant (risk-aware SLA contracts)</a:t>
            </a:r>
          </a:p>
          <a:p>
            <a:pPr algn="l"/>
            <a:r>
              <a:rPr sz="1300">
                <a:solidFill>
                  <a:srgbClr val="1A1A2E"/>
                </a:solidFill>
                <a:latin typeface="Calibri"/>
              </a:rPr>
              <a:t>  •  Multi-resource extension: CPU + memory jointly in the plan-ahead cone</a:t>
            </a:r>
          </a:p>
          <a:p>
            <a:pPr algn="l"/>
            <a:r>
              <a:rPr sz="1300">
                <a:solidFill>
                  <a:srgbClr val="1A1A2E"/>
                </a:solidFill>
                <a:latin typeface="Calibri"/>
              </a:rPr>
              <a:t>  •  Benchmark plan-ahead solve time vs horizon length and tenant count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Summary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88952" cy="36576"/>
          </a:xfrm>
          <a:prstGeom prst="rect">
            <a:avLst/>
          </a:prstGeom>
          <a:solidFill>
            <a:srgbClr val="0D6E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658368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6E0"/>
                </a:solidFill>
                <a:latin typeface="Calibri"/>
              </a:rPr>
              <a:t>Alrick Grandison  |  Capstone Project, Spring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583680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CCD6E0"/>
                </a:solidFill>
                <a:latin typeface="Calibri"/>
              </a:rPr>
              <a:t>20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143000"/>
            <a:ext cx="2926080" cy="522514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20040" y="1170432"/>
            <a:ext cx="2834640" cy="46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Layer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0" y="1143000"/>
            <a:ext cx="3200400" cy="522514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246120" y="1170432"/>
            <a:ext cx="3108960" cy="46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Status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1143000"/>
            <a:ext cx="5486400" cy="522514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46520" y="1170432"/>
            <a:ext cx="5394960" cy="46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Next Step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1665514"/>
            <a:ext cx="2926080" cy="522514"/>
          </a:xfrm>
          <a:prstGeom prst="rect">
            <a:avLst/>
          </a:prstGeom>
          <a:solidFill>
            <a:srgbClr val="F0F4F8"/>
          </a:solidFill>
          <a:ln w="381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20040" y="1692946"/>
            <a:ext cx="2834640" cy="46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2E"/>
                </a:solidFill>
                <a:latin typeface="Calibri"/>
              </a:rPr>
              <a:t>Plan-Ahead (MISOCP)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0" y="1665514"/>
            <a:ext cx="3200400" cy="522514"/>
          </a:xfrm>
          <a:prstGeom prst="rect">
            <a:avLst/>
          </a:prstGeom>
          <a:solidFill>
            <a:srgbClr val="F0F4F8"/>
          </a:solidFill>
          <a:ln w="381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246120" y="1692946"/>
            <a:ext cx="3108960" cy="46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2E"/>
                </a:solidFill>
                <a:latin typeface="Calibri"/>
              </a:rPr>
              <a:t>✅  Implemented &amp; tested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0" y="1665514"/>
            <a:ext cx="5486400" cy="522514"/>
          </a:xfrm>
          <a:prstGeom prst="rect">
            <a:avLst/>
          </a:prstGeom>
          <a:solidFill>
            <a:srgbClr val="F0F4F8"/>
          </a:solidFill>
          <a:ln w="381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446520" y="1692946"/>
            <a:ext cx="5394960" cy="46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2E"/>
                </a:solidFill>
                <a:latin typeface="Calibri"/>
              </a:rPr>
              <a:t>Swap synthetic u[i,h] for prediction output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2188028"/>
            <a:ext cx="2926080" cy="522514"/>
          </a:xfrm>
          <a:prstGeom prst="rect">
            <a:avLst/>
          </a:prstGeom>
          <a:solidFill>
            <a:srgbClr val="FFFFFF"/>
          </a:solidFill>
          <a:ln w="381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20040" y="2215460"/>
            <a:ext cx="2834640" cy="46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2E"/>
                </a:solidFill>
                <a:latin typeface="Calibri"/>
              </a:rPr>
              <a:t>Real-Time (MILP)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0" y="2188028"/>
            <a:ext cx="3200400" cy="522514"/>
          </a:xfrm>
          <a:prstGeom prst="rect">
            <a:avLst/>
          </a:prstGeom>
          <a:solidFill>
            <a:srgbClr val="FFFFFF"/>
          </a:solidFill>
          <a:ln w="381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3246120" y="2215460"/>
            <a:ext cx="3108960" cy="46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2E"/>
                </a:solidFill>
                <a:latin typeface="Calibri"/>
              </a:rPr>
              <a:t>✅  Implemented &amp; tested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0" y="2188028"/>
            <a:ext cx="5486400" cy="522514"/>
          </a:xfrm>
          <a:prstGeom prst="rect">
            <a:avLst/>
          </a:prstGeom>
          <a:solidFill>
            <a:srgbClr val="FFFFFF"/>
          </a:solidFill>
          <a:ln w="381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446520" y="2215460"/>
            <a:ext cx="5394960" cy="46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2E"/>
                </a:solidFill>
                <a:latin typeface="Calibri"/>
              </a:rPr>
              <a:t>—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2710542"/>
            <a:ext cx="2926080" cy="522514"/>
          </a:xfrm>
          <a:prstGeom prst="rect">
            <a:avLst/>
          </a:prstGeom>
          <a:solidFill>
            <a:srgbClr val="F0F4F8"/>
          </a:solidFill>
          <a:ln w="381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20040" y="2737974"/>
            <a:ext cx="2834640" cy="46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2E"/>
                </a:solidFill>
                <a:latin typeface="Calibri"/>
              </a:rPr>
              <a:t>Pipeline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00400" y="2710542"/>
            <a:ext cx="3200400" cy="522514"/>
          </a:xfrm>
          <a:prstGeom prst="rect">
            <a:avLst/>
          </a:prstGeom>
          <a:solidFill>
            <a:srgbClr val="F0F4F8"/>
          </a:solidFill>
          <a:ln w="381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3246120" y="2737974"/>
            <a:ext cx="3108960" cy="46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2E"/>
                </a:solidFill>
                <a:latin typeface="Calibri"/>
              </a:rPr>
              <a:t>✅  End-to-end working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0" y="2710542"/>
            <a:ext cx="5486400" cy="522514"/>
          </a:xfrm>
          <a:prstGeom prst="rect">
            <a:avLst/>
          </a:prstGeom>
          <a:solidFill>
            <a:srgbClr val="F0F4F8"/>
          </a:solidFill>
          <a:ln w="381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446520" y="2737974"/>
            <a:ext cx="5394960" cy="46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2E"/>
                </a:solidFill>
                <a:latin typeface="Calibri"/>
              </a:rPr>
              <a:t>—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3233057"/>
            <a:ext cx="2926080" cy="522514"/>
          </a:xfrm>
          <a:prstGeom prst="rect">
            <a:avLst/>
          </a:prstGeom>
          <a:solidFill>
            <a:srgbClr val="FFFFFF"/>
          </a:solidFill>
          <a:ln w="381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320040" y="3260489"/>
            <a:ext cx="2834640" cy="46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2E"/>
                </a:solidFill>
                <a:latin typeface="Calibri"/>
              </a:rPr>
              <a:t>Simulation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200400" y="3233057"/>
            <a:ext cx="3200400" cy="522514"/>
          </a:xfrm>
          <a:prstGeom prst="rect">
            <a:avLst/>
          </a:prstGeom>
          <a:solidFill>
            <a:srgbClr val="FFFFFF"/>
          </a:solidFill>
          <a:ln w="381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3246120" y="3260489"/>
            <a:ext cx="3108960" cy="46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2E"/>
                </a:solidFill>
                <a:latin typeface="Calibri"/>
              </a:rPr>
              <a:t>✅  Running with dashboard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00800" y="3233057"/>
            <a:ext cx="5486400" cy="522514"/>
          </a:xfrm>
          <a:prstGeom prst="rect">
            <a:avLst/>
          </a:prstGeom>
          <a:solidFill>
            <a:srgbClr val="FFFFFF"/>
          </a:solidFill>
          <a:ln w="381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446520" y="3260489"/>
            <a:ext cx="5394960" cy="46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2E"/>
                </a:solidFill>
                <a:latin typeface="Calibri"/>
              </a:rPr>
              <a:t>—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74320" y="3755571"/>
            <a:ext cx="2926080" cy="522514"/>
          </a:xfrm>
          <a:prstGeom prst="rect">
            <a:avLst/>
          </a:prstGeom>
          <a:solidFill>
            <a:srgbClr val="F0F4F8"/>
          </a:solidFill>
          <a:ln w="381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320040" y="3783003"/>
            <a:ext cx="2834640" cy="46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2E"/>
                </a:solidFill>
                <a:latin typeface="Calibri"/>
              </a:rPr>
              <a:t>Prediction integration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200400" y="3755571"/>
            <a:ext cx="3200400" cy="522514"/>
          </a:xfrm>
          <a:prstGeom prst="rect">
            <a:avLst/>
          </a:prstGeom>
          <a:solidFill>
            <a:srgbClr val="F0F4F8"/>
          </a:solidFill>
          <a:ln w="381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3246120" y="3783003"/>
            <a:ext cx="3108960" cy="46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2E"/>
                </a:solidFill>
                <a:latin typeface="Calibri"/>
              </a:rPr>
              <a:t>⏳  Waiting on teammates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400800" y="3755571"/>
            <a:ext cx="5486400" cy="522514"/>
          </a:xfrm>
          <a:prstGeom prst="rect">
            <a:avLst/>
          </a:prstGeom>
          <a:solidFill>
            <a:srgbClr val="F0F4F8"/>
          </a:solidFill>
          <a:ln w="381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6446520" y="3783003"/>
            <a:ext cx="5394960" cy="46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2E"/>
                </a:solidFill>
                <a:latin typeface="Calibri"/>
              </a:rPr>
              <a:t>Define handoff format, plug in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74320" y="4278085"/>
            <a:ext cx="2926080" cy="522514"/>
          </a:xfrm>
          <a:prstGeom prst="rect">
            <a:avLst/>
          </a:prstGeom>
          <a:solidFill>
            <a:srgbClr val="FFFFFF"/>
          </a:solidFill>
          <a:ln w="381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320040" y="4305517"/>
            <a:ext cx="2834640" cy="46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2E"/>
                </a:solidFill>
                <a:latin typeface="Calibri"/>
              </a:rPr>
              <a:t>Heuristic RT solver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200400" y="4278085"/>
            <a:ext cx="3200400" cy="522514"/>
          </a:xfrm>
          <a:prstGeom prst="rect">
            <a:avLst/>
          </a:prstGeom>
          <a:solidFill>
            <a:srgbClr val="FFFFFF"/>
          </a:solidFill>
          <a:ln w="381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3246120" y="4305517"/>
            <a:ext cx="3108960" cy="46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2E"/>
                </a:solidFill>
                <a:latin typeface="Calibri"/>
              </a:rPr>
              <a:t>🔬  Exploratory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400800" y="4278085"/>
            <a:ext cx="5486400" cy="522514"/>
          </a:xfrm>
          <a:prstGeom prst="rect">
            <a:avLst/>
          </a:prstGeom>
          <a:solidFill>
            <a:srgbClr val="FFFFFF"/>
          </a:solidFill>
          <a:ln w="381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6446520" y="4305517"/>
            <a:ext cx="5394960" cy="46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2E"/>
                </a:solidFill>
                <a:latin typeface="Calibri"/>
              </a:rPr>
              <a:t>Future work beyond capstone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74320" y="4983480"/>
            <a:ext cx="11612880" cy="749808"/>
          </a:xfrm>
          <a:prstGeom prst="rect">
            <a:avLst/>
          </a:prstGeom>
          <a:solidFill>
            <a:srgbClr val="E8F0FE"/>
          </a:solidFill>
          <a:ln w="12700">
            <a:solidFill>
              <a:srgbClr val="2A5A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ectangle 50"/>
          <p:cNvSpPr/>
          <p:nvPr/>
        </p:nvSpPr>
        <p:spPr>
          <a:xfrm>
            <a:off x="274320" y="4983480"/>
            <a:ext cx="64008" cy="749808"/>
          </a:xfrm>
          <a:prstGeom prst="rect">
            <a:avLst/>
          </a:prstGeom>
          <a:solidFill>
            <a:srgbClr val="2A5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438912" y="5056632"/>
            <a:ext cx="11338559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2A5A8C"/>
                </a:solidFill>
                <a:latin typeface="Calibri"/>
              </a:rPr>
              <a:t>The optimization layer is complete and functional as a standalone system. The primary open integration point is the prediction model output  u[i,h].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74320" y="5870448"/>
            <a:ext cx="11612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2A5A8C"/>
                </a:solidFill>
                <a:latin typeface="Calibri"/>
              </a:rPr>
              <a:t>Plan-ahead refactoring preserves MISOCP complexity while replacing unknowable inputs (per-workload covariance Σ_r) with forecastable ones (aggregate tenant demand u_{i,h}).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3108960"/>
            <a:ext cx="12188952" cy="54864"/>
          </a:xfrm>
          <a:prstGeom prst="rect">
            <a:avLst/>
          </a:prstGeom>
          <a:solidFill>
            <a:srgbClr val="0D6E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0" y="2103120"/>
            <a:ext cx="121889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FFFFFF"/>
                </a:solidFill>
                <a:latin typeface="Calibri"/>
              </a:rPr>
              <a:t>Questions?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383280"/>
            <a:ext cx="121889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CCD6E0"/>
                </a:solidFill>
                <a:latin typeface="Calibri"/>
              </a:rPr>
              <a:t>Alrick Grandison  |  Capstone Project, Spring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3931920"/>
            <a:ext cx="121889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88A8C8"/>
                </a:solidFill>
                <a:latin typeface="Calibri"/>
              </a:rPr>
              <a:t>Cluster_Optimization_Models / Docs / plan_ahead_refactoring.pptx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3577</Words>
  <Application>Microsoft Office PowerPoint</Application>
  <PresentationFormat>Custom</PresentationFormat>
  <Paragraphs>346</Paragraphs>
  <Slides>21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5" baseType="lpstr">
      <vt:lpstr>Arial</vt:lpstr>
      <vt:lpstr>Calibri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Alrick Grandison</cp:lastModifiedBy>
  <cp:revision>2</cp:revision>
  <dcterms:created xsi:type="dcterms:W3CDTF">2013-01-27T09:14:16Z</dcterms:created>
  <dcterms:modified xsi:type="dcterms:W3CDTF">2026-05-20T20:04:00Z</dcterms:modified>
  <cp:category/>
</cp:coreProperties>
</file>