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12188952"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1280160"/>
          </a:xfrm>
          <a:prstGeom prst="rect">
            <a:avLst/>
          </a:prstGeom>
          <a:noFill/>
        </p:spPr>
        <p:txBody>
          <a:bodyPr wrap="square">
            <a:spAutoFit/>
          </a:bodyPr>
          <a:lstStyle/>
          <a:p>
            <a:pPr algn="ctr"/>
            <a:r>
              <a:rPr sz="4400" b="1">
                <a:solidFill>
                  <a:srgbClr val="FFFFFF"/>
                </a:solidFill>
                <a:latin typeface="Calibri"/>
              </a:rPr>
              <a:t>A Two-Part Optimization System</a:t>
            </a:r>
          </a:p>
        </p:txBody>
      </p:sp>
      <p:sp>
        <p:nvSpPr>
          <p:cNvPr id="5" name="TextBox 4"/>
          <p:cNvSpPr txBox="1"/>
          <p:nvPr/>
        </p:nvSpPr>
        <p:spPr>
          <a:xfrm>
            <a:off x="914400" y="2468880"/>
            <a:ext cx="10332720" cy="548640"/>
          </a:xfrm>
          <a:prstGeom prst="rect">
            <a:avLst/>
          </a:prstGeom>
          <a:noFill/>
        </p:spPr>
        <p:txBody>
          <a:bodyPr wrap="square">
            <a:spAutoFit/>
          </a:bodyPr>
          <a:lstStyle/>
          <a:p>
            <a:pPr algn="ctr"/>
            <a:r>
              <a:rPr sz="2200" b="0">
                <a:solidFill>
                  <a:srgbClr val="22D3EE"/>
                </a:solidFill>
                <a:latin typeface="Calibri"/>
              </a:rPr>
              <a:t>Plan-Ahead Optimization  +  Real-Time Optimization</a:t>
            </a:r>
          </a:p>
        </p:txBody>
      </p:sp>
      <p:sp>
        <p:nvSpPr>
          <p:cNvPr id="6" name="TextBox 5"/>
          <p:cNvSpPr txBox="1"/>
          <p:nvPr/>
        </p:nvSpPr>
        <p:spPr>
          <a:xfrm>
            <a:off x="914400" y="3200400"/>
            <a:ext cx="10332720" cy="457200"/>
          </a:xfrm>
          <a:prstGeom prst="rect">
            <a:avLst/>
          </a:prstGeom>
          <a:noFill/>
        </p:spPr>
        <p:txBody>
          <a:bodyPr wrap="square">
            <a:spAutoFit/>
          </a:bodyPr>
          <a:lstStyle/>
          <a:p>
            <a:pPr algn="ctr"/>
            <a:r>
              <a:rPr sz="1600" b="0">
                <a:solidFill>
                  <a:srgbClr val="94A3B8"/>
                </a:solidFill>
                <a:latin typeface="Calibri"/>
              </a:rPr>
              <a:t>The Optimization Layer of the Multi-Tenant Cluster Scheduling Pipeline</a:t>
            </a:r>
          </a:p>
        </p:txBody>
      </p:sp>
      <p:sp>
        <p:nvSpPr>
          <p:cNvPr id="7" name="TextBox 6"/>
          <p:cNvSpPr txBox="1"/>
          <p:nvPr/>
        </p:nvSpPr>
        <p:spPr>
          <a:xfrm>
            <a:off x="914400" y="6035040"/>
            <a:ext cx="10332720" cy="365760"/>
          </a:xfrm>
          <a:prstGeom prst="rect">
            <a:avLst/>
          </a:prstGeom>
          <a:noFill/>
        </p:spPr>
        <p:txBody>
          <a:bodyPr wrap="square">
            <a:spAutoFit/>
          </a:bodyPr>
          <a:lstStyle/>
          <a:p>
            <a:pPr algn="ctr"/>
            <a:r>
              <a:rPr sz="1300" b="0">
                <a:solidFill>
                  <a:srgbClr val="64748B"/>
                </a:solidFill>
                <a:latin typeface="Calibri"/>
              </a:rPr>
              <a:t>Capstone Project  |  Spring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02920"/>
          </a:xfrm>
          <a:prstGeom prst="rect">
            <a:avLst/>
          </a:prstGeom>
          <a:noFill/>
        </p:spPr>
        <p:txBody>
          <a:bodyPr wrap="square">
            <a:spAutoFit/>
          </a:bodyPr>
          <a:lstStyle/>
          <a:p>
            <a:pPr algn="l"/>
            <a:r>
              <a:rPr sz="2800" b="1">
                <a:solidFill>
                  <a:srgbClr val="FFFFFF"/>
                </a:solidFill>
                <a:latin typeface="Calibri"/>
              </a:rPr>
              <a:t>The Multi-Tenant Cluster Optimization Pipeline</a:t>
            </a:r>
          </a:p>
        </p:txBody>
      </p:sp>
      <p:sp>
        <p:nvSpPr>
          <p:cNvPr id="4" name="Rectangle 3"/>
          <p:cNvSpPr/>
          <p:nvPr/>
        </p:nvSpPr>
        <p:spPr>
          <a:xfrm>
            <a:off x="457200" y="749808"/>
            <a:ext cx="11247120" cy="127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5029200" cy="49377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4663440" cy="457200"/>
          </a:xfrm>
          <a:prstGeom prst="rect">
            <a:avLst/>
          </a:prstGeom>
          <a:noFill/>
        </p:spPr>
        <p:txBody>
          <a:bodyPr wrap="square">
            <a:spAutoFit/>
          </a:bodyPr>
          <a:lstStyle/>
          <a:p>
            <a:pPr algn="l"/>
            <a:r>
              <a:rPr sz="1700" b="1">
                <a:solidFill>
                  <a:srgbClr val="FBBF24"/>
                </a:solidFill>
                <a:latin typeface="Calibri"/>
              </a:rPr>
              <a:t>Layer 1 — Prediction Layer</a:t>
            </a:r>
          </a:p>
        </p:txBody>
      </p:sp>
      <p:sp>
        <p:nvSpPr>
          <p:cNvPr id="7" name="TextBox 6"/>
          <p:cNvSpPr txBox="1"/>
          <p:nvPr/>
        </p:nvSpPr>
        <p:spPr>
          <a:xfrm>
            <a:off x="640080" y="1600200"/>
            <a:ext cx="4572000" cy="3474720"/>
          </a:xfrm>
          <a:prstGeom prst="rect">
            <a:avLst/>
          </a:prstGeom>
          <a:noFill/>
        </p:spPr>
        <p:txBody>
          <a:bodyPr wrap="square">
            <a:spAutoFit/>
          </a:bodyPr>
          <a:lstStyle/>
          <a:p>
            <a:pPr algn="l"/>
            <a:r>
              <a:rPr sz="1300" b="0">
                <a:solidFill>
                  <a:srgbClr val="CBD5E1"/>
                </a:solidFill>
                <a:latin typeface="Calibri"/>
              </a:rPr>
              <a:t>Processes historical cluster-usage traces
  (Google Borg / Kubernetes telemetry)
Outputs per-job predictions:
  Pred_mem   max predicted memory usage
  Pred_CPU   P95 predicted CPU peak
Feeds both optimization models:
  Plan-Ahead  uses aggregate demand u[i,h]
  Real-Time   uses per-job Pred_mem, Pred_CPU</a:t>
            </a:r>
          </a:p>
        </p:txBody>
      </p:sp>
      <p:sp>
        <p:nvSpPr>
          <p:cNvPr id="8" name="TextBox 7"/>
          <p:cNvSpPr txBox="1"/>
          <p:nvPr/>
        </p:nvSpPr>
        <p:spPr>
          <a:xfrm>
            <a:off x="5623560" y="3108960"/>
            <a:ext cx="548640" cy="457200"/>
          </a:xfrm>
          <a:prstGeom prst="rect">
            <a:avLst/>
          </a:prstGeom>
          <a:noFill/>
        </p:spPr>
        <p:txBody>
          <a:bodyPr wrap="square">
            <a:spAutoFit/>
          </a:bodyPr>
          <a:lstStyle/>
          <a:p>
            <a:pPr algn="ctr"/>
            <a:r>
              <a:rPr sz="2800" b="0">
                <a:solidFill>
                  <a:srgbClr val="22D3EE"/>
                </a:solidFill>
                <a:latin typeface="Calibri"/>
              </a:rPr>
              <a:t>►</a:t>
            </a:r>
          </a:p>
        </p:txBody>
      </p:sp>
      <p:sp>
        <p:nvSpPr>
          <p:cNvPr id="9" name="Rectangle 8"/>
          <p:cNvSpPr/>
          <p:nvPr/>
        </p:nvSpPr>
        <p:spPr>
          <a:xfrm>
            <a:off x="6217920" y="1005840"/>
            <a:ext cx="5486400" cy="49377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097280"/>
            <a:ext cx="5120640" cy="457200"/>
          </a:xfrm>
          <a:prstGeom prst="rect">
            <a:avLst/>
          </a:prstGeom>
          <a:noFill/>
        </p:spPr>
        <p:txBody>
          <a:bodyPr wrap="square">
            <a:spAutoFit/>
          </a:bodyPr>
          <a:lstStyle/>
          <a:p>
            <a:pPr algn="l"/>
            <a:r>
              <a:rPr sz="1700" b="1">
                <a:solidFill>
                  <a:srgbClr val="22D3EE"/>
                </a:solidFill>
                <a:latin typeface="Calibri"/>
              </a:rPr>
              <a:t>Layer 2 — Optimization Layer</a:t>
            </a:r>
          </a:p>
        </p:txBody>
      </p:sp>
      <p:sp>
        <p:nvSpPr>
          <p:cNvPr id="11" name="Rectangle 10"/>
          <p:cNvSpPr/>
          <p:nvPr/>
        </p:nvSpPr>
        <p:spPr>
          <a:xfrm>
            <a:off x="6400800" y="1600200"/>
            <a:ext cx="5120640" cy="2011680"/>
          </a:xfrm>
          <a:prstGeom prst="rect">
            <a:avLst/>
          </a:prstGeom>
          <a:solidFill>
            <a:srgbClr val="0A1A30"/>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664208"/>
            <a:ext cx="4754880" cy="365760"/>
          </a:xfrm>
          <a:prstGeom prst="rect">
            <a:avLst/>
          </a:prstGeom>
          <a:noFill/>
        </p:spPr>
        <p:txBody>
          <a:bodyPr wrap="square">
            <a:spAutoFit/>
          </a:bodyPr>
          <a:lstStyle/>
          <a:p>
            <a:pPr algn="l"/>
            <a:r>
              <a:rPr sz="1300" b="1">
                <a:solidFill>
                  <a:srgbClr val="A78BFA"/>
                </a:solidFill>
                <a:latin typeface="Calibri"/>
              </a:rPr>
              <a:t>Plan-Ahead (MILP / MISOCP)</a:t>
            </a:r>
          </a:p>
        </p:txBody>
      </p:sp>
      <p:sp>
        <p:nvSpPr>
          <p:cNvPr id="13" name="TextBox 12"/>
          <p:cNvSpPr txBox="1"/>
          <p:nvPr/>
        </p:nvSpPr>
        <p:spPr>
          <a:xfrm>
            <a:off x="6537960" y="2057400"/>
            <a:ext cx="4754880" cy="1280160"/>
          </a:xfrm>
          <a:prstGeom prst="rect">
            <a:avLst/>
          </a:prstGeom>
          <a:noFill/>
        </p:spPr>
        <p:txBody>
          <a:bodyPr wrap="square">
            <a:spAutoFit/>
          </a:bodyPr>
          <a:lstStyle/>
          <a:p>
            <a:pPr algn="l"/>
            <a:r>
              <a:rPr sz="1200" b="0">
                <a:solidFill>
                  <a:srgbClr val="CBD5E1"/>
                </a:solidFill>
                <a:latin typeface="Calibri"/>
              </a:rPr>
              <a:t>Runs every H intervals (the horizon)
Assigns machine pools and tenant groups
for the upcoming planning periods</a:t>
            </a:r>
          </a:p>
        </p:txBody>
      </p:sp>
      <p:sp>
        <p:nvSpPr>
          <p:cNvPr id="14" name="Rectangle 13"/>
          <p:cNvSpPr/>
          <p:nvPr/>
        </p:nvSpPr>
        <p:spPr>
          <a:xfrm>
            <a:off x="6400800" y="3703320"/>
            <a:ext cx="5120640" cy="1920240"/>
          </a:xfrm>
          <a:prstGeom prst="rect">
            <a:avLst/>
          </a:prstGeom>
          <a:solidFill>
            <a:srgbClr val="0A1A30"/>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767328"/>
            <a:ext cx="4754880" cy="365760"/>
          </a:xfrm>
          <a:prstGeom prst="rect">
            <a:avLst/>
          </a:prstGeom>
          <a:noFill/>
        </p:spPr>
        <p:txBody>
          <a:bodyPr wrap="square">
            <a:spAutoFit/>
          </a:bodyPr>
          <a:lstStyle/>
          <a:p>
            <a:pPr algn="l"/>
            <a:r>
              <a:rPr sz="1300" b="1">
                <a:solidFill>
                  <a:srgbClr val="34D399"/>
                </a:solidFill>
                <a:latin typeface="Calibri"/>
              </a:rPr>
              <a:t>Real-Time (MILP)</a:t>
            </a:r>
          </a:p>
        </p:txBody>
      </p:sp>
      <p:sp>
        <p:nvSpPr>
          <p:cNvPr id="16" name="TextBox 15"/>
          <p:cNvSpPr txBox="1"/>
          <p:nvPr/>
        </p:nvSpPr>
        <p:spPr>
          <a:xfrm>
            <a:off x="6537960" y="4160520"/>
            <a:ext cx="4754880" cy="1234440"/>
          </a:xfrm>
          <a:prstGeom prst="rect">
            <a:avLst/>
          </a:prstGeom>
          <a:noFill/>
        </p:spPr>
        <p:txBody>
          <a:bodyPr wrap="square">
            <a:spAutoFit/>
          </a:bodyPr>
          <a:lstStyle/>
          <a:p>
            <a:pPr algn="l"/>
            <a:r>
              <a:rPr sz="1200" b="0">
                <a:solidFill>
                  <a:srgbClr val="CBD5E1"/>
                </a:solidFill>
                <a:latin typeface="Calibri"/>
              </a:rPr>
              <a:t>Called once per tenant group per interval
Places queued jobs onto assigned machines
Updates fairness weights (omega_t) each round</a:t>
            </a:r>
          </a:p>
        </p:txBody>
      </p:sp>
      <p:sp>
        <p:nvSpPr>
          <p:cNvPr id="17" name="TextBox 16"/>
          <p:cNvSpPr txBox="1"/>
          <p:nvPr/>
        </p:nvSpPr>
        <p:spPr>
          <a:xfrm>
            <a:off x="6400800" y="3108960"/>
            <a:ext cx="2377440" cy="320040"/>
          </a:xfrm>
          <a:prstGeom prst="rect">
            <a:avLst/>
          </a:prstGeom>
          <a:noFill/>
        </p:spPr>
        <p:txBody>
          <a:bodyPr wrap="square">
            <a:spAutoFit/>
          </a:bodyPr>
          <a:lstStyle/>
          <a:p>
            <a:pPr algn="l"/>
            <a:r>
              <a:rPr sz="1100" b="0">
                <a:solidFill>
                  <a:srgbClr val="64748B"/>
                </a:solidFill>
                <a:latin typeface="Calibri"/>
              </a:rPr>
              <a:t>Gurobi (WLS license)</a:t>
            </a:r>
          </a:p>
        </p:txBody>
      </p:sp>
      <p:sp>
        <p:nvSpPr>
          <p:cNvPr id="18" name="TextBox 17"/>
          <p:cNvSpPr txBox="1"/>
          <p:nvPr/>
        </p:nvSpPr>
        <p:spPr>
          <a:xfrm>
            <a:off x="8869680" y="3108960"/>
            <a:ext cx="2651760" cy="320040"/>
          </a:xfrm>
          <a:prstGeom prst="rect">
            <a:avLst/>
          </a:prstGeom>
          <a:noFill/>
        </p:spPr>
        <p:txBody>
          <a:bodyPr wrap="square">
            <a:spAutoFit/>
          </a:bodyPr>
          <a:lstStyle/>
          <a:p>
            <a:pPr algn="r"/>
            <a:r>
              <a:rPr sz="1100" b="0">
                <a:solidFill>
                  <a:srgbClr val="64748B"/>
                </a:solidFill>
                <a:latin typeface="Calibri"/>
              </a:rPr>
              <a:t>OR-Tools (open-source)</a:t>
            </a:r>
          </a:p>
        </p:txBody>
      </p:sp>
      <p:sp>
        <p:nvSpPr>
          <p:cNvPr id="19" name="TextBox 18"/>
          <p:cNvSpPr txBox="1"/>
          <p:nvPr/>
        </p:nvSpPr>
        <p:spPr>
          <a:xfrm>
            <a:off x="457200" y="6080760"/>
            <a:ext cx="11247120" cy="320040"/>
          </a:xfrm>
          <a:prstGeom prst="rect">
            <a:avLst/>
          </a:prstGeom>
          <a:noFill/>
        </p:spPr>
        <p:txBody>
          <a:bodyPr wrap="square">
            <a:spAutoFit/>
          </a:bodyPr>
          <a:lstStyle/>
          <a:p>
            <a:pPr algn="ctr"/>
            <a:r>
              <a:rPr sz="1200" b="0">
                <a:solidFill>
                  <a:srgbClr val="64748B"/>
                </a:solidFill>
                <a:latin typeface="Calibri"/>
              </a:rPr>
              <a:t>Cluster Manager routes pre-filtered jobs + machines to Real-Time each interval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02920"/>
          </a:xfrm>
          <a:prstGeom prst="rect">
            <a:avLst/>
          </a:prstGeom>
          <a:noFill/>
        </p:spPr>
        <p:txBody>
          <a:bodyPr wrap="square">
            <a:spAutoFit/>
          </a:bodyPr>
          <a:lstStyle/>
          <a:p>
            <a:pPr algn="l"/>
            <a:r>
              <a:rPr sz="2800" b="1">
                <a:solidFill>
                  <a:srgbClr val="FFFFFF"/>
                </a:solidFill>
                <a:latin typeface="Calibri"/>
              </a:rPr>
              <a:t>Plan-Ahead Optimization  (MILP / MISOCP)</a:t>
            </a:r>
          </a:p>
        </p:txBody>
      </p:sp>
      <p:sp>
        <p:nvSpPr>
          <p:cNvPr id="4" name="Rectangle 3"/>
          <p:cNvSpPr/>
          <p:nvPr/>
        </p:nvSpPr>
        <p:spPr>
          <a:xfrm>
            <a:off x="457200" y="749808"/>
            <a:ext cx="11247120" cy="127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5303520" cy="53949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4937760" cy="365760"/>
          </a:xfrm>
          <a:prstGeom prst="rect">
            <a:avLst/>
          </a:prstGeom>
          <a:noFill/>
        </p:spPr>
        <p:txBody>
          <a:bodyPr wrap="square">
            <a:spAutoFit/>
          </a:bodyPr>
          <a:lstStyle/>
          <a:p>
            <a:pPr algn="l"/>
            <a:r>
              <a:rPr sz="1500" b="1">
                <a:solidFill>
                  <a:srgbClr val="A78BFA"/>
                </a:solidFill>
                <a:latin typeface="Calibri"/>
              </a:rPr>
              <a:t>Sets &amp; Decisions</a:t>
            </a:r>
          </a:p>
        </p:txBody>
      </p:sp>
      <p:sp>
        <p:nvSpPr>
          <p:cNvPr id="7" name="TextBox 6"/>
          <p:cNvSpPr txBox="1"/>
          <p:nvPr/>
        </p:nvSpPr>
        <p:spPr>
          <a:xfrm>
            <a:off x="640080" y="1463040"/>
            <a:ext cx="4937760" cy="3840480"/>
          </a:xfrm>
          <a:prstGeom prst="rect">
            <a:avLst/>
          </a:prstGeom>
          <a:noFill/>
        </p:spPr>
        <p:txBody>
          <a:bodyPr wrap="square">
            <a:spAutoFit/>
          </a:bodyPr>
          <a:lstStyle/>
          <a:p>
            <a:pPr algn="l"/>
            <a:r>
              <a:rPr sz="1150" b="0">
                <a:solidFill>
                  <a:srgbClr val="CBD5E1"/>
                </a:solidFill>
                <a:latin typeface="Calibri"/>
              </a:rPr>
              <a:t>T = T_e (exclusive) u T_s (shared)
M = M_a (always-on) u M_b (additional)
H = planning periods (slots in horizon)
Decision variables:
  e[i,n]    1 if exclusive tenant i on machine n
  z_on[n]   1 if additional machine n is activated
  y[i,n,h]  1 if shared tenant i on machine n in period h
  f[i,n,h]  capacity allocated to tenant i on machine n
  sigma     min demand-satisfaction ratio (fairness)
  t[n,h]    Cantelli safety buffer (MISOCP mode only)
  mix[n,h]  1 if machine n has heavy + light tenant in h</a:t>
            </a:r>
          </a:p>
        </p:txBody>
      </p:sp>
      <p:sp>
        <p:nvSpPr>
          <p:cNvPr id="8" name="Rectangle 7"/>
          <p:cNvSpPr/>
          <p:nvPr/>
        </p:nvSpPr>
        <p:spPr>
          <a:xfrm>
            <a:off x="5943600" y="960120"/>
            <a:ext cx="5788152" cy="53949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051560"/>
            <a:ext cx="5394960" cy="365760"/>
          </a:xfrm>
          <a:prstGeom prst="rect">
            <a:avLst/>
          </a:prstGeom>
          <a:noFill/>
        </p:spPr>
        <p:txBody>
          <a:bodyPr wrap="square">
            <a:spAutoFit/>
          </a:bodyPr>
          <a:lstStyle/>
          <a:p>
            <a:pPr algn="l"/>
            <a:r>
              <a:rPr sz="1500" b="1">
                <a:solidFill>
                  <a:srgbClr val="A78BFA"/>
                </a:solidFill>
                <a:latin typeface="Calibri"/>
              </a:rPr>
              <a:t>Constraints &amp; Objective</a:t>
            </a:r>
          </a:p>
        </p:txBody>
      </p:sp>
      <p:sp>
        <p:nvSpPr>
          <p:cNvPr id="10" name="TextBox 9"/>
          <p:cNvSpPr txBox="1"/>
          <p:nvPr/>
        </p:nvSpPr>
        <p:spPr>
          <a:xfrm>
            <a:off x="6126480" y="1463040"/>
            <a:ext cx="5394960" cy="4572000"/>
          </a:xfrm>
          <a:prstGeom prst="rect">
            <a:avLst/>
          </a:prstGeom>
          <a:noFill/>
        </p:spPr>
        <p:txBody>
          <a:bodyPr wrap="square">
            <a:spAutoFit/>
          </a:bodyPr>
          <a:lstStyle/>
          <a:p>
            <a:pPr algn="l"/>
            <a:r>
              <a:rPr sz="1100" b="0">
                <a:solidFill>
                  <a:srgbClr val="CBD5E1"/>
                </a:solidFill>
                <a:latin typeface="Calibri"/>
              </a:rPr>
              <a:t>C_aa    z[n,h] = 1  for all n in M_a  (always-on)
C_excl  each exclusive tenant -&gt; exactly one machine
C_sep   exclusive and shared machines do not overlap
C_share each shared tenant assigned &gt;= 1 machine / period
Capacity (MILP):   Sum_i f[i,n,h]  &lt;=  C_eff[n] * z[n,h]
Capacity (MISOCP): above + kappa * t[n,h]  &lt;=  C_eff[n] * z[n,h]
  where  t[n,h]^2 &gt;= Sum_i sigma2[i,h] * y[i,n,h]  (cone)
  Cantelli: P(actual &lt;= capacity) &gt;= 1 - epsilon
C_demand  Sum_n f[i,n,h] &gt;= u[i,h]  (all shared, all periods)
C_fair    sigma &lt;= total_alloc / total_demand  (per tenant)
Objective (minimize):
  lam[0] * infra_cost
  - lam[1] * sigma          (maximize fairness)
  - lam[2] * mix_total      (reward heavy+light co-location)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02920"/>
          </a:xfrm>
          <a:prstGeom prst="rect">
            <a:avLst/>
          </a:prstGeom>
          <a:noFill/>
        </p:spPr>
        <p:txBody>
          <a:bodyPr wrap="square">
            <a:spAutoFit/>
          </a:bodyPr>
          <a:lstStyle/>
          <a:p>
            <a:pPr algn="l"/>
            <a:r>
              <a:rPr sz="2800" b="1">
                <a:solidFill>
                  <a:srgbClr val="FFFFFF"/>
                </a:solidFill>
                <a:latin typeface="Calibri"/>
              </a:rPr>
              <a:t>Real-Time Optimization  (MILP per group per interval)</a:t>
            </a:r>
          </a:p>
        </p:txBody>
      </p:sp>
      <p:sp>
        <p:nvSpPr>
          <p:cNvPr id="4" name="Rectangle 3"/>
          <p:cNvSpPr/>
          <p:nvPr/>
        </p:nvSpPr>
        <p:spPr>
          <a:xfrm>
            <a:off x="457200" y="749808"/>
            <a:ext cx="11247120" cy="127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5303520" cy="53949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4937760" cy="365760"/>
          </a:xfrm>
          <a:prstGeom prst="rect">
            <a:avLst/>
          </a:prstGeom>
          <a:noFill/>
        </p:spPr>
        <p:txBody>
          <a:bodyPr wrap="square">
            <a:spAutoFit/>
          </a:bodyPr>
          <a:lstStyle/>
          <a:p>
            <a:pPr algn="l"/>
            <a:r>
              <a:rPr sz="1500" b="1">
                <a:solidFill>
                  <a:srgbClr val="34D399"/>
                </a:solidFill>
                <a:latin typeface="Calibri"/>
              </a:rPr>
              <a:t>Model &amp; Inputs</a:t>
            </a:r>
          </a:p>
        </p:txBody>
      </p:sp>
      <p:sp>
        <p:nvSpPr>
          <p:cNvPr id="7" name="TextBox 6"/>
          <p:cNvSpPr txBox="1"/>
          <p:nvPr/>
        </p:nvSpPr>
        <p:spPr>
          <a:xfrm>
            <a:off x="640080" y="1463040"/>
            <a:ext cx="4937760" cy="3840480"/>
          </a:xfrm>
          <a:prstGeom prst="rect">
            <a:avLst/>
          </a:prstGeom>
          <a:noFill/>
        </p:spPr>
        <p:txBody>
          <a:bodyPr wrap="square">
            <a:spAutoFit/>
          </a:bodyPr>
          <a:lstStyle/>
          <a:p>
            <a:pPr algn="l"/>
            <a:r>
              <a:rPr sz="1150" b="0">
                <a:solidFill>
                  <a:srgbClr val="CBD5E1"/>
                </a:solidFill>
                <a:latin typeface="Calibri"/>
              </a:rPr>
              <a:t>Solver: OR-Tools  (CBC / GLOP / SCIP)
Called: once per tenant group per interval
Inputs: pre-filtered jobs + machines from Cluster Manager
Decision variable:
  x[j,n]  1 if job j placed on machine n
Derived node quantities:
  v_bar_n   SLA violation rate (last K intervals)
  M_cap_n   schedulable capacity = RAM - OS_tax - theta
  M_avail_n = M_cap_n - used_n
  M_eff_n   = max(0, M_avail_n * (1 - v_bar_n))
  u_mem_n   = 1 + used_n / M_cap_n  (utilization weight)
Delay weight (fairness feedback):
  omega_t = 1 + max(0, (W_bar_t - W_bar) / max(1, W_bar))
  Tenants waiting longer than average get omega_t &gt; 1</a:t>
            </a:r>
          </a:p>
        </p:txBody>
      </p:sp>
      <p:sp>
        <p:nvSpPr>
          <p:cNvPr id="8" name="Rectangle 7"/>
          <p:cNvSpPr/>
          <p:nvPr/>
        </p:nvSpPr>
        <p:spPr>
          <a:xfrm>
            <a:off x="5943600" y="960120"/>
            <a:ext cx="5788152" cy="53949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051560"/>
            <a:ext cx="5394960" cy="365760"/>
          </a:xfrm>
          <a:prstGeom prst="rect">
            <a:avLst/>
          </a:prstGeom>
          <a:noFill/>
        </p:spPr>
        <p:txBody>
          <a:bodyPr wrap="square">
            <a:spAutoFit/>
          </a:bodyPr>
          <a:lstStyle/>
          <a:p>
            <a:pPr algn="l"/>
            <a:r>
              <a:rPr sz="1500" b="1">
                <a:solidFill>
                  <a:srgbClr val="34D399"/>
                </a:solidFill>
                <a:latin typeface="Calibri"/>
              </a:rPr>
              <a:t>Objective &amp; Constraints</a:t>
            </a:r>
          </a:p>
        </p:txBody>
      </p:sp>
      <p:sp>
        <p:nvSpPr>
          <p:cNvPr id="10" name="TextBox 9"/>
          <p:cNvSpPr txBox="1"/>
          <p:nvPr/>
        </p:nvSpPr>
        <p:spPr>
          <a:xfrm>
            <a:off x="6126480" y="1463040"/>
            <a:ext cx="5394960" cy="4572000"/>
          </a:xfrm>
          <a:prstGeom prst="rect">
            <a:avLst/>
          </a:prstGeom>
          <a:noFill/>
        </p:spPr>
        <p:txBody>
          <a:bodyPr wrap="square">
            <a:spAutoFit/>
          </a:bodyPr>
          <a:lstStyle/>
          <a:p>
            <a:pPr algn="l"/>
            <a:r>
              <a:rPr sz="1150" b="0">
                <a:solidFill>
                  <a:srgbClr val="CBD5E1"/>
                </a:solidFill>
                <a:latin typeface="Calibri"/>
              </a:rPr>
              <a:t>Objective (maximize weighted memory placement):
  max Z = Sum_{j,n}  omega_t(j)  *  Pred_mem_j
                  *  u_mem_n  *  sigma_consolid_n  *  x[j,n]
  omega_t(j)       delay weight (fairness boost)
  Pred_mem_j       predicted memory of job j
  u_mem_n          utilization weight (consolidation)
  sigma_consolid_n node consolidation bias
Constraints:
  C1: Sum_n x[j,n] &lt;= 1      (one machine per job)
  C2: Sum_j Pred_mem_j * x[j,n] &lt;= M_eff_n
                             (effective memory budget)
  C3: x[j,n] in {0,1}       (binary placement)
  C4: x[j,n] = 0  if Pred_CPU_j &gt; CPU_n
                             (CPU fitment, pre-filtered)
Unplaced jobs stay in queue; tenant W_bar_t bumped by
one interval -- raising omega_t next round.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02920"/>
          </a:xfrm>
          <a:prstGeom prst="rect">
            <a:avLst/>
          </a:prstGeom>
          <a:noFill/>
        </p:spPr>
        <p:txBody>
          <a:bodyPr wrap="square">
            <a:spAutoFit/>
          </a:bodyPr>
          <a:lstStyle/>
          <a:p>
            <a:pPr algn="l"/>
            <a:r>
              <a:rPr sz="2800" b="1">
                <a:solidFill>
                  <a:srgbClr val="FFFFFF"/>
                </a:solidFill>
                <a:latin typeface="Calibri"/>
              </a:rPr>
              <a:t>Simulation Application</a:t>
            </a:r>
          </a:p>
        </p:txBody>
      </p:sp>
      <p:sp>
        <p:nvSpPr>
          <p:cNvPr id="4" name="Rectangle 3"/>
          <p:cNvSpPr/>
          <p:nvPr/>
        </p:nvSpPr>
        <p:spPr>
          <a:xfrm>
            <a:off x="457200" y="749808"/>
            <a:ext cx="11247120" cy="127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11247120" cy="411480"/>
          </a:xfrm>
          <a:prstGeom prst="rect">
            <a:avLst/>
          </a:prstGeom>
          <a:noFill/>
        </p:spPr>
        <p:txBody>
          <a:bodyPr wrap="square">
            <a:spAutoFit/>
          </a:bodyPr>
          <a:lstStyle/>
          <a:p>
            <a:pPr algn="ctr"/>
            <a:r>
              <a:rPr sz="1500" b="0">
                <a:solidFill>
                  <a:srgbClr val="94A3B8"/>
                </a:solidFill>
                <a:latin typeface="Calibri"/>
              </a:rPr>
              <a:t>Interactive visualization of the Multi-Tenant Cluster Optimization Pipeline running in real time</a:t>
            </a:r>
          </a:p>
        </p:txBody>
      </p:sp>
      <p:sp>
        <p:nvSpPr>
          <p:cNvPr id="6" name="Rectangle 5"/>
          <p:cNvSpPr/>
          <p:nvPr/>
        </p:nvSpPr>
        <p:spPr>
          <a:xfrm>
            <a:off x="457200" y="1463040"/>
            <a:ext cx="3474720" cy="40233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3200400" cy="365760"/>
          </a:xfrm>
          <a:prstGeom prst="rect">
            <a:avLst/>
          </a:prstGeom>
          <a:noFill/>
        </p:spPr>
        <p:txBody>
          <a:bodyPr wrap="square">
            <a:spAutoFit/>
          </a:bodyPr>
          <a:lstStyle/>
          <a:p>
            <a:pPr algn="l"/>
            <a:r>
              <a:rPr sz="1500" b="1">
                <a:solidFill>
                  <a:srgbClr val="38BDF8"/>
                </a:solidFill>
                <a:latin typeface="Calibri"/>
              </a:rPr>
              <a:t>Live Cluster View</a:t>
            </a:r>
          </a:p>
        </p:txBody>
      </p:sp>
      <p:sp>
        <p:nvSpPr>
          <p:cNvPr id="8" name="TextBox 7"/>
          <p:cNvSpPr txBox="1"/>
          <p:nvPr/>
        </p:nvSpPr>
        <p:spPr>
          <a:xfrm>
            <a:off x="640080" y="1965960"/>
            <a:ext cx="3200400" cy="3200400"/>
          </a:xfrm>
          <a:prstGeom prst="rect">
            <a:avLst/>
          </a:prstGeom>
          <a:noFill/>
        </p:spPr>
        <p:txBody>
          <a:bodyPr wrap="square">
            <a:spAutoFit/>
          </a:bodyPr>
          <a:lstStyle/>
          <a:p>
            <a:pPr algn="l"/>
            <a:r>
              <a:rPr sz="1200" b="0">
                <a:solidFill>
                  <a:srgbClr val="CBD5E1"/>
                </a:solidFill>
                <a:latin typeface="Calibri"/>
              </a:rPr>
              <a:t>Job queue with tenant color coding
Node cards showing RAM usage,
  SLA violation rate, and job count
Memory utilization wave chart
Auto-pause when Plan-Ahead fires
Metrics displayed:
  Cap Util   used / physical RAM
  Eff Util   used / M_cap (schedulable)
  Act Util   eff over active nodes only</a:t>
            </a:r>
          </a:p>
        </p:txBody>
      </p:sp>
      <p:sp>
        <p:nvSpPr>
          <p:cNvPr id="9" name="Rectangle 8"/>
          <p:cNvSpPr/>
          <p:nvPr/>
        </p:nvSpPr>
        <p:spPr>
          <a:xfrm>
            <a:off x="4361688" y="1463040"/>
            <a:ext cx="3474720" cy="40233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554480"/>
            <a:ext cx="3200400" cy="365760"/>
          </a:xfrm>
          <a:prstGeom prst="rect">
            <a:avLst/>
          </a:prstGeom>
          <a:noFill/>
        </p:spPr>
        <p:txBody>
          <a:bodyPr wrap="square">
            <a:spAutoFit/>
          </a:bodyPr>
          <a:lstStyle/>
          <a:p>
            <a:pPr algn="l"/>
            <a:r>
              <a:rPr sz="1500" b="1">
                <a:solidFill>
                  <a:srgbClr val="A78BFA"/>
                </a:solidFill>
                <a:latin typeface="Calibri"/>
              </a:rPr>
              <a:t>Plan-Ahead Gantt</a:t>
            </a:r>
          </a:p>
        </p:txBody>
      </p:sp>
      <p:sp>
        <p:nvSpPr>
          <p:cNvPr id="11" name="TextBox 10"/>
          <p:cNvSpPr txBox="1"/>
          <p:nvPr/>
        </p:nvSpPr>
        <p:spPr>
          <a:xfrm>
            <a:off x="4544568" y="1965960"/>
            <a:ext cx="3200400" cy="3200400"/>
          </a:xfrm>
          <a:prstGeom prst="rect">
            <a:avLst/>
          </a:prstGeom>
          <a:noFill/>
        </p:spPr>
        <p:txBody>
          <a:bodyPr wrap="square">
            <a:spAutoFit/>
          </a:bodyPr>
          <a:lstStyle/>
          <a:p>
            <a:pPr algn="l"/>
            <a:r>
              <a:rPr sz="1200" b="0">
                <a:solidFill>
                  <a:srgbClr val="CBD5E1"/>
                </a:solidFill>
                <a:latin typeface="Calibri"/>
              </a:rPr>
              <a:t>Runs every H intervals (configurable)
Gantt chart showing machine groups
  per tenant per planning period
Highlights active period with marker
Exclusive vs shared tenant coloring
Gurobi (MILP or MISOCP) when licensed
Falls back to mock planner otherwise
On-demand via Plan Ahead button</a:t>
            </a:r>
          </a:p>
        </p:txBody>
      </p:sp>
      <p:sp>
        <p:nvSpPr>
          <p:cNvPr id="12" name="Rectangle 11"/>
          <p:cNvSpPr/>
          <p:nvPr/>
        </p:nvSpPr>
        <p:spPr>
          <a:xfrm>
            <a:off x="8257031" y="1463040"/>
            <a:ext cx="3474720" cy="402336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9912" y="1554480"/>
            <a:ext cx="3200400" cy="365760"/>
          </a:xfrm>
          <a:prstGeom prst="rect">
            <a:avLst/>
          </a:prstGeom>
          <a:noFill/>
        </p:spPr>
        <p:txBody>
          <a:bodyPr wrap="square">
            <a:spAutoFit/>
          </a:bodyPr>
          <a:lstStyle/>
          <a:p>
            <a:pPr algn="l"/>
            <a:r>
              <a:rPr sz="1500" b="1">
                <a:solidFill>
                  <a:srgbClr val="FBBF24"/>
                </a:solidFill>
                <a:latin typeface="Calibri"/>
              </a:rPr>
              <a:t>Configurable Parameters</a:t>
            </a:r>
          </a:p>
        </p:txBody>
      </p:sp>
      <p:sp>
        <p:nvSpPr>
          <p:cNvPr id="14" name="TextBox 13"/>
          <p:cNvSpPr txBox="1"/>
          <p:nvPr/>
        </p:nvSpPr>
        <p:spPr>
          <a:xfrm>
            <a:off x="8439912" y="1965960"/>
            <a:ext cx="3200400" cy="3200400"/>
          </a:xfrm>
          <a:prstGeom prst="rect">
            <a:avLst/>
          </a:prstGeom>
          <a:noFill/>
        </p:spPr>
        <p:txBody>
          <a:bodyPr wrap="square">
            <a:spAutoFit/>
          </a:bodyPr>
          <a:lstStyle/>
          <a:p>
            <a:pPr algn="l"/>
            <a:r>
              <a:rPr sz="1200" b="0">
                <a:solidFill>
                  <a:srgbClr val="CBD5E1"/>
                </a:solidFill>
                <a:latin typeface="Calibri"/>
              </a:rPr>
              <a:t>Topology: nodes, tenants, RAM, CPU
Workload: jobs/interval (range),
  job RAM/CPU, spike probability,
  job lifetime range
Scheduler: batch duration, K window,
  safety buffer, time limit (ms)
Plan-Ahead: horizon steps,
  period steps, exclusivity fraction,
  MILP vs MISOCP, Gurobi params
All changes staged, applied on Reset</a:t>
            </a:r>
          </a:p>
        </p:txBody>
      </p:sp>
      <p:sp>
        <p:nvSpPr>
          <p:cNvPr id="15" name="TextBox 14"/>
          <p:cNvSpPr txBox="1"/>
          <p:nvPr/>
        </p:nvSpPr>
        <p:spPr>
          <a:xfrm>
            <a:off x="457200" y="6035040"/>
            <a:ext cx="11247120" cy="365760"/>
          </a:xfrm>
          <a:prstGeom prst="rect">
            <a:avLst/>
          </a:prstGeom>
          <a:noFill/>
        </p:spPr>
        <p:txBody>
          <a:bodyPr wrap="square">
            <a:spAutoFit/>
          </a:bodyPr>
          <a:lstStyle/>
          <a:p>
            <a:pPr algn="ctr"/>
            <a:r>
              <a:rPr sz="1100" b="0">
                <a:solidFill>
                  <a:srgbClr val="64748B"/>
                </a:solidFill>
                <a:latin typeface="Calibri"/>
              </a:rPr>
              <a:t>Backend: FastAPI + Python   |   Frontend: React + TypeScript + Tailwind   |   Solvers: Gurobi (plan-ahead) + OR-Tools (real-time)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1247120" cy="502920"/>
          </a:xfrm>
          <a:prstGeom prst="rect">
            <a:avLst/>
          </a:prstGeom>
          <a:noFill/>
        </p:spPr>
        <p:txBody>
          <a:bodyPr wrap="square">
            <a:spAutoFit/>
          </a:bodyPr>
          <a:lstStyle/>
          <a:p>
            <a:pPr algn="l"/>
            <a:r>
              <a:rPr sz="2800" b="1">
                <a:solidFill>
                  <a:srgbClr val="FFFFFF"/>
                </a:solidFill>
                <a:latin typeface="Calibri"/>
              </a:rPr>
              <a:t>Feedback Integration &amp; Sensitivity Analysis</a:t>
            </a:r>
          </a:p>
        </p:txBody>
      </p:sp>
      <p:sp>
        <p:nvSpPr>
          <p:cNvPr id="4" name="Rectangle 3"/>
          <p:cNvSpPr/>
          <p:nvPr/>
        </p:nvSpPr>
        <p:spPr>
          <a:xfrm>
            <a:off x="457200" y="749808"/>
            <a:ext cx="11247120" cy="1270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5303520" cy="502920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4937760" cy="365760"/>
          </a:xfrm>
          <a:prstGeom prst="rect">
            <a:avLst/>
          </a:prstGeom>
          <a:noFill/>
        </p:spPr>
        <p:txBody>
          <a:bodyPr wrap="square">
            <a:spAutoFit/>
          </a:bodyPr>
          <a:lstStyle/>
          <a:p>
            <a:pPr algn="l"/>
            <a:r>
              <a:rPr sz="1500" b="1">
                <a:solidFill>
                  <a:srgbClr val="FB7185"/>
                </a:solidFill>
                <a:latin typeface="Calibri"/>
              </a:rPr>
              <a:t>Feedback Integration</a:t>
            </a:r>
          </a:p>
        </p:txBody>
      </p:sp>
      <p:sp>
        <p:nvSpPr>
          <p:cNvPr id="7" name="TextBox 6"/>
          <p:cNvSpPr txBox="1"/>
          <p:nvPr/>
        </p:nvSpPr>
        <p:spPr>
          <a:xfrm>
            <a:off x="640080" y="1463040"/>
            <a:ext cx="4937760" cy="4206240"/>
          </a:xfrm>
          <a:prstGeom prst="rect">
            <a:avLst/>
          </a:prstGeom>
          <a:noFill/>
        </p:spPr>
        <p:txBody>
          <a:bodyPr wrap="square">
            <a:spAutoFit/>
          </a:bodyPr>
          <a:lstStyle/>
          <a:p>
            <a:pPr algn="l"/>
            <a:r>
              <a:rPr sz="1150" b="0">
                <a:solidFill>
                  <a:srgbClr val="CBD5E1"/>
                </a:solidFill>
                <a:latin typeface="Calibri"/>
              </a:rPr>
              <a:t>Plan-Ahead receives signals from Real-Time:
SLA capacity reduction:
  C_eff[n] = C[n] * (1 - alpha * v_bar_n)
  Machines with frequent violations get smaller
  effective capacity in the next plan solve
Demand inflation:
  u_fb[i,h] = u[i,h] * (1 + beta * W_bar_i / W_ref)
  Tenants with long queues get inflated demand
  so the model allocates them more machines
Cantelli safety buffer:
  kappa = sqrt((1 - eps) / eps)
  t[n,h]^2 &gt;= Sum_i sigma2[i,h] * y[i,n,h]
  Guarantees P(actual &lt;= capacity) &gt;= 1 - eps
  Default: eps=0.10 -&gt; kappa=3.0 -&gt; 90% safety</a:t>
            </a:r>
          </a:p>
        </p:txBody>
      </p:sp>
      <p:sp>
        <p:nvSpPr>
          <p:cNvPr id="8" name="Rectangle 7"/>
          <p:cNvSpPr/>
          <p:nvPr/>
        </p:nvSpPr>
        <p:spPr>
          <a:xfrm>
            <a:off x="5943600" y="960120"/>
            <a:ext cx="5788152" cy="5029200"/>
          </a:xfrm>
          <a:prstGeom prst="rect">
            <a:avLst/>
          </a:prstGeom>
          <a:solidFill>
            <a:srgbClr val="0F172A"/>
          </a:solidFill>
          <a:ln w="9525">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051560"/>
            <a:ext cx="5394960" cy="365760"/>
          </a:xfrm>
          <a:prstGeom prst="rect">
            <a:avLst/>
          </a:prstGeom>
          <a:noFill/>
        </p:spPr>
        <p:txBody>
          <a:bodyPr wrap="square">
            <a:spAutoFit/>
          </a:bodyPr>
          <a:lstStyle/>
          <a:p>
            <a:pPr algn="l"/>
            <a:r>
              <a:rPr sz="1500" b="1">
                <a:solidFill>
                  <a:srgbClr val="FB7185"/>
                </a:solidFill>
                <a:latin typeface="Calibri"/>
              </a:rPr>
              <a:t>Sensitivity Analysis</a:t>
            </a:r>
          </a:p>
        </p:txBody>
      </p:sp>
      <p:sp>
        <p:nvSpPr>
          <p:cNvPr id="10" name="TextBox 9"/>
          <p:cNvSpPr txBox="1"/>
          <p:nvPr/>
        </p:nvSpPr>
        <p:spPr>
          <a:xfrm>
            <a:off x="6126480" y="1463040"/>
            <a:ext cx="5394960" cy="4206240"/>
          </a:xfrm>
          <a:prstGeom prst="rect">
            <a:avLst/>
          </a:prstGeom>
          <a:noFill/>
        </p:spPr>
        <p:txBody>
          <a:bodyPr wrap="square">
            <a:spAutoFit/>
          </a:bodyPr>
          <a:lstStyle/>
          <a:p>
            <a:pPr algn="l"/>
            <a:r>
              <a:rPr sz="1150" b="0">
                <a:solidFill>
                  <a:srgbClr val="CBD5E1"/>
                </a:solidFill>
                <a:latin typeface="Calibri"/>
              </a:rPr>
              <a:t>Sweeps run offline via plan_ahead_sensitivity.py
1. Cantelli epsilon
   Varies tail probability (0.01 to 0.30)
   Smaller eps -&gt; stricter capacity -&gt; higher cost
2. Exclusive tenant fraction
   Varies 0% to 100% exclusive tenants
   Shows machine pressure at high exclusivity
3. Node capacity
   Varies C[n] from 5 to 20 units
   Higher capacity -&gt; fewer machines activated
4. Fairness weight lam[1]
   Stronger sigma penalty -&gt; more equal allocation
5. Mix-bonus weight lam[2]
   Higher weight -&gt; more heavy+light co-location
Pipeline sensitivity: pipeline/sensitivity_analysis.py
Sweeps interval count, node count, tenant count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91840"/>
            <a:ext cx="12188952" cy="36576"/>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914400"/>
          </a:xfrm>
          <a:prstGeom prst="rect">
            <a:avLst/>
          </a:prstGeom>
          <a:noFill/>
        </p:spPr>
        <p:txBody>
          <a:bodyPr wrap="square">
            <a:spAutoFit/>
          </a:bodyPr>
          <a:lstStyle/>
          <a:p>
            <a:pPr algn="ctr"/>
            <a:r>
              <a:rPr sz="5200" b="1">
                <a:solidFill>
                  <a:srgbClr val="FFFFFF"/>
                </a:solidFill>
                <a:latin typeface="Calibri"/>
              </a:rPr>
              <a:t>Thank You</a:t>
            </a:r>
          </a:p>
        </p:txBody>
      </p:sp>
      <p:sp>
        <p:nvSpPr>
          <p:cNvPr id="5" name="TextBox 4"/>
          <p:cNvSpPr txBox="1"/>
          <p:nvPr/>
        </p:nvSpPr>
        <p:spPr>
          <a:xfrm>
            <a:off x="914400" y="3474720"/>
            <a:ext cx="10332720" cy="502920"/>
          </a:xfrm>
          <a:prstGeom prst="rect">
            <a:avLst/>
          </a:prstGeom>
          <a:noFill/>
        </p:spPr>
        <p:txBody>
          <a:bodyPr wrap="square">
            <a:spAutoFit/>
          </a:bodyPr>
          <a:lstStyle/>
          <a:p>
            <a:pPr algn="ctr"/>
            <a:r>
              <a:rPr sz="2000" b="0">
                <a:solidFill>
                  <a:srgbClr val="22D3EE"/>
                </a:solidFill>
                <a:latin typeface="Calibri"/>
              </a:rPr>
              <a:t>A Two-Part Optimization System for Multi-Tenant Cluster Scheduling</a:t>
            </a:r>
          </a:p>
        </p:txBody>
      </p:sp>
      <p:sp>
        <p:nvSpPr>
          <p:cNvPr id="6" name="TextBox 5"/>
          <p:cNvSpPr txBox="1"/>
          <p:nvPr/>
        </p:nvSpPr>
        <p:spPr>
          <a:xfrm>
            <a:off x="914400" y="4206240"/>
            <a:ext cx="10332720" cy="365760"/>
          </a:xfrm>
          <a:prstGeom prst="rect">
            <a:avLst/>
          </a:prstGeom>
          <a:noFill/>
        </p:spPr>
        <p:txBody>
          <a:bodyPr wrap="square">
            <a:spAutoFit/>
          </a:bodyPr>
          <a:lstStyle/>
          <a:p>
            <a:pPr algn="ctr"/>
            <a:r>
              <a:rPr sz="1400" b="0">
                <a:solidFill>
                  <a:srgbClr val="94A3B8"/>
                </a:solidFill>
                <a:latin typeface="Calibri"/>
              </a:rPr>
              <a:t>Gurobi MILP/MISOCP  (Plan-Ahead)   +   OR-Tools MILP  (Real-Time)   +   FastAPI / React Simulation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