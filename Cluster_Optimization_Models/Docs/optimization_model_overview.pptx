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34640"/>
            <a:ext cx="12188952" cy="36576"/>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1280160"/>
          </a:xfrm>
          <a:prstGeom prst="rect">
            <a:avLst/>
          </a:prstGeom>
          <a:noFill/>
        </p:spPr>
        <p:txBody>
          <a:bodyPr wrap="square">
            <a:spAutoFit/>
          </a:bodyPr>
          <a:lstStyle/>
          <a:p>
            <a:pPr algn="ctr"/>
            <a:r>
              <a:rPr sz="4400" b="1">
                <a:solidFill>
                  <a:srgbClr val="FFFFFF"/>
                </a:solidFill>
                <a:latin typeface="Calibri"/>
              </a:rPr>
              <a:t>A Two-Part Optimization System</a:t>
            </a:r>
          </a:p>
        </p:txBody>
      </p:sp>
      <p:sp>
        <p:nvSpPr>
          <p:cNvPr id="5" name="TextBox 4"/>
          <p:cNvSpPr txBox="1"/>
          <p:nvPr/>
        </p:nvSpPr>
        <p:spPr>
          <a:xfrm>
            <a:off x="914400" y="2468880"/>
            <a:ext cx="10332720" cy="548640"/>
          </a:xfrm>
          <a:prstGeom prst="rect">
            <a:avLst/>
          </a:prstGeom>
          <a:noFill/>
        </p:spPr>
        <p:txBody>
          <a:bodyPr wrap="square">
            <a:spAutoFit/>
          </a:bodyPr>
          <a:lstStyle/>
          <a:p>
            <a:pPr algn="ctr"/>
            <a:r>
              <a:rPr sz="2200" b="0">
                <a:solidFill>
                  <a:srgbClr val="22D3EE"/>
                </a:solidFill>
                <a:latin typeface="Calibri"/>
              </a:rPr>
              <a:t>Plan-Ahead Optimization  +  Real-Time Optimization</a:t>
            </a:r>
          </a:p>
        </p:txBody>
      </p:sp>
      <p:sp>
        <p:nvSpPr>
          <p:cNvPr id="6" name="TextBox 5"/>
          <p:cNvSpPr txBox="1"/>
          <p:nvPr/>
        </p:nvSpPr>
        <p:spPr>
          <a:xfrm>
            <a:off x="914400" y="3200400"/>
            <a:ext cx="10332720" cy="457200"/>
          </a:xfrm>
          <a:prstGeom prst="rect">
            <a:avLst/>
          </a:prstGeom>
          <a:noFill/>
        </p:spPr>
        <p:txBody>
          <a:bodyPr wrap="square">
            <a:spAutoFit/>
          </a:bodyPr>
          <a:lstStyle/>
          <a:p>
            <a:pPr algn="ctr"/>
            <a:r>
              <a:rPr sz="1600" b="0">
                <a:solidFill>
                  <a:srgbClr val="94A3B8"/>
                </a:solidFill>
                <a:latin typeface="Calibri"/>
              </a:rPr>
              <a:t>The Optimization Layer of the Multi-Tenant Cluster Scheduling Pipeline</a:t>
            </a:r>
          </a:p>
        </p:txBody>
      </p:sp>
      <p:sp>
        <p:nvSpPr>
          <p:cNvPr id="7" name="TextBox 6"/>
          <p:cNvSpPr txBox="1"/>
          <p:nvPr/>
        </p:nvSpPr>
        <p:spPr>
          <a:xfrm>
            <a:off x="914400" y="6035040"/>
            <a:ext cx="10332720" cy="365760"/>
          </a:xfrm>
          <a:prstGeom prst="rect">
            <a:avLst/>
          </a:prstGeom>
          <a:noFill/>
        </p:spPr>
        <p:txBody>
          <a:bodyPr wrap="square">
            <a:spAutoFit/>
          </a:bodyPr>
          <a:lstStyle/>
          <a:p>
            <a:pPr algn="ctr"/>
            <a:r>
              <a:rPr sz="1300" b="0">
                <a:solidFill>
                  <a:srgbClr val="64748B"/>
                </a:solidFill>
                <a:latin typeface="Calibri"/>
              </a:rPr>
              <a:t>Capstone Project  |  Spring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The Multi-Tenant Cluster Optimization Pipeline</a:t>
            </a:r>
          </a:p>
        </p:txBody>
      </p:sp>
      <p:sp>
        <p:nvSpPr>
          <p:cNvPr id="4" name="Rectangle 3"/>
          <p:cNvSpPr/>
          <p:nvPr/>
        </p:nvSpPr>
        <p:spPr>
          <a:xfrm>
            <a:off x="457200" y="749808"/>
            <a:ext cx="11247120" cy="127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5029200" cy="49377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97280"/>
            <a:ext cx="4663440" cy="457200"/>
          </a:xfrm>
          <a:prstGeom prst="rect">
            <a:avLst/>
          </a:prstGeom>
          <a:noFill/>
        </p:spPr>
        <p:txBody>
          <a:bodyPr wrap="square">
            <a:spAutoFit/>
          </a:bodyPr>
          <a:lstStyle/>
          <a:p>
            <a:pPr algn="l"/>
            <a:r>
              <a:rPr sz="1700" b="1">
                <a:solidFill>
                  <a:srgbClr val="FBBF24"/>
                </a:solidFill>
                <a:latin typeface="Calibri"/>
              </a:rPr>
              <a:t>Layer 1 — Prediction Layer</a:t>
            </a:r>
          </a:p>
        </p:txBody>
      </p:sp>
      <p:sp>
        <p:nvSpPr>
          <p:cNvPr id="7" name="TextBox 6"/>
          <p:cNvSpPr txBox="1"/>
          <p:nvPr/>
        </p:nvSpPr>
        <p:spPr>
          <a:xfrm>
            <a:off x="640080" y="1600200"/>
            <a:ext cx="4572000" cy="3474720"/>
          </a:xfrm>
          <a:prstGeom prst="rect">
            <a:avLst/>
          </a:prstGeom>
          <a:noFill/>
        </p:spPr>
        <p:txBody>
          <a:bodyPr wrap="square">
            <a:spAutoFit/>
          </a:bodyPr>
          <a:lstStyle/>
          <a:p>
            <a:pPr algn="l"/>
            <a:r>
              <a:rPr sz="1300" b="0">
                <a:solidFill>
                  <a:srgbClr val="CBD5E1"/>
                </a:solidFill>
                <a:latin typeface="Calibri"/>
              </a:rPr>
              <a:t>Processes historical cluster-usage traces
  (Google Borg / Kubernetes telemetry)
Outputs per-job predictions:
  Pred_mem   max predicted memory usage
  Pred_CPU   P95 predicted CPU peak
Feeds both optimization models:
  Plan-Ahead  uses aggregate demand u[i,h]
  Real-Time   uses per-job Pred_mem, Pred_CPU</a:t>
            </a:r>
          </a:p>
        </p:txBody>
      </p:sp>
      <p:sp>
        <p:nvSpPr>
          <p:cNvPr id="8" name="TextBox 7"/>
          <p:cNvSpPr txBox="1"/>
          <p:nvPr/>
        </p:nvSpPr>
        <p:spPr>
          <a:xfrm>
            <a:off x="5623560" y="3108960"/>
            <a:ext cx="548640" cy="457200"/>
          </a:xfrm>
          <a:prstGeom prst="rect">
            <a:avLst/>
          </a:prstGeom>
          <a:noFill/>
        </p:spPr>
        <p:txBody>
          <a:bodyPr wrap="square">
            <a:spAutoFit/>
          </a:bodyPr>
          <a:lstStyle/>
          <a:p>
            <a:pPr algn="ctr"/>
            <a:r>
              <a:rPr sz="2800" b="0">
                <a:solidFill>
                  <a:srgbClr val="22D3EE"/>
                </a:solidFill>
                <a:latin typeface="Calibri"/>
              </a:rPr>
              <a:t>►</a:t>
            </a:r>
          </a:p>
        </p:txBody>
      </p:sp>
      <p:sp>
        <p:nvSpPr>
          <p:cNvPr id="9" name="Rectangle 8"/>
          <p:cNvSpPr/>
          <p:nvPr/>
        </p:nvSpPr>
        <p:spPr>
          <a:xfrm>
            <a:off x="6217920" y="1005840"/>
            <a:ext cx="5486400" cy="49377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097280"/>
            <a:ext cx="5120640" cy="457200"/>
          </a:xfrm>
          <a:prstGeom prst="rect">
            <a:avLst/>
          </a:prstGeom>
          <a:noFill/>
        </p:spPr>
        <p:txBody>
          <a:bodyPr wrap="square">
            <a:spAutoFit/>
          </a:bodyPr>
          <a:lstStyle/>
          <a:p>
            <a:pPr algn="l"/>
            <a:r>
              <a:rPr sz="1700" b="1">
                <a:solidFill>
                  <a:srgbClr val="22D3EE"/>
                </a:solidFill>
                <a:latin typeface="Calibri"/>
              </a:rPr>
              <a:t>Layer 2 — Optimization Layer</a:t>
            </a:r>
          </a:p>
        </p:txBody>
      </p:sp>
      <p:sp>
        <p:nvSpPr>
          <p:cNvPr id="11" name="Rectangle 10"/>
          <p:cNvSpPr/>
          <p:nvPr/>
        </p:nvSpPr>
        <p:spPr>
          <a:xfrm>
            <a:off x="6400800" y="1600200"/>
            <a:ext cx="5120640" cy="2011680"/>
          </a:xfrm>
          <a:prstGeom prst="rect">
            <a:avLst/>
          </a:prstGeom>
          <a:solidFill>
            <a:srgbClr val="0A1A30"/>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664208"/>
            <a:ext cx="4754880" cy="365760"/>
          </a:xfrm>
          <a:prstGeom prst="rect">
            <a:avLst/>
          </a:prstGeom>
          <a:noFill/>
        </p:spPr>
        <p:txBody>
          <a:bodyPr wrap="square">
            <a:spAutoFit/>
          </a:bodyPr>
          <a:lstStyle/>
          <a:p>
            <a:pPr algn="l"/>
            <a:r>
              <a:rPr sz="1300" b="1">
                <a:solidFill>
                  <a:srgbClr val="A78BFA"/>
                </a:solidFill>
                <a:latin typeface="Calibri"/>
              </a:rPr>
              <a:t>Plan-Ahead (MILP / MISOCP)</a:t>
            </a:r>
          </a:p>
        </p:txBody>
      </p:sp>
      <p:sp>
        <p:nvSpPr>
          <p:cNvPr id="13" name="TextBox 12"/>
          <p:cNvSpPr txBox="1"/>
          <p:nvPr/>
        </p:nvSpPr>
        <p:spPr>
          <a:xfrm>
            <a:off x="6537960" y="2057400"/>
            <a:ext cx="4754880" cy="1280160"/>
          </a:xfrm>
          <a:prstGeom prst="rect">
            <a:avLst/>
          </a:prstGeom>
          <a:noFill/>
        </p:spPr>
        <p:txBody>
          <a:bodyPr wrap="square">
            <a:spAutoFit/>
          </a:bodyPr>
          <a:lstStyle/>
          <a:p>
            <a:pPr algn="l"/>
            <a:r>
              <a:rPr sz="1200" b="0">
                <a:solidFill>
                  <a:srgbClr val="CBD5E1"/>
                </a:solidFill>
                <a:latin typeface="Calibri"/>
              </a:rPr>
              <a:t>Runs every H intervals (the horizon)
Assigns machine pools and tenant groups
for the upcoming planning periods</a:t>
            </a:r>
          </a:p>
        </p:txBody>
      </p:sp>
      <p:sp>
        <p:nvSpPr>
          <p:cNvPr id="14" name="Rectangle 13"/>
          <p:cNvSpPr/>
          <p:nvPr/>
        </p:nvSpPr>
        <p:spPr>
          <a:xfrm>
            <a:off x="6400800" y="3703320"/>
            <a:ext cx="5120640" cy="1920240"/>
          </a:xfrm>
          <a:prstGeom prst="rect">
            <a:avLst/>
          </a:prstGeom>
          <a:solidFill>
            <a:srgbClr val="0A1A30"/>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3767328"/>
            <a:ext cx="4754880" cy="365760"/>
          </a:xfrm>
          <a:prstGeom prst="rect">
            <a:avLst/>
          </a:prstGeom>
          <a:noFill/>
        </p:spPr>
        <p:txBody>
          <a:bodyPr wrap="square">
            <a:spAutoFit/>
          </a:bodyPr>
          <a:lstStyle/>
          <a:p>
            <a:pPr algn="l"/>
            <a:r>
              <a:rPr sz="1300" b="1">
                <a:solidFill>
                  <a:srgbClr val="34D399"/>
                </a:solidFill>
                <a:latin typeface="Calibri"/>
              </a:rPr>
              <a:t>Real-Time (MILP)</a:t>
            </a:r>
          </a:p>
        </p:txBody>
      </p:sp>
      <p:sp>
        <p:nvSpPr>
          <p:cNvPr id="16" name="TextBox 15"/>
          <p:cNvSpPr txBox="1"/>
          <p:nvPr/>
        </p:nvSpPr>
        <p:spPr>
          <a:xfrm>
            <a:off x="6537960" y="4160520"/>
            <a:ext cx="4754880" cy="1234440"/>
          </a:xfrm>
          <a:prstGeom prst="rect">
            <a:avLst/>
          </a:prstGeom>
          <a:noFill/>
        </p:spPr>
        <p:txBody>
          <a:bodyPr wrap="square">
            <a:spAutoFit/>
          </a:bodyPr>
          <a:lstStyle/>
          <a:p>
            <a:pPr algn="l"/>
            <a:r>
              <a:rPr sz="1200" b="0">
                <a:solidFill>
                  <a:srgbClr val="CBD5E1"/>
                </a:solidFill>
                <a:latin typeface="Calibri"/>
              </a:rPr>
              <a:t>Called once per tenant group per interval
Places queued jobs onto assigned machines
Updates fairness weights (omega_t) each round</a:t>
            </a:r>
          </a:p>
        </p:txBody>
      </p:sp>
      <p:sp>
        <p:nvSpPr>
          <p:cNvPr id="17" name="TextBox 16"/>
          <p:cNvSpPr txBox="1"/>
          <p:nvPr/>
        </p:nvSpPr>
        <p:spPr>
          <a:xfrm>
            <a:off x="6400800" y="3108960"/>
            <a:ext cx="2377440" cy="320040"/>
          </a:xfrm>
          <a:prstGeom prst="rect">
            <a:avLst/>
          </a:prstGeom>
          <a:noFill/>
        </p:spPr>
        <p:txBody>
          <a:bodyPr wrap="square">
            <a:spAutoFit/>
          </a:bodyPr>
          <a:lstStyle/>
          <a:p>
            <a:pPr algn="l"/>
            <a:r>
              <a:rPr sz="1100" b="0">
                <a:solidFill>
                  <a:srgbClr val="64748B"/>
                </a:solidFill>
                <a:latin typeface="Calibri"/>
              </a:rPr>
              <a:t>Gurobi (WLS license)</a:t>
            </a:r>
          </a:p>
        </p:txBody>
      </p:sp>
      <p:sp>
        <p:nvSpPr>
          <p:cNvPr id="18" name="TextBox 17"/>
          <p:cNvSpPr txBox="1"/>
          <p:nvPr/>
        </p:nvSpPr>
        <p:spPr>
          <a:xfrm>
            <a:off x="8869680" y="3108960"/>
            <a:ext cx="2651760" cy="320040"/>
          </a:xfrm>
          <a:prstGeom prst="rect">
            <a:avLst/>
          </a:prstGeom>
          <a:noFill/>
        </p:spPr>
        <p:txBody>
          <a:bodyPr wrap="square">
            <a:spAutoFit/>
          </a:bodyPr>
          <a:lstStyle/>
          <a:p>
            <a:pPr algn="r"/>
            <a:r>
              <a:rPr sz="1100" b="0">
                <a:solidFill>
                  <a:srgbClr val="64748B"/>
                </a:solidFill>
                <a:latin typeface="Calibri"/>
              </a:rPr>
              <a:t>OR-Tools (open-source)</a:t>
            </a:r>
          </a:p>
        </p:txBody>
      </p:sp>
      <p:sp>
        <p:nvSpPr>
          <p:cNvPr id="19" name="TextBox 18"/>
          <p:cNvSpPr txBox="1"/>
          <p:nvPr/>
        </p:nvSpPr>
        <p:spPr>
          <a:xfrm>
            <a:off x="457200" y="6080760"/>
            <a:ext cx="11247120" cy="320040"/>
          </a:xfrm>
          <a:prstGeom prst="rect">
            <a:avLst/>
          </a:prstGeom>
          <a:noFill/>
        </p:spPr>
        <p:txBody>
          <a:bodyPr wrap="square">
            <a:spAutoFit/>
          </a:bodyPr>
          <a:lstStyle/>
          <a:p>
            <a:pPr algn="ctr"/>
            <a:r>
              <a:rPr sz="1200" b="0">
                <a:solidFill>
                  <a:srgbClr val="64748B"/>
                </a:solidFill>
                <a:latin typeface="Calibri"/>
              </a:rPr>
              <a:t>Cluster Manager routes pre-filtered jobs + machines to Real-Time each interval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Plan-Ahead Optimization  (MILP / MISOCP)</a:t>
            </a:r>
          </a:p>
        </p:txBody>
      </p:sp>
      <p:sp>
        <p:nvSpPr>
          <p:cNvPr id="4" name="Rectangle 3"/>
          <p:cNvSpPr/>
          <p:nvPr/>
        </p:nvSpPr>
        <p:spPr>
          <a:xfrm>
            <a:off x="457200" y="749808"/>
            <a:ext cx="11247120" cy="1270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A78BFA"/>
                </a:solidFill>
                <a:latin typeface="Calibri"/>
              </a:rPr>
              <a:t>Sets &amp; Decisions</a:t>
            </a:r>
          </a:p>
        </p:txBody>
      </p:sp>
      <p:sp>
        <p:nvSpPr>
          <p:cNvPr id="7" name="TextBox 6"/>
          <p:cNvSpPr txBox="1"/>
          <p:nvPr/>
        </p:nvSpPr>
        <p:spPr>
          <a:xfrm>
            <a:off x="640080" y="1463040"/>
            <a:ext cx="4937760" cy="3840480"/>
          </a:xfrm>
          <a:prstGeom prst="rect">
            <a:avLst/>
          </a:prstGeom>
          <a:noFill/>
        </p:spPr>
        <p:txBody>
          <a:bodyPr wrap="square">
            <a:spAutoFit/>
          </a:bodyPr>
          <a:lstStyle/>
          <a:p>
            <a:pPr algn="l"/>
            <a:r>
              <a:rPr sz="1150" b="0">
                <a:solidFill>
                  <a:srgbClr val="CBD5E1"/>
                </a:solidFill>
                <a:latin typeface="Calibri"/>
              </a:rPr>
              <a:t>T = T_e (exclusive) u T_s (shared)
M = M_a (always-on) u M_b (additional)
H = planning periods (slots in horizon)
Decision variables:
  e[i,n,h]  1 if exclusive tenant i on machine n in period h
            PER-PERIOD: adapts each period via feedback
  z_on[n]   1 if additional machine n is activated
  y[i,n,h]  1 if shared tenant i on machine n in period h
  f[i,n,h]  capacity allocated to tenant i on machine n
  sigma     min demand-satisfaction ratio (fairness)
  t[n,h]    Cantelli safety buffer (MISOCP mode only)
  mix[n,h]  1 if machine n has heavy + light tenant in h</a:t>
            </a:r>
          </a:p>
        </p:txBody>
      </p:sp>
      <p:sp>
        <p:nvSpPr>
          <p:cNvPr id="8" name="Rectangle 7"/>
          <p:cNvSpPr/>
          <p:nvPr/>
        </p:nvSpPr>
        <p:spPr>
          <a:xfrm>
            <a:off x="5943600" y="960120"/>
            <a:ext cx="5788152"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A78BFA"/>
                </a:solidFill>
                <a:latin typeface="Calibri"/>
              </a:rPr>
              <a:t>Constraints &amp; Objective</a:t>
            </a:r>
          </a:p>
        </p:txBody>
      </p:sp>
      <p:sp>
        <p:nvSpPr>
          <p:cNvPr id="10" name="TextBox 9"/>
          <p:cNvSpPr txBox="1"/>
          <p:nvPr/>
        </p:nvSpPr>
        <p:spPr>
          <a:xfrm>
            <a:off x="6126480" y="1463040"/>
            <a:ext cx="5394960" cy="4572000"/>
          </a:xfrm>
          <a:prstGeom prst="rect">
            <a:avLst/>
          </a:prstGeom>
          <a:noFill/>
        </p:spPr>
        <p:txBody>
          <a:bodyPr wrap="square">
            <a:spAutoFit/>
          </a:bodyPr>
          <a:lstStyle/>
          <a:p>
            <a:pPr algn="l"/>
            <a:r>
              <a:rPr sz="1100" b="0">
                <a:solidFill>
                  <a:srgbClr val="CBD5E1"/>
                </a:solidFill>
                <a:latin typeface="Calibri"/>
              </a:rPr>
              <a:t>C_aa    z[n,h] = 1  for all n in M_a  (always-on)
C_excl  each exclusive tenant -&gt; exactly one machine
C_sep   exclusive and shared machines do not overlap
C_share each shared tenant assigned &gt;= 1 machine / period
Capacity (MILP):   Sum_i f[i,n,h]  &lt;=  C_eff[n] * z[n,h]
Capacity (MISOCP): above + kappa * t[n,h]  &lt;=  C_eff[n] * z[n,h]
  where  t[n,h]^2 &gt;= Sum_i sigma2[i,h] * y[i,n,h]  (cone)
  Cantelli: P(actual &lt;= capacity) &gt;= 1 - epsilon
C_demand  Sum_n f[i,n,h] &gt;= u[i,h]  (all shared, all periods)
C_fair    sigma &lt;= total_alloc / total_demand  (per tenant)
Objective (minimize):
  lam[0] * infra_cost
  - lam[1] * sigma          (maximize fairness)
  - lam[2] * mix_total      (reward heavy+light co-location)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Real-Time Optimization  (MILP per group per interval)</a:t>
            </a:r>
          </a:p>
        </p:txBody>
      </p:sp>
      <p:sp>
        <p:nvSpPr>
          <p:cNvPr id="4" name="Rectangle 3"/>
          <p:cNvSpPr/>
          <p:nvPr/>
        </p:nvSpPr>
        <p:spPr>
          <a:xfrm>
            <a:off x="457200" y="749808"/>
            <a:ext cx="11247120" cy="127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34D399"/>
                </a:solidFill>
                <a:latin typeface="Calibri"/>
              </a:rPr>
              <a:t>Model &amp; Inputs</a:t>
            </a:r>
          </a:p>
        </p:txBody>
      </p:sp>
      <p:sp>
        <p:nvSpPr>
          <p:cNvPr id="7" name="TextBox 6"/>
          <p:cNvSpPr txBox="1"/>
          <p:nvPr/>
        </p:nvSpPr>
        <p:spPr>
          <a:xfrm>
            <a:off x="640080" y="1463040"/>
            <a:ext cx="4937760" cy="3840480"/>
          </a:xfrm>
          <a:prstGeom prst="rect">
            <a:avLst/>
          </a:prstGeom>
          <a:noFill/>
        </p:spPr>
        <p:txBody>
          <a:bodyPr wrap="square">
            <a:spAutoFit/>
          </a:bodyPr>
          <a:lstStyle/>
          <a:p>
            <a:pPr algn="l"/>
            <a:r>
              <a:rPr sz="1150" b="0">
                <a:solidFill>
                  <a:srgbClr val="CBD5E1"/>
                </a:solidFill>
                <a:latin typeface="Calibri"/>
              </a:rPr>
              <a:t>Solver: OR-Tools  (CBC / GLOP / SCIP)
Called: once per tenant group per interval
Inputs: pre-filtered jobs + machines from Cluster Manager
Decision variable:
  x[j,n]  1 if job j placed on machine n
Derived node quantities:
  v_bar_n   SLA violation rate (last K intervals)
  M_cap_n   schedulable capacity = RAM - OS_tax - theta
  M_avail_n = M_cap_n - used_n
  M_eff_n   = max(0, M_avail_n * (1 - v_bar_n))
  u_mem_n   = 1 + used_n / M_cap_n  (utilization weight)
Delay weight (fairness feedback):
  omega_t = 1 + max(0, (W_bar_t - W_bar) / max(1, W_bar))
  Tenants waiting longer than average get omega_t &gt; 1</a:t>
            </a:r>
          </a:p>
        </p:txBody>
      </p:sp>
      <p:sp>
        <p:nvSpPr>
          <p:cNvPr id="8" name="Rectangle 7"/>
          <p:cNvSpPr/>
          <p:nvPr/>
        </p:nvSpPr>
        <p:spPr>
          <a:xfrm>
            <a:off x="5943600" y="960120"/>
            <a:ext cx="5788152" cy="53949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34D399"/>
                </a:solidFill>
                <a:latin typeface="Calibri"/>
              </a:rPr>
              <a:t>Objective &amp; Constraints</a:t>
            </a:r>
          </a:p>
        </p:txBody>
      </p:sp>
      <p:sp>
        <p:nvSpPr>
          <p:cNvPr id="10" name="TextBox 9"/>
          <p:cNvSpPr txBox="1"/>
          <p:nvPr/>
        </p:nvSpPr>
        <p:spPr>
          <a:xfrm>
            <a:off x="6126480" y="1463040"/>
            <a:ext cx="5394960" cy="4572000"/>
          </a:xfrm>
          <a:prstGeom prst="rect">
            <a:avLst/>
          </a:prstGeom>
          <a:noFill/>
        </p:spPr>
        <p:txBody>
          <a:bodyPr wrap="square">
            <a:spAutoFit/>
          </a:bodyPr>
          <a:lstStyle/>
          <a:p>
            <a:pPr algn="l"/>
            <a:r>
              <a:rPr sz="1150" b="0">
                <a:solidFill>
                  <a:srgbClr val="CBD5E1"/>
                </a:solidFill>
                <a:latin typeface="Calibri"/>
              </a:rPr>
              <a:t>Objective (maximize weighted memory placement):
  max Z = Sum_{j,n}  omega_t(j)  *  Pred_mem_j
                  *  u_mem_n  *  sigma_consolid_n  *  x[j,n]
  omega_t(j)       delay weight (fairness boost)
  Pred_mem_j       predicted memory of job j
  u_mem_n          utilization weight (consolidation)
  sigma_consolid_n node consolidation bias
Constraints:
  C1: Sum_n x[j,n] &lt;= 1      (one machine per job)
  C2: Sum_j Pred_mem_j * x[j,n] &lt;= M_eff_n
                             (effective memory budget)
  C3: x[j,n] in {0,1}       (binary placement)
  C4: x[j,n] = 0  if Pred_CPU_j &gt; CPU_n
                             (CPU fitment, pre-filtered)
Unplaced jobs stay in queue; tenant W_bar_t bumped by
one interval -- raising omega_t next round.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Simulation Application</a:t>
            </a:r>
          </a:p>
        </p:txBody>
      </p:sp>
      <p:sp>
        <p:nvSpPr>
          <p:cNvPr id="4" name="Rectangle 3"/>
          <p:cNvSpPr/>
          <p:nvPr/>
        </p:nvSpPr>
        <p:spPr>
          <a:xfrm>
            <a:off x="457200" y="749808"/>
            <a:ext cx="11247120" cy="127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0"/>
            <a:ext cx="11247120" cy="411480"/>
          </a:xfrm>
          <a:prstGeom prst="rect">
            <a:avLst/>
          </a:prstGeom>
          <a:noFill/>
        </p:spPr>
        <p:txBody>
          <a:bodyPr wrap="square">
            <a:spAutoFit/>
          </a:bodyPr>
          <a:lstStyle/>
          <a:p>
            <a:pPr algn="ctr"/>
            <a:r>
              <a:rPr sz="1500" b="0">
                <a:solidFill>
                  <a:srgbClr val="94A3B8"/>
                </a:solidFill>
                <a:latin typeface="Calibri"/>
              </a:rPr>
              <a:t>Interactive visualization of the Multi-Tenant Cluster Optimization Pipeline running in real time</a:t>
            </a:r>
          </a:p>
        </p:txBody>
      </p:sp>
      <p:sp>
        <p:nvSpPr>
          <p:cNvPr id="6" name="Rectangle 5"/>
          <p:cNvSpPr/>
          <p:nvPr/>
        </p:nvSpPr>
        <p:spPr>
          <a:xfrm>
            <a:off x="457200"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54480"/>
            <a:ext cx="3200400" cy="365760"/>
          </a:xfrm>
          <a:prstGeom prst="rect">
            <a:avLst/>
          </a:prstGeom>
          <a:noFill/>
        </p:spPr>
        <p:txBody>
          <a:bodyPr wrap="square">
            <a:spAutoFit/>
          </a:bodyPr>
          <a:lstStyle/>
          <a:p>
            <a:pPr algn="l"/>
            <a:r>
              <a:rPr sz="1500" b="1">
                <a:solidFill>
                  <a:srgbClr val="38BDF8"/>
                </a:solidFill>
                <a:latin typeface="Calibri"/>
              </a:rPr>
              <a:t>Live Cluster View</a:t>
            </a:r>
          </a:p>
        </p:txBody>
      </p:sp>
      <p:sp>
        <p:nvSpPr>
          <p:cNvPr id="8" name="TextBox 7"/>
          <p:cNvSpPr txBox="1"/>
          <p:nvPr/>
        </p:nvSpPr>
        <p:spPr>
          <a:xfrm>
            <a:off x="640080" y="1965960"/>
            <a:ext cx="3200400" cy="3200400"/>
          </a:xfrm>
          <a:prstGeom prst="rect">
            <a:avLst/>
          </a:prstGeom>
          <a:noFill/>
        </p:spPr>
        <p:txBody>
          <a:bodyPr wrap="square">
            <a:spAutoFit/>
          </a:bodyPr>
          <a:lstStyle/>
          <a:p>
            <a:pPr algn="l"/>
            <a:r>
              <a:rPr sz="1200" b="0">
                <a:solidFill>
                  <a:srgbClr val="CBD5E1"/>
                </a:solidFill>
                <a:latin typeface="Calibri"/>
              </a:rPr>
              <a:t>Job queue with tenant color coding
Node cards showing RAM usage,
  SLA violation rate, and job count
Memory utilization wave chart
Auto-pause when Plan-Ahead fires
Metrics displayed:
  Cap Util   used / physical RAM
  Eff Util   used / M_cap (schedulable)
  Act Util   eff over active nodes only</a:t>
            </a:r>
          </a:p>
        </p:txBody>
      </p:sp>
      <p:sp>
        <p:nvSpPr>
          <p:cNvPr id="9" name="Rectangle 8"/>
          <p:cNvSpPr/>
          <p:nvPr/>
        </p:nvSpPr>
        <p:spPr>
          <a:xfrm>
            <a:off x="4361688"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554480"/>
            <a:ext cx="3200400" cy="365760"/>
          </a:xfrm>
          <a:prstGeom prst="rect">
            <a:avLst/>
          </a:prstGeom>
          <a:noFill/>
        </p:spPr>
        <p:txBody>
          <a:bodyPr wrap="square">
            <a:spAutoFit/>
          </a:bodyPr>
          <a:lstStyle/>
          <a:p>
            <a:pPr algn="l"/>
            <a:r>
              <a:rPr sz="1500" b="1">
                <a:solidFill>
                  <a:srgbClr val="A78BFA"/>
                </a:solidFill>
                <a:latin typeface="Calibri"/>
              </a:rPr>
              <a:t>Plan-Ahead Gantt</a:t>
            </a:r>
          </a:p>
        </p:txBody>
      </p:sp>
      <p:sp>
        <p:nvSpPr>
          <p:cNvPr id="11" name="TextBox 10"/>
          <p:cNvSpPr txBox="1"/>
          <p:nvPr/>
        </p:nvSpPr>
        <p:spPr>
          <a:xfrm>
            <a:off x="4544568" y="1965960"/>
            <a:ext cx="3200400" cy="3200400"/>
          </a:xfrm>
          <a:prstGeom prst="rect">
            <a:avLst/>
          </a:prstGeom>
          <a:noFill/>
        </p:spPr>
        <p:txBody>
          <a:bodyPr wrap="square">
            <a:spAutoFit/>
          </a:bodyPr>
          <a:lstStyle/>
          <a:p>
            <a:pPr algn="l"/>
            <a:r>
              <a:rPr sz="1200" b="0">
                <a:solidFill>
                  <a:srgbClr val="CBD5E1"/>
                </a:solidFill>
                <a:latin typeface="Calibri"/>
              </a:rPr>
              <a:t>Runs every H intervals (configurable)
Gantt chart showing machine groups
  per tenant per planning period
Highlights active period with marker
Exclusive vs shared tenant coloring
Gurobi (MILP or MISOCP) when licensed
Falls back to mock planner otherwise
On-demand via Plan Ahead button</a:t>
            </a:r>
          </a:p>
        </p:txBody>
      </p:sp>
      <p:sp>
        <p:nvSpPr>
          <p:cNvPr id="12" name="Rectangle 11"/>
          <p:cNvSpPr/>
          <p:nvPr/>
        </p:nvSpPr>
        <p:spPr>
          <a:xfrm>
            <a:off x="8257031" y="1463040"/>
            <a:ext cx="3474720" cy="402336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2" y="1554480"/>
            <a:ext cx="3200400" cy="365760"/>
          </a:xfrm>
          <a:prstGeom prst="rect">
            <a:avLst/>
          </a:prstGeom>
          <a:noFill/>
        </p:spPr>
        <p:txBody>
          <a:bodyPr wrap="square">
            <a:spAutoFit/>
          </a:bodyPr>
          <a:lstStyle/>
          <a:p>
            <a:pPr algn="l"/>
            <a:r>
              <a:rPr sz="1500" b="1">
                <a:solidFill>
                  <a:srgbClr val="FBBF24"/>
                </a:solidFill>
                <a:latin typeface="Calibri"/>
              </a:rPr>
              <a:t>Configurable Parameters</a:t>
            </a:r>
          </a:p>
        </p:txBody>
      </p:sp>
      <p:sp>
        <p:nvSpPr>
          <p:cNvPr id="14" name="TextBox 13"/>
          <p:cNvSpPr txBox="1"/>
          <p:nvPr/>
        </p:nvSpPr>
        <p:spPr>
          <a:xfrm>
            <a:off x="8439912" y="1965960"/>
            <a:ext cx="3200400" cy="3200400"/>
          </a:xfrm>
          <a:prstGeom prst="rect">
            <a:avLst/>
          </a:prstGeom>
          <a:noFill/>
        </p:spPr>
        <p:txBody>
          <a:bodyPr wrap="square">
            <a:spAutoFit/>
          </a:bodyPr>
          <a:lstStyle/>
          <a:p>
            <a:pPr algn="l"/>
            <a:r>
              <a:rPr sz="1200" b="0">
                <a:solidFill>
                  <a:srgbClr val="CBD5E1"/>
                </a:solidFill>
                <a:latin typeface="Calibri"/>
              </a:rPr>
              <a:t>Topology: nodes (default 20), tenants,
  always-on (4), RAM [64-128 GB], CPU [4-16]
Workload: jobs/interval [0-10],
  job RAM/CPU, spike prob (5%),
  job lifetime [4-60 s]
Scheduler: K window, safety buffer
Plan-Ahead: horizon (24 steps),
  period width (6 steps), exclusivity,
  MILP vs MISOCP, feedback refs
  (W_ref=1s, q_ref=10, gamma=0.3)
All changes staged, applied on Reset</a:t>
            </a:r>
          </a:p>
        </p:txBody>
      </p:sp>
      <p:sp>
        <p:nvSpPr>
          <p:cNvPr id="15" name="TextBox 14"/>
          <p:cNvSpPr txBox="1"/>
          <p:nvPr/>
        </p:nvSpPr>
        <p:spPr>
          <a:xfrm>
            <a:off x="457200" y="6035040"/>
            <a:ext cx="11247120" cy="365760"/>
          </a:xfrm>
          <a:prstGeom prst="rect">
            <a:avLst/>
          </a:prstGeom>
          <a:noFill/>
        </p:spPr>
        <p:txBody>
          <a:bodyPr wrap="square">
            <a:spAutoFit/>
          </a:bodyPr>
          <a:lstStyle/>
          <a:p>
            <a:pPr algn="ctr"/>
            <a:r>
              <a:rPr sz="1100" b="0">
                <a:solidFill>
                  <a:srgbClr val="64748B"/>
                </a:solidFill>
                <a:latin typeface="Calibri"/>
              </a:rPr>
              <a:t>Backend: FastAPI + Python   |   Frontend: React + TypeScript + Tailwind   |   Solvers: Gurobi (plan-ahead) + OR-Tools (real-time)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Feedback Integration &amp; Sensitivity Analysis</a:t>
            </a:r>
          </a:p>
        </p:txBody>
      </p:sp>
      <p:sp>
        <p:nvSpPr>
          <p:cNvPr id="4" name="Rectangle 3"/>
          <p:cNvSpPr/>
          <p:nvPr/>
        </p:nvSpPr>
        <p:spPr>
          <a:xfrm>
            <a:off x="457200" y="749808"/>
            <a:ext cx="11247120" cy="12700"/>
          </a:xfrm>
          <a:prstGeom prst="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02920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FB7185"/>
                </a:solidFill>
                <a:latin typeface="Calibri"/>
              </a:rPr>
              <a:t>Feedback Integration</a:t>
            </a:r>
          </a:p>
        </p:txBody>
      </p:sp>
      <p:sp>
        <p:nvSpPr>
          <p:cNvPr id="7" name="TextBox 6"/>
          <p:cNvSpPr txBox="1"/>
          <p:nvPr/>
        </p:nvSpPr>
        <p:spPr>
          <a:xfrm>
            <a:off x="640080" y="1463040"/>
            <a:ext cx="4937760" cy="4206240"/>
          </a:xfrm>
          <a:prstGeom prst="rect">
            <a:avLst/>
          </a:prstGeom>
          <a:noFill/>
        </p:spPr>
        <p:txBody>
          <a:bodyPr wrap="square">
            <a:spAutoFit/>
          </a:bodyPr>
          <a:lstStyle/>
          <a:p>
            <a:pPr algn="l"/>
            <a:r>
              <a:rPr sz="1150" b="0">
                <a:solidFill>
                  <a:srgbClr val="CBD5E1"/>
                </a:solidFill>
                <a:latin typeface="Calibri"/>
              </a:rPr>
              <a:t>Plan-Ahead receives 3 signals from Real-Time:
1. SLA capacity reduction (per machine):
   C_eff[n] = C[n] * (1 - alpha * v_bar_n)
   Machines with frequent violations get smaller
   effective capacity in the next plan solve
2. Wait-time demand inflation (ALL tenants):
   wait_scale = 1 + beta * min(2, W_bar_i / W_ref)
3. Queue-size demand inflation (ALL tenants):
   queue_scale = 1 + gamma * min(2, q_i / q_ref)
   Combined: u[i,h] = u_raw[i,h] * min(3, wait * queue)
   Exclusive tenants also inflate -&gt; more machines assigned
Cantelli safety buffer:
   kappa = sqrt((1-eps)/eps); eps=0.10 -&gt; kappa=3.0
   t[n,h]^2 &gt;= Sum_i sigma2[i,h] * y[i,n,h]
   P(actual &lt;= C_eff[n]) &gt;= 1 - eps = 90% safety</a:t>
            </a:r>
          </a:p>
        </p:txBody>
      </p:sp>
      <p:sp>
        <p:nvSpPr>
          <p:cNvPr id="8" name="Rectangle 7"/>
          <p:cNvSpPr/>
          <p:nvPr/>
        </p:nvSpPr>
        <p:spPr>
          <a:xfrm>
            <a:off x="5943600" y="960120"/>
            <a:ext cx="5788152" cy="502920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FB7185"/>
                </a:solidFill>
                <a:latin typeface="Calibri"/>
              </a:rPr>
              <a:t>Pipeline Sensitivity Results</a:t>
            </a:r>
          </a:p>
        </p:txBody>
      </p:sp>
      <p:sp>
        <p:nvSpPr>
          <p:cNvPr id="10" name="TextBox 9"/>
          <p:cNvSpPr txBox="1"/>
          <p:nvPr/>
        </p:nvSpPr>
        <p:spPr>
          <a:xfrm>
            <a:off x="6126480" y="1463040"/>
            <a:ext cx="5394960" cy="4206240"/>
          </a:xfrm>
          <a:prstGeom prst="rect">
            <a:avLst/>
          </a:prstGeom>
          <a:noFill/>
        </p:spPr>
        <p:txBody>
          <a:bodyPr wrap="square">
            <a:spAutoFit/>
          </a:bodyPr>
          <a:lstStyle/>
          <a:p>
            <a:pPr algn="l"/>
            <a:r>
              <a:rPr sz="1100" b="0">
                <a:solidFill>
                  <a:srgbClr val="CBD5E1"/>
                </a:solidFill>
                <a:latin typeface="Calibri"/>
              </a:rPr>
              <a:t>Baseline: 8-node cluster, 8 GB/node, 4 tenants
All sweeps: 30 intervals  |  OR-Tools + Gurobi mock
Arrival rate (J = 1-8 jobs/interval):
  100% placed across all rates; queue = 0
  RT solver: 1 ms (J=1) -&gt; 15 ms (J=8)
  -&gt; Sub-real-time even at peak test load
Tenant count (T = 2-10):
  PA vars: 200 (T=2) -&gt; 840 (T=10); solve 10 ms
  -&gt; Linear scaling; T &lt;= 15 feasible per group
Exclusivity (0-3 exclusive out of 6):
  PA vars decrease as excl rises (fewer shared combos)
  -&gt; Keep exclusive &lt; 25% of tenants
Node count (N = 3-20):
  PA vars: 135 (N=3) -&gt; 900 (N=20); all 100% placed
  -&gt; Rule: 1 node per ~2-3 concurrent sustained jobs
Job lifetime (5-120 s):
  eff_mem% stays 0% up to 60 s; rises to 5.5% at 120 s
  -&gt; Sweet spot: 15-30 s; set horizon &gt;= 2x max lifetime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502920"/>
          </a:xfrm>
          <a:prstGeom prst="rect">
            <a:avLst/>
          </a:prstGeom>
          <a:noFill/>
        </p:spPr>
        <p:txBody>
          <a:bodyPr wrap="square">
            <a:spAutoFit/>
          </a:bodyPr>
          <a:lstStyle/>
          <a:p>
            <a:pPr algn="l"/>
            <a:r>
              <a:rPr sz="2800" b="1">
                <a:solidFill>
                  <a:srgbClr val="FFFFFF"/>
                </a:solidFill>
                <a:latin typeface="Calibri"/>
              </a:rPr>
              <a:t>Scalability Analysis &amp; Model Summary</a:t>
            </a:r>
          </a:p>
        </p:txBody>
      </p:sp>
      <p:sp>
        <p:nvSpPr>
          <p:cNvPr id="4" name="Rectangle 3"/>
          <p:cNvSpPr/>
          <p:nvPr/>
        </p:nvSpPr>
        <p:spPr>
          <a:xfrm>
            <a:off x="457200" y="749808"/>
            <a:ext cx="11247120" cy="1270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5303520" cy="521208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4937760" cy="365760"/>
          </a:xfrm>
          <a:prstGeom prst="rect">
            <a:avLst/>
          </a:prstGeom>
          <a:noFill/>
        </p:spPr>
        <p:txBody>
          <a:bodyPr wrap="square">
            <a:spAutoFit/>
          </a:bodyPr>
          <a:lstStyle/>
          <a:p>
            <a:pPr algn="l"/>
            <a:r>
              <a:rPr sz="1500" b="1">
                <a:solidFill>
                  <a:srgbClr val="FBBF24"/>
                </a:solidFill>
                <a:latin typeface="Calibri"/>
              </a:rPr>
              <a:t>What Each Model Does</a:t>
            </a:r>
          </a:p>
        </p:txBody>
      </p:sp>
      <p:sp>
        <p:nvSpPr>
          <p:cNvPr id="7" name="TextBox 6"/>
          <p:cNvSpPr txBox="1"/>
          <p:nvPr/>
        </p:nvSpPr>
        <p:spPr>
          <a:xfrm>
            <a:off x="640080" y="1463040"/>
            <a:ext cx="4937760" cy="4572000"/>
          </a:xfrm>
          <a:prstGeom prst="rect">
            <a:avLst/>
          </a:prstGeom>
          <a:noFill/>
        </p:spPr>
        <p:txBody>
          <a:bodyPr wrap="square">
            <a:spAutoFit/>
          </a:bodyPr>
          <a:lstStyle/>
          <a:p>
            <a:pPr algn="l"/>
            <a:r>
              <a:rPr sz="1100" b="0">
                <a:solidFill>
                  <a:srgbClr val="CBD5E1"/>
                </a:solidFill>
                <a:latin typeface="Calibri"/>
              </a:rPr>
              <a:t>PLAN-AHEAD  (MILP / MISOCP, Gurobi)
  Runs once per planning horizon (every H intervals).
  Decides WHICH machines are active and WHICH tenant
  groups get access to them for the next H intervals.
  Exclusive tenants get private machine pools per period;
  shared tenants compete within a common pool.
  Demand is inflated by feedback (wait time + queue size)
  so the plan scales up capacity before queues spike.
  Cantelli cone ensures P(OOM) &lt; 10% (MISOCP mode).
REAL-TIME  (MILP, OR-Tools)
  Runs once per tenant group per interval (every second).
  Decides WHICH queued jobs go on WHICH machines NOW.
  Uses pre-filtered machines from the Plan-Ahead output.
  Fairness weight omega_t boosts tenants that have been
  waiting longer than the cluster average, preventing
  starvation even as new high-demand jobs arrive.
  Unplaced jobs stay in queue; omega_t rises next round.
TOGETHER: Plan-Ahead manages the allocation horizon;
Real-Time maximizes throughput within that allocation.</a:t>
            </a:r>
          </a:p>
        </p:txBody>
      </p:sp>
      <p:sp>
        <p:nvSpPr>
          <p:cNvPr id="8" name="Rectangle 7"/>
          <p:cNvSpPr/>
          <p:nvPr/>
        </p:nvSpPr>
        <p:spPr>
          <a:xfrm>
            <a:off x="5943600" y="960120"/>
            <a:ext cx="5788152" cy="5212080"/>
          </a:xfrm>
          <a:prstGeom prst="rect">
            <a:avLst/>
          </a:prstGeom>
          <a:solidFill>
            <a:srgbClr val="0F172A"/>
          </a:solidFill>
          <a:ln w="9525">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051560"/>
            <a:ext cx="5394960" cy="365760"/>
          </a:xfrm>
          <a:prstGeom prst="rect">
            <a:avLst/>
          </a:prstGeom>
          <a:noFill/>
        </p:spPr>
        <p:txBody>
          <a:bodyPr wrap="square">
            <a:spAutoFit/>
          </a:bodyPr>
          <a:lstStyle/>
          <a:p>
            <a:pPr algn="l"/>
            <a:r>
              <a:rPr sz="1500" b="1">
                <a:solidFill>
                  <a:srgbClr val="FBBF24"/>
                </a:solidFill>
                <a:latin typeface="Calibri"/>
              </a:rPr>
              <a:t>Scalability Rules of Thumb</a:t>
            </a:r>
          </a:p>
        </p:txBody>
      </p:sp>
      <p:sp>
        <p:nvSpPr>
          <p:cNvPr id="10" name="TextBox 9"/>
          <p:cNvSpPr txBox="1"/>
          <p:nvPr/>
        </p:nvSpPr>
        <p:spPr>
          <a:xfrm>
            <a:off x="6126480" y="1463040"/>
            <a:ext cx="5394960" cy="4572000"/>
          </a:xfrm>
          <a:prstGeom prst="rect">
            <a:avLst/>
          </a:prstGeom>
          <a:noFill/>
        </p:spPr>
        <p:txBody>
          <a:bodyPr wrap="square">
            <a:spAutoFit/>
          </a:bodyPr>
          <a:lstStyle/>
          <a:p>
            <a:pPr algn="l"/>
            <a:r>
              <a:rPr sz="1100" b="0">
                <a:solidFill>
                  <a:srgbClr val="CBD5E1"/>
                </a:solidFill>
                <a:latin typeface="Calibri"/>
              </a:rPr>
              <a:t>Real-Time MILP  [O(J x N) binary vars]
  &lt; 10 ms  at J=1-8, N=8    (tested)
  &lt; 100 ms at J=50, N=20
  ~ 500 ms at J=200, N=50  (time-limit applied)
  VIABLE: live per-interval scheduler for J &lt;= 50, N &lt;= 20
Plan-Ahead MILP/MISOCP  [O(T x N x H) vars]
  T=4, N=8, H=5 -&gt; 360 vars, &lt; 5 s solve (tested)
  T=10, N=20, H=6 -&gt; ~840 vars, ~ 15 s solve
  T=25, N=50, H=8 -&gt; &gt; 60 s (use hierarchical partition)
  VIABLE: periodic planner (every 24 intervals).
  Larger deployments need tenant group decomposition.
Capacity sizing:
  Add 1 node per ~2-3 sustained concurrent jobs
  (at avg 1.3 GB/job x 8 GB nodes)
Exclusivity budget:
  Keep exclusive count &lt; 25% of total tenants
  Above that, shared pool overflow rises sharply
Lifetime vs horizon:
  Plan-Ahead horizon &gt;= 2x max job lifetime
  Sweet spot: 15-30 s lifetime, horizon = 24 steps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91840"/>
            <a:ext cx="12188952" cy="36576"/>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914400"/>
          </a:xfrm>
          <a:prstGeom prst="rect">
            <a:avLst/>
          </a:prstGeom>
          <a:noFill/>
        </p:spPr>
        <p:txBody>
          <a:bodyPr wrap="square">
            <a:spAutoFit/>
          </a:bodyPr>
          <a:lstStyle/>
          <a:p>
            <a:pPr algn="ctr"/>
            <a:r>
              <a:rPr sz="5200" b="1">
                <a:solidFill>
                  <a:srgbClr val="FFFFFF"/>
                </a:solidFill>
                <a:latin typeface="Calibri"/>
              </a:rPr>
              <a:t>Thank You</a:t>
            </a:r>
          </a:p>
        </p:txBody>
      </p:sp>
      <p:sp>
        <p:nvSpPr>
          <p:cNvPr id="5" name="TextBox 4"/>
          <p:cNvSpPr txBox="1"/>
          <p:nvPr/>
        </p:nvSpPr>
        <p:spPr>
          <a:xfrm>
            <a:off x="914400" y="3474720"/>
            <a:ext cx="10332720" cy="502920"/>
          </a:xfrm>
          <a:prstGeom prst="rect">
            <a:avLst/>
          </a:prstGeom>
          <a:noFill/>
        </p:spPr>
        <p:txBody>
          <a:bodyPr wrap="square">
            <a:spAutoFit/>
          </a:bodyPr>
          <a:lstStyle/>
          <a:p>
            <a:pPr algn="ctr"/>
            <a:r>
              <a:rPr sz="2000" b="0">
                <a:solidFill>
                  <a:srgbClr val="22D3EE"/>
                </a:solidFill>
                <a:latin typeface="Calibri"/>
              </a:rPr>
              <a:t>A Two-Part Optimization System for Multi-Tenant Cluster Scheduling</a:t>
            </a:r>
          </a:p>
        </p:txBody>
      </p:sp>
      <p:sp>
        <p:nvSpPr>
          <p:cNvPr id="6" name="TextBox 5"/>
          <p:cNvSpPr txBox="1"/>
          <p:nvPr/>
        </p:nvSpPr>
        <p:spPr>
          <a:xfrm>
            <a:off x="914400" y="4206240"/>
            <a:ext cx="10332720" cy="365760"/>
          </a:xfrm>
          <a:prstGeom prst="rect">
            <a:avLst/>
          </a:prstGeom>
          <a:noFill/>
        </p:spPr>
        <p:txBody>
          <a:bodyPr wrap="square">
            <a:spAutoFit/>
          </a:bodyPr>
          <a:lstStyle/>
          <a:p>
            <a:pPr algn="ctr"/>
            <a:r>
              <a:rPr sz="1400" b="0">
                <a:solidFill>
                  <a:srgbClr val="94A3B8"/>
                </a:solidFill>
                <a:latin typeface="Calibri"/>
              </a:rPr>
              <a:t>Gurobi MILP/MISOCP  (Plan-Ahead)   +   OR-Tools MILP  (Real-Time)   +   FastAPI / React Simulation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